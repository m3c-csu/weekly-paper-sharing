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6" r:id="rId3"/>
    <p:sldId id="259" r:id="rId4"/>
    <p:sldId id="280" r:id="rId5"/>
    <p:sldId id="260" r:id="rId6"/>
    <p:sldId id="261" r:id="rId7"/>
    <p:sldId id="281" r:id="rId8"/>
    <p:sldId id="289" r:id="rId9"/>
    <p:sldId id="265" r:id="rId10"/>
    <p:sldId id="267" r:id="rId11"/>
    <p:sldId id="290" r:id="rId12"/>
    <p:sldId id="266" r:id="rId13"/>
    <p:sldId id="291" r:id="rId14"/>
    <p:sldId id="27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3D74A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7" autoAdjust="0"/>
  </p:normalViewPr>
  <p:slideViewPr>
    <p:cSldViewPr snapToGrid="0">
      <p:cViewPr varScale="1">
        <p:scale>
          <a:sx n="38" d="100"/>
          <a:sy n="38" d="100"/>
        </p:scale>
        <p:origin x="48" y="56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48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667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9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372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796A-6F37-0A81-4281-DF4BE0FE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51D2BA-3DB6-96F4-003F-9B251EE41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DAA381-E824-72EE-BC76-EDA41AA83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335B13-050B-AAA4-00B1-32EB5CC6A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34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00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27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86CC-4FFA-CD61-E743-D83DACA4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AB74B5-EBFE-C907-364D-F532FB6FE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AA56EF-3E31-478C-FDAA-3C92C16CF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2F601B-CABC-DB1D-A669-5203022F7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920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8B31-DC96-9D0A-4653-76AD5D1A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CAF09-62B6-9DFA-765C-BBADB6BD7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F0E740-E389-42C4-8FC2-B805FEFC1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9F00BD-2E71-EFA8-4A55-C5D84BEBB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697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664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44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36B5-D0F8-F98A-F623-114E2C9C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024814-38B8-E21D-4971-F514D8A63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DB43B2-E563-610F-FD51-F2AE6FA85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C2FF6-E415-86E0-4863-9E377CF89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732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742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67CF-EF4B-CCC4-7C5A-E00A106B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4A88B4-D073-29BE-0C37-03E7282A9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0018F7-966C-A05B-33C5-ECE8D5EC9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3F865-322C-1A51-47B7-1B8786B7E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382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43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2026-01-10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11085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80915" y="0"/>
            <a:ext cx="3110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>
            <a:cxnSpLocks/>
          </p:cNvCxnSpPr>
          <p:nvPr/>
        </p:nvCxnSpPr>
        <p:spPr>
          <a:xfrm>
            <a:off x="2390481" y="3429000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cxnSpLocks/>
          </p:cNvCxnSpPr>
          <p:nvPr/>
        </p:nvCxnSpPr>
        <p:spPr>
          <a:xfrm>
            <a:off x="2390481" y="5079845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287435" y="3575099"/>
            <a:ext cx="7617131" cy="1421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zh-CN" sz="2800" b="1" dirty="0">
                <a:solidFill>
                  <a:srgbClr val="193C47"/>
                </a:solidFill>
                <a:effectLst/>
              </a:rPr>
              <a:t>MAUP: training-free multi-center adaptive uncertainty-aware prompting for cross-domain few-shot medical image segmentation</a:t>
            </a:r>
            <a:endParaRPr lang="en-US" altLang="zh-CN" sz="28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3899621" y="5162728"/>
            <a:ext cx="4392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MICCAI,2025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034282" y="649462"/>
            <a:ext cx="2123437" cy="2123436"/>
          </a:xfrm>
          <a:prstGeom prst="ellipse">
            <a:avLst/>
          </a:prstGeom>
          <a:gradFill flip="none" rotWithShape="1">
            <a:gsLst>
              <a:gs pos="0">
                <a:srgbClr val="BFBFBF"/>
              </a:gs>
              <a:gs pos="52000">
                <a:srgbClr val="FFFFFF"/>
              </a:gs>
              <a:gs pos="100000">
                <a:srgbClr val="0070C0">
                  <a:tint val="0"/>
                </a:srgbClr>
              </a:gs>
            </a:gsLst>
            <a:lin ang="2700000" scaled="1"/>
            <a:tileRect/>
          </a:gradFill>
          <a:ln w="73025" cap="flat" cmpd="sng" algn="ctr">
            <a:solidFill>
              <a:srgbClr val="F2F2F2"/>
            </a:solidFill>
            <a:prstDash val="solid"/>
          </a:ln>
          <a:effectLst>
            <a:outerShdw blurRad="190500" dist="254000" dir="2699985" rotWithShape="0">
              <a:scrgbClr r="0" g="0" b="0">
                <a:alpha val="23000"/>
              </a:scrgbClr>
            </a:outerShdw>
          </a:effectLst>
        </p:spPr>
        <p:txBody>
          <a:bodyPr rtlCol="0" anchor="ctr"/>
          <a:lstStyle/>
          <a:p>
            <a:pPr algn="ctr" defTabSz="1088390">
              <a:defRPr/>
            </a:pPr>
            <a:endParaRPr lang="zh-CN" altLang="en-US" sz="3200" kern="0">
              <a:solidFill>
                <a:srgbClr val="000000"/>
              </a:solidFill>
              <a:latin typeface="Impact"/>
              <a:ea typeface="方正姚体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227" y="746331"/>
            <a:ext cx="2005547" cy="20055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作者简介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CDA823C-23CF-9FA9-CF3B-38B6871BE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F12D32D-111C-6C36-9D24-9A18F34B1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4945" y="1051863"/>
            <a:ext cx="7835151" cy="53424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问题导入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D70847-6C99-1ADD-B787-26364C69E14B}"/>
              </a:ext>
            </a:extLst>
          </p:cNvPr>
          <p:cNvSpPr txBox="1"/>
          <p:nvPr/>
        </p:nvSpPr>
        <p:spPr>
          <a:xfrm>
            <a:off x="407649" y="1245157"/>
            <a:ext cx="11160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传统的医学图像分割需要大量标注数据，但是在医学领域这些数据的获取既昂贵又耗时，尤其是涉及罕见疾病的领域。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Tx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现有的跨域小样本方法虽然减少了对目标域数据的依赖，但通常仍需在源域上进行大量的模型训练。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A4E98EE-6579-0ECB-BCE9-BBEDBC40C5AA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9EC3412-3D43-E98C-779C-F03DED93A38A}"/>
              </a:ext>
            </a:extLst>
          </p:cNvPr>
          <p:cNvSpPr txBox="1"/>
          <p:nvPr/>
        </p:nvSpPr>
        <p:spPr>
          <a:xfrm>
            <a:off x="1932495" y="3807385"/>
            <a:ext cx="3247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针对数据少和训练耗时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D731CF-F7A8-187C-C41F-E1D304405A74}"/>
              </a:ext>
            </a:extLst>
          </p:cNvPr>
          <p:cNvSpPr txBox="1"/>
          <p:nvPr/>
        </p:nvSpPr>
        <p:spPr>
          <a:xfrm>
            <a:off x="6598232" y="3622718"/>
            <a:ext cx="4742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免训练的框架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：运用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DINOv2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，改善提示策略</a:t>
            </a:r>
          </a:p>
        </p:txBody>
      </p:sp>
      <p:sp>
        <p:nvSpPr>
          <p:cNvPr id="9" name="上箭头 1">
            <a:extLst>
              <a:ext uri="{FF2B5EF4-FFF2-40B4-BE49-F238E27FC236}">
                <a16:creationId xmlns:a16="http://schemas.microsoft.com/office/drawing/2014/main" id="{7B0B6C76-4266-AE6C-3059-E5CCD6AE9352}"/>
              </a:ext>
            </a:extLst>
          </p:cNvPr>
          <p:cNvSpPr/>
          <p:nvPr/>
        </p:nvSpPr>
        <p:spPr>
          <a:xfrm rot="16200000" flipV="1">
            <a:off x="5630764" y="3644028"/>
            <a:ext cx="516890" cy="79502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1389FF-E7E9-3EB6-07C4-CF3D6482A984}"/>
              </a:ext>
            </a:extLst>
          </p:cNvPr>
          <p:cNvSpPr txBox="1"/>
          <p:nvPr/>
        </p:nvSpPr>
        <p:spPr>
          <a:xfrm>
            <a:off x="938030" y="4923219"/>
            <a:ext cx="10697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核心思路：不调整模型参数，只优化提示方法，从图像本身上提取到合适的提示，使给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的提示更加精准，然后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再根据这些提示点实现分割达到免训练。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AE54-A259-D45E-A6F7-3D3C49A8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3EB017E-F091-E41B-818A-2D42B61BCD79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898EDFD-5B5B-2608-B32E-5706620A480F}"/>
              </a:ext>
            </a:extLst>
          </p:cNvPr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9B5C43-692B-CA82-7D34-AB67433FA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B5F5715-DD29-DD6A-0476-7ACE53781D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1E9362-70FB-D446-3D10-29A3296B79F1}"/>
              </a:ext>
            </a:extLst>
          </p:cNvPr>
          <p:cNvSpPr txBox="1"/>
          <p:nvPr/>
        </p:nvSpPr>
        <p:spPr>
          <a:xfrm>
            <a:off x="2762686" y="1809394"/>
            <a:ext cx="30751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提示策略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465C9A-4CB6-9E51-75DB-36F82E160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759870"/>
              </p:ext>
            </p:extLst>
          </p:nvPr>
        </p:nvGraphicFramePr>
        <p:xfrm>
          <a:off x="2504501" y="2719599"/>
          <a:ext cx="3591499" cy="2286000"/>
        </p:xfrm>
        <a:graphic>
          <a:graphicData uri="http://schemas.openxmlformats.org/drawingml/2006/table">
            <a:tbl>
              <a:tblPr/>
              <a:tblGrid>
                <a:gridCol w="3591499">
                  <a:extLst>
                    <a:ext uri="{9D8B030D-6E8A-4147-A177-3AD203B41FA5}">
                      <a16:colId xmlns:a16="http://schemas.microsoft.com/office/drawing/2014/main" val="2961693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依赖人工选择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70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单点或少数点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656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缺乏不确定性感知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023052"/>
                  </a:ext>
                </a:extLst>
              </a:tr>
              <a:tr h="154268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提示数量固定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063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仅使用正提示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95831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771121A8-BA75-8AA7-85E6-4550FE6B287A}"/>
              </a:ext>
            </a:extLst>
          </p:cNvPr>
          <p:cNvSpPr txBox="1"/>
          <p:nvPr/>
        </p:nvSpPr>
        <p:spPr>
          <a:xfrm>
            <a:off x="7656174" y="180939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本文提示策略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BE52EA2-B0DD-9593-3F3C-A90FC53D9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76644"/>
              </p:ext>
            </p:extLst>
          </p:nvPr>
        </p:nvGraphicFramePr>
        <p:xfrm>
          <a:off x="7024002" y="2704387"/>
          <a:ext cx="3734717" cy="1828800"/>
        </p:xfrm>
        <a:graphic>
          <a:graphicData uri="http://schemas.openxmlformats.org/drawingml/2006/table">
            <a:tbl>
              <a:tblPr/>
              <a:tblGrid>
                <a:gridCol w="3734717">
                  <a:extLst>
                    <a:ext uri="{9D8B030D-6E8A-4147-A177-3AD203B41FA5}">
                      <a16:colId xmlns:a16="http://schemas.microsoft.com/office/drawing/2014/main" val="2058158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多中心聚类生成提示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86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加入不确定性感知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292839"/>
                  </a:ext>
                </a:extLst>
              </a:tr>
              <a:tr h="419834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引入负提示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76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自适应调整提示数量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67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64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总体框架图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26040039-329F-E48A-5C71-06FD46E16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49" y="1348200"/>
            <a:ext cx="11722702" cy="4534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5125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RPG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77A29E8F-96F6-915F-79B8-403AB88B4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921" y="1864926"/>
            <a:ext cx="7452564" cy="3330048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E6D9377B-91BB-69ED-D3CC-A3CD61611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717" y="5194974"/>
            <a:ext cx="5504566" cy="12223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DD1CF12-ACD0-F5B0-E8D2-C661E15E9776}"/>
              </a:ext>
            </a:extLst>
          </p:cNvPr>
          <p:cNvSpPr txBox="1"/>
          <p:nvPr/>
        </p:nvSpPr>
        <p:spPr>
          <a:xfrm>
            <a:off x="1017271" y="1051863"/>
            <a:ext cx="936117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避免用一个整体平均值模糊掉器官不同部位的视觉特征，通过分析</a:t>
            </a:r>
            <a:r>
              <a:rPr lang="zh-CN" altLang="en-US" sz="2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多个原型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在查询图像同一位置判断的分歧，定位难以判断的区域。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96F8-6A56-3B49-39A5-AF7AD60B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F84E7B3-51C3-2EB8-ECB7-BDF06A185CD3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1B92E53-A707-AC3F-6A59-96ED75B84A21}"/>
              </a:ext>
            </a:extLst>
          </p:cNvPr>
          <p:cNvSpPr txBox="1"/>
          <p:nvPr/>
        </p:nvSpPr>
        <p:spPr>
          <a:xfrm>
            <a:off x="2168165" y="264321"/>
            <a:ext cx="549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正提示生成部分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3385768-C1CC-64A4-DB8F-AB82076E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0722BAA-5A32-F77D-0609-85E3D84473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5" name="图片 4" descr="图片包含 日程表&#10;&#10;AI 生成的内容可能不正确。">
            <a:extLst>
              <a:ext uri="{FF2B5EF4-FFF2-40B4-BE49-F238E27FC236}">
                <a16:creationId xmlns:a16="http://schemas.microsoft.com/office/drawing/2014/main" id="{7A4EF782-E2B9-283C-0E50-65AB42D657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632"/>
          <a:stretch>
            <a:fillRect/>
          </a:stretch>
        </p:blipFill>
        <p:spPr>
          <a:xfrm>
            <a:off x="519731" y="1704003"/>
            <a:ext cx="6305852" cy="3093298"/>
          </a:xfrm>
          <a:prstGeom prst="rect">
            <a:avLst/>
          </a:prstGeom>
        </p:spPr>
      </p:pic>
      <p:pic>
        <p:nvPicPr>
          <p:cNvPr id="3" name="图片 2" descr="黑色的钟表&#10;&#10;AI 生成的内容可能不正确。">
            <a:extLst>
              <a:ext uri="{FF2B5EF4-FFF2-40B4-BE49-F238E27FC236}">
                <a16:creationId xmlns:a16="http://schemas.microsoft.com/office/drawing/2014/main" id="{69798C51-AE2B-B61E-7282-260BCDA9C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482" y="4744395"/>
            <a:ext cx="2533780" cy="742988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37A00E8A-604B-BC17-1E75-37DA10EBAA6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80"/>
          <a:stretch>
            <a:fillRect/>
          </a:stretch>
        </p:blipFill>
        <p:spPr>
          <a:xfrm>
            <a:off x="1621482" y="5874753"/>
            <a:ext cx="3502536" cy="406421"/>
          </a:xfrm>
          <a:prstGeom prst="rect">
            <a:avLst/>
          </a:prstGeom>
        </p:spPr>
      </p:pic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BD970D8C-39DA-5654-FA79-55F58EBE1E3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415" r="-443"/>
          <a:stretch>
            <a:fillRect/>
          </a:stretch>
        </p:blipFill>
        <p:spPr>
          <a:xfrm>
            <a:off x="1621482" y="5487383"/>
            <a:ext cx="3264731" cy="406421"/>
          </a:xfrm>
          <a:prstGeom prst="rect">
            <a:avLst/>
          </a:prstGeom>
        </p:spPr>
      </p:pic>
      <p:pic>
        <p:nvPicPr>
          <p:cNvPr id="19" name="图片 18" descr="图表&#10;&#10;AI 生成的内容可能不正确。">
            <a:extLst>
              <a:ext uri="{FF2B5EF4-FFF2-40B4-BE49-F238E27FC236}">
                <a16:creationId xmlns:a16="http://schemas.microsoft.com/office/drawing/2014/main" id="{04292C9E-9A01-3100-C586-D3B159E5D7A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59" t="14667"/>
          <a:stretch>
            <a:fillRect/>
          </a:stretch>
        </p:blipFill>
        <p:spPr>
          <a:xfrm>
            <a:off x="1621482" y="6281174"/>
            <a:ext cx="2787491" cy="406422"/>
          </a:xfrm>
          <a:prstGeom prst="rect">
            <a:avLst/>
          </a:prstGeom>
        </p:spPr>
      </p:pic>
      <p:pic>
        <p:nvPicPr>
          <p:cNvPr id="22" name="图片 21" descr="文本&#10;&#10;AI 生成的内容可能不正确。">
            <a:extLst>
              <a:ext uri="{FF2B5EF4-FFF2-40B4-BE49-F238E27FC236}">
                <a16:creationId xmlns:a16="http://schemas.microsoft.com/office/drawing/2014/main" id="{A7EF0FA3-85C1-1B70-37B3-1F30461D80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2754" y="1738735"/>
            <a:ext cx="3746693" cy="711237"/>
          </a:xfrm>
          <a:prstGeom prst="rect">
            <a:avLst/>
          </a:prstGeom>
        </p:spPr>
      </p:pic>
      <p:pic>
        <p:nvPicPr>
          <p:cNvPr id="24" name="图片 23" descr="图片包含 图标&#10;&#10;AI 生成的内容可能不正确。">
            <a:extLst>
              <a:ext uri="{FF2B5EF4-FFF2-40B4-BE49-F238E27FC236}">
                <a16:creationId xmlns:a16="http://schemas.microsoft.com/office/drawing/2014/main" id="{D7EBD898-B7AE-61A1-0D8C-E94E998B70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2754" y="2441709"/>
            <a:ext cx="3378374" cy="450873"/>
          </a:xfrm>
          <a:prstGeom prst="rect">
            <a:avLst/>
          </a:prstGeom>
        </p:spPr>
      </p:pic>
      <p:pic>
        <p:nvPicPr>
          <p:cNvPr id="26" name="图片 25" descr="文本, 信件&#10;&#10;AI 生成的内容可能不正确。">
            <a:extLst>
              <a:ext uri="{FF2B5EF4-FFF2-40B4-BE49-F238E27FC236}">
                <a16:creationId xmlns:a16="http://schemas.microsoft.com/office/drawing/2014/main" id="{CEC4399C-74F1-3C05-A303-475A303EE9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6740" y="4810784"/>
            <a:ext cx="3086292" cy="55960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9F864D5-09A8-1EAC-C2B2-B7673D1B4C14}"/>
              </a:ext>
            </a:extLst>
          </p:cNvPr>
          <p:cNvSpPr txBox="1"/>
          <p:nvPr/>
        </p:nvSpPr>
        <p:spPr>
          <a:xfrm>
            <a:off x="1170335" y="891783"/>
            <a:ext cx="9851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让输入给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模型的提示能覆盖目标器官的整体结构，而且能根据器官复杂程度自适应点的数量，同时重点关注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模棱两可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61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3899-2C7B-0C31-ED3A-05C42456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98AC0B0-1F96-B4A4-B538-D8CC9E7027F1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4A9081F-448B-D320-0189-E1585523A8ED}"/>
              </a:ext>
            </a:extLst>
          </p:cNvPr>
          <p:cNvSpPr txBox="1"/>
          <p:nvPr/>
        </p:nvSpPr>
        <p:spPr>
          <a:xfrm>
            <a:off x="2168165" y="264321"/>
            <a:ext cx="549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负提示生成部分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8A248A9-0B36-CEB7-63C9-FB5634434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86143F6-12D4-4B0D-77B4-621C781A86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5375883B-06E6-848E-C3DD-390366E6B6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57"/>
          <a:stretch>
            <a:fillRect/>
          </a:stretch>
        </p:blipFill>
        <p:spPr>
          <a:xfrm>
            <a:off x="3195259" y="5062414"/>
            <a:ext cx="5497741" cy="1050937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794236-DD87-096A-DCFB-B550B46B42AE}"/>
              </a:ext>
            </a:extLst>
          </p:cNvPr>
          <p:cNvGrpSpPr/>
          <p:nvPr/>
        </p:nvGrpSpPr>
        <p:grpSpPr>
          <a:xfrm>
            <a:off x="3080654" y="2236283"/>
            <a:ext cx="5726953" cy="2959007"/>
            <a:chOff x="526948" y="1112949"/>
            <a:chExt cx="4866318" cy="2630016"/>
          </a:xfrm>
        </p:grpSpPr>
        <p:pic>
          <p:nvPicPr>
            <p:cNvPr id="13" name="图片 12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17A2123F-36E0-F199-F001-F4876638E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948" y="1112949"/>
              <a:ext cx="4866318" cy="2630016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6D0CFB7-8683-BB7A-9554-D089159E9FB4}"/>
                </a:ext>
              </a:extLst>
            </p:cNvPr>
            <p:cNvSpPr/>
            <p:nvPr/>
          </p:nvSpPr>
          <p:spPr>
            <a:xfrm>
              <a:off x="2565400" y="1112949"/>
              <a:ext cx="2827866" cy="1206917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31DFDA7-5561-996F-A557-B3A7ACA34029}"/>
              </a:ext>
            </a:extLst>
          </p:cNvPr>
          <p:cNvSpPr txBox="1"/>
          <p:nvPr/>
        </p:nvSpPr>
        <p:spPr>
          <a:xfrm>
            <a:off x="1037869" y="1135804"/>
            <a:ext cx="98125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从紧邻器官外围提取的、</a:t>
            </a:r>
            <a:r>
              <a:rPr lang="zh-CN" altLang="en-US" sz="2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整体平均的原型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，恰能最好地代表最容易被误认为是目标的背景，达到最有效的排除。</a:t>
            </a:r>
          </a:p>
        </p:txBody>
      </p:sp>
    </p:spTree>
    <p:extLst>
      <p:ext uri="{BB962C8B-B14F-4D97-AF65-F5344CB8AC3E}">
        <p14:creationId xmlns:p14="http://schemas.microsoft.com/office/powerpoint/2010/main" val="116136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D70DFE6E-905F-E549-75DB-DD3CFDD2F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34" y="1594128"/>
            <a:ext cx="11398836" cy="40705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11745C59-0268-6CA2-E2FD-4900DC302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154" y="1808067"/>
            <a:ext cx="8181691" cy="3513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9F02-47A1-C294-C0BB-BB601AB7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91A16D-FA8C-900D-6680-924A24E51EE6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C68D1B4-399E-AE55-FC16-ABE63212A5E8}"/>
              </a:ext>
            </a:extLst>
          </p:cNvPr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33E16C-5BD7-325B-633C-2A0D82572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9B90B480-68C7-FFFE-AA26-11E607D0E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7" name="图片 6" descr="墙上贴着一些海报&#10;&#10;AI 生成的内容可能不正确。">
            <a:extLst>
              <a:ext uri="{FF2B5EF4-FFF2-40B4-BE49-F238E27FC236}">
                <a16:creationId xmlns:a16="http://schemas.microsoft.com/office/drawing/2014/main" id="{4E5DFA41-080F-229E-EF90-B25FD8A51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30719"/>
            <a:ext cx="121920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30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71C7839A-0D86-F9C2-5DA6-2A6A8F8F1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42" y="1764401"/>
            <a:ext cx="11009741" cy="35897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116D-8233-3238-B3E8-F25BF4C5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4D2726-A1AC-E6B9-5DB2-537F5E3024E3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9307F58-EC79-ECC1-0F6C-5ECB303F12D0}"/>
              </a:ext>
            </a:extLst>
          </p:cNvPr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1BDCE0-6465-6104-E52D-06BC155CC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AB14DDB-CBD5-A066-6BF4-DC2FB11346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4E1FCE-4D89-8197-E04A-6F049E51B87F}"/>
              </a:ext>
            </a:extLst>
          </p:cNvPr>
          <p:cNvSpPr txBox="1"/>
          <p:nvPr/>
        </p:nvSpPr>
        <p:spPr>
          <a:xfrm>
            <a:off x="1037869" y="1409417"/>
            <a:ext cx="9748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利用现有的通用基础大模型（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 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做分割，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DINOv2 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提特征），在不需要训练 的情况下，用一张参考图生成正、负提示，实现了目标器官的分割。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C1912E6-9E04-7BA1-0DA3-EB513357B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63" y="2758227"/>
            <a:ext cx="11646137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核心创新</a:t>
            </a:r>
            <a:r>
              <a:rPr lang="zh-CN" altLang="en-US" sz="2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：多中心自适应不确定性感知提示策略</a:t>
            </a:r>
            <a:r>
              <a:rPr lang="zh-CN" altLang="zh-CN" sz="2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(MAUP)</a:t>
            </a:r>
          </a:p>
          <a:p>
            <a:pPr lvl="1" indent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 K-means 聚类生成多个分散的提示点，解决单一提示点无法覆盖复杂器官结构的问题 。</a:t>
            </a:r>
          </a:p>
          <a:p>
            <a:pPr lvl="1" indent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根据器官的复杂度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动态决定提示点的数量。</a:t>
            </a:r>
          </a:p>
          <a:p>
            <a:pPr lvl="1" indent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通过计算特征相似度的方差，识别出模棱两可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zh-CN" altLang="zh-CN" sz="20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zh-CN" sz="20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区域生成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</a:t>
            </a:r>
            <a:r>
              <a:rPr lang="zh-CN" altLang="zh-CN" sz="20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 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indent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提取器官的外围区域生成负向提示点，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防止边界溢出</a:t>
            </a:r>
            <a:r>
              <a:rPr lang="zh-CN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88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11085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80915" y="0"/>
            <a:ext cx="3110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662096" y="3455347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765140" y="5079845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501783" y="3805931"/>
            <a:ext cx="993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5400" b="1" dirty="0">
                <a:solidFill>
                  <a:srgbClr val="4472C4">
                    <a:lumMod val="50000"/>
                  </a:srgbClr>
                </a:solidFill>
                <a:latin typeface="Arial"/>
                <a:ea typeface="微软雅黑"/>
                <a:cs typeface="+mn-ea"/>
                <a:sym typeface="+mn-lt"/>
              </a:rPr>
              <a:t>汇报完毕，请老师同学批评指正！</a:t>
            </a:r>
          </a:p>
        </p:txBody>
      </p:sp>
      <p:sp>
        <p:nvSpPr>
          <p:cNvPr id="25" name="椭圆 24"/>
          <p:cNvSpPr/>
          <p:nvPr/>
        </p:nvSpPr>
        <p:spPr>
          <a:xfrm>
            <a:off x="5095186" y="649462"/>
            <a:ext cx="2123437" cy="2123436"/>
          </a:xfrm>
          <a:prstGeom prst="ellipse">
            <a:avLst/>
          </a:prstGeom>
          <a:gradFill flip="none" rotWithShape="1">
            <a:gsLst>
              <a:gs pos="0">
                <a:srgbClr val="BFBFBF"/>
              </a:gs>
              <a:gs pos="52000">
                <a:srgbClr val="FFFFFF"/>
              </a:gs>
              <a:gs pos="100000">
                <a:srgbClr val="0070C0">
                  <a:tint val="0"/>
                </a:srgbClr>
              </a:gs>
            </a:gsLst>
            <a:lin ang="2700000" scaled="1"/>
            <a:tileRect/>
          </a:gradFill>
          <a:ln w="73025" cap="flat" cmpd="sng" algn="ctr">
            <a:solidFill>
              <a:srgbClr val="F2F2F2"/>
            </a:solidFill>
            <a:prstDash val="solid"/>
          </a:ln>
          <a:effectLst>
            <a:outerShdw blurRad="190500" dist="254000" dir="2699985" rotWithShape="0">
              <a:scrgbClr r="0" g="0" b="0">
                <a:alpha val="23000"/>
              </a:scrgbClr>
            </a:outerShdw>
          </a:effectLst>
        </p:spPr>
        <p:txBody>
          <a:bodyPr rtlCol="0" anchor="ctr"/>
          <a:lstStyle/>
          <a:p>
            <a:pPr algn="ctr" defTabSz="1088390">
              <a:defRPr/>
            </a:pPr>
            <a:endParaRPr lang="zh-CN" altLang="en-US" sz="3200" kern="0">
              <a:solidFill>
                <a:srgbClr val="000000"/>
              </a:solidFill>
              <a:latin typeface="Impact"/>
              <a:ea typeface="方正姚体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056" y="746331"/>
            <a:ext cx="2005547" cy="20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4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465</Words>
  <Application>Microsoft Office PowerPoint</Application>
  <PresentationFormat>宽屏</PresentationFormat>
  <Paragraphs>55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微软雅黑</vt:lpstr>
      <vt:lpstr>Arial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演示文稿3</dc:title>
  <dc:creator>LYK</dc:creator>
  <cp:lastModifiedBy>木 乔</cp:lastModifiedBy>
  <cp:revision>70</cp:revision>
  <dcterms:created xsi:type="dcterms:W3CDTF">2016-04-09T13:02:00Z</dcterms:created>
  <dcterms:modified xsi:type="dcterms:W3CDTF">2026-01-10T08:00:18Z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2052-10.1.0.6690</vt:lpwstr>
  </property>
</Properties>
</file>