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4" r:id="rId8"/>
    <p:sldId id="3457" r:id="rId9"/>
    <p:sldId id="3449" r:id="rId10"/>
    <p:sldId id="3459" r:id="rId11"/>
    <p:sldId id="3460" r:id="rId12"/>
    <p:sldId id="3461" r:id="rId13"/>
    <p:sldId id="3462" r:id="rId14"/>
    <p:sldId id="3463" r:id="rId15"/>
    <p:sldId id="3458" r:id="rId16"/>
    <p:sldId id="3467" r:id="rId17"/>
    <p:sldId id="3466" r:id="rId18"/>
    <p:sldId id="3465" r:id="rId19"/>
    <p:sldId id="3231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使用混合</a:t>
            </a:r>
            <a:r>
              <a:rPr lang="en-US" altLang="zh-CN" dirty="0"/>
              <a:t>2D-3D</a:t>
            </a:r>
            <a:r>
              <a:rPr lang="zh-CN" altLang="en-US" dirty="0"/>
              <a:t>网络实现视网膜</a:t>
            </a:r>
            <a:r>
              <a:rPr lang="en-US" altLang="zh-CN" dirty="0"/>
              <a:t>OCT</a:t>
            </a:r>
            <a:r>
              <a:rPr lang="zh-CN" altLang="en-US" dirty="0"/>
              <a:t>图像三维相干层分割的同步对齐与表面回归：支持完整标注与稀疏标注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解释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scan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scan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Gf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由二维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U-net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encoder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构成的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Gf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，进行逐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B-scan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的特征提取，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是对齐分支的解码器，从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Gf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提取到的特征中估计每一张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scan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方向位移，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STM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是空间变换模块，将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Gf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提取到的多尺度特征进行对齐，也可以将原始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OCT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数据进行对齐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是分割分支的解码器，在已经对齐的特征上面进行层分割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NCC: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局部归一化互相关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L1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教网络精确学到每条扫描线上层面的位置坐标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 + L1 =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形状对齐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+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数值精确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是分类型损失，关注哪一行最有可能是层，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L1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是回归型损失，关注层的高度偏差多少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：大误差样本会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主导训练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，梯度爆炸风险更高；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：梯度稳定，但可能在误差很小时收敛慢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小误差，用平方（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特性），平滑收敛、精确拟合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大误差，用绝对值（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特性）抗异常、稳健训练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在解剖学上，视网膜层界面是连续的平滑曲面，不可能突然跳动或断裂，所以要加一个平滑性约束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∥∇S^(b,a)∥22​≈(S^b,a​−S^b−1,a​)2+(S^b,a​−S^b,a−1​)2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表示预测层面的空间梯度，如果层面在相邻位置变化太剧烈，损失就大，如果层面平滑、连续，损失就小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pre_align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（不含对齐分支但采用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NoRMCorre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进行预对齐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cascade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（级联对齐网络与纯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3D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编码器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解码器分割网络，即将我们的模型拆分为两个级联独立网络分别处理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scan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对齐和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3D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分割）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no_smooth (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无全局一致性损失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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SmoothS)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3D-3D (replacing the encoder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𝐺𝑓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with 3D CNNs)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46833" y="2546254"/>
            <a:ext cx="8398143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Simultaneous alignment and surface regression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3765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using hybrid 2D–3D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3765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networks for 3D coherent layer segmentation of retinal OCT images with full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3765"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and sparse annotations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MedIA 2024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65" y="789305"/>
            <a:ext cx="10170795" cy="5688965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7"/>
            <a:ext cx="10473267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/>
              <a:t>Background</a:t>
            </a:r>
            <a:endParaRPr lang="en-US" altLang="zh-CN" b="1" dirty="0"/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视网膜各层之间的厚度可以用于青光眼、阿尔兹海默症、糖尿病性视网膜病变、年龄相关性黄斑变性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(AMD)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等疾病的诊断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分层之后可以做层间的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OCTA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血流投影，避免不同层信号干扰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总之，视网膜层分割是对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数据进行定量分析的重要一步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539490"/>
            <a:ext cx="10246360" cy="181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89307"/>
            <a:ext cx="1047326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/>
              <a:t>目前存在的问题</a:t>
            </a:r>
            <a:endParaRPr lang="zh-CN" altLang="en-US" b="1" dirty="0"/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由于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体数据中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之间存在较大空隙和扫描过程中可能产生运动伪影，基于单幅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图像进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行层分割可能会导致视网膜层在三维空间中不连续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目前大部分方法需要对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OCT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数据进行密集标注，需要专业人士耗费大量时间进行标注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3175002"/>
            <a:ext cx="1047326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/>
              <a:t>Motivation</a:t>
            </a:r>
            <a:endParaRPr lang="en-US" altLang="zh-CN" b="1" dirty="0"/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本文利用视网膜层应该是光滑且连续的这一先验知识，提出了一种用于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图像对齐和三维层面分割的方法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该框架不仅在密集标注下效果良好，并且在仅有部分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带有标注的半监督学习场景下仍然十分有效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" y="894080"/>
            <a:ext cx="11409045" cy="4942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2"/>
            <a:ext cx="1047326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/>
              <a:t>B-scan</a:t>
            </a:r>
            <a:r>
              <a:rPr lang="zh-CN" altLang="en-US" b="1" dirty="0"/>
              <a:t>对齐分支</a:t>
            </a:r>
            <a:endParaRPr lang="zh-CN" altLang="en-US" b="1" dirty="0"/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首先通过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从输入数据中逐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提取二维特征，然后通过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输出每一帧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方向上的位移量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endParaRPr lang="en-US" altLang="zh-CN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420" y="2353945"/>
            <a:ext cx="7844790" cy="514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20" y="3234690"/>
            <a:ext cx="7600315" cy="1028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4629150"/>
            <a:ext cx="8333105" cy="7099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2"/>
            <a:ext cx="10473267" cy="1191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/>
              <a:t>空间变换模块（</a:t>
            </a:r>
            <a:r>
              <a:rPr lang="en-US" altLang="zh-CN" b="1" dirty="0"/>
              <a:t>STM</a:t>
            </a:r>
            <a:r>
              <a:rPr lang="zh-CN" altLang="en-US" b="1" dirty="0"/>
              <a:t>）</a:t>
            </a:r>
            <a:endParaRPr lang="zh-CN" altLang="en-US" b="1" dirty="0"/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用于对齐原始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r>
              <a:rPr lang="en-US" altLang="zh-CN" baseline="-25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提取到的特征图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028825"/>
            <a:ext cx="7518400" cy="609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660400" y="2926082"/>
                <a:ext cx="10473267" cy="1257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 fontAlgn="auto">
                  <a:lnSpc>
                    <a:spcPct val="150000"/>
                  </a:lnSpc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其中是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 = (</m:t>
                        </m:r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𝑧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当前目标图像中的位置，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= </m:t>
                    </m:r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+(</m:t>
                    </m:r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0</m:t>
                    </m:r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𝑏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charset="0"/>
                        <a:ea typeface="宋体" panose="02010600030101010101" pitchFamily="2" charset="-122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是原始图像中的位置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r>
                  <a:rPr lang="en-US" altLang="zh-CN" i="1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q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是在原图中靠近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𝑝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</a:rPr>
                          <m:t>’</m:t>
                        </m:r>
                      </m:sup>
                    </m:sSup>
                  </m:oMath>
                </a14:m>
                <a:r>
                  <a:rPr lang="zh-CN" altLang="en-US" dirty="0">
                    <a:latin typeface="Cambria Math" panose="02040503050406030204" charset="0"/>
                    <a:ea typeface="宋体" panose="02010600030101010101" pitchFamily="2" charset="-122"/>
                    <a:cs typeface="Cambria Math" panose="02040503050406030204" charset="0"/>
                  </a:rPr>
                  <a:t>的整数像素近邻点</a:t>
                </a:r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indent="0" fontAlgn="auto">
                  <a:lnSpc>
                    <a:spcPct val="150000"/>
                  </a:lnSpc>
                </a:pPr>
                <a:endParaRPr lang="zh-CN" altLang="en-US" baseline="-25000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926082"/>
                <a:ext cx="10473267" cy="1257935"/>
              </a:xfrm>
              <a:prstGeom prst="rect">
                <a:avLst/>
              </a:prstGeom>
              <a:blipFill rotWithShape="1">
                <a:blip r:embed="rId3"/>
                <a:stretch>
                  <a:fillRect r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60400" y="4725672"/>
            <a:ext cx="10473267" cy="1191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· 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STM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可进行亚像素精度插值，比整像素移动更平滑、更精确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用插值代替平移，允许反向传播过程中学习变换参数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d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62198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/>
              <a:t>分层分割分支</a:t>
            </a:r>
            <a:endParaRPr lang="zh-CN" altLang="en-US" b="1" dirty="0"/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分割网络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是一个共享解码器的双头结构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主分支用于预测每条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A-scan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的层面位置分布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表面回归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辅助分支进行像素级语义分割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614420"/>
            <a:ext cx="10004425" cy="7200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1515" y="3060700"/>
            <a:ext cx="5162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辅助分支损失：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Dice + CE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80" y="1021080"/>
            <a:ext cx="5671820" cy="188468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8515" y="4623435"/>
            <a:ext cx="74060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由于主分支的监督信号十分稀疏，只有视网膜层那一层提供监督信号，可能导致网络收敛慢、训练不稳定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辅助分支可以提供像素级密集监督，让低层特征学到更多的语义信息，加快收敛速度，提高主任务的表现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5" y="1475740"/>
            <a:ext cx="10076180" cy="8147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4360" y="777240"/>
            <a:ext cx="3493135" cy="698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2400" b="1" dirty="0"/>
              <a:t>主分支</a:t>
            </a:r>
            <a:endParaRPr lang="zh-CN" altLang="en-US" sz="2400" b="1" dirty="0"/>
          </a:p>
          <a:p>
            <a:pPr indent="0" fontAlgn="auto">
              <a:lnSpc>
                <a:spcPct val="150000"/>
              </a:lnSpc>
            </a:pP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400" y="2507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90" y="2351405"/>
            <a:ext cx="2062480" cy="5943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60400" y="33610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全局一致性损失：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67125"/>
            <a:ext cx="10361930" cy="9455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3425" y="48723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分割总损失：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700" y="5500370"/>
            <a:ext cx="10181590" cy="589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6895" y="777240"/>
            <a:ext cx="6219825" cy="636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/>
              <a:t>稀疏标注下的半监督学习</a:t>
            </a:r>
            <a:endParaRPr lang="zh-CN" altLang="en-US" b="1" dirty="0"/>
          </a:p>
          <a:p>
            <a:pPr indent="0" fontAlgn="auto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1835" y="1563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核心改动：修改对齐分支的损失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136140"/>
            <a:ext cx="7055485" cy="5175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1835" y="2971800"/>
            <a:ext cx="6790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在没有标注的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上，用模型预测结果代替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ground truth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835" y="4152265"/>
            <a:ext cx="6790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在分割分支中，仅在有标注的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B-scan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图像上计算损失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" y="1464310"/>
            <a:ext cx="11852275" cy="46081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8785" y="973455"/>
            <a:ext cx="2527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MAD(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平均绝对距离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330325"/>
            <a:ext cx="11845925" cy="4421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5" y="1608455"/>
            <a:ext cx="11506200" cy="39814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9100" y="1000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消融实验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2545715"/>
            <a:ext cx="12484100" cy="29305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1495" y="1198245"/>
            <a:ext cx="2001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半监督结果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28271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</Words>
  <Application>WPS 演示</Application>
  <PresentationFormat>宽屏</PresentationFormat>
  <Paragraphs>228</Paragraphs>
  <Slides>15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Cambria Math</vt:lpstr>
      <vt:lpstr>Arial Unicode MS</vt:lpstr>
      <vt:lpstr>等线 Light</vt:lpstr>
      <vt:lpstr>Calibri Light</vt:lpstr>
      <vt:lpstr>Calibri</vt:lpstr>
      <vt:lpstr>BatangChe</vt:lpstr>
      <vt:lpstr>Segoe Print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微信用户</cp:lastModifiedBy>
  <cp:revision>925</cp:revision>
  <dcterms:created xsi:type="dcterms:W3CDTF">2019-03-09T08:01:00Z</dcterms:created>
  <dcterms:modified xsi:type="dcterms:W3CDTF">2025-10-11T05:48:46Z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0C95BC188EFC487BA7C01F2F718226AD_13</vt:lpwstr>
  </property>
</Properties>
</file>