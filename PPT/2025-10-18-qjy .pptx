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  <p:sldMasterId id="2147483666" r:id="rId4"/>
  </p:sldMasterIdLst>
  <p:notesMasterIdLst>
    <p:notesMasterId r:id="rId6"/>
  </p:notesMasterIdLst>
  <p:sldIdLst>
    <p:sldId id="3228" r:id="rId5"/>
    <p:sldId id="3320" r:id="rId7"/>
    <p:sldId id="3454" r:id="rId8"/>
    <p:sldId id="3457" r:id="rId9"/>
    <p:sldId id="3449" r:id="rId10"/>
    <p:sldId id="3459" r:id="rId11"/>
    <p:sldId id="3471" r:id="rId12"/>
    <p:sldId id="3460" r:id="rId13"/>
    <p:sldId id="3461" r:id="rId14"/>
    <p:sldId id="3462" r:id="rId15"/>
    <p:sldId id="3458" r:id="rId16"/>
    <p:sldId id="3467" r:id="rId17"/>
    <p:sldId id="3465" r:id="rId18"/>
    <p:sldId id="3486" r:id="rId19"/>
    <p:sldId id="3231" r:id="rId20"/>
  </p:sldIdLst>
  <p:sldSz cx="12192000" cy="6858000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佳瑶 秦" initials="佳秦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6299"/>
    <a:srgbClr val="1A78C3"/>
    <a:srgbClr val="1C6299"/>
    <a:srgbClr val="1A78C2"/>
    <a:srgbClr val="1B6298"/>
    <a:srgbClr val="8609AD"/>
    <a:srgbClr val="96C4D1"/>
    <a:srgbClr val="6F3A97"/>
    <a:srgbClr val="D7E0E6"/>
    <a:srgbClr val="286B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8" autoAdjust="0"/>
    <p:restoredTop sz="84570" autoAdjust="0"/>
  </p:normalViewPr>
  <p:slideViewPr>
    <p:cSldViewPr snapToGrid="0" showGuides="1">
      <p:cViewPr varScale="1">
        <p:scale>
          <a:sx n="88" d="100"/>
          <a:sy n="88" d="100"/>
        </p:scale>
        <p:origin x="648" y="63"/>
      </p:cViewPr>
      <p:guideLst>
        <p:guide orient="horz" pos="2160"/>
        <p:guide pos="386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5" Type="http://schemas.openxmlformats.org/officeDocument/2006/relationships/tags" Target="tags/tag39.xml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893C12-D317-442F-945E-D6517EECB5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933A62-8780-4CAA-8D19-25292B7F568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通过归纳变分自编码器来实现生成式零样本学习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3A62-8780-4CAA-8D19-25292B7F56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幻灯片图像占位符 1"/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ln>
            <a:solidFill>
              <a:srgbClr val="000000"/>
            </a:solidFill>
            <a:miter lim="800000"/>
          </a:ln>
        </p:spPr>
      </p:sp>
      <p:sp>
        <p:nvSpPr>
          <p:cNvPr id="13315" name="备注占位符 2"/>
          <p:cNvSpPr>
            <a:spLocks noGrp="1" noChangeArrowheads="1"/>
          </p:cNvSpPr>
          <p:nvPr>
            <p:ph type="body" idx="429496729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现在是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阿联酋人工智能大学计算机视觉系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的一名</a:t>
            </a:r>
            <a:r>
              <a:rPr lang="en-US" altLang="zh-CN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研究</a:t>
            </a:r>
            <a:r>
              <a:rPr lang="zh-CN" altLang="en-US" sz="1800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员，他的主要研究方向集中在计算机视觉领域，尤其专注于零样本学习相关研究</a:t>
            </a:r>
            <a:endParaRPr lang="zh-CN" altLang="en-US" sz="1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5363" name="灯片编号占位符 3"/>
          <p:cNvSpPr>
            <a:spLocks noGrp="1" noChangeArrowheads="1"/>
          </p:cNvSpPr>
          <p:nvPr>
            <p:ph type="sldNum" sz="quarter" idx="5"/>
          </p:nvPr>
        </p:nvSpPr>
        <p:spPr bwMode="auto"/>
        <p:txBody>
          <a:bodyPr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fld id="{5D0C7136-3D9D-4638-BEA3-794311647C77}" type="slidenum">
              <a:rPr lang="zh-CN" altLang="en-US">
                <a:solidFill>
                  <a:srgbClr val="000000"/>
                </a:solidFill>
              </a:rPr>
            </a:fld>
            <a:endParaRPr lang="zh-CN" altLang="en-US"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零样本学习（ZSL）的核心目标，是借助已知类别的语义知识，实现对未知类别的识别。在现实场景中，数据获取成本往往很高，而 ZSL 能充分利用有限的标注数据训练模型，有效缓解数据稀缺问题，这也是其重要意义所在。</a:t>
            </a:r>
            <a:endParaRPr lang="zh-CN" altLang="en-US" dirty="0"/>
          </a:p>
          <a:p>
            <a:r>
              <a:rPr lang="zh-CN" altLang="en-US" dirty="0"/>
              <a:t>虽然没有见过斑马，但是根据对斑马的描述：斑马的形状像马、身上有和老虎一样的条纹、而且它像熊猫一样是黑白色的，就可以识别出斑马的图片。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在生成式零样本学习中，模型需要学习数据（比如图像、文本特征等）在高维空间里的分布规律。只有当数据量足够大时，模型才能 “看全” 高维空间里的数据分布规律。如果数据量不足，模型就无法完整捕捉高维空间里的分布规律。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 fontAlgn="auto">
              <a:lnSpc>
                <a:spcPct val="150000"/>
              </a:lnSpc>
            </a:pPr>
            <a:r>
              <a:rPr 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问题：</a:t>
            </a: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为摆脱专家标注强语义向量的依赖，</a:t>
            </a: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使</a:t>
            </a: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用</a:t>
            </a:r>
            <a:r>
              <a:rPr b="1" dirty="0">
                <a:latin typeface="+mn-ea"/>
                <a:cs typeface="+mn-ea"/>
                <a:sym typeface="+mn-ea"/>
              </a:rPr>
              <a:t>CLIP文本编码器</a:t>
            </a: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提取类别名称的文本嵌入</a:t>
            </a:r>
            <a:r>
              <a:rPr 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—</a:t>
            </a:r>
            <a:r>
              <a:rPr b="1" dirty="0">
                <a:latin typeface="+mn-ea"/>
                <a:cs typeface="宋体" panose="02010600030101010101" pitchFamily="2" charset="-122"/>
                <a:sym typeface="+mn-ea"/>
              </a:rPr>
              <a:t>弱语义向量</a:t>
            </a: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；</a:t>
            </a:r>
            <a:r>
              <a:rPr 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</a:t>
            </a:r>
            <a:endParaRPr 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 </a:t>
            </a: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但CLIP在细粒度数据集上难捕捉区分性信息，直接用会因多样性不足导致GenZSL合成视觉特征混淆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indent="0" fontAlgn="auto">
              <a:lnSpc>
                <a:spcPct val="150000"/>
              </a:lnSpc>
            </a:pPr>
            <a:r>
              <a:rPr 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解决</a:t>
            </a: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：提出了</a:t>
            </a:r>
            <a:r>
              <a:rPr lang="zh-CN" b="1" dirty="0">
                <a:latin typeface="+mn-ea"/>
                <a:cs typeface="宋体" panose="02010600030101010101" pitchFamily="2" charset="-122"/>
                <a:sym typeface="+mn-ea"/>
              </a:rPr>
              <a:t>类别多样性提升</a:t>
            </a: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的方法，</a:t>
            </a: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通过去除冗余信息，</a:t>
            </a: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去掉了所有类别都共享的全局共性</a:t>
            </a: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而类与类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       </a:t>
            </a: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之间的相对差异被完整保留</a:t>
            </a: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从而增强类间的区分度</a:t>
            </a: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类别语义向量相似度热力图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颜色与相似度：热力图颜色越偏向红色，表示两个类别语义向量的相似度越高；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越偏向蓝色，相似度越低。（红色≈高相似度，蓝色≈低相似度）。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子图(a)中，热力图大量区域呈现红色，说明原始CLIP文本编码器的类别语义向量普遍相似度较高（不同类别间语义区分度低）。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子图(b)中，热力图几乎全为蓝色，仅少量区域有浅色/红色，说明带类别多样性提升的CLIP大幅降低了类别语义向量的相似度（不同类别间语义区分度显著提高）。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为什么能 “保留原始类间关系”？—— 只去 “全局共性”，不去 “相对差异”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去掉主成分会不会破坏类与类之间的关联（比如把 “斑马” 和 “马” 的近亲关系变成无关关系）？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不会！因为我们只去掉了 “所有类别都共享的全局共性”（如 “动物”），而类与类之间的相对差异被完整保留：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比如 “斑马” 和 “马” 的原始差异是 “条纹 vs 纯色”，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这部分差异存在于 e₂~e_D 维度（不是 e₁的共性），投影后这部分差异依然存在；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是正交基，也就是一个框架，去除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e1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得到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U’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为了后续的操作需要恢复到原始的维度，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所以需要计算出一个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正交投影矩阵，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是不含共性的语义空间的基向量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用投影矩阵 P 乘以原始语义向量矩阵 Z，得到新的语义向量矩阵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Z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（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hat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）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,</a:t>
            </a: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sym typeface="+mn-ea"/>
              </a:rPr>
              <a:t>Z</a:t>
            </a:r>
            <a:r>
              <a:rPr lang="zh-CN" altLang="en-US" dirty="0">
                <a:sym typeface="+mn-ea"/>
              </a:rPr>
              <a:t>（</a:t>
            </a:r>
            <a:r>
              <a:rPr lang="en-US" altLang="zh-CN" dirty="0">
                <a:sym typeface="+mn-ea"/>
              </a:rPr>
              <a:t>hat</a:t>
            </a:r>
            <a:r>
              <a:rPr lang="zh-CN" altLang="en-US" dirty="0">
                <a:sym typeface="+mn-ea"/>
              </a:rPr>
              <a:t>）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中的每一列就是 “去除共性冗余后的正交化语义向量”</a:t>
            </a: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GenZSL的核心</a:t>
            </a: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逻辑</a:t>
            </a: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是 “从相似已见类归纳未见类特征”—— 而选对相似的已见类样本是归纳的前提</a:t>
            </a: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①为目标类向量，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②为已见类向量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归纳编码器（IE）——“给参考样本注入目标语义”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输入：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① 参考样本x</a:t>
            </a:r>
            <a:r>
              <a:rPr lang="zh-CN" altLang="en-US" baseline="30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refer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；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② 目标类正交化语义向量z</a:t>
            </a:r>
            <a:r>
              <a:rPr lang="zh-CN" altLang="en-US" baseline="30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target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输出：带扰动的潜在向量o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公式：o=δ⋅N(0,1)+μ，其中μ,δ=IE(x</a:t>
            </a:r>
            <a:r>
              <a:rPr lang="zh-CN" altLang="en-US" baseline="30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refer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, z</a:t>
            </a:r>
            <a:r>
              <a:rPr lang="zh-CN" altLang="en-US" baseline="30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target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)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μ：“参考样本 + 目标语义” 经神经网络编码后的特征均值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δ：尺度参数，对噪声进行 “缩放”（保证生成特征多样性，避免复制参考样本）。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N(0,1)：从标准正态分布中采样的 “随机噪声向量”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核心作用：把参考样本特征与目标类语义融合，编码成带目标导向的潜在特征。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归纳解码器（ID）—从 latent 向量生成目标特征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输入：潜在向量o + 目标类语义z</a:t>
            </a:r>
            <a:r>
              <a:rPr lang="zh-CN" altLang="en-US" baseline="30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target</a:t>
            </a:r>
            <a:endParaRPr lang="zh-CN" altLang="en-US" baseline="30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输出：目标类视觉特征x^target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关键设计：ID 的隐藏层节点数 “逐步增大”（如 512→1024→2048→512），目的是：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从 latent 向量的低维信息，逐步还原出高维、细节丰富的目标类视觉特征。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1. KL 散度的作用：约束 “潜在变量的分布”。让变分后验q逼近先验分布 p，保证潜在变量 o的分布符合假设（假设为标准正态分布 N(0,1)）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其中，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是变分后验分布，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是实际参考样本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x</a:t>
            </a:r>
            <a:r>
              <a:rPr lang="en-US" altLang="zh-CN" sz="1200" kern="1200" baseline="30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refer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，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q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的含义是在 参考样本 x</a:t>
            </a:r>
            <a:r>
              <a:rPr lang="zh-CN" altLang="en-US" sz="1200" kern="1200" baseline="30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refer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和 目标语义 z</a:t>
            </a:r>
            <a:r>
              <a:rPr lang="zh-CN" altLang="en-US" sz="1200" kern="1200" baseline="30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target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的共同约束下，潜在变量 o 的概率分布。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是先验分布，即不依赖参考样本时，潜在变量应服从的分布。假设为 标准正态分布 N(0,1)，保证潜在在空间的正则性，避免生成特征过拟合参考样本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2. 重构损失的作用：约束 “生成特征的视觉真实性”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其中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是生成样本的概率分布，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含义：在 潜在变量 o 和 目标语义 z</a:t>
            </a:r>
            <a:r>
              <a:rPr lang="en-US" altLang="zh-CN" sz="1200" kern="1200" baseline="30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target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的共同约束下，生成目标类样本 x</a:t>
            </a:r>
            <a:r>
              <a:rPr lang="en-US" altLang="zh-CN" sz="1200" kern="1200" baseline="300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target 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的概率分布。</a:t>
            </a: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>
                <a:sym typeface="+mn-ea"/>
              </a:rPr>
              <a:t> x</a:t>
            </a:r>
            <a:r>
              <a:rPr lang="en-US" altLang="zh-CN" baseline="30000" dirty="0">
                <a:sym typeface="+mn-ea"/>
              </a:rPr>
              <a:t> target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：IVAE 生成的目标类视觉特征（如生成的斑马视觉特征向量）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 z</a:t>
            </a:r>
            <a:r>
              <a:rPr lang="zh-CN" altLang="en-US" baseline="30000" dirty="0">
                <a:sym typeface="+mn-ea"/>
              </a:rPr>
              <a:t>target</a:t>
            </a:r>
            <a:r>
              <a:rPr lang="zh-CN" altLang="en-US" dirty="0">
                <a:sym typeface="+mn-ea"/>
              </a:rPr>
              <a:t> 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：目标类的正交化语义向量（如斑马的语义向量）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τ：温度参数，放大目标语义与其他语义的差异，让模型更精准地聚焦于目标语义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</a:t>
            </a:r>
            <a:r>
              <a:rPr lang="en-US" altLang="zh-CN" baseline="300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s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：已见类的总数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语义精准性：：让 IVAE 生成的视觉特征（如 “斑马”），在语义空间中仅与自身目标语义向量（“斑马”）高度匹配，</a:t>
            </a:r>
            <a:r>
              <a:rPr lang="en-US" altLang="zh-CN" dirty="0">
                <a:sym typeface="+mn-ea"/>
              </a:rPr>
              <a:t> </a:t>
            </a:r>
            <a:r>
              <a:rPr lang="zh-CN" altLang="en-US" dirty="0">
                <a:sym typeface="+mn-ea"/>
              </a:rPr>
              <a:t>而与其他已见类语义向量（如 “老虎”“熊猫”）的匹配度低。</a:t>
            </a:r>
            <a:endParaRPr lang="zh-CN" alt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dirty="0">
                <a:sym typeface="+mn-ea"/>
              </a:rPr>
              <a:t>弥补视觉重建的不足：：L_tr（视觉重建损失）保证 “生成特征视觉合理”，但可能存在 “语义偏差”（如生成的 “斑马” 视觉上像 “驴”）；L _Boost则从语义层面约束，确保生成特征 “语义上也对”。</a:t>
            </a:r>
            <a:endParaRPr lang="zh-CN" altLang="en-US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从视觉和语义两方面进行约束，实现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视觉合理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”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和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“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语义精准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”</a:t>
            </a: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平衡系数 λ：控制 “语义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对齐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” 在总损失中的权重。论文通过实验调优（如 CUB/AWA2 取 0.1，SUN 取 0.001），</a:t>
            </a: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确保 “语义约束” 既不压制视觉约束，又能有效修正语义偏差。</a:t>
            </a:r>
            <a:endParaRPr lang="en-US" altLang="zh-CN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CUB：同类鸟（如 “知更鸟” 与 “画眉鸟”）的视觉差异仅体现在喙的细微形状、羽毛纹理等局部特征，生成模型需精准捕捉局部特征，难度最高，但仍超越多数方法；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SUN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：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场景类别多、特征维度高、语义关联复杂，生成高维场景特征易偏离真实分布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；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AWA2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：粗粒度视觉差异极大，生成模型只需抓核心特征，且弱语义适配性好，表现最佳；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f-VAEGAN†/ TF-VAEGAN†：使用CLIP 预训练视觉特征，表现出 “已见类 S 极高，但未见类 U 极低”的特点：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原因：CLIP 是通用预训练特征，对 “已见类拟合极好”，但与 “数据集特定的未见类细粒度需求” 不匹配，导致生成的未见类特征泛化性差。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①缺乏类别多样性提升模块时，性能会显著下降。这归因于从文本编码器提取的类语义向量不能捕获区分类信息，导致类语义向量之间的弱多样性。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②语义相似的样本选择可以略微提高GenZSL的性能，是一种有效地补充。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③去掉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L_tr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重建损失时，性能会显著下降。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④去掉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L_boost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语义增强损失时，性能也有所下降，</a:t>
            </a:r>
            <a:r>
              <a:rPr lang="en-US" altLang="zh-CN" dirty="0">
                <a:sym typeface="+mn-ea"/>
              </a:rPr>
              <a:t>L_boost</a:t>
            </a:r>
            <a:r>
              <a:rPr lang="zh-CN" altLang="en-US" dirty="0">
                <a:sym typeface="+mn-ea"/>
              </a:rPr>
              <a:t>避免了视觉对但语义错的情况。</a:t>
            </a:r>
            <a:endParaRPr lang="zh-CN" altLang="en-US" dirty="0"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⑤同时去掉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CDP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和</a:t>
            </a:r>
            <a:r>
              <a:rPr lang="en-US" altLang="zh-CN" dirty="0">
                <a:sym typeface="+mn-ea"/>
              </a:rPr>
              <a:t>L_boost</a:t>
            </a:r>
            <a:r>
              <a:rPr lang="zh-CN" altLang="en-US" dirty="0">
                <a:sym typeface="+mn-ea"/>
              </a:rPr>
              <a:t>，发现比单独去掉一个模块效果更差，证明了CDP 与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L</a:t>
            </a:r>
            <a:r>
              <a:rPr lang="en-US" altLang="zh-CN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_</a:t>
            </a: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Boost在 “语义精准” 上存在协同作用，需同时保留。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⑥完整的模型，所有模块的配合才能让 GenZSL 在 “视觉真实生成” 和 “语义精准对齐” 上达到最优。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这是t-SNE可视化的定性评估图，用于对比“f-VAEGAN”和“GenZSL”生成的特征与真实特征的分布匹配度；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数据与符号：从SUN数据集中随机选10个类别，用10种颜色区分；“×”代表真实样本特征，“○”代表生成的样本特征。 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左图（f-VAEGAN）：真实特征和生成特征的分布差异大，各类别特征混杂，生成特征没很好贴合真实分布。 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右图（GenZSL）：真实特征和生成特征的分布更相似，同一类别的特征更聚集，说明GenZSL生成的特征更接近真实样本的分布规律。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+mn-ea"/>
              </a:rPr>
              <a:t> 简言之，可视化证明：GenZSL生成的特征比f-VAEGAN更符合真实数据的分布。</a:t>
            </a:r>
            <a:endParaRPr lang="zh-CN" altLang="en-US" sz="1200" kern="1200" dirty="0">
              <a:solidFill>
                <a:schemeClr val="tx1"/>
              </a:solidFill>
              <a:latin typeface="+mn-lt"/>
              <a:ea typeface="+mn-ea"/>
              <a:cs typeface="+mn-cs"/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85546F3-DA74-492A-8CCE-24C056251480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933A62-8780-4CAA-8D19-25292B7F568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2" y="1122364"/>
            <a:ext cx="9144000" cy="2387600"/>
          </a:xfrm>
        </p:spPr>
        <p:txBody>
          <a:bodyPr anchor="b"/>
          <a:lstStyle>
            <a:lvl1pPr algn="ctr">
              <a:defRPr sz="59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2" y="3602038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3765" indent="0" algn="ctr">
              <a:buNone/>
              <a:defRPr sz="1800"/>
            </a:lvl3pPr>
            <a:lvl4pPr marL="1370965" indent="0" algn="ctr">
              <a:buNone/>
              <a:defRPr sz="1600"/>
            </a:lvl4pPr>
            <a:lvl5pPr marL="1827530" indent="0" algn="ctr">
              <a:buNone/>
              <a:defRPr sz="1600"/>
            </a:lvl5pPr>
            <a:lvl6pPr marL="2284730" indent="0" algn="ctr">
              <a:buNone/>
              <a:defRPr sz="1600"/>
            </a:lvl6pPr>
            <a:lvl7pPr marL="2741930" indent="0" algn="ctr">
              <a:buNone/>
              <a:defRPr sz="1600"/>
            </a:lvl7pPr>
            <a:lvl8pPr marL="3198495" indent="0" algn="ctr">
              <a:buNone/>
              <a:defRPr sz="1600"/>
            </a:lvl8pPr>
            <a:lvl9pPr marL="3655695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2" y="1122364"/>
            <a:ext cx="9144000" cy="2387600"/>
          </a:xfrm>
        </p:spPr>
        <p:txBody>
          <a:bodyPr anchor="b"/>
          <a:lstStyle>
            <a:lvl1pPr algn="ctr">
              <a:defRPr sz="59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524002" y="3602038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3765" indent="0" algn="ctr">
              <a:buNone/>
              <a:defRPr sz="1800"/>
            </a:lvl3pPr>
            <a:lvl4pPr marL="1370965" indent="0" algn="ctr">
              <a:buNone/>
              <a:defRPr sz="1600"/>
            </a:lvl4pPr>
            <a:lvl5pPr marL="1827530" indent="0" algn="ctr">
              <a:buNone/>
              <a:defRPr sz="1600"/>
            </a:lvl5pPr>
            <a:lvl6pPr marL="2284730" indent="0" algn="ctr">
              <a:buNone/>
              <a:defRPr sz="1600"/>
            </a:lvl6pPr>
            <a:lvl7pPr marL="2741930" indent="0" algn="ctr">
              <a:buNone/>
              <a:defRPr sz="1600"/>
            </a:lvl7pPr>
            <a:lvl8pPr marL="3198495" indent="0" algn="ctr">
              <a:buNone/>
              <a:defRPr sz="1600"/>
            </a:lvl8pPr>
            <a:lvl9pPr marL="3655695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599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376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096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75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47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19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1984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569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1" y="1825627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1" y="1825627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90" y="1681163"/>
            <a:ext cx="515778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3765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7530" indent="0">
              <a:buNone/>
              <a:defRPr sz="1600" b="1"/>
            </a:lvl5pPr>
            <a:lvl6pPr marL="2284730" indent="0">
              <a:buNone/>
              <a:defRPr sz="1600" b="1"/>
            </a:lvl6pPr>
            <a:lvl7pPr marL="2741930" indent="0">
              <a:buNone/>
              <a:defRPr sz="1600" b="1"/>
            </a:lvl7pPr>
            <a:lvl8pPr marL="3198495" indent="0">
              <a:buNone/>
              <a:defRPr sz="1600" b="1"/>
            </a:lvl8pPr>
            <a:lvl9pPr marL="3655695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839790" y="2505076"/>
            <a:ext cx="5157786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1" y="1681163"/>
            <a:ext cx="5183189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3765" indent="0">
              <a:buNone/>
              <a:defRPr sz="1800" b="1"/>
            </a:lvl3pPr>
            <a:lvl4pPr marL="1370965" indent="0">
              <a:buNone/>
              <a:defRPr sz="1600" b="1"/>
            </a:lvl4pPr>
            <a:lvl5pPr marL="1827530" indent="0">
              <a:buNone/>
              <a:defRPr sz="1600" b="1"/>
            </a:lvl5pPr>
            <a:lvl6pPr marL="2284730" indent="0">
              <a:buNone/>
              <a:defRPr sz="1600" b="1"/>
            </a:lvl6pPr>
            <a:lvl7pPr marL="2741930" indent="0">
              <a:buNone/>
              <a:defRPr sz="1600" b="1"/>
            </a:lvl7pPr>
            <a:lvl8pPr marL="3198495" indent="0">
              <a:buNone/>
              <a:defRPr sz="1600" b="1"/>
            </a:lvl8pPr>
            <a:lvl9pPr marL="3655695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6172201" y="2505076"/>
            <a:ext cx="5183189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8" cy="160019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90" y="987428"/>
            <a:ext cx="6172199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1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3765" indent="0">
              <a:buNone/>
              <a:defRPr sz="1200"/>
            </a:lvl3pPr>
            <a:lvl4pPr marL="1370965" indent="0">
              <a:buNone/>
              <a:defRPr sz="1000"/>
            </a:lvl4pPr>
            <a:lvl5pPr marL="1827530" indent="0">
              <a:buNone/>
              <a:defRPr sz="1000"/>
            </a:lvl5pPr>
            <a:lvl6pPr marL="2284730" indent="0">
              <a:buNone/>
              <a:defRPr sz="1000"/>
            </a:lvl6pPr>
            <a:lvl7pPr marL="2741930" indent="0">
              <a:buNone/>
              <a:defRPr sz="1000"/>
            </a:lvl7pPr>
            <a:lvl8pPr marL="3198495" indent="0">
              <a:buNone/>
              <a:defRPr sz="1000"/>
            </a:lvl8pPr>
            <a:lvl9pPr marL="3655695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1"/>
            <a:ext cx="3932238" cy="160019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90" y="987428"/>
            <a:ext cx="6172199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3765" indent="0">
              <a:buNone/>
              <a:defRPr sz="2400"/>
            </a:lvl3pPr>
            <a:lvl4pPr marL="1370965" indent="0">
              <a:buNone/>
              <a:defRPr sz="2000"/>
            </a:lvl4pPr>
            <a:lvl5pPr marL="1827530" indent="0">
              <a:buNone/>
              <a:defRPr sz="2000"/>
            </a:lvl5pPr>
            <a:lvl6pPr marL="2284730" indent="0">
              <a:buNone/>
              <a:defRPr sz="2000"/>
            </a:lvl6pPr>
            <a:lvl7pPr marL="2741930" indent="0">
              <a:buNone/>
              <a:defRPr sz="2000"/>
            </a:lvl7pPr>
            <a:lvl8pPr marL="3198495" indent="0">
              <a:buNone/>
              <a:defRPr sz="2000"/>
            </a:lvl8pPr>
            <a:lvl9pPr marL="3655695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1"/>
            <a:ext cx="393223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3765" indent="0">
              <a:buNone/>
              <a:defRPr sz="1200"/>
            </a:lvl3pPr>
            <a:lvl4pPr marL="1370965" indent="0">
              <a:buNone/>
              <a:defRPr sz="1000"/>
            </a:lvl4pPr>
            <a:lvl5pPr marL="1827530" indent="0">
              <a:buNone/>
              <a:defRPr sz="1000"/>
            </a:lvl5pPr>
            <a:lvl6pPr marL="2284730" indent="0">
              <a:buNone/>
              <a:defRPr sz="1000"/>
            </a:lvl6pPr>
            <a:lvl7pPr marL="2741930" indent="0">
              <a:buNone/>
              <a:defRPr sz="1000"/>
            </a:lvl7pPr>
            <a:lvl8pPr marL="3198495" indent="0">
              <a:buNone/>
              <a:defRPr sz="1000"/>
            </a:lvl8pPr>
            <a:lvl9pPr marL="3655695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8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2" y="365128"/>
            <a:ext cx="7734301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 advClick="0" advTm="1000">
    <p:randomBar dir="vert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p:transition spd="slow" advClick="0" advTm="1000">
    <p:randomBar dir="vert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0.xml"/><Relationship Id="rId6" Type="http://schemas.openxmlformats.org/officeDocument/2006/relationships/slideLayout" Target="../slideLayouts/slideLayout9.xml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4" Type="http://schemas.openxmlformats.org/officeDocument/2006/relationships/theme" Target="../theme/theme2.xml"/><Relationship Id="rId13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3.xml"/><Relationship Id="rId1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4" Type="http://schemas.openxmlformats.org/officeDocument/2006/relationships/theme" Target="../theme/theme3.xml"/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 advTm="3000">
        <p15:prstTrans prst="pageCurlDouble"/>
      </p:transition>
    </mc:Choice>
    <mc:Fallback>
      <p:transition spd="slow" advTm="3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825627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72DE3-FE0A-428A-AB10-325226F2F56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2C7F20-4EEE-4847-AC76-B538472E8A3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</p:sldLayoutIdLst>
  <p:transition spd="slow" advClick="0" advTm="1000">
    <p:randomBar dir="vert"/>
  </p:transition>
  <p:txStyles>
    <p:titleStyle>
      <a:lvl1pPr algn="l" defTabSz="913765" rtl="0" eaLnBrk="1" latinLnBrk="0" hangingPunct="1">
        <a:lnSpc>
          <a:spcPct val="90000"/>
        </a:lnSpc>
        <a:spcBef>
          <a:spcPct val="0"/>
        </a:spcBef>
        <a:buNone/>
        <a:defRPr sz="43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3765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1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3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56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1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3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530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09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295" indent="-228600" algn="l" defTabSz="913765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96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5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7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930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4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5695" algn="l" defTabSz="913765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389" y="365780"/>
            <a:ext cx="10515224" cy="132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389" y="1825890"/>
            <a:ext cx="10515224" cy="43517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389" y="6356747"/>
            <a:ext cx="2742447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A93E93-166D-47F5-9EF1-ACEABE24AEEA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413" y="6356747"/>
            <a:ext cx="4115176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1166" y="6356747"/>
            <a:ext cx="2742447" cy="3642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8D5ACA-62CA-46DB-AD6B-12EDD6D51A2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</p:sldLayoutIdLst>
  <p:txStyles>
    <p:titleStyle>
      <a:lvl1pPr algn="l" defTabSz="866775" rtl="0" eaLnBrk="1" latinLnBrk="0" hangingPunct="1">
        <a:lnSpc>
          <a:spcPct val="90000"/>
        </a:lnSpc>
        <a:spcBef>
          <a:spcPct val="0"/>
        </a:spcBef>
        <a:buNone/>
        <a:defRPr sz="41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535" indent="-216535" algn="l" defTabSz="866775" rtl="0" eaLnBrk="1" latinLnBrk="0" hangingPunct="1">
        <a:lnSpc>
          <a:spcPct val="90000"/>
        </a:lnSpc>
        <a:spcBef>
          <a:spcPts val="950"/>
        </a:spcBef>
        <a:buFont typeface="Arial" panose="020B0604020202020204" pitchFamily="34" charset="0"/>
        <a:buChar char="•"/>
        <a:defRPr sz="2655" kern="1200">
          <a:solidFill>
            <a:schemeClr val="tx1"/>
          </a:solidFill>
          <a:latin typeface="+mn-lt"/>
          <a:ea typeface="+mn-ea"/>
          <a:cs typeface="+mn-cs"/>
        </a:defRPr>
      </a:lvl1pPr>
      <a:lvl2pPr marL="65024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2pPr>
      <a:lvl3pPr marL="108394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895" kern="1200">
          <a:solidFill>
            <a:schemeClr val="tx1"/>
          </a:solidFill>
          <a:latin typeface="+mn-lt"/>
          <a:ea typeface="+mn-ea"/>
          <a:cs typeface="+mn-cs"/>
        </a:defRPr>
      </a:lvl3pPr>
      <a:lvl4pPr marL="151701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4pPr>
      <a:lvl5pPr marL="195072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5pPr>
      <a:lvl6pPr marL="238379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6pPr>
      <a:lvl7pPr marL="281749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7pPr>
      <a:lvl8pPr marL="325120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8pPr>
      <a:lvl9pPr marL="368427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0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1pPr>
      <a:lvl2pPr marL="43370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2pPr>
      <a:lvl3pPr marL="86677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3pPr>
      <a:lvl4pPr marL="130048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4pPr>
      <a:lvl5pPr marL="173418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5pPr>
      <a:lvl6pPr marL="216725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6pPr>
      <a:lvl7pPr marL="260096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7pPr>
      <a:lvl8pPr marL="3034030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8pPr>
      <a:lvl9pPr marL="3467735" algn="l" defTabSz="866775" rtl="0" eaLnBrk="1" latinLnBrk="0" hangingPunct="1">
        <a:defRPr sz="170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4.xml"/><Relationship Id="rId4" Type="http://schemas.microsoft.com/office/2007/relationships/hdphoto" Target="../media/image5.wdp"/><Relationship Id="rId3" Type="http://schemas.openxmlformats.org/officeDocument/2006/relationships/image" Target="../media/image4.png"/><Relationship Id="rId2" Type="http://schemas.microsoft.com/office/2007/relationships/hdphoto" Target="../media/image3.wdp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7.jpe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6.xml"/><Relationship Id="rId2" Type="http://schemas.openxmlformats.org/officeDocument/2006/relationships/image" Target="../media/image9.jpe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6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jpeg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tags" Target="../tags/tag1.xml"/><Relationship Id="rId2" Type="http://schemas.openxmlformats.org/officeDocument/2006/relationships/image" Target="../media/image11.jpe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image" Target="../media/image15.png"/><Relationship Id="rId7" Type="http://schemas.openxmlformats.org/officeDocument/2006/relationships/tags" Target="../tags/tag5.xml"/><Relationship Id="rId6" Type="http://schemas.openxmlformats.org/officeDocument/2006/relationships/image" Target="../media/image14.png"/><Relationship Id="rId5" Type="http://schemas.openxmlformats.org/officeDocument/2006/relationships/tags" Target="../tags/tag4.xml"/><Relationship Id="rId4" Type="http://schemas.openxmlformats.org/officeDocument/2006/relationships/image" Target="../media/image13.png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notesSlide" Target="../notesSlides/notesSlide7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7.xml"/><Relationship Id="rId10" Type="http://schemas.openxmlformats.org/officeDocument/2006/relationships/image" Target="../media/image16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9.png"/><Relationship Id="rId7" Type="http://schemas.openxmlformats.org/officeDocument/2006/relationships/tags" Target="../tags/tag11.xml"/><Relationship Id="rId6" Type="http://schemas.openxmlformats.org/officeDocument/2006/relationships/image" Target="../media/image18.png"/><Relationship Id="rId5" Type="http://schemas.openxmlformats.org/officeDocument/2006/relationships/tags" Target="../tags/tag10.xml"/><Relationship Id="rId4" Type="http://schemas.openxmlformats.org/officeDocument/2006/relationships/image" Target="../media/image17.png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0.png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8.xml"/><Relationship Id="rId8" Type="http://schemas.openxmlformats.org/officeDocument/2006/relationships/image" Target="../media/image23.png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image" Target="../media/image22.png"/><Relationship Id="rId4" Type="http://schemas.openxmlformats.org/officeDocument/2006/relationships/tags" Target="../tags/tag15.xml"/><Relationship Id="rId3" Type="http://schemas.openxmlformats.org/officeDocument/2006/relationships/image" Target="../media/image21.png"/><Relationship Id="rId21" Type="http://schemas.openxmlformats.org/officeDocument/2006/relationships/notesSlide" Target="../notesSlides/notesSlide10.xml"/><Relationship Id="rId20" Type="http://schemas.openxmlformats.org/officeDocument/2006/relationships/slideLayout" Target="../slideLayouts/slideLayout2.xml"/><Relationship Id="rId2" Type="http://schemas.openxmlformats.org/officeDocument/2006/relationships/tags" Target="../tags/tag14.xml"/><Relationship Id="rId19" Type="http://schemas.openxmlformats.org/officeDocument/2006/relationships/image" Target="../media/image26.png"/><Relationship Id="rId18" Type="http://schemas.openxmlformats.org/officeDocument/2006/relationships/tags" Target="../tags/tag25.xml"/><Relationship Id="rId17" Type="http://schemas.openxmlformats.org/officeDocument/2006/relationships/image" Target="../media/image25.png"/><Relationship Id="rId16" Type="http://schemas.openxmlformats.org/officeDocument/2006/relationships/tags" Target="../tags/tag24.xml"/><Relationship Id="rId15" Type="http://schemas.openxmlformats.org/officeDocument/2006/relationships/tags" Target="../tags/tag23.xml"/><Relationship Id="rId14" Type="http://schemas.openxmlformats.org/officeDocument/2006/relationships/image" Target="../media/image24.png"/><Relationship Id="rId13" Type="http://schemas.openxmlformats.org/officeDocument/2006/relationships/tags" Target="../tags/tag22.xml"/><Relationship Id="rId12" Type="http://schemas.openxmlformats.org/officeDocument/2006/relationships/tags" Target="../tags/tag21.xml"/><Relationship Id="rId11" Type="http://schemas.openxmlformats.org/officeDocument/2006/relationships/tags" Target="../tags/tag20.xml"/><Relationship Id="rId10" Type="http://schemas.openxmlformats.org/officeDocument/2006/relationships/tags" Target="../tags/tag19.xml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image" Target="../media/image29.png"/><Relationship Id="rId7" Type="http://schemas.openxmlformats.org/officeDocument/2006/relationships/tags" Target="../tags/tag29.xml"/><Relationship Id="rId6" Type="http://schemas.openxmlformats.org/officeDocument/2006/relationships/image" Target="../media/image28.png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image" Target="../media/image27.png"/><Relationship Id="rId2" Type="http://schemas.openxmlformats.org/officeDocument/2006/relationships/tags" Target="../tags/tag26.xml"/><Relationship Id="rId16" Type="http://schemas.openxmlformats.org/officeDocument/2006/relationships/notesSlide" Target="../notesSlides/notesSlide11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33.xml"/><Relationship Id="rId13" Type="http://schemas.openxmlformats.org/officeDocument/2006/relationships/tags" Target="../tags/tag32.xml"/><Relationship Id="rId12" Type="http://schemas.openxmlformats.org/officeDocument/2006/relationships/image" Target="../media/image31.png"/><Relationship Id="rId11" Type="http://schemas.openxmlformats.org/officeDocument/2006/relationships/tags" Target="../tags/tag31.xml"/><Relationship Id="rId10" Type="http://schemas.openxmlformats.org/officeDocument/2006/relationships/image" Target="../media/image30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34.png"/><Relationship Id="rId6" Type="http://schemas.openxmlformats.org/officeDocument/2006/relationships/tags" Target="../tags/tag36.xml"/><Relationship Id="rId5" Type="http://schemas.openxmlformats.org/officeDocument/2006/relationships/image" Target="../media/image33.png"/><Relationship Id="rId4" Type="http://schemas.openxmlformats.org/officeDocument/2006/relationships/tags" Target="../tags/tag35.xml"/><Relationship Id="rId3" Type="http://schemas.openxmlformats.org/officeDocument/2006/relationships/image" Target="../media/image32.png"/><Relationship Id="rId2" Type="http://schemas.openxmlformats.org/officeDocument/2006/relationships/tags" Target="../tags/tag34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5.png"/><Relationship Id="rId2" Type="http://schemas.openxmlformats.org/officeDocument/2006/relationships/tags" Target="../tags/tag37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6.png"/><Relationship Id="rId2" Type="http://schemas.openxmlformats.org/officeDocument/2006/relationships/tags" Target="../tags/tag38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8.png"/><Relationship Id="rId1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wdUpDiag">
          <a:fgClr>
            <a:schemeClr val="bg1">
              <a:lumMod val="9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2546580"/>
            <a:ext cx="12191331" cy="1838567"/>
          </a:xfrm>
          <a:prstGeom prst="rect">
            <a:avLst/>
          </a:prstGeom>
          <a:solidFill>
            <a:srgbClr val="1A78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 dirty="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524353" y="2153727"/>
            <a:ext cx="2624273" cy="262427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181" y="2014069"/>
            <a:ext cx="3140616" cy="290358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4000" contrast="21000"/>
                    </a14:imgEffect>
                    <a14:imgEffect>
                      <a14:colorTemperature colorTemp="6700"/>
                    </a14:imgEffect>
                    <a14:imgEffect>
                      <a14:sharpenSoften amount="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7401" y="150150"/>
            <a:ext cx="1966449" cy="575997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3749373" y="2866294"/>
            <a:ext cx="8398143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 defTabSz="913765">
              <a:lnSpc>
                <a:spcPct val="150000"/>
              </a:lnSpc>
              <a:defRPr/>
            </a:pPr>
            <a:r>
              <a:rPr lang="en-US" altLang="zh-CN" sz="2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GenZSL: Generative Zero-Shot Learning Via </a:t>
            </a:r>
            <a:endParaRPr lang="en-US" altLang="zh-CN" sz="24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ctr" defTabSz="913765">
              <a:lnSpc>
                <a:spcPct val="150000"/>
              </a:lnSpc>
              <a:defRPr/>
            </a:pPr>
            <a:r>
              <a:rPr lang="en-US" altLang="zh-CN" sz="2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Inductive Variational Autoencoder</a:t>
            </a:r>
            <a:endParaRPr lang="en-US" altLang="zh-CN" sz="24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占位符 13"/>
          <p:cNvSpPr txBox="1"/>
          <p:nvPr/>
        </p:nvSpPr>
        <p:spPr>
          <a:xfrm>
            <a:off x="5159039" y="4709760"/>
            <a:ext cx="3028952" cy="79802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1800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ICML 2025</a:t>
            </a:r>
            <a:r>
              <a:rPr lang="en-US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</a:rPr>
              <a:t> </a:t>
            </a:r>
            <a:endParaRPr lang="en-US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 spd="slow" advClick="0" advTm="1000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290" name="直接连接符 50"/>
          <p:cNvCxnSpPr>
            <a:cxnSpLocks noChangeShapeType="1"/>
          </p:cNvCxnSpPr>
          <p:nvPr/>
        </p:nvCxnSpPr>
        <p:spPr bwMode="auto">
          <a:xfrm>
            <a:off x="660400" y="760413"/>
            <a:ext cx="10858500" cy="0"/>
          </a:xfrm>
          <a:prstGeom prst="line">
            <a:avLst/>
          </a:prstGeom>
          <a:noFill/>
          <a:ln w="22225">
            <a:solidFill>
              <a:srgbClr val="1C6299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291" name="标题占位符 1"/>
          <p:cNvSpPr txBox="1">
            <a:spLocks noChangeArrowheads="1"/>
          </p:cNvSpPr>
          <p:nvPr/>
        </p:nvSpPr>
        <p:spPr bwMode="auto">
          <a:xfrm>
            <a:off x="965200" y="-100013"/>
            <a:ext cx="5435600" cy="817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anchor="b"/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Authors</a:t>
            </a:r>
            <a:endParaRPr lang="en-US" altLang="zh-CN" sz="2600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12292" name="组合 53"/>
          <p:cNvGrpSpPr/>
          <p:nvPr/>
        </p:nvGrpSpPr>
        <p:grpSpPr bwMode="auto">
          <a:xfrm>
            <a:off x="203200" y="160338"/>
            <a:ext cx="647700" cy="619125"/>
            <a:chOff x="178632" y="159728"/>
            <a:chExt cx="647571" cy="619478"/>
          </a:xfrm>
        </p:grpSpPr>
        <p:sp>
          <p:nvSpPr>
            <p:cNvPr id="55" name="椭圆 54"/>
            <p:cNvSpPr/>
            <p:nvPr/>
          </p:nvSpPr>
          <p:spPr>
            <a:xfrm>
              <a:off x="357984" y="159728"/>
              <a:ext cx="468219" cy="468579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200" i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椭圆 56"/>
            <p:cNvSpPr/>
            <p:nvPr/>
          </p:nvSpPr>
          <p:spPr>
            <a:xfrm>
              <a:off x="178632" y="602893"/>
              <a:ext cx="176178" cy="1763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200" i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59" name="文本框 58"/>
          <p:cNvSpPr txBox="1"/>
          <p:nvPr/>
        </p:nvSpPr>
        <p:spPr>
          <a:xfrm>
            <a:off x="660400" y="6535738"/>
            <a:ext cx="1941513" cy="2460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自强不息 厚德载物</a:t>
            </a:r>
            <a:endParaRPr lang="zh-CN" altLang="en-US" sz="1000" spc="6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294" name="图片 60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25025" y="176213"/>
            <a:ext cx="1897063" cy="55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" name="矩形 61"/>
          <p:cNvSpPr/>
          <p:nvPr/>
        </p:nvSpPr>
        <p:spPr>
          <a:xfrm>
            <a:off x="0" y="6570663"/>
            <a:ext cx="12192000" cy="287337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kern="0">
              <a:solidFill>
                <a:prstClr val="white"/>
              </a:solidFill>
              <a:latin typeface="Arial" panose="020B0604020202020204"/>
              <a:ea typeface="微软雅黑" panose="020B0503020204020204" pitchFamily="34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3725" y="6583363"/>
            <a:ext cx="2032000" cy="24606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lang="zh-CN" altLang="en-US" sz="1000" spc="600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6004" y="233483"/>
            <a:ext cx="6731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01</a:t>
            </a:r>
            <a:endParaRPr kumimoji="0" lang="zh-CN" altLang="en-US" sz="1600" b="0" i="1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5" name="图片 4" descr="新"/>
          <p:cNvPicPr>
            <a:picLocks noChangeAspect="1"/>
          </p:cNvPicPr>
          <p:nvPr/>
        </p:nvPicPr>
        <p:blipFill>
          <a:blip r:embed="rId2"/>
          <a:srcRect b="8104"/>
          <a:stretch>
            <a:fillRect/>
          </a:stretch>
        </p:blipFill>
        <p:spPr>
          <a:xfrm>
            <a:off x="660400" y="883285"/>
            <a:ext cx="9921240" cy="5654675"/>
          </a:xfrm>
          <a:prstGeom prst="rect">
            <a:avLst/>
          </a:prstGeom>
        </p:spPr>
      </p:pic>
    </p:spTree>
  </p:cSld>
  <p:clrMapOvr>
    <a:masterClrMapping/>
  </p:clrMapOvr>
  <p:transition spd="slow" advTm="3000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02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1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altLang="zh-CN" sz="2600" b="1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  <a:cs typeface="+mn-cs"/>
              </a:rPr>
              <a:t>Background</a:t>
            </a:r>
            <a:endParaRPr lang="en-US" altLang="zh-CN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60400" y="803275"/>
            <a:ext cx="10473055" cy="200406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、零样本学习的定义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零样本学习（ZSL）旨在通过已知类别的语义知识来识别未知类别，这一技术对于缓解数据稀缺问题具有重要意义。在许多实际场景中，数据获取成本高昂，而ZSL能够有效利用有限的标注数据进行模型训练，从而实现对未见过类别的识别。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" name="图片 3" descr="图片处理"/>
          <p:cNvPicPr>
            <a:picLocks noChangeAspect="1"/>
          </p:cNvPicPr>
          <p:nvPr/>
        </p:nvPicPr>
        <p:blipFill>
          <a:blip r:embed="rId2"/>
          <a:srcRect t="13872" b="11781"/>
          <a:stretch>
            <a:fillRect/>
          </a:stretch>
        </p:blipFill>
        <p:spPr>
          <a:xfrm>
            <a:off x="1336040" y="2774315"/>
            <a:ext cx="8017510" cy="33394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203760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02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1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lang="en-US" altLang="zh-CN" sz="2600" b="1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  <a:cs typeface="+mn-cs"/>
              </a:rPr>
              <a:t>Introduction</a:t>
            </a:r>
            <a:endParaRPr lang="en-US" altLang="zh-CN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93725" y="988060"/>
            <a:ext cx="10925175" cy="2630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、生成式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ZSL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目前存在的问题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）生成质量低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缺乏足够的数据来学习高维数据分布，导致生成的特征质量较差，难以准确反映目标类别的视觉特性。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）依赖强语义向量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严重依赖专家标注的强语义向量，为各种场景生成这些向量既耗时又费力。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93725" y="3429000"/>
            <a:ext cx="10473055" cy="6464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Motivation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fontAlgn="auto">
              <a:lnSpc>
                <a:spcPct val="150000"/>
              </a:lnSpc>
            </a:pP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42315" y="3888740"/>
            <a:ext cx="10776585" cy="1414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  <a:spcAft>
                <a:spcPts val="600"/>
              </a:spcAft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本文提出一种</a:t>
            </a:r>
            <a:r>
              <a:rPr lang="zh-CN" b="1" dirty="0">
                <a:latin typeface="+mn-ea"/>
                <a:cs typeface="宋体" panose="02010600030101010101" pitchFamily="2" charset="-122"/>
                <a:sym typeface="+mn-ea"/>
              </a:rPr>
              <a:t>基于归纳变分自编码器的生成式零样本学习方法</a:t>
            </a: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</a:t>
            </a: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称为</a:t>
            </a:r>
            <a:r>
              <a:rPr lang="zh-CN" b="1" dirty="0">
                <a:latin typeface="+mn-ea"/>
                <a:cs typeface="宋体" panose="02010600030101010101" pitchFamily="2" charset="-122"/>
                <a:sym typeface="+mn-ea"/>
              </a:rPr>
              <a:t>GenZSL</a:t>
            </a: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lang="zh-CN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indent="0" fontAlgn="auto">
              <a:lnSpc>
                <a:spcPct val="150000"/>
              </a:lnSpc>
            </a:pP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GenZSL通过归纳</a:t>
            </a:r>
            <a:r>
              <a:rPr lang="zh-CN" b="1" dirty="0">
                <a:solidFill>
                  <a:schemeClr val="tx1"/>
                </a:solidFill>
                <a:latin typeface="+mn-ea"/>
                <a:cs typeface="宋体" panose="02010600030101010101" pitchFamily="2" charset="-122"/>
                <a:sym typeface="+mn-ea"/>
              </a:rPr>
              <a:t>已知类别的样本特征</a:t>
            </a: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来生成</a:t>
            </a:r>
            <a:r>
              <a:rPr lang="zh-CN" b="1" dirty="0">
                <a:solidFill>
                  <a:schemeClr val="tx1"/>
                </a:solidFill>
                <a:latin typeface="+mn-ea"/>
                <a:cs typeface="宋体" panose="02010600030101010101" pitchFamily="2" charset="-122"/>
                <a:sym typeface="+mn-ea"/>
              </a:rPr>
              <a:t>未知类别的特征</a:t>
            </a: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。这种方法利用弱语义向量作为引导，从相似的已知类别中推导出未知类别的特征，从而实现低成本、高效率的生成。</a:t>
            </a:r>
            <a:endParaRPr lang="zh-CN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 descr="框架图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400" y="1424305"/>
            <a:ext cx="10972800" cy="36480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94360" y="777240"/>
            <a:ext cx="10822940" cy="1383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sz="2000" b="1" dirty="0"/>
              <a:t>模块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：</a:t>
            </a:r>
            <a:r>
              <a:rPr lang="zh-CN" sz="2000" b="1" dirty="0"/>
              <a:t>类别多样性提升</a:t>
            </a:r>
            <a:endParaRPr lang="zh-CN" sz="2000" b="1" dirty="0"/>
          </a:p>
          <a:p>
            <a:pPr indent="0" fontAlgn="auto">
              <a:lnSpc>
                <a:spcPct val="150000"/>
              </a:lnSpc>
            </a:pPr>
            <a:r>
              <a:rPr lang="zh-CN" b="1" dirty="0">
                <a:latin typeface="+mn-ea"/>
                <a:cs typeface="宋体" panose="02010600030101010101" pitchFamily="2" charset="-122"/>
              </a:rPr>
              <a:t>类别多样性提升</a:t>
            </a:r>
            <a:r>
              <a:rPr lang="en-US" altLang="zh-CN" b="1" dirty="0">
                <a:latin typeface="+mn-ea"/>
                <a:cs typeface="宋体" panose="02010600030101010101" pitchFamily="2" charset="-122"/>
              </a:rPr>
              <a:t>——</a:t>
            </a: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通过去除冗余信息，</a:t>
            </a: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去掉所有类别都共享的全局共性</a:t>
            </a: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，保留</a:t>
            </a: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类与类之间的相对差异</a:t>
            </a: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		  </a:t>
            </a: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从而增强类间的区分度</a:t>
            </a:r>
            <a:r>
              <a:rPr 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。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endParaRPr 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" name="图片 1" descr="类别相似度"/>
          <p:cNvPicPr>
            <a:picLocks noChangeAspect="1"/>
          </p:cNvPicPr>
          <p:nvPr/>
        </p:nvPicPr>
        <p:blipFill>
          <a:blip r:embed="rId2"/>
          <a:srcRect t="3822" b="5194"/>
          <a:stretch>
            <a:fillRect/>
          </a:stretch>
        </p:blipFill>
        <p:spPr>
          <a:xfrm>
            <a:off x="5629910" y="2284730"/>
            <a:ext cx="5715635" cy="28073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5808980" y="5092065"/>
            <a:ext cx="5575935" cy="1337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实验表明，经过类多样性提升后，语义向量的余弦相似度显著降低，从0.57降至接近零，显著提高了生成特征的质量和判别</a:t>
            </a: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能力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83310" y="2534285"/>
            <a:ext cx="3738245" cy="300545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83870" y="3626485"/>
            <a:ext cx="19132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CLIP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文本编码器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594360" y="777240"/>
            <a:ext cx="10878185" cy="5168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lang="zh-CN" sz="2000" b="1" dirty="0"/>
              <a:t>模块</a:t>
            </a:r>
            <a:r>
              <a:rPr lang="en-US" altLang="zh-CN" sz="2000" b="1" dirty="0"/>
              <a:t>1</a:t>
            </a:r>
            <a:r>
              <a:rPr lang="zh-CN" altLang="en-US" sz="2000" b="1" dirty="0"/>
              <a:t>：</a:t>
            </a:r>
            <a:r>
              <a:rPr lang="zh-CN" sz="2000" b="1" dirty="0"/>
              <a:t>类别多样性提升</a:t>
            </a:r>
            <a:endParaRPr lang="zh-CN" sz="2000" b="1" dirty="0"/>
          </a:p>
          <a:p>
            <a:pPr indent="0" fontAlgn="auto">
              <a:lnSpc>
                <a:spcPct val="150000"/>
              </a:lnSpc>
            </a:pPr>
            <a:endParaRPr lang="zh-CN" sz="2000" b="1" dirty="0"/>
          </a:p>
          <a:p>
            <a:pPr indent="0" fontAlgn="auto">
              <a:lnSpc>
                <a:spcPct val="150000"/>
              </a:lnSpc>
            </a:pPr>
            <a:endParaRPr 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900420" y="3942715"/>
            <a:ext cx="3237230" cy="546735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781685" y="3316605"/>
            <a:ext cx="3931285" cy="2680335"/>
            <a:chOff x="1231" y="5371"/>
            <a:chExt cx="6191" cy="4221"/>
          </a:xfrm>
        </p:grpSpPr>
        <p:pic>
          <p:nvPicPr>
            <p:cNvPr id="7" name="图片 6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tretch>
              <a:fillRect/>
            </a:stretch>
          </p:blipFill>
          <p:spPr>
            <a:xfrm>
              <a:off x="1231" y="5371"/>
              <a:ext cx="3960" cy="773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>
              <a:off x="1334" y="6826"/>
              <a:ext cx="4175" cy="624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286" y="8484"/>
              <a:ext cx="2216" cy="528"/>
            </a:xfrm>
            <a:prstGeom prst="rect">
              <a:avLst/>
            </a:prstGeom>
          </p:spPr>
        </p:pic>
        <p:sp>
          <p:nvSpPr>
            <p:cNvPr id="11" name="文本框 10"/>
            <p:cNvSpPr txBox="1"/>
            <p:nvPr/>
          </p:nvSpPr>
          <p:spPr>
            <a:xfrm>
              <a:off x="1286" y="9012"/>
              <a:ext cx="6136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dirty="0"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P</a:t>
              </a:r>
              <a:r>
                <a:rPr lang="zh-CN" altLang="en-US" dirty="0">
                  <a:latin typeface="宋体" panose="02010600030101010101" pitchFamily="2" charset="-122"/>
                  <a:ea typeface="宋体" panose="02010600030101010101" pitchFamily="2" charset="-122"/>
                  <a:sym typeface="+mn-ea"/>
                </a:rPr>
                <a:t>是正交投影矩阵，使</a:t>
              </a:r>
              <a:r>
                <a:rPr lang="zh-CN" altLang="en-US">
                  <a:latin typeface="宋体" panose="02010600030101010101" pitchFamily="2" charset="-122"/>
                  <a:ea typeface="宋体" panose="02010600030101010101" pitchFamily="2" charset="-122"/>
                </a:rPr>
                <a:t>恢复原始维度</a:t>
              </a:r>
              <a:endParaRPr lang="zh-CN" altLang="en-US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12" name="下箭头 11"/>
            <p:cNvSpPr/>
            <p:nvPr/>
          </p:nvSpPr>
          <p:spPr>
            <a:xfrm>
              <a:off x="2924" y="6154"/>
              <a:ext cx="560" cy="691"/>
            </a:xfrm>
            <a:prstGeom prst="down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下箭头 12"/>
            <p:cNvSpPr/>
            <p:nvPr>
              <p:custDataLst>
                <p:tags r:id="rId11"/>
              </p:custDataLst>
            </p:nvPr>
          </p:nvSpPr>
          <p:spPr>
            <a:xfrm>
              <a:off x="2924" y="7523"/>
              <a:ext cx="560" cy="691"/>
            </a:xfrm>
            <a:prstGeom prst="downArrow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4" name="文本框 13"/>
          <p:cNvSpPr txBox="1"/>
          <p:nvPr/>
        </p:nvSpPr>
        <p:spPr>
          <a:xfrm>
            <a:off x="5900420" y="46062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去除共性冗余后的正交化语义向量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60400" y="1352550"/>
            <a:ext cx="10786110" cy="18300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</a:pPr>
            <a:r>
              <a:rPr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算法</a:t>
            </a:r>
            <a:r>
              <a:rPr lang="zh-CN"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流程</a:t>
            </a:r>
            <a:r>
              <a:rPr b="1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endParaRPr b="1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、对语义向量矩阵做</a:t>
            </a: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奇异值分解（SVD）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，拆分出含全局共性的最大主成分（如</a:t>
            </a:r>
            <a:r>
              <a:rPr lang="zh-CN" altLang="en-US" u="sng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动物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共性）；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、去除该主成分，用剩余成分构建投影矩阵；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、原始向量经投影，得到正交化新语义向量。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94360" y="777240"/>
            <a:ext cx="10925175" cy="14478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  <a:spcAft>
                <a:spcPts val="500"/>
              </a:spcAft>
            </a:pPr>
            <a:r>
              <a:rPr lang="zh-CN" sz="2000" b="1" dirty="0"/>
              <a:t>模块</a:t>
            </a:r>
            <a:r>
              <a:rPr lang="en-US" altLang="zh-CN" sz="2000" b="1" dirty="0"/>
              <a:t>2</a:t>
            </a:r>
            <a:r>
              <a:rPr lang="zh-CN" altLang="en-US" sz="2000" b="1" dirty="0"/>
              <a:t>：相似样本选择</a:t>
            </a:r>
            <a:endParaRPr lang="zh-CN" sz="2000" b="1" dirty="0"/>
          </a:p>
          <a:p>
            <a:pPr indent="0" fontAlgn="auto">
              <a:lnSpc>
                <a:spcPct val="150000"/>
              </a:lnSpc>
            </a:pPr>
            <a:endParaRPr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endParaRPr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7232" b="-6078"/>
          <a:stretch>
            <a:fillRect/>
          </a:stretch>
        </p:blipFill>
        <p:spPr>
          <a:xfrm>
            <a:off x="5779135" y="1956435"/>
            <a:ext cx="4756785" cy="95313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94360" y="1329690"/>
            <a:ext cx="10822940" cy="9569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根据语义相似度选择与目标类别最接近的</a:t>
            </a:r>
            <a:r>
              <a:rPr 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Top-k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个</a:t>
            </a:r>
            <a:r>
              <a:rPr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已知类别样本作为参照，确保生成的特征能够更好地反映目标类别的特性。</a:t>
            </a:r>
            <a:endParaRPr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/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696710" y="3045460"/>
            <a:ext cx="3113405" cy="269430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242685" y="5612765"/>
            <a:ext cx="4413885" cy="10496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实验表明，选择Top-2参照样本即可取得最佳效果，过多的参照样本反而会引入噪声</a:t>
            </a:r>
            <a:r>
              <a:rPr lang="zh-CN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。</a:t>
            </a:r>
            <a:endParaRPr 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105535" y="2270125"/>
            <a:ext cx="3063240" cy="4133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304892" y="6583649"/>
            <a:ext cx="331787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en-US" altLang="zh-CN" sz="12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2132965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2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0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24028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2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2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8884647" y="6583649"/>
            <a:ext cx="2738120" cy="27559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2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en-US" altLang="zh-CN" sz="12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en-US" altLang="zh-CN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4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Methodology</a:t>
            </a:r>
            <a:endParaRPr lang="en-US" altLang="zh-CN" sz="2800" b="1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594360" y="777242"/>
            <a:ext cx="10473267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sz="2000" b="1" dirty="0"/>
              <a:t>模块</a:t>
            </a:r>
            <a:r>
              <a:rPr lang="en-US" altLang="zh-CN" sz="2000" b="1" dirty="0"/>
              <a:t>3</a:t>
            </a:r>
            <a:r>
              <a:rPr lang="zh-CN" altLang="en-US" sz="2000" b="1" dirty="0"/>
              <a:t>：归纳变分编码器</a:t>
            </a:r>
            <a:endParaRPr lang="zh-CN" sz="2000" b="1" dirty="0"/>
          </a:p>
          <a:p>
            <a:pPr indent="0" fontAlgn="auto">
              <a:lnSpc>
                <a:spcPct val="150000"/>
              </a:lnSpc>
            </a:pPr>
            <a:r>
              <a:rPr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通过归纳变分自编码器，将参照样本映射为目标类别的特征，并通过</a:t>
            </a:r>
            <a:r>
              <a:rPr lang="zh-CN"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语义增强</a:t>
            </a:r>
            <a:r>
              <a:rPr sz="2000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损失进行优化。</a:t>
            </a:r>
            <a:endParaRPr sz="2000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925195" y="2009140"/>
            <a:ext cx="9633585" cy="20840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60400" y="4398645"/>
            <a:ext cx="6725920" cy="2545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sz="1600" b="1">
                <a:latin typeface="+mn-ea"/>
                <a:cs typeface="+mn-ea"/>
              </a:rPr>
              <a:t>归纳编码器（IE）—</a:t>
            </a:r>
            <a:r>
              <a:rPr lang="en-US" altLang="zh-CN" sz="1600" b="1">
                <a:latin typeface="+mn-ea"/>
                <a:cs typeface="+mn-ea"/>
              </a:rPr>
              <a:t> </a:t>
            </a:r>
            <a:r>
              <a:rPr lang="zh-CN" altLang="en-US" sz="1600" b="1">
                <a:latin typeface="+mn-ea"/>
                <a:cs typeface="+mn-ea"/>
              </a:rPr>
              <a:t>给参考样本注入目标语义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输入：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x</a:t>
            </a:r>
            <a:r>
              <a:rPr lang="zh-CN" altLang="en-US" sz="1600" baseline="30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refer</a:t>
            </a:r>
            <a:r>
              <a:rPr lang="en-US" altLang="zh-CN" sz="1600" baseline="30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和</a:t>
            </a: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z</a:t>
            </a:r>
            <a:r>
              <a:rPr lang="zh-CN" altLang="en-US" sz="1600" baseline="30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target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输出：带扰动的潜在向量o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     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o=δ⋅N(0,1)+μ，其中μ,δ=IE(x</a:t>
            </a:r>
            <a:r>
              <a:rPr lang="zh-CN" altLang="en-US" sz="1600" baseline="30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refer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 z</a:t>
            </a:r>
            <a:r>
              <a:rPr lang="zh-CN" altLang="en-US" sz="1600" baseline="30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target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)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394450" y="4398645"/>
            <a:ext cx="512381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1600" b="1">
                <a:latin typeface="+mn-ea"/>
                <a:cs typeface="+mn-ea"/>
              </a:rPr>
              <a:t>归纳解码器（ID）—</a:t>
            </a:r>
            <a:r>
              <a:rPr lang="en-US" altLang="zh-CN" sz="1600" b="1">
                <a:latin typeface="+mn-ea"/>
                <a:cs typeface="+mn-ea"/>
              </a:rPr>
              <a:t> </a:t>
            </a:r>
            <a:r>
              <a:rPr lang="zh-CN" altLang="en-US" sz="1600" b="1">
                <a:latin typeface="+mn-ea"/>
                <a:cs typeface="+mn-ea"/>
              </a:rPr>
              <a:t>从潜在向量生成目标特征</a:t>
            </a:r>
            <a:endParaRPr lang="zh-CN" altLang="en-US" sz="1600" b="1">
              <a:latin typeface="+mn-ea"/>
              <a:cs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输入：潜在向量o + 目标类语义z</a:t>
            </a:r>
            <a:r>
              <a:rPr lang="zh-CN" altLang="en-US" sz="1600" baseline="30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target</a:t>
            </a:r>
            <a:endParaRPr lang="zh-CN" altLang="en-US" sz="1600" baseline="30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输出：目标类视觉特征x</a:t>
            </a:r>
            <a:r>
              <a:rPr lang="zh-CN" altLang="en-US" sz="1600" baseline="300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target</a:t>
            </a:r>
            <a:endParaRPr lang="zh-CN" altLang="en-US" sz="1600" baseline="300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关键设计：ID 的隐藏层节点数逐步增大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71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03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损失函数</a:t>
            </a:r>
            <a:endParaRPr lang="zh-CN" altLang="en-US" sz="2600" b="1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262505" y="1234440"/>
            <a:ext cx="7865745" cy="98107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0014585" y="1844040"/>
            <a:ext cx="396240" cy="235585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660400" y="1318895"/>
            <a:ext cx="19043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+mn-ea"/>
                <a:cs typeface="+mn-ea"/>
              </a:rPr>
              <a:t>1</a:t>
            </a:r>
            <a:r>
              <a:rPr lang="zh-CN" altLang="en-US" b="1">
                <a:latin typeface="+mn-ea"/>
                <a:cs typeface="+mn-ea"/>
              </a:rPr>
              <a:t>、</a:t>
            </a:r>
            <a:r>
              <a:rPr lang="en-US" altLang="zh-CN" b="1">
                <a:latin typeface="+mn-ea"/>
                <a:cs typeface="+mn-ea"/>
              </a:rPr>
              <a:t>IVAE</a:t>
            </a:r>
            <a:r>
              <a:rPr lang="zh-CN" altLang="en-US" b="1">
                <a:latin typeface="+mn-ea"/>
                <a:cs typeface="+mn-ea"/>
              </a:rPr>
              <a:t>损失：</a:t>
            </a:r>
            <a:endParaRPr lang="zh-CN" altLang="en-US" b="1">
              <a:latin typeface="+mn-ea"/>
              <a:cs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6"/>
            </p:custDataLst>
          </p:nvPr>
        </p:nvSpPr>
        <p:spPr>
          <a:xfrm>
            <a:off x="660400" y="3757295"/>
            <a:ext cx="28143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ym typeface="+mn-ea"/>
              </a:rPr>
              <a:t>2</a:t>
            </a:r>
            <a:r>
              <a:rPr lang="zh-CN" altLang="en-US" b="1">
                <a:sym typeface="+mn-ea"/>
              </a:rPr>
              <a:t>、语义增强损失：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625725" y="3553460"/>
            <a:ext cx="5314950" cy="77660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797175" y="2443480"/>
            <a:ext cx="15544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变分后验分布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45025" y="2710815"/>
            <a:ext cx="1036320" cy="34671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先验分布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>
            <a:off x="3467100" y="2082800"/>
            <a:ext cx="0" cy="395605"/>
          </a:xfrm>
          <a:prstGeom prst="straightConnector1">
            <a:avLst/>
          </a:prstGeom>
          <a:ln>
            <a:solidFill>
              <a:srgbClr val="C0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" name="直接箭头连接符 5"/>
          <p:cNvCxnSpPr/>
          <p:nvPr>
            <p:custDataLst>
              <p:tags r:id="rId9"/>
            </p:custDataLst>
          </p:nvPr>
        </p:nvCxnSpPr>
        <p:spPr>
          <a:xfrm flipH="1">
            <a:off x="5109845" y="2082800"/>
            <a:ext cx="13335" cy="662305"/>
          </a:xfrm>
          <a:prstGeom prst="straightConnector1">
            <a:avLst/>
          </a:prstGeom>
          <a:ln>
            <a:solidFill>
              <a:srgbClr val="C0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>
            <p:custDataLst>
              <p:tags r:id="rId10"/>
            </p:custDataLst>
          </p:nvPr>
        </p:nvCxnSpPr>
        <p:spPr>
          <a:xfrm>
            <a:off x="8456930" y="2082800"/>
            <a:ext cx="34290" cy="733425"/>
          </a:xfrm>
          <a:prstGeom prst="straightConnector1">
            <a:avLst/>
          </a:prstGeom>
          <a:ln>
            <a:solidFill>
              <a:srgbClr val="C0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7470775" y="2780665"/>
            <a:ext cx="225425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生成样本的概率分布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10" name="直接箭头连接符 9"/>
          <p:cNvCxnSpPr/>
          <p:nvPr>
            <p:custDataLst>
              <p:tags r:id="rId11"/>
            </p:custDataLst>
          </p:nvPr>
        </p:nvCxnSpPr>
        <p:spPr>
          <a:xfrm>
            <a:off x="6565900" y="2116455"/>
            <a:ext cx="0" cy="395605"/>
          </a:xfrm>
          <a:prstGeom prst="straightConnector1">
            <a:avLst/>
          </a:prstGeom>
          <a:ln>
            <a:solidFill>
              <a:srgbClr val="C0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>
            <p:custDataLst>
              <p:tags r:id="rId12"/>
            </p:custDataLst>
          </p:nvPr>
        </p:nvSpPr>
        <p:spPr>
          <a:xfrm>
            <a:off x="5847715" y="2512060"/>
            <a:ext cx="15544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</a:rPr>
              <a:t>变分后验分布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707390" y="4752340"/>
            <a:ext cx="10690225" cy="1298575"/>
            <a:chOff x="1114" y="7484"/>
            <a:chExt cx="16835" cy="2045"/>
          </a:xfrm>
        </p:grpSpPr>
        <p:pic>
          <p:nvPicPr>
            <p:cNvPr id="16" name="图片 15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4"/>
            <a:stretch>
              <a:fillRect/>
            </a:stretch>
          </p:blipFill>
          <p:spPr>
            <a:xfrm>
              <a:off x="1114" y="8222"/>
              <a:ext cx="13721" cy="632"/>
            </a:xfrm>
            <a:prstGeom prst="rect">
              <a:avLst/>
            </a:prstGeom>
          </p:spPr>
        </p:pic>
        <p:sp>
          <p:nvSpPr>
            <p:cNvPr id="21" name="左大括号 20"/>
            <p:cNvSpPr/>
            <p:nvPr>
              <p:custDataLst>
                <p:tags r:id="rId15"/>
              </p:custDataLst>
            </p:nvPr>
          </p:nvSpPr>
          <p:spPr>
            <a:xfrm>
              <a:off x="14705" y="7767"/>
              <a:ext cx="253" cy="1565"/>
            </a:xfrm>
            <a:prstGeom prst="leftBrace">
              <a:avLst/>
            </a:prstGeom>
            <a:ln w="31750" cap="rnd">
              <a:solidFill>
                <a:schemeClr val="accent1"/>
              </a:solidFill>
              <a:round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23" name="图片 22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/>
            <a:stretch>
              <a:fillRect/>
            </a:stretch>
          </p:blipFill>
          <p:spPr>
            <a:xfrm>
              <a:off x="15013" y="7484"/>
              <a:ext cx="1574" cy="525"/>
            </a:xfrm>
            <a:prstGeom prst="rect">
              <a:avLst/>
            </a:prstGeom>
          </p:spPr>
        </p:pic>
        <p:pic>
          <p:nvPicPr>
            <p:cNvPr id="24" name="图片 23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9"/>
            <a:stretch>
              <a:fillRect/>
            </a:stretch>
          </p:blipFill>
          <p:spPr>
            <a:xfrm>
              <a:off x="15149" y="9105"/>
              <a:ext cx="2800" cy="425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04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600" b="1" dirty="0">
                <a:solidFill>
                  <a:sysClr val="windowText" lastClr="000000"/>
                </a:solidFill>
                <a:latin typeface="Arial" panose="020B0604020202020204"/>
                <a:ea typeface="微软雅黑" panose="020B0503020204020204" pitchFamily="34" charset="-122"/>
                <a:cs typeface="+mn-cs"/>
              </a:rPr>
              <a:t>损失函数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174875" y="1271905"/>
            <a:ext cx="4177030" cy="462280"/>
          </a:xfrm>
          <a:prstGeom prst="rect">
            <a:avLst/>
          </a:prstGeom>
        </p:spPr>
      </p:pic>
      <p:sp>
        <p:nvSpPr>
          <p:cNvPr id="15" name="文本框 14"/>
          <p:cNvSpPr txBox="1"/>
          <p:nvPr>
            <p:custDataLst>
              <p:tags r:id="rId4"/>
            </p:custDataLst>
          </p:nvPr>
        </p:nvSpPr>
        <p:spPr>
          <a:xfrm>
            <a:off x="660400" y="1318895"/>
            <a:ext cx="15144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ym typeface="+mn-ea"/>
              </a:rPr>
              <a:t>3</a:t>
            </a:r>
            <a:r>
              <a:rPr lang="zh-CN" altLang="en-US" b="1">
                <a:sym typeface="+mn-ea"/>
              </a:rPr>
              <a:t>、总损失：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92810" y="2078355"/>
            <a:ext cx="50469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平衡系数λ：控制</a:t>
            </a:r>
            <a:r>
              <a:rPr lang="zh-CN" altLang="en-US" u="sng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语义对齐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在总损失中的权重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847090" y="2666365"/>
            <a:ext cx="8837295" cy="2484120"/>
            <a:chOff x="1334" y="4199"/>
            <a:chExt cx="13917" cy="3912"/>
          </a:xfrm>
        </p:grpSpPr>
        <p:pic>
          <p:nvPicPr>
            <p:cNvPr id="4" name="图片 3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/>
            <a:srcRect b="11448"/>
            <a:stretch>
              <a:fillRect/>
            </a:stretch>
          </p:blipFill>
          <p:spPr>
            <a:xfrm>
              <a:off x="1334" y="4540"/>
              <a:ext cx="4380" cy="3357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rcRect b="13550"/>
            <a:stretch>
              <a:fillRect/>
            </a:stretch>
          </p:blipFill>
          <p:spPr>
            <a:xfrm>
              <a:off x="6174" y="4469"/>
              <a:ext cx="4363" cy="3643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10997" y="4469"/>
              <a:ext cx="4254" cy="3319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>
              <p:custDataLst>
                <p:tags r:id="rId11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7301" y="4199"/>
              <a:ext cx="2385" cy="570"/>
            </a:xfrm>
            <a:prstGeom prst="rect">
              <a:avLst/>
            </a:prstGeom>
          </p:spPr>
        </p:pic>
      </p:grpSp>
      <p:sp>
        <p:nvSpPr>
          <p:cNvPr id="10" name="文本框 9"/>
          <p:cNvSpPr txBox="1"/>
          <p:nvPr/>
        </p:nvSpPr>
        <p:spPr>
          <a:xfrm>
            <a:off x="1898015" y="5151120"/>
            <a:ext cx="11163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CUB</a:t>
            </a:r>
            <a:endParaRPr lang="en-US" altLang="zh-CN">
              <a:solidFill>
                <a:schemeClr val="tx1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λ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取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0.1</a:t>
            </a:r>
            <a:endParaRPr lang="en-US" altLang="zh-CN">
              <a:solidFill>
                <a:schemeClr val="tx1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>
            <p:custDataLst>
              <p:tags r:id="rId13"/>
            </p:custDataLst>
          </p:nvPr>
        </p:nvSpPr>
        <p:spPr>
          <a:xfrm>
            <a:off x="4787265" y="5151120"/>
            <a:ext cx="11163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SUN</a:t>
            </a:r>
            <a:endParaRPr lang="en-US" altLang="zh-CN">
              <a:solidFill>
                <a:schemeClr val="tx1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λ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取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0.001</a:t>
            </a:r>
            <a:endParaRPr lang="en-US" altLang="zh-CN">
              <a:solidFill>
                <a:schemeClr val="tx1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4"/>
            </p:custDataLst>
          </p:nvPr>
        </p:nvSpPr>
        <p:spPr>
          <a:xfrm>
            <a:off x="7894320" y="5151120"/>
            <a:ext cx="11163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AWA2</a:t>
            </a:r>
            <a:endParaRPr lang="en-US" altLang="zh-CN">
              <a:solidFill>
                <a:schemeClr val="tx1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λ</a:t>
            </a:r>
            <a:r>
              <a:rPr lang="zh-CN" altLang="en-US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取</a:t>
            </a:r>
            <a:r>
              <a:rPr lang="en-US" altLang="zh-CN">
                <a:solidFill>
                  <a:schemeClr val="tx1"/>
                </a:solidFill>
                <a:uFillTx/>
                <a:latin typeface="Times New Roman" panose="02020603050405020304" pitchFamily="18" charset="0"/>
                <a:ea typeface="宋体" panose="02010600030101010101" pitchFamily="2" charset="-122"/>
              </a:rPr>
              <a:t>0.1</a:t>
            </a:r>
            <a:endParaRPr lang="en-US" altLang="zh-CN">
              <a:solidFill>
                <a:schemeClr val="tx1"/>
              </a:solidFill>
              <a:uFillTx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04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Experiments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25830" y="1189355"/>
            <a:ext cx="10384155" cy="454850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660400" y="8553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latin typeface="Times New Roman" panose="02020603050405020304" pitchFamily="18" charset="0"/>
                <a:cs typeface="Times New Roman" panose="02020603050405020304" pitchFamily="18" charset="0"/>
              </a:rPr>
              <a:t>ACC</a:t>
            </a:r>
            <a:endParaRPr lang="en-US" altLang="zh-C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526540" y="5770880"/>
            <a:ext cx="2886710" cy="3689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654290" y="5847715"/>
            <a:ext cx="2986405" cy="3524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04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Experiments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0400" y="995680"/>
            <a:ext cx="47104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latin typeface="+mn-ea"/>
              </a:rPr>
              <a:t>消融实验：</a:t>
            </a:r>
            <a:r>
              <a:rPr lang="en-US" altLang="zh-CN" b="1">
                <a:latin typeface="+mn-ea"/>
              </a:rPr>
              <a:t>GenZSL</a:t>
            </a:r>
            <a:r>
              <a:rPr lang="zh-CN" altLang="en-US" b="1">
                <a:latin typeface="+mn-ea"/>
              </a:rPr>
              <a:t>核心模块消融实验</a:t>
            </a:r>
            <a:endParaRPr lang="zh-CN" altLang="en-US" b="1">
              <a:latin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44855" y="1854200"/>
            <a:ext cx="10278745" cy="30778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文本框 36"/>
          <p:cNvSpPr txBox="1"/>
          <p:nvPr/>
        </p:nvSpPr>
        <p:spPr>
          <a:xfrm>
            <a:off x="8610404" y="6583649"/>
            <a:ext cx="301236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Tsinghua University of China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660400" y="6583649"/>
            <a:ext cx="194155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0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自强不息 厚德载物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0" y="6570000"/>
            <a:ext cx="12192000" cy="288000"/>
          </a:xfrm>
          <a:prstGeom prst="rect">
            <a:avLst/>
          </a:prstGeom>
          <a:solidFill>
            <a:srgbClr val="1C6299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4090" y="6583649"/>
            <a:ext cx="20313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zh-CN" altLang="en-US" sz="1000" spc="600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知行合一、经世致用</a:t>
            </a:r>
            <a:endParaRPr kumimoji="0" lang="zh-CN" altLang="en-US" sz="1000" b="0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9137792" y="6583649"/>
            <a:ext cx="248497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r">
              <a:defRPr/>
            </a:pPr>
            <a:r>
              <a:rPr lang="en-US" altLang="zh-CN" sz="1000" spc="300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Central South University</a:t>
            </a:r>
            <a:endParaRPr kumimoji="0" lang="zh-CN" altLang="en-US" sz="1000" b="0" i="0" u="none" strike="noStrike" kern="1200" cap="none" spc="3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cxnSp>
        <p:nvCxnSpPr>
          <p:cNvPr id="69" name="直接连接符 68"/>
          <p:cNvCxnSpPr/>
          <p:nvPr/>
        </p:nvCxnSpPr>
        <p:spPr>
          <a:xfrm>
            <a:off x="660400" y="760413"/>
            <a:ext cx="10858500" cy="0"/>
          </a:xfrm>
          <a:prstGeom prst="line">
            <a:avLst/>
          </a:prstGeom>
          <a:noFill/>
          <a:ln w="22225" cap="flat" cmpd="sng" algn="ctr">
            <a:solidFill>
              <a:srgbClr val="1C6299"/>
            </a:solidFill>
            <a:prstDash val="solid"/>
            <a:miter lim="800000"/>
          </a:ln>
          <a:effectLst/>
        </p:spPr>
      </p:cxnSp>
      <p:grpSp>
        <p:nvGrpSpPr>
          <p:cNvPr id="70" name="组合 69"/>
          <p:cNvGrpSpPr/>
          <p:nvPr/>
        </p:nvGrpSpPr>
        <p:grpSpPr>
          <a:xfrm>
            <a:off x="199555" y="159728"/>
            <a:ext cx="725344" cy="619478"/>
            <a:chOff x="178632" y="159728"/>
            <a:chExt cx="725344" cy="619478"/>
          </a:xfrm>
        </p:grpSpPr>
        <p:sp>
          <p:nvSpPr>
            <p:cNvPr id="71" name="椭圆 70"/>
            <p:cNvSpPr/>
            <p:nvPr/>
          </p:nvSpPr>
          <p:spPr>
            <a:xfrm>
              <a:off x="358210" y="159728"/>
              <a:ext cx="468000" cy="468000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2" name="文本框 71"/>
            <p:cNvSpPr txBox="1"/>
            <p:nvPr/>
          </p:nvSpPr>
          <p:spPr>
            <a:xfrm>
              <a:off x="230876" y="233483"/>
              <a:ext cx="6731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600" b="0" i="1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04</a:t>
              </a:r>
              <a:endParaRPr kumimoji="0" lang="zh-CN" altLang="en-US" sz="16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178632" y="602993"/>
              <a:ext cx="176213" cy="176213"/>
            </a:xfrm>
            <a:prstGeom prst="ellipse">
              <a:avLst/>
            </a:prstGeom>
            <a:gradFill>
              <a:gsLst>
                <a:gs pos="0">
                  <a:srgbClr val="1C6299"/>
                </a:gs>
                <a:gs pos="100000">
                  <a:srgbClr val="5C307D">
                    <a:alpha val="9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endParaRPr>
            </a:p>
          </p:txBody>
        </p:sp>
      </p:grpSp>
      <p:pic>
        <p:nvPicPr>
          <p:cNvPr id="74" name="图片 73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4913" y="176378"/>
            <a:ext cx="1897854" cy="555905"/>
          </a:xfrm>
          <a:prstGeom prst="rect">
            <a:avLst/>
          </a:prstGeom>
        </p:spPr>
      </p:pic>
      <p:sp>
        <p:nvSpPr>
          <p:cNvPr id="75" name="标题占位符 1"/>
          <p:cNvSpPr txBox="1"/>
          <p:nvPr/>
        </p:nvSpPr>
        <p:spPr>
          <a:xfrm>
            <a:off x="965199" y="-100014"/>
            <a:ext cx="8759713" cy="817564"/>
          </a:xfrm>
          <a:prstGeom prst="rect">
            <a:avLst/>
          </a:prstGeom>
          <a:ln>
            <a:noFill/>
          </a:ln>
        </p:spPr>
        <p:txBody>
          <a:bodyPr vert="horz" lIns="0" tIns="45720" rIns="91440" bIns="45720" rtlCol="0" anchor="b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600" b="1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Experiments</a:t>
            </a:r>
            <a:endParaRPr lang="zh-CN" altLang="en-US" sz="2600" b="1" dirty="0">
              <a:solidFill>
                <a:sysClr val="windowText" lastClr="000000"/>
              </a:solidFill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60400" y="995680"/>
            <a:ext cx="86594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b="1">
                <a:latin typeface="+mn-ea"/>
              </a:rPr>
              <a:t>定性评价：</a:t>
            </a:r>
            <a:endParaRPr lang="zh-CN" b="1">
              <a:latin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60400" y="1642110"/>
            <a:ext cx="7670800" cy="346900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218170" y="3282950"/>
            <a:ext cx="35242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“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×”：代表真实样本特征</a:t>
            </a: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“○”：代表生成的样本特征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3000"/>
    </mc:Choice>
    <mc:Fallback>
      <p:transition advTm="3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04" y="1951493"/>
            <a:ext cx="12220271" cy="1838567"/>
          </a:xfrm>
          <a:prstGeom prst="rect">
            <a:avLst/>
          </a:prstGeom>
          <a:solidFill>
            <a:srgbClr val="1C62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644784" y="2252225"/>
            <a:ext cx="267573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3765">
              <a:defRPr/>
            </a:pPr>
            <a:r>
              <a:rPr lang="zh-CN" altLang="en-US" sz="54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 谢 ！</a:t>
            </a:r>
            <a:endParaRPr lang="zh-CN" altLang="en-US" sz="54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椭圆 11"/>
          <p:cNvSpPr/>
          <p:nvPr/>
        </p:nvSpPr>
        <p:spPr>
          <a:xfrm>
            <a:off x="1524353" y="1558640"/>
            <a:ext cx="2624273" cy="2624273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65">
              <a:defRPr/>
            </a:pPr>
            <a:endParaRPr lang="zh-CN" altLang="en-US" sz="1800">
              <a:solidFill>
                <a:prstClr val="white"/>
              </a:solidFill>
              <a:latin typeface="Calibri" panose="020F0502020204030204"/>
              <a:ea typeface="等线" panose="02010600030101010101" pitchFamily="2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6181" y="1418982"/>
            <a:ext cx="3140616" cy="290358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51" y="212782"/>
            <a:ext cx="1966449" cy="575997"/>
          </a:xfrm>
          <a:prstGeom prst="rect">
            <a:avLst/>
          </a:prstGeom>
        </p:spPr>
      </p:pic>
      <p:sp>
        <p:nvSpPr>
          <p:cNvPr id="19" name="矩形 18"/>
          <p:cNvSpPr/>
          <p:nvPr/>
        </p:nvSpPr>
        <p:spPr>
          <a:xfrm>
            <a:off x="5701249" y="3291452"/>
            <a:ext cx="6498497" cy="276956"/>
          </a:xfrm>
          <a:prstGeom prst="rect">
            <a:avLst/>
          </a:prstGeom>
        </p:spPr>
        <p:txBody>
          <a:bodyPr wrap="square" lIns="91397" tIns="45699" rIns="91397" bIns="45699">
            <a:spAutoFit/>
          </a:bodyPr>
          <a:lstStyle/>
          <a:p>
            <a:pPr defTabSz="913765">
              <a:defRPr/>
            </a:pPr>
            <a:r>
              <a:rPr lang="en-US" altLang="zh-CN" sz="1200" b="1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 FOR ALL</a:t>
            </a:r>
            <a:endParaRPr lang="en-US" altLang="zh-CN" sz="1200" b="1" dirty="0">
              <a:solidFill>
                <a:prstClr val="whit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Click="0" advTm="1000"/>
    </mc:Choice>
    <mc:Fallback>
      <p:transition advClick="0" advTm="1000"/>
    </mc:Fallback>
  </mc:AlternateContent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COMMONDATA" val="eyJoZGlkIjoiOWZkNGJhZTM4YTVkZmQ1MmQwZmZhNzc0MzFiNTc4ZjAifQ=="/>
  <p:tag name="commondata" val="eyJoZGlkIjoiNDllYjZlY2E1NzI0NjExNzdhYjQ3NjY1NjVhMmIwODUifQ==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自定义设计方案">
  <a:themeElements>
    <a:clrScheme name="自定义 10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91B89"/>
      </a:accent1>
      <a:accent2>
        <a:srgbClr val="EEB51A"/>
      </a:accent2>
      <a:accent3>
        <a:srgbClr val="591B89"/>
      </a:accent3>
      <a:accent4>
        <a:srgbClr val="EEB51A"/>
      </a:accent4>
      <a:accent5>
        <a:srgbClr val="591B89"/>
      </a:accent5>
      <a:accent6>
        <a:srgbClr val="EEB51A"/>
      </a:accent6>
      <a:hlink>
        <a:srgbClr val="591B89"/>
      </a:hlink>
      <a:folHlink>
        <a:srgbClr val="EEB51A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2276</Words>
  <Application>WPS 演示</Application>
  <PresentationFormat>宽屏</PresentationFormat>
  <Paragraphs>261</Paragraphs>
  <Slides>15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15</vt:i4>
      </vt:variant>
    </vt:vector>
  </HeadingPairs>
  <TitlesOfParts>
    <vt:vector size="29" baseType="lpstr">
      <vt:lpstr>Arial</vt:lpstr>
      <vt:lpstr>宋体</vt:lpstr>
      <vt:lpstr>Wingdings</vt:lpstr>
      <vt:lpstr>Calibri</vt:lpstr>
      <vt:lpstr>等线</vt:lpstr>
      <vt:lpstr>微软雅黑</vt:lpstr>
      <vt:lpstr>Arial</vt:lpstr>
      <vt:lpstr>Times New Roman</vt:lpstr>
      <vt:lpstr>Arial Unicode MS</vt:lpstr>
      <vt:lpstr>等线 Light</vt:lpstr>
      <vt:lpstr>Calibri Light</vt:lpstr>
      <vt:lpstr>1_Office 主题​​</vt:lpstr>
      <vt:lpstr>2_Office 主题​​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紫色沉稳简约毕业答辩毕业论文答辩PPT</dc:title>
  <dc:creator>秦佳瑶</dc:creator>
  <cp:lastModifiedBy>秦佳瑶</cp:lastModifiedBy>
  <cp:revision>944</cp:revision>
  <dcterms:created xsi:type="dcterms:W3CDTF">2019-03-09T08:01:00Z</dcterms:created>
  <dcterms:modified xsi:type="dcterms:W3CDTF">2025-10-18T12:13:18Z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2052-12.1.0.15374</vt:lpwstr>
  </property>
  <property fmtid="{D5CDD505-2E9C-101B-9397-08002B2CF9AE}" pid="3" name="ICV">
    <vt:lpwstr>0C95BC188EFC487BA7C01F2F718226AD_13</vt:lpwstr>
  </property>
</Properties>
</file>