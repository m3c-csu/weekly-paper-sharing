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66" r:id="rId3"/>
  </p:sldMasterIdLst>
  <p:notesMasterIdLst>
    <p:notesMasterId r:id="rId17"/>
  </p:notesMasterIdLst>
  <p:sldIdLst>
    <p:sldId id="3228" r:id="rId4"/>
    <p:sldId id="3320" r:id="rId5"/>
    <p:sldId id="3454" r:id="rId6"/>
    <p:sldId id="3457" r:id="rId7"/>
    <p:sldId id="3449" r:id="rId8"/>
    <p:sldId id="3471" r:id="rId9"/>
    <p:sldId id="3459" r:id="rId10"/>
    <p:sldId id="3487" r:id="rId11"/>
    <p:sldId id="3460" r:id="rId12"/>
    <p:sldId id="3467" r:id="rId13"/>
    <p:sldId id="3465" r:id="rId14"/>
    <p:sldId id="3486" r:id="rId15"/>
    <p:sldId id="3231"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佳瑶 秦" initials="佳秦"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6299"/>
    <a:srgbClr val="1A78C3"/>
    <a:srgbClr val="1C6299"/>
    <a:srgbClr val="1A78C2"/>
    <a:srgbClr val="1B6298"/>
    <a:srgbClr val="8609AD"/>
    <a:srgbClr val="96C4D1"/>
    <a:srgbClr val="6F3A97"/>
    <a:srgbClr val="D7E0E6"/>
    <a:srgbClr val="286B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84570" autoAdjust="0"/>
  </p:normalViewPr>
  <p:slideViewPr>
    <p:cSldViewPr snapToGrid="0" showGuides="1">
      <p:cViewPr varScale="1">
        <p:scale>
          <a:sx n="102" d="100"/>
          <a:sy n="102" d="100"/>
        </p:scale>
        <p:origin x="1042" y="101"/>
      </p:cViewPr>
      <p:guideLst>
        <p:guide orient="horz" pos="2160"/>
        <p:guide pos="3862"/>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93C12-D317-442F-945E-D6517EECB5C8}" type="datetimeFigureOut">
              <a:rPr lang="zh-CN" altLang="en-US" smtClean="0"/>
              <a:t>2025/11/22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33A62-8780-4CAA-8D19-25292B7F568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基于可学习排序状态空间模型的不完全多模态脑肿瘤分割。</a:t>
            </a:r>
          </a:p>
        </p:txBody>
      </p:sp>
      <p:sp>
        <p:nvSpPr>
          <p:cNvPr id="4" name="灯片编号占位符 3"/>
          <p:cNvSpPr>
            <a:spLocks noGrp="1"/>
          </p:cNvSpPr>
          <p:nvPr>
            <p:ph type="sldNum" sz="quarter" idx="5"/>
          </p:nvPr>
        </p:nvSpPr>
        <p:spPr/>
        <p:txBody>
          <a:bodyPr/>
          <a:lstStyle/>
          <a:p>
            <a:fld id="{BB933A62-8780-4CAA-8D19-25292B7F568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13315"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sz="1800" kern="100" dirty="0">
                <a:effectLst/>
                <a:latin typeface="Times New Roman" panose="02020603050405020304" pitchFamily="18" charset="0"/>
                <a:ea typeface="宋体" panose="02010600030101010101" pitchFamily="2" charset="-122"/>
              </a:rPr>
              <a:t>中国科学技术大学教授</a:t>
            </a:r>
            <a:r>
              <a:rPr lang="en-US" altLang="zh-CN" sz="1800" kern="100" dirty="0">
                <a:effectLst/>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研究方向为图像视频编码，多模态和计算机视觉</a:t>
            </a:r>
          </a:p>
        </p:txBody>
      </p:sp>
      <p:sp>
        <p:nvSpPr>
          <p:cNvPr id="15363" name="灯片编号占位符 3"/>
          <p:cNvSpPr>
            <a:spLocks noGrp="1" noChangeArrowheads="1"/>
          </p:cNvSpPr>
          <p:nvPr>
            <p:ph type="sldNum" sz="quarter" idx="5"/>
          </p:nvPr>
        </p:nvSpPr>
        <p:spPr bwMode="auto"/>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fld id="{5D0C7136-3D9D-4638-BEA3-794311647C77}" type="slidenum">
              <a:rPr lang="zh-CN" altLang="en-US">
                <a:solidFill>
                  <a:srgbClr val="000000"/>
                </a:solidFill>
              </a:rPr>
              <a:t>2</a:t>
            </a:fld>
            <a:endParaRPr lang="zh-CN" altLang="en-US">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现有三种固定顺序扫描策略（对应图中 </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d </a:t>
            </a:r>
            <a:r>
              <a:rPr lang="zh-CN" altLang="en-US" sz="1200" b="0" i="0" kern="1200" dirty="0">
                <a:solidFill>
                  <a:schemeClr val="tx1"/>
                </a:solidFill>
                <a:effectLst/>
                <a:latin typeface="+mn-lt"/>
                <a:ea typeface="+mn-ea"/>
                <a:cs typeface="+mn-cs"/>
              </a:rPr>
              <a:t>类扫描）存在明显局限：其中 </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 </a:t>
            </a:r>
            <a:r>
              <a:rPr lang="zh-CN" altLang="en-US" sz="1200" b="0" i="0" kern="1200" dirty="0">
                <a:solidFill>
                  <a:schemeClr val="tx1"/>
                </a:solidFill>
                <a:effectLst/>
                <a:latin typeface="+mn-lt"/>
                <a:ea typeface="+mn-ea"/>
                <a:cs typeface="+mn-cs"/>
              </a:rPr>
              <a:t>类扫描沿行或列展开序列时，会直接破坏原始 </a:t>
            </a:r>
            <a:r>
              <a:rPr lang="en-US" altLang="zh-CN" sz="1200" b="0" i="0" kern="1200" dirty="0">
                <a:solidFill>
                  <a:schemeClr val="tx1"/>
                </a:solidFill>
                <a:effectLst/>
                <a:latin typeface="+mn-lt"/>
                <a:ea typeface="+mn-ea"/>
                <a:cs typeface="+mn-cs"/>
              </a:rPr>
              <a:t>token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3D </a:t>
            </a:r>
            <a:r>
              <a:rPr lang="zh-CN" altLang="en-US" sz="1200" b="0" i="0" kern="1200" dirty="0">
                <a:solidFill>
                  <a:schemeClr val="tx1"/>
                </a:solidFill>
                <a:effectLst/>
                <a:latin typeface="+mn-lt"/>
                <a:ea typeface="+mn-ea"/>
                <a:cs typeface="+mn-cs"/>
              </a:rPr>
              <a:t>空间结构，且远距离 </a:t>
            </a:r>
            <a:r>
              <a:rPr lang="en-US" altLang="zh-CN" sz="1200" b="0" i="0" kern="1200" dirty="0">
                <a:solidFill>
                  <a:schemeClr val="tx1"/>
                </a:solidFill>
                <a:effectLst/>
                <a:latin typeface="+mn-lt"/>
                <a:ea typeface="+mn-ea"/>
                <a:cs typeface="+mn-cs"/>
              </a:rPr>
              <a:t>token </a:t>
            </a:r>
            <a:r>
              <a:rPr lang="zh-CN" altLang="en-US" sz="1200" b="0" i="0" kern="1200" dirty="0">
                <a:solidFill>
                  <a:schemeClr val="tx1"/>
                </a:solidFill>
                <a:effectLst/>
                <a:latin typeface="+mn-lt"/>
                <a:ea typeface="+mn-ea"/>
                <a:cs typeface="+mn-cs"/>
              </a:rPr>
              <a:t>对当前 </a:t>
            </a:r>
            <a:r>
              <a:rPr lang="en-US" altLang="zh-CN" sz="1200" b="0" i="0" kern="1200" dirty="0">
                <a:solidFill>
                  <a:schemeClr val="tx1"/>
                </a:solidFill>
                <a:effectLst/>
                <a:latin typeface="+mn-lt"/>
                <a:ea typeface="+mn-ea"/>
                <a:cs typeface="+mn-cs"/>
              </a:rPr>
              <a:t>token </a:t>
            </a:r>
            <a:r>
              <a:rPr lang="zh-CN" altLang="en-US" sz="1200" b="0" i="0" kern="1200" dirty="0">
                <a:solidFill>
                  <a:schemeClr val="tx1"/>
                </a:solidFill>
                <a:effectLst/>
                <a:latin typeface="+mn-lt"/>
                <a:ea typeface="+mn-ea"/>
                <a:cs typeface="+mn-cs"/>
              </a:rPr>
              <a:t>的影响力随序列长度衰减的核心问题始终未解决；</a:t>
            </a:r>
            <a:r>
              <a:rPr lang="en-US" altLang="zh-CN" sz="1200" b="0" i="0" kern="1200" dirty="0">
                <a:solidFill>
                  <a:schemeClr val="tx1"/>
                </a:solidFill>
                <a:effectLst/>
                <a:latin typeface="+mn-lt"/>
                <a:ea typeface="+mn-ea"/>
                <a:cs typeface="+mn-cs"/>
              </a:rPr>
              <a:t>d </a:t>
            </a:r>
            <a:r>
              <a:rPr lang="zh-CN" altLang="en-US" sz="1200" b="0" i="0" kern="1200" dirty="0">
                <a:solidFill>
                  <a:schemeClr val="tx1"/>
                </a:solidFill>
                <a:effectLst/>
                <a:latin typeface="+mn-lt"/>
                <a:ea typeface="+mn-ea"/>
                <a:cs typeface="+mn-cs"/>
              </a:rPr>
              <a:t>类扫描虽能在一定程度上缓解 </a:t>
            </a:r>
            <a:r>
              <a:rPr lang="en-US" altLang="zh-CN" sz="1200" b="0" i="0" kern="1200" dirty="0">
                <a:solidFill>
                  <a:schemeClr val="tx1"/>
                </a:solidFill>
                <a:effectLst/>
                <a:latin typeface="+mn-lt"/>
                <a:ea typeface="+mn-ea"/>
                <a:cs typeface="+mn-cs"/>
              </a:rPr>
              <a:t>2D </a:t>
            </a:r>
            <a:r>
              <a:rPr lang="zh-CN" altLang="en-US" sz="1200" b="0" i="0" kern="1200" dirty="0">
                <a:solidFill>
                  <a:schemeClr val="tx1"/>
                </a:solidFill>
                <a:effectLst/>
                <a:latin typeface="+mn-lt"/>
                <a:ea typeface="+mn-ea"/>
                <a:cs typeface="+mn-cs"/>
              </a:rPr>
              <a:t>局部空间结构的破坏，但仍无法保留 </a:t>
            </a:r>
            <a:r>
              <a:rPr lang="en-US" altLang="zh-CN" sz="1200" b="0" i="0" kern="1200" dirty="0">
                <a:solidFill>
                  <a:schemeClr val="tx1"/>
                </a:solidFill>
                <a:effectLst/>
                <a:latin typeface="+mn-lt"/>
                <a:ea typeface="+mn-ea"/>
                <a:cs typeface="+mn-cs"/>
              </a:rPr>
              <a:t>3D MRI </a:t>
            </a:r>
            <a:r>
              <a:rPr lang="zh-CN" altLang="en-US" sz="1200" b="0" i="0" kern="1200" dirty="0">
                <a:solidFill>
                  <a:schemeClr val="tx1"/>
                </a:solidFill>
                <a:effectLst/>
                <a:latin typeface="+mn-lt"/>
                <a:ea typeface="+mn-ea"/>
                <a:cs typeface="+mn-cs"/>
              </a:rPr>
              <a:t>关键的 </a:t>
            </a:r>
            <a:r>
              <a:rPr lang="en-US" altLang="zh-CN" sz="1200" b="0" i="0" kern="1200" dirty="0">
                <a:solidFill>
                  <a:schemeClr val="tx1"/>
                </a:solidFill>
                <a:effectLst/>
                <a:latin typeface="+mn-lt"/>
                <a:ea typeface="+mn-ea"/>
                <a:cs typeface="+mn-cs"/>
              </a:rPr>
              <a:t>26 - </a:t>
            </a:r>
            <a:r>
              <a:rPr lang="zh-CN" altLang="en-US" sz="1200" b="0" i="0" kern="1200" dirty="0">
                <a:solidFill>
                  <a:schemeClr val="tx1"/>
                </a:solidFill>
                <a:effectLst/>
                <a:latin typeface="+mn-lt"/>
                <a:ea typeface="+mn-ea"/>
                <a:cs typeface="+mn-cs"/>
              </a:rPr>
              <a:t>邻域空间关联，同时对远距离 </a:t>
            </a:r>
            <a:r>
              <a:rPr lang="en-US" altLang="zh-CN" sz="1200" b="0" i="0" kern="1200" dirty="0">
                <a:solidFill>
                  <a:schemeClr val="tx1"/>
                </a:solidFill>
                <a:effectLst/>
                <a:latin typeface="+mn-lt"/>
                <a:ea typeface="+mn-ea"/>
                <a:cs typeface="+mn-cs"/>
              </a:rPr>
              <a:t>token </a:t>
            </a:r>
            <a:r>
              <a:rPr lang="zh-CN" altLang="en-US" sz="1200" b="0" i="0" kern="1200" dirty="0">
                <a:solidFill>
                  <a:schemeClr val="tx1"/>
                </a:solidFill>
                <a:effectLst/>
                <a:latin typeface="+mn-lt"/>
                <a:ea typeface="+mn-ea"/>
                <a:cs typeface="+mn-cs"/>
              </a:rPr>
              <a:t>影响力弱的缺陷也未做改进。而本文打破固定扫描顺序的限制，提出一种可学习排序过程（</a:t>
            </a:r>
            <a:r>
              <a:rPr lang="en-US" altLang="zh-CN" sz="1200" b="0" i="0" kern="1200" dirty="0" err="1">
                <a:solidFill>
                  <a:schemeClr val="tx1"/>
                </a:solidFill>
                <a:effectLst/>
                <a:latin typeface="+mn-lt"/>
                <a:ea typeface="+mn-ea"/>
                <a:cs typeface="+mn-cs"/>
              </a:rPr>
              <a:t>SortP</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模块）：该模块会</a:t>
            </a:r>
            <a:r>
              <a:rPr lang="zh-CN" altLang="en-US" sz="1200" kern="1200" dirty="0">
                <a:solidFill>
                  <a:schemeClr val="tx1"/>
                </a:solidFill>
                <a:latin typeface="+mn-lt"/>
                <a:ea typeface="+mn-ea"/>
                <a:cs typeface="+mn-cs"/>
              </a:rPr>
              <a:t>计算</a:t>
            </a:r>
            <a:r>
              <a:rPr lang="en-US" altLang="zh-CN" sz="1200" kern="1200" dirty="0">
                <a:solidFill>
                  <a:schemeClr val="tx1"/>
                </a:solidFill>
                <a:latin typeface="+mn-lt"/>
                <a:ea typeface="+mn-ea"/>
                <a:cs typeface="+mn-cs"/>
              </a:rPr>
              <a:t>token</a:t>
            </a:r>
            <a:r>
              <a:rPr lang="zh-CN" altLang="en-US" sz="1200" kern="1200" dirty="0">
                <a:solidFill>
                  <a:schemeClr val="tx1"/>
                </a:solidFill>
                <a:latin typeface="+mn-lt"/>
                <a:ea typeface="+mn-ea"/>
                <a:cs typeface="+mn-cs"/>
              </a:rPr>
              <a:t>在每个位置的适配得分，确定每个</a:t>
            </a:r>
            <a:r>
              <a:rPr lang="en-US" altLang="zh-CN" sz="1200" kern="1200" dirty="0">
                <a:solidFill>
                  <a:schemeClr val="tx1"/>
                </a:solidFill>
                <a:latin typeface="+mn-lt"/>
                <a:ea typeface="+mn-ea"/>
                <a:cs typeface="+mn-cs"/>
              </a:rPr>
              <a:t>token</a:t>
            </a:r>
            <a:r>
              <a:rPr lang="zh-CN" altLang="en-US" sz="1200" kern="1200" dirty="0">
                <a:solidFill>
                  <a:schemeClr val="tx1"/>
                </a:solidFill>
                <a:latin typeface="+mn-lt"/>
                <a:ea typeface="+mn-ea"/>
                <a:cs typeface="+mn-cs"/>
              </a:rPr>
              <a:t>的最优摆放位置，再生成排序矩阵</a:t>
            </a:r>
            <a:r>
              <a:rPr lang="en-US" altLang="zh-CN" sz="1200" kern="1200" dirty="0">
                <a:solidFill>
                  <a:schemeClr val="tx1"/>
                </a:solidFill>
                <a:latin typeface="+mn-lt"/>
                <a:ea typeface="+mn-ea"/>
                <a:cs typeface="+mn-cs"/>
              </a:rPr>
              <a:t>P</a:t>
            </a:r>
            <a:r>
              <a:rPr lang="zh-CN" altLang="en-US" sz="1200" b="0" i="0" kern="1200" dirty="0">
                <a:solidFill>
                  <a:schemeClr val="tx1"/>
                </a:solidFill>
                <a:effectLst/>
                <a:latin typeface="+mn-lt"/>
                <a:ea typeface="+mn-ea"/>
                <a:cs typeface="+mn-cs"/>
              </a:rPr>
              <a:t>，最终将所有 </a:t>
            </a:r>
            <a:r>
              <a:rPr lang="en-US" altLang="zh-CN" sz="1200" b="0" i="0" kern="1200" dirty="0">
                <a:solidFill>
                  <a:schemeClr val="tx1"/>
                </a:solidFill>
                <a:effectLst/>
                <a:latin typeface="+mn-lt"/>
                <a:ea typeface="+mn-ea"/>
                <a:cs typeface="+mn-cs"/>
              </a:rPr>
              <a:t>token </a:t>
            </a:r>
            <a:r>
              <a:rPr lang="zh-CN" altLang="en-US" sz="1200" b="0" i="0" kern="1200" dirty="0">
                <a:solidFill>
                  <a:schemeClr val="tx1"/>
                </a:solidFill>
                <a:effectLst/>
                <a:latin typeface="+mn-lt"/>
                <a:ea typeface="+mn-ea"/>
                <a:cs typeface="+mn-cs"/>
              </a:rPr>
              <a:t>调整到最优排布状态，确保空间结构与语义关联不被破坏。（为什么？ 只能解释 通过学习，让这个序列处在最佳的位置，相当于保留了空间结构和语义关联）</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latin typeface="+mn-lt"/>
                <a:ea typeface="+mn-ea"/>
                <a:cs typeface="+mn-cs"/>
              </a:rPr>
              <a:t>本文方法分为三个核心模块，第一个是全局输入策略，因为只输入裁剪块会丢失全局信息，所以引入了全图来补充全局信息，同时添加相对位置编码标记裁剪块在全图中的位置。第二个是</a:t>
            </a:r>
            <a:r>
              <a:rPr lang="en-US" altLang="zh-CN" sz="1200" kern="1200" dirty="0" err="1">
                <a:solidFill>
                  <a:schemeClr val="tx1"/>
                </a:solidFill>
                <a:latin typeface="+mn-lt"/>
                <a:ea typeface="+mn-ea"/>
                <a:cs typeface="+mn-cs"/>
              </a:rPr>
              <a:t>SortP</a:t>
            </a:r>
            <a:r>
              <a:rPr lang="zh-CN" altLang="en-US" sz="1200" kern="1200" dirty="0">
                <a:solidFill>
                  <a:schemeClr val="tx1"/>
                </a:solidFill>
                <a:latin typeface="+mn-lt"/>
                <a:ea typeface="+mn-ea"/>
                <a:cs typeface="+mn-cs"/>
              </a:rPr>
              <a:t>模块，为了解决将</a:t>
            </a:r>
            <a:r>
              <a:rPr lang="en-US" altLang="zh-CN" sz="1200" kern="1200" dirty="0">
                <a:solidFill>
                  <a:schemeClr val="tx1"/>
                </a:solidFill>
                <a:latin typeface="+mn-lt"/>
                <a:ea typeface="+mn-ea"/>
                <a:cs typeface="+mn-cs"/>
              </a:rPr>
              <a:t>MRI</a:t>
            </a:r>
            <a:r>
              <a:rPr lang="zh-CN" altLang="en-US" sz="1200" kern="1200" dirty="0">
                <a:solidFill>
                  <a:schemeClr val="tx1"/>
                </a:solidFill>
                <a:latin typeface="+mn-lt"/>
                <a:ea typeface="+mn-ea"/>
                <a:cs typeface="+mn-cs"/>
              </a:rPr>
              <a:t>展开为</a:t>
            </a:r>
            <a:r>
              <a:rPr lang="en-US" altLang="zh-CN" sz="1200" kern="1200" dirty="0">
                <a:solidFill>
                  <a:schemeClr val="tx1"/>
                </a:solidFill>
                <a:latin typeface="+mn-lt"/>
                <a:ea typeface="+mn-ea"/>
                <a:cs typeface="+mn-cs"/>
              </a:rPr>
              <a:t>1</a:t>
            </a:r>
            <a:r>
              <a:rPr lang="zh-CN" altLang="en-US" sz="1200" kern="1200" dirty="0">
                <a:solidFill>
                  <a:schemeClr val="tx1"/>
                </a:solidFill>
                <a:latin typeface="+mn-lt"/>
                <a:ea typeface="+mn-ea"/>
                <a:cs typeface="+mn-cs"/>
              </a:rPr>
              <a:t>维序列会破坏空间结构以及忽略了远距离</a:t>
            </a:r>
            <a:r>
              <a:rPr lang="en-US" altLang="zh-CN" sz="1200" kern="1200" dirty="0">
                <a:solidFill>
                  <a:schemeClr val="tx1"/>
                </a:solidFill>
                <a:latin typeface="+mn-lt"/>
                <a:ea typeface="+mn-ea"/>
                <a:cs typeface="+mn-cs"/>
              </a:rPr>
              <a:t>token</a:t>
            </a:r>
            <a:r>
              <a:rPr lang="zh-CN" altLang="en-US" sz="1200" kern="1200" dirty="0">
                <a:solidFill>
                  <a:schemeClr val="tx1"/>
                </a:solidFill>
                <a:latin typeface="+mn-lt"/>
                <a:ea typeface="+mn-ea"/>
                <a:cs typeface="+mn-cs"/>
              </a:rPr>
              <a:t>的语义关联，该模块通过计算</a:t>
            </a:r>
            <a:r>
              <a:rPr lang="en-US" altLang="zh-CN" sz="1200" kern="1200" dirty="0">
                <a:solidFill>
                  <a:schemeClr val="tx1"/>
                </a:solidFill>
                <a:latin typeface="+mn-lt"/>
                <a:ea typeface="+mn-ea"/>
                <a:cs typeface="+mn-cs"/>
              </a:rPr>
              <a:t>token</a:t>
            </a:r>
            <a:r>
              <a:rPr lang="zh-CN" altLang="en-US" sz="1200" kern="1200" dirty="0">
                <a:solidFill>
                  <a:schemeClr val="tx1"/>
                </a:solidFill>
                <a:latin typeface="+mn-lt"/>
                <a:ea typeface="+mn-ea"/>
                <a:cs typeface="+mn-cs"/>
              </a:rPr>
              <a:t>在每个位置的适配得分，确定每个</a:t>
            </a:r>
            <a:r>
              <a:rPr lang="en-US" altLang="zh-CN" sz="1200" kern="1200" dirty="0">
                <a:solidFill>
                  <a:schemeClr val="tx1"/>
                </a:solidFill>
                <a:latin typeface="+mn-lt"/>
                <a:ea typeface="+mn-ea"/>
                <a:cs typeface="+mn-cs"/>
              </a:rPr>
              <a:t>token</a:t>
            </a:r>
            <a:r>
              <a:rPr lang="zh-CN" altLang="en-US" sz="1200" kern="1200" dirty="0">
                <a:solidFill>
                  <a:schemeClr val="tx1"/>
                </a:solidFill>
                <a:latin typeface="+mn-lt"/>
                <a:ea typeface="+mn-ea"/>
                <a:cs typeface="+mn-cs"/>
              </a:rPr>
              <a:t>的最优摆放位置，再生成排序矩阵</a:t>
            </a:r>
            <a:r>
              <a:rPr lang="en-US" altLang="zh-CN" sz="1200" kern="1200" dirty="0">
                <a:solidFill>
                  <a:schemeClr val="tx1"/>
                </a:solidFill>
                <a:latin typeface="+mn-lt"/>
                <a:ea typeface="+mn-ea"/>
                <a:cs typeface="+mn-cs"/>
              </a:rPr>
              <a:t>P</a:t>
            </a:r>
            <a:r>
              <a:rPr lang="zh-CN" altLang="en-US" sz="1200" kern="1200" dirty="0">
                <a:solidFill>
                  <a:schemeClr val="tx1"/>
                </a:solidFill>
                <a:latin typeface="+mn-lt"/>
                <a:ea typeface="+mn-ea"/>
                <a:cs typeface="+mn-cs"/>
              </a:rPr>
              <a:t>，从而实现动态排序。第三个模块</a:t>
            </a:r>
            <a:r>
              <a:rPr lang="en-US" altLang="zh-CN" sz="1200" kern="1200" dirty="0">
                <a:solidFill>
                  <a:schemeClr val="tx1"/>
                </a:solidFill>
                <a:latin typeface="+mn-lt"/>
                <a:ea typeface="+mn-ea"/>
                <a:cs typeface="+mn-cs"/>
              </a:rPr>
              <a:t>S3M</a:t>
            </a:r>
            <a:r>
              <a:rPr lang="zh-CN" altLang="en-US" sz="1200" kern="1200" dirty="0">
                <a:solidFill>
                  <a:schemeClr val="tx1"/>
                </a:solidFill>
                <a:latin typeface="+mn-lt"/>
                <a:ea typeface="+mn-ea"/>
                <a:cs typeface="+mn-cs"/>
              </a:rPr>
              <a:t>，通过处理排序后的序列，通过</a:t>
            </a:r>
            <a:r>
              <a:rPr lang="en-US" altLang="zh-CN" sz="1200" kern="1200" dirty="0">
                <a:solidFill>
                  <a:schemeClr val="tx1"/>
                </a:solidFill>
                <a:latin typeface="+mn-lt"/>
                <a:ea typeface="+mn-ea"/>
                <a:cs typeface="+mn-cs"/>
              </a:rPr>
              <a:t>mamba</a:t>
            </a:r>
            <a:r>
              <a:rPr lang="zh-CN" altLang="en-US" sz="1200" kern="1200" dirty="0">
                <a:solidFill>
                  <a:schemeClr val="tx1"/>
                </a:solidFill>
                <a:latin typeface="+mn-lt"/>
                <a:ea typeface="+mn-ea"/>
                <a:cs typeface="+mn-cs"/>
              </a:rPr>
              <a:t>建模长程依赖关系。</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latin typeface="+mn-lt"/>
                <a:ea typeface="+mn-ea"/>
                <a:cs typeface="+mn-cs"/>
              </a:rPr>
              <a:t>很多方法都使用裁剪块作为输入，但是这会忽略全局上下文信息。因此采用了全局输入策略，具体来说，在全图中添加相对位置编码（裁剪块区域为</a:t>
            </a:r>
            <a:r>
              <a:rPr lang="en-US" altLang="zh-CN" sz="1200" kern="1200" dirty="0">
                <a:solidFill>
                  <a:schemeClr val="tx1"/>
                </a:solidFill>
                <a:latin typeface="+mn-lt"/>
                <a:ea typeface="+mn-ea"/>
                <a:cs typeface="+mn-cs"/>
              </a:rPr>
              <a:t>1</a:t>
            </a:r>
            <a:r>
              <a:rPr lang="zh-CN" altLang="en-US" sz="1200" kern="1200" dirty="0">
                <a:solidFill>
                  <a:schemeClr val="tx1"/>
                </a:solidFill>
                <a:latin typeface="+mn-lt"/>
                <a:ea typeface="+mn-ea"/>
                <a:cs typeface="+mn-cs"/>
              </a:rPr>
              <a:t>，其他为</a:t>
            </a:r>
            <a:r>
              <a:rPr lang="en-US" altLang="zh-CN" sz="1200" kern="1200" dirty="0">
                <a:solidFill>
                  <a:schemeClr val="tx1"/>
                </a:solidFill>
                <a:latin typeface="+mn-lt"/>
                <a:ea typeface="+mn-ea"/>
                <a:cs typeface="+mn-cs"/>
              </a:rPr>
              <a:t>0</a:t>
            </a:r>
            <a:r>
              <a:rPr lang="zh-CN" altLang="en-US" sz="1200" kern="1200" dirty="0">
                <a:solidFill>
                  <a:schemeClr val="tx1"/>
                </a:solidFill>
                <a:latin typeface="+mn-lt"/>
                <a:ea typeface="+mn-ea"/>
                <a:cs typeface="+mn-cs"/>
              </a:rPr>
              <a:t>），相对位置编码表示了裁剪块在全局中的位置信息，然后通过自适应池化变为裁剪块大小，与裁剪块进行拼接。最终得到的就是裁剪块就融合了全局信息。</a:t>
            </a:r>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fontAlgn="auto">
              <a:lnSpc>
                <a:spcPct val="150000"/>
              </a:lnSpc>
            </a:pPr>
            <a:r>
              <a:rPr lang="zh-CN" altLang="en-US" sz="1200" b="0" i="0" kern="1200" dirty="0">
                <a:solidFill>
                  <a:schemeClr val="tx1"/>
                </a:solidFill>
                <a:effectLst/>
                <a:latin typeface="+mn-lt"/>
                <a:ea typeface="+mn-ea"/>
                <a:cs typeface="+mn-cs"/>
              </a:rPr>
              <a:t>先前的扫描方法要么忽略了三维的空间结构，要么没有考虑到远距离</a:t>
            </a:r>
            <a:r>
              <a:rPr lang="en-US" altLang="zh-CN" sz="1200" b="0" i="0" kern="1200" dirty="0">
                <a:solidFill>
                  <a:schemeClr val="tx1"/>
                </a:solidFill>
                <a:effectLst/>
                <a:latin typeface="+mn-lt"/>
                <a:ea typeface="+mn-ea"/>
                <a:cs typeface="+mn-cs"/>
              </a:rPr>
              <a:t>token</a:t>
            </a:r>
            <a:r>
              <a:rPr lang="zh-CN" altLang="en-US" sz="1200" b="0" i="0" kern="1200" dirty="0">
                <a:solidFill>
                  <a:schemeClr val="tx1"/>
                </a:solidFill>
                <a:effectLst/>
                <a:latin typeface="+mn-lt"/>
                <a:ea typeface="+mn-ea"/>
                <a:cs typeface="+mn-cs"/>
              </a:rPr>
              <a:t>的相互作用。本模块通过可学习的排序过程来生成最优的序列顺序。具体来说，首先特征图通过</a:t>
            </a:r>
            <a:r>
              <a:rPr lang="en-US" altLang="zh-CN" sz="1200" b="0" i="0" kern="1200" dirty="0">
                <a:solidFill>
                  <a:schemeClr val="tx1"/>
                </a:solidFill>
                <a:effectLst/>
                <a:latin typeface="+mn-lt"/>
                <a:ea typeface="+mn-ea"/>
                <a:cs typeface="+mn-cs"/>
              </a:rPr>
              <a:t>3D</a:t>
            </a:r>
            <a:r>
              <a:rPr lang="zh-CN" altLang="en-US" sz="1200" b="0" i="0" kern="1200" dirty="0">
                <a:solidFill>
                  <a:schemeClr val="tx1"/>
                </a:solidFill>
                <a:effectLst/>
                <a:latin typeface="+mn-lt"/>
                <a:ea typeface="+mn-ea"/>
                <a:cs typeface="+mn-cs"/>
              </a:rPr>
              <a:t>卷积得到特征，然后按通道将其分为</a:t>
            </a:r>
            <a:r>
              <a:rPr lang="en-US" altLang="zh-CN" sz="1200" b="0" i="0" kern="1200" dirty="0">
                <a:solidFill>
                  <a:schemeClr val="tx1"/>
                </a:solidFill>
                <a:effectLst/>
                <a:latin typeface="+mn-lt"/>
                <a:ea typeface="+mn-ea"/>
                <a:cs typeface="+mn-cs"/>
              </a:rPr>
              <a:t>f1</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f2</a:t>
            </a:r>
            <a:r>
              <a:rPr lang="zh-CN" altLang="en-US" sz="1200" b="0" i="0" kern="1200" dirty="0">
                <a:solidFill>
                  <a:schemeClr val="tx1"/>
                </a:solidFill>
                <a:effectLst/>
                <a:latin typeface="+mn-lt"/>
                <a:ea typeface="+mn-ea"/>
                <a:cs typeface="+mn-cs"/>
              </a:rPr>
              <a:t>。随后</a:t>
            </a:r>
            <a:r>
              <a:rPr lang="en-US" altLang="zh-CN" sz="1200" b="0" i="0" kern="1200" dirty="0">
                <a:solidFill>
                  <a:schemeClr val="tx1"/>
                </a:solidFill>
                <a:effectLst/>
                <a:latin typeface="+mn-lt"/>
                <a:ea typeface="+mn-ea"/>
                <a:cs typeface="+mn-cs"/>
              </a:rPr>
              <a:t>f1</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f2</a:t>
            </a:r>
            <a:r>
              <a:rPr lang="zh-CN" altLang="en-US" sz="1200" b="0" i="0" kern="1200" dirty="0">
                <a:solidFill>
                  <a:schemeClr val="tx1"/>
                </a:solidFill>
                <a:effectLst/>
                <a:latin typeface="+mn-lt"/>
                <a:ea typeface="+mn-ea"/>
                <a:cs typeface="+mn-cs"/>
              </a:rPr>
              <a:t>计算得到初始矩阵（类似于</a:t>
            </a:r>
            <a:r>
              <a:rPr lang="en-US" altLang="zh-CN" sz="1200" b="0" i="0" kern="1200" dirty="0">
                <a:solidFill>
                  <a:schemeClr val="tx1"/>
                </a:solidFill>
                <a:effectLst/>
                <a:latin typeface="+mn-lt"/>
                <a:ea typeface="+mn-ea"/>
                <a:cs typeface="+mn-cs"/>
              </a:rPr>
              <a:t>q</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k</a:t>
            </a:r>
            <a:r>
              <a:rPr lang="zh-CN" altLang="en-US" sz="1200" b="0" i="0" kern="1200" dirty="0">
                <a:solidFill>
                  <a:schemeClr val="tx1"/>
                </a:solidFill>
                <a:effectLst/>
                <a:latin typeface="+mn-lt"/>
                <a:ea typeface="+mn-ea"/>
                <a:cs typeface="+mn-cs"/>
              </a:rPr>
              <a:t>），生成的矩阵的第</a:t>
            </a:r>
            <a:r>
              <a:rPr lang="en-US" altLang="zh-CN" sz="1200" b="0" i="0" kern="1200" dirty="0" err="1">
                <a:solidFill>
                  <a:schemeClr val="tx1"/>
                </a:solidFill>
                <a:effectLst/>
                <a:latin typeface="+mn-lt"/>
                <a:ea typeface="+mn-ea"/>
                <a:cs typeface="+mn-cs"/>
              </a:rPr>
              <a:t>i</a:t>
            </a:r>
            <a:r>
              <a:rPr lang="zh-CN" altLang="en-US" sz="1200" b="0" i="0" kern="1200" dirty="0">
                <a:solidFill>
                  <a:schemeClr val="tx1"/>
                </a:solidFill>
                <a:effectLst/>
                <a:latin typeface="+mn-lt"/>
                <a:ea typeface="+mn-ea"/>
                <a:cs typeface="+mn-cs"/>
              </a:rPr>
              <a:t>行就代表了每个</a:t>
            </a:r>
            <a:r>
              <a:rPr lang="en-US" altLang="zh-CN" sz="1200" b="0" i="0" kern="1200" dirty="0">
                <a:solidFill>
                  <a:schemeClr val="tx1"/>
                </a:solidFill>
                <a:effectLst/>
                <a:latin typeface="+mn-lt"/>
                <a:ea typeface="+mn-ea"/>
                <a:cs typeface="+mn-cs"/>
              </a:rPr>
              <a:t>token</a:t>
            </a:r>
            <a:r>
              <a:rPr lang="zh-CN" altLang="en-US" sz="1200" b="0" i="0" kern="1200" dirty="0">
                <a:solidFill>
                  <a:schemeClr val="tx1"/>
                </a:solidFill>
                <a:effectLst/>
                <a:latin typeface="+mn-lt"/>
                <a:ea typeface="+mn-ea"/>
                <a:cs typeface="+mn-cs"/>
              </a:rPr>
              <a:t>想放在第</a:t>
            </a:r>
            <a:r>
              <a:rPr lang="en-US" altLang="zh-CN" sz="1200" b="0" i="0" kern="1200" dirty="0" err="1">
                <a:solidFill>
                  <a:schemeClr val="tx1"/>
                </a:solidFill>
                <a:effectLst/>
                <a:latin typeface="+mn-lt"/>
                <a:ea typeface="+mn-ea"/>
                <a:cs typeface="+mn-cs"/>
              </a:rPr>
              <a:t>i</a:t>
            </a:r>
            <a:r>
              <a:rPr lang="zh-CN" altLang="en-US" sz="1200" b="0" i="0" kern="1200" dirty="0">
                <a:solidFill>
                  <a:schemeClr val="tx1"/>
                </a:solidFill>
                <a:effectLst/>
                <a:latin typeface="+mn-lt"/>
                <a:ea typeface="+mn-ea"/>
                <a:cs typeface="+mn-cs"/>
              </a:rPr>
              <a:t>个位置的得分。然后通过这两个操作得到的置换矩阵</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，从而实现让每一个</a:t>
            </a:r>
            <a:r>
              <a:rPr lang="en-US" altLang="zh-CN" sz="1200" b="0" i="0" kern="1200" dirty="0">
                <a:solidFill>
                  <a:schemeClr val="tx1"/>
                </a:solidFill>
                <a:effectLst/>
                <a:latin typeface="+mn-lt"/>
                <a:ea typeface="+mn-ea"/>
                <a:cs typeface="+mn-cs"/>
              </a:rPr>
              <a:t>token</a:t>
            </a:r>
            <a:r>
              <a:rPr lang="zh-CN" altLang="en-US" sz="1200" b="0" i="0" kern="1200" dirty="0">
                <a:solidFill>
                  <a:schemeClr val="tx1"/>
                </a:solidFill>
                <a:effectLst/>
                <a:latin typeface="+mn-lt"/>
                <a:ea typeface="+mn-ea"/>
                <a:cs typeface="+mn-cs"/>
              </a:rPr>
              <a:t>放在最优的位置。在高分辨率部分，为了减少计算量，通过双线性插值上采样得到</a:t>
            </a:r>
            <a:r>
              <a:rPr lang="en-US" altLang="zh-CN" sz="1200" b="0" i="0" kern="1200" dirty="0">
                <a:solidFill>
                  <a:schemeClr val="tx1"/>
                </a:solidFill>
                <a:effectLst/>
                <a:latin typeface="+mn-lt"/>
                <a:ea typeface="+mn-ea"/>
                <a:cs typeface="+mn-cs"/>
              </a:rPr>
              <a:t>Pl</a:t>
            </a:r>
            <a:r>
              <a:rPr lang="zh-CN" altLang="en-US" sz="1200" b="0" i="0" kern="1200" dirty="0">
                <a:solidFill>
                  <a:schemeClr val="tx1"/>
                </a:solidFill>
                <a:effectLst/>
                <a:latin typeface="+mn-lt"/>
                <a:ea typeface="+mn-ea"/>
                <a:cs typeface="+mn-cs"/>
              </a:rPr>
              <a:t>对序列进行排序。在多模态融合部分，通过将各个模态的排序矩阵相加得到一个综合模态的排序矩阵</a:t>
            </a:r>
            <a:r>
              <a:rPr lang="en-US" altLang="zh-CN" sz="1200" b="0" i="0" kern="1200" dirty="0" err="1">
                <a:solidFill>
                  <a:schemeClr val="tx1"/>
                </a:solidFill>
                <a:effectLst/>
                <a:latin typeface="+mn-lt"/>
                <a:ea typeface="+mn-ea"/>
                <a:cs typeface="+mn-cs"/>
              </a:rPr>
              <a:t>Pmul</a:t>
            </a:r>
            <a:r>
              <a:rPr lang="zh-CN" altLang="en-US"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F1EC7-DE02-01E8-AF71-596A3A6332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74DB27-B7A5-C05E-2281-1F295E40D7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91259D-55D0-8B44-151F-2D2DF99CFAD6}"/>
              </a:ext>
            </a:extLst>
          </p:cNvPr>
          <p:cNvSpPr>
            <a:spLocks noGrp="1"/>
          </p:cNvSpPr>
          <p:nvPr>
            <p:ph type="body" idx="1"/>
          </p:nvPr>
        </p:nvSpPr>
        <p:spPr/>
        <p:txBody>
          <a:bodyPr/>
          <a:lstStyle/>
          <a:p>
            <a:pPr indent="0" fontAlgn="auto">
              <a:lnSpc>
                <a:spcPct val="150000"/>
              </a:lnSpc>
            </a:pPr>
            <a:r>
              <a:rPr lang="zh-CN" altLang="en-US" sz="1200" b="0" i="0" kern="1200" dirty="0">
                <a:solidFill>
                  <a:schemeClr val="tx1"/>
                </a:solidFill>
                <a:effectLst/>
                <a:latin typeface="+mn-lt"/>
                <a:ea typeface="+mn-ea"/>
                <a:cs typeface="+mn-cs"/>
              </a:rPr>
              <a:t>先前的扫描方法要么忽略了三维的空间结构，要么没有考虑到远距离</a:t>
            </a:r>
            <a:r>
              <a:rPr lang="en-US" altLang="zh-CN" sz="1200" b="0" i="0" kern="1200" dirty="0">
                <a:solidFill>
                  <a:schemeClr val="tx1"/>
                </a:solidFill>
                <a:effectLst/>
                <a:latin typeface="+mn-lt"/>
                <a:ea typeface="+mn-ea"/>
                <a:cs typeface="+mn-cs"/>
              </a:rPr>
              <a:t>token</a:t>
            </a:r>
            <a:r>
              <a:rPr lang="zh-CN" altLang="en-US" sz="1200" b="0" i="0" kern="1200" dirty="0">
                <a:solidFill>
                  <a:schemeClr val="tx1"/>
                </a:solidFill>
                <a:effectLst/>
                <a:latin typeface="+mn-lt"/>
                <a:ea typeface="+mn-ea"/>
                <a:cs typeface="+mn-cs"/>
              </a:rPr>
              <a:t>的相互作用。本模块通过可学习的排序过程来生成最优的序列顺序。具体来说，首先特征图通过</a:t>
            </a:r>
            <a:r>
              <a:rPr lang="en-US" altLang="zh-CN" sz="1200" b="0" i="0" kern="1200" dirty="0">
                <a:solidFill>
                  <a:schemeClr val="tx1"/>
                </a:solidFill>
                <a:effectLst/>
                <a:latin typeface="+mn-lt"/>
                <a:ea typeface="+mn-ea"/>
                <a:cs typeface="+mn-cs"/>
              </a:rPr>
              <a:t>3D</a:t>
            </a:r>
            <a:r>
              <a:rPr lang="zh-CN" altLang="en-US" sz="1200" b="0" i="0" kern="1200" dirty="0">
                <a:solidFill>
                  <a:schemeClr val="tx1"/>
                </a:solidFill>
                <a:effectLst/>
                <a:latin typeface="+mn-lt"/>
                <a:ea typeface="+mn-ea"/>
                <a:cs typeface="+mn-cs"/>
              </a:rPr>
              <a:t>卷积得到特征，然后按通道将其分为</a:t>
            </a:r>
            <a:r>
              <a:rPr lang="en-US" altLang="zh-CN" sz="1200" b="0" i="0" kern="1200" dirty="0">
                <a:solidFill>
                  <a:schemeClr val="tx1"/>
                </a:solidFill>
                <a:effectLst/>
                <a:latin typeface="+mn-lt"/>
                <a:ea typeface="+mn-ea"/>
                <a:cs typeface="+mn-cs"/>
              </a:rPr>
              <a:t>f1</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f2</a:t>
            </a:r>
            <a:r>
              <a:rPr lang="zh-CN" altLang="en-US" sz="1200" b="0" i="0" kern="1200" dirty="0">
                <a:solidFill>
                  <a:schemeClr val="tx1"/>
                </a:solidFill>
                <a:effectLst/>
                <a:latin typeface="+mn-lt"/>
                <a:ea typeface="+mn-ea"/>
                <a:cs typeface="+mn-cs"/>
              </a:rPr>
              <a:t>。随后</a:t>
            </a:r>
            <a:r>
              <a:rPr lang="en-US" altLang="zh-CN" sz="1200" b="0" i="0" kern="1200" dirty="0">
                <a:solidFill>
                  <a:schemeClr val="tx1"/>
                </a:solidFill>
                <a:effectLst/>
                <a:latin typeface="+mn-lt"/>
                <a:ea typeface="+mn-ea"/>
                <a:cs typeface="+mn-cs"/>
              </a:rPr>
              <a:t>f1</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f2</a:t>
            </a:r>
            <a:r>
              <a:rPr lang="zh-CN" altLang="en-US" sz="1200" b="0" i="0" kern="1200" dirty="0">
                <a:solidFill>
                  <a:schemeClr val="tx1"/>
                </a:solidFill>
                <a:effectLst/>
                <a:latin typeface="+mn-lt"/>
                <a:ea typeface="+mn-ea"/>
                <a:cs typeface="+mn-cs"/>
              </a:rPr>
              <a:t>计算得到初始矩阵（类似于</a:t>
            </a:r>
            <a:r>
              <a:rPr lang="en-US" altLang="zh-CN" sz="1200" b="0" i="0" kern="1200" dirty="0">
                <a:solidFill>
                  <a:schemeClr val="tx1"/>
                </a:solidFill>
                <a:effectLst/>
                <a:latin typeface="+mn-lt"/>
                <a:ea typeface="+mn-ea"/>
                <a:cs typeface="+mn-cs"/>
              </a:rPr>
              <a:t>q</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k</a:t>
            </a:r>
            <a:r>
              <a:rPr lang="zh-CN" altLang="en-US" sz="1200" b="0" i="0" kern="1200" dirty="0">
                <a:solidFill>
                  <a:schemeClr val="tx1"/>
                </a:solidFill>
                <a:effectLst/>
                <a:latin typeface="+mn-lt"/>
                <a:ea typeface="+mn-ea"/>
                <a:cs typeface="+mn-cs"/>
              </a:rPr>
              <a:t>），生成的矩阵的第</a:t>
            </a:r>
            <a:r>
              <a:rPr lang="en-US" altLang="zh-CN" sz="1200" b="0" i="0" kern="1200" dirty="0" err="1">
                <a:solidFill>
                  <a:schemeClr val="tx1"/>
                </a:solidFill>
                <a:effectLst/>
                <a:latin typeface="+mn-lt"/>
                <a:ea typeface="+mn-ea"/>
                <a:cs typeface="+mn-cs"/>
              </a:rPr>
              <a:t>i</a:t>
            </a:r>
            <a:r>
              <a:rPr lang="zh-CN" altLang="en-US" sz="1200" b="0" i="0" kern="1200" dirty="0">
                <a:solidFill>
                  <a:schemeClr val="tx1"/>
                </a:solidFill>
                <a:effectLst/>
                <a:latin typeface="+mn-lt"/>
                <a:ea typeface="+mn-ea"/>
                <a:cs typeface="+mn-cs"/>
              </a:rPr>
              <a:t>行就代表了每个</a:t>
            </a:r>
            <a:r>
              <a:rPr lang="en-US" altLang="zh-CN" sz="1200" b="0" i="0" kern="1200" dirty="0">
                <a:solidFill>
                  <a:schemeClr val="tx1"/>
                </a:solidFill>
                <a:effectLst/>
                <a:latin typeface="+mn-lt"/>
                <a:ea typeface="+mn-ea"/>
                <a:cs typeface="+mn-cs"/>
              </a:rPr>
              <a:t>token</a:t>
            </a:r>
            <a:r>
              <a:rPr lang="zh-CN" altLang="en-US" sz="1200" b="0" i="0" kern="1200" dirty="0">
                <a:solidFill>
                  <a:schemeClr val="tx1"/>
                </a:solidFill>
                <a:effectLst/>
                <a:latin typeface="+mn-lt"/>
                <a:ea typeface="+mn-ea"/>
                <a:cs typeface="+mn-cs"/>
              </a:rPr>
              <a:t>想放在第</a:t>
            </a:r>
            <a:r>
              <a:rPr lang="en-US" altLang="zh-CN" sz="1200" b="0" i="0" kern="1200" dirty="0" err="1">
                <a:solidFill>
                  <a:schemeClr val="tx1"/>
                </a:solidFill>
                <a:effectLst/>
                <a:latin typeface="+mn-lt"/>
                <a:ea typeface="+mn-ea"/>
                <a:cs typeface="+mn-cs"/>
              </a:rPr>
              <a:t>i</a:t>
            </a:r>
            <a:r>
              <a:rPr lang="zh-CN" altLang="en-US" sz="1200" b="0" i="0" kern="1200" dirty="0">
                <a:solidFill>
                  <a:schemeClr val="tx1"/>
                </a:solidFill>
                <a:effectLst/>
                <a:latin typeface="+mn-lt"/>
                <a:ea typeface="+mn-ea"/>
                <a:cs typeface="+mn-cs"/>
              </a:rPr>
              <a:t>个位置的得分。然后通过这两个操作得到的置换矩阵</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，从而实现让每一个</a:t>
            </a:r>
            <a:r>
              <a:rPr lang="en-US" altLang="zh-CN" sz="1200" b="0" i="0" kern="1200" dirty="0">
                <a:solidFill>
                  <a:schemeClr val="tx1"/>
                </a:solidFill>
                <a:effectLst/>
                <a:latin typeface="+mn-lt"/>
                <a:ea typeface="+mn-ea"/>
                <a:cs typeface="+mn-cs"/>
              </a:rPr>
              <a:t>token</a:t>
            </a:r>
            <a:r>
              <a:rPr lang="zh-CN" altLang="en-US" sz="1200" b="0" i="0" kern="1200" dirty="0">
                <a:solidFill>
                  <a:schemeClr val="tx1"/>
                </a:solidFill>
                <a:effectLst/>
                <a:latin typeface="+mn-lt"/>
                <a:ea typeface="+mn-ea"/>
                <a:cs typeface="+mn-cs"/>
              </a:rPr>
              <a:t>放在最优的位置。在高分辨率部分，为了减少计算量，通过双线性插值上采样得到</a:t>
            </a:r>
            <a:r>
              <a:rPr lang="en-US" altLang="zh-CN" sz="1200" b="0" i="0" kern="1200" dirty="0">
                <a:solidFill>
                  <a:schemeClr val="tx1"/>
                </a:solidFill>
                <a:effectLst/>
                <a:latin typeface="+mn-lt"/>
                <a:ea typeface="+mn-ea"/>
                <a:cs typeface="+mn-cs"/>
              </a:rPr>
              <a:t>Pl</a:t>
            </a:r>
            <a:r>
              <a:rPr lang="zh-CN" altLang="en-US" sz="1200" b="0" i="0" kern="1200" dirty="0">
                <a:solidFill>
                  <a:schemeClr val="tx1"/>
                </a:solidFill>
                <a:effectLst/>
                <a:latin typeface="+mn-lt"/>
                <a:ea typeface="+mn-ea"/>
                <a:cs typeface="+mn-cs"/>
              </a:rPr>
              <a:t>对序列进行排序。在多模态融合部分，通过将各个模态的排序矩阵相加得到一个综合模态的排序矩阵</a:t>
            </a:r>
            <a:r>
              <a:rPr lang="en-US" altLang="zh-CN" sz="1200" b="0" i="0" kern="1200" dirty="0" err="1">
                <a:solidFill>
                  <a:schemeClr val="tx1"/>
                </a:solidFill>
                <a:effectLst/>
                <a:latin typeface="+mn-lt"/>
                <a:ea typeface="+mn-ea"/>
                <a:cs typeface="+mn-cs"/>
              </a:rPr>
              <a:t>Pmul</a:t>
            </a:r>
            <a:r>
              <a:rPr lang="zh-CN" altLang="en-US"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endParaRPr lang="zh-CN" altLang="en-US" sz="1200" kern="1200" dirty="0">
              <a:solidFill>
                <a:schemeClr val="tx1"/>
              </a:solidFill>
              <a:latin typeface="+mn-lt"/>
              <a:ea typeface="+mn-ea"/>
              <a:cs typeface="+mn-cs"/>
            </a:endParaRPr>
          </a:p>
        </p:txBody>
      </p:sp>
      <p:sp>
        <p:nvSpPr>
          <p:cNvPr id="4" name="灯片编号占位符 3">
            <a:extLst>
              <a:ext uri="{FF2B5EF4-FFF2-40B4-BE49-F238E27FC236}">
                <a16:creationId xmlns:a16="http://schemas.microsoft.com/office/drawing/2014/main" id="{DC11AF13-0435-FBFA-9440-74BA589A0D3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826269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传统</a:t>
            </a:r>
            <a:r>
              <a:rPr lang="en-US" altLang="zh-CN" sz="1200" b="0" i="0" kern="1200" dirty="0">
                <a:solidFill>
                  <a:schemeClr val="tx1"/>
                </a:solidFill>
                <a:effectLst/>
                <a:latin typeface="+mn-lt"/>
                <a:ea typeface="+mn-ea"/>
                <a:cs typeface="+mn-cs"/>
              </a:rPr>
              <a:t>Mamba </a:t>
            </a:r>
            <a:r>
              <a:rPr lang="zh-CN" altLang="en-US" sz="1200" b="0" i="0" kern="1200" dirty="0">
                <a:solidFill>
                  <a:schemeClr val="tx1"/>
                </a:solidFill>
                <a:effectLst/>
                <a:latin typeface="+mn-lt"/>
                <a:ea typeface="+mn-ea"/>
                <a:cs typeface="+mn-cs"/>
              </a:rPr>
              <a:t>类方法的前向、后向 </a:t>
            </a:r>
            <a:r>
              <a:rPr lang="en-US" altLang="zh-CN" sz="1200" b="0" i="0" kern="1200" dirty="0">
                <a:solidFill>
                  <a:schemeClr val="tx1"/>
                </a:solidFill>
                <a:effectLst/>
                <a:latin typeface="+mn-lt"/>
                <a:ea typeface="+mn-ea"/>
                <a:cs typeface="+mn-cs"/>
              </a:rPr>
              <a:t>SSM </a:t>
            </a:r>
            <a:r>
              <a:rPr lang="zh-CN" altLang="en-US" sz="1200" b="0" i="0" kern="1200" dirty="0">
                <a:solidFill>
                  <a:schemeClr val="tx1"/>
                </a:solidFill>
                <a:effectLst/>
                <a:latin typeface="+mn-lt"/>
                <a:ea typeface="+mn-ea"/>
                <a:cs typeface="+mn-cs"/>
              </a:rPr>
              <a:t>并行处理序列，两者独立建模，无法利用彼此的关联信息；而 </a:t>
            </a:r>
            <a:r>
              <a:rPr lang="en-US" altLang="zh-CN" sz="1200" b="0" i="0" kern="1200" dirty="0">
                <a:solidFill>
                  <a:schemeClr val="tx1"/>
                </a:solidFill>
                <a:effectLst/>
                <a:latin typeface="+mn-lt"/>
                <a:ea typeface="+mn-ea"/>
                <a:cs typeface="+mn-cs"/>
              </a:rPr>
              <a:t>S3M</a:t>
            </a:r>
            <a:r>
              <a:rPr lang="zh-CN" altLang="en-US" sz="1200" b="0" i="0" kern="1200" dirty="0">
                <a:solidFill>
                  <a:schemeClr val="tx1"/>
                </a:solidFill>
                <a:effectLst/>
                <a:latin typeface="+mn-lt"/>
                <a:ea typeface="+mn-ea"/>
                <a:cs typeface="+mn-cs"/>
              </a:rPr>
              <a:t>块串联结构能让后向扫描利用前向扫描已捕捉的特征，进行信息补充。最后通过通道注意力机制实现跨模态信息的交互。后向扫描可以用到前向扫描的信息。</a:t>
            </a: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为验证本文方法的性能，论文将其与</a:t>
            </a:r>
            <a:r>
              <a:rPr lang="en-US" altLang="zh-CN" sz="1200" b="0" i="0" kern="1200" dirty="0">
                <a:solidFill>
                  <a:schemeClr val="tx1"/>
                </a:solidFill>
                <a:effectLst/>
                <a:latin typeface="+mn-lt"/>
                <a:ea typeface="+mn-ea"/>
                <a:cs typeface="+mn-cs"/>
              </a:rPr>
              <a:t>9 </a:t>
            </a:r>
            <a:r>
              <a:rPr lang="zh-CN" altLang="en-US" sz="1200" b="0" i="0" kern="1200" dirty="0">
                <a:solidFill>
                  <a:schemeClr val="tx1"/>
                </a:solidFill>
                <a:effectLst/>
                <a:latin typeface="+mn-lt"/>
                <a:ea typeface="+mn-ea"/>
                <a:cs typeface="+mn-cs"/>
              </a:rPr>
              <a:t>种主流 </a:t>
            </a:r>
            <a:r>
              <a:rPr lang="en-US" altLang="zh-CN" sz="1200" b="0" i="0" kern="1200" dirty="0">
                <a:solidFill>
                  <a:schemeClr val="tx1"/>
                </a:solidFill>
                <a:effectLst/>
                <a:latin typeface="+mn-lt"/>
                <a:ea typeface="+mn-ea"/>
                <a:cs typeface="+mn-cs"/>
              </a:rPr>
              <a:t>SOTA </a:t>
            </a:r>
            <a:r>
              <a:rPr lang="zh-CN" altLang="en-US" sz="1200" b="0" i="0" kern="1200" dirty="0">
                <a:solidFill>
                  <a:schemeClr val="tx1"/>
                </a:solidFill>
                <a:effectLst/>
                <a:latin typeface="+mn-lt"/>
                <a:ea typeface="+mn-ea"/>
                <a:cs typeface="+mn-cs"/>
              </a:rPr>
              <a:t>方法在</a:t>
            </a:r>
            <a:r>
              <a:rPr lang="en-US" altLang="zh-CN" sz="1200" b="0" i="0" kern="1200" dirty="0">
                <a:solidFill>
                  <a:schemeClr val="tx1"/>
                </a:solidFill>
                <a:effectLst/>
                <a:latin typeface="+mn-lt"/>
                <a:ea typeface="+mn-ea"/>
                <a:cs typeface="+mn-cs"/>
              </a:rPr>
              <a:t>BraTS2020</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14 </a:t>
            </a:r>
            <a:r>
              <a:rPr lang="zh-CN" altLang="en-US" sz="1200" b="0" i="0" kern="1200" dirty="0">
                <a:solidFill>
                  <a:schemeClr val="tx1"/>
                </a:solidFill>
                <a:effectLst/>
                <a:latin typeface="+mn-lt"/>
                <a:ea typeface="+mn-ea"/>
                <a:cs typeface="+mn-cs"/>
              </a:rPr>
              <a:t>种模态缺失组合下进行对比，指标为</a:t>
            </a:r>
            <a:r>
              <a:rPr lang="en-US" altLang="zh-CN" sz="1200" b="0" i="0" kern="1200" dirty="0">
                <a:solidFill>
                  <a:schemeClr val="tx1"/>
                </a:solidFill>
                <a:effectLst/>
                <a:latin typeface="+mn-lt"/>
                <a:ea typeface="+mn-ea"/>
                <a:cs typeface="+mn-cs"/>
              </a:rPr>
              <a:t>Dice</a:t>
            </a:r>
            <a:r>
              <a:rPr lang="zh-CN" altLang="en-US" sz="1200" b="0" i="0" kern="1200" dirty="0">
                <a:solidFill>
                  <a:schemeClr val="tx1"/>
                </a:solidFill>
                <a:effectLst/>
                <a:latin typeface="+mn-lt"/>
                <a:ea typeface="+mn-ea"/>
                <a:cs typeface="+mn-cs"/>
              </a:rPr>
              <a:t>系数，上面的四个分别对应四种模态，</a:t>
            </a:r>
            <a:r>
              <a:rPr lang="en-US" altLang="zh-CN" sz="1200" b="0" i="0" kern="1200" dirty="0">
                <a:solidFill>
                  <a:schemeClr val="tx1"/>
                </a:solidFill>
                <a:effectLst/>
                <a:latin typeface="+mn-lt"/>
                <a:ea typeface="+mn-ea"/>
                <a:cs typeface="+mn-cs"/>
              </a:rPr>
              <a:t>WT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TC</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ET</a:t>
            </a:r>
            <a:r>
              <a:rPr lang="zh-CN" altLang="en-US" sz="1200" b="0" i="0" kern="1200" dirty="0">
                <a:solidFill>
                  <a:schemeClr val="tx1"/>
                </a:solidFill>
                <a:effectLst/>
                <a:latin typeface="+mn-lt"/>
                <a:ea typeface="+mn-ea"/>
                <a:cs typeface="+mn-cs"/>
              </a:rPr>
              <a:t>分别对应分割区域</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全肿瘤（</a:t>
            </a:r>
            <a:r>
              <a:rPr lang="en-US" altLang="zh-CN" sz="1200" b="0" i="0" kern="1200" dirty="0">
                <a:solidFill>
                  <a:schemeClr val="tx1"/>
                </a:solidFill>
                <a:effectLst/>
                <a:latin typeface="+mn-lt"/>
                <a:ea typeface="+mn-ea"/>
                <a:cs typeface="+mn-cs"/>
              </a:rPr>
              <a:t>WT</a:t>
            </a:r>
            <a:r>
              <a:rPr lang="zh-CN" altLang="en-US" sz="1200" b="0" i="0" kern="1200" dirty="0">
                <a:solidFill>
                  <a:schemeClr val="tx1"/>
                </a:solidFill>
                <a:effectLst/>
                <a:latin typeface="+mn-lt"/>
                <a:ea typeface="+mn-ea"/>
                <a:cs typeface="+mn-cs"/>
              </a:rPr>
              <a:t>），肿瘤核心（</a:t>
            </a:r>
            <a:r>
              <a:rPr lang="en-US" altLang="zh-CN" sz="1200" b="0" i="0" kern="1200" dirty="0">
                <a:solidFill>
                  <a:schemeClr val="tx1"/>
                </a:solidFill>
                <a:effectLst/>
                <a:latin typeface="+mn-lt"/>
                <a:ea typeface="+mn-ea"/>
                <a:cs typeface="+mn-cs"/>
              </a:rPr>
              <a:t>TC</a:t>
            </a:r>
            <a:r>
              <a:rPr lang="zh-CN" altLang="en-US" sz="1200" b="0" i="0" kern="1200" dirty="0">
                <a:solidFill>
                  <a:schemeClr val="tx1"/>
                </a:solidFill>
                <a:effectLst/>
                <a:latin typeface="+mn-lt"/>
                <a:ea typeface="+mn-ea"/>
                <a:cs typeface="+mn-cs"/>
              </a:rPr>
              <a:t>），增强肿瘤（</a:t>
            </a:r>
            <a:r>
              <a:rPr lang="en-US" altLang="zh-CN" sz="1200" b="0" i="0" kern="1200" dirty="0">
                <a:solidFill>
                  <a:schemeClr val="tx1"/>
                </a:solidFill>
                <a:effectLst/>
                <a:latin typeface="+mn-lt"/>
                <a:ea typeface="+mn-ea"/>
                <a:cs typeface="+mn-cs"/>
              </a:rPr>
              <a:t>ET</a:t>
            </a:r>
            <a:r>
              <a:rPr lang="zh-CN" altLang="en-US" sz="1200" b="0" i="0" kern="1200" dirty="0">
                <a:solidFill>
                  <a:schemeClr val="tx1"/>
                </a:solidFill>
                <a:effectLst/>
                <a:latin typeface="+mn-lt"/>
                <a:ea typeface="+mn-ea"/>
                <a:cs typeface="+mn-cs"/>
              </a:rPr>
              <a:t>）。可以看到本文的方法基本上处于最优或次优，在平均得分上均为最优。</a:t>
            </a: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在 “缺 </a:t>
            </a:r>
            <a:r>
              <a:rPr lang="en-US" altLang="zh-CN" sz="1200" b="0" i="0" kern="1200" dirty="0">
                <a:solidFill>
                  <a:schemeClr val="tx1"/>
                </a:solidFill>
                <a:effectLst/>
                <a:latin typeface="+mn-lt"/>
                <a:ea typeface="+mn-ea"/>
                <a:cs typeface="+mn-cs"/>
              </a:rPr>
              <a:t>T1ce+T1”“</a:t>
            </a:r>
            <a:r>
              <a:rPr lang="zh-CN" altLang="en-US" sz="1200" b="0" i="0" kern="1200" dirty="0">
                <a:solidFill>
                  <a:schemeClr val="tx1"/>
                </a:solidFill>
                <a:effectLst/>
                <a:latin typeface="+mn-lt"/>
                <a:ea typeface="+mn-ea"/>
                <a:cs typeface="+mn-cs"/>
              </a:rPr>
              <a:t>仅 </a:t>
            </a:r>
            <a:r>
              <a:rPr lang="en-US" altLang="zh-CN" sz="1200" b="0" i="0" kern="1200" dirty="0">
                <a:solidFill>
                  <a:schemeClr val="tx1"/>
                </a:solidFill>
                <a:effectLst/>
                <a:latin typeface="+mn-lt"/>
                <a:ea typeface="+mn-ea"/>
                <a:cs typeface="+mn-cs"/>
              </a:rPr>
              <a:t>FLAIR+T2” </a:t>
            </a:r>
            <a:r>
              <a:rPr lang="zh-CN" altLang="en-US" sz="1200" b="0" i="0" kern="1200" dirty="0">
                <a:solidFill>
                  <a:schemeClr val="tx1"/>
                </a:solidFill>
                <a:effectLst/>
                <a:latin typeface="+mn-lt"/>
                <a:ea typeface="+mn-ea"/>
                <a:cs typeface="+mn-cs"/>
              </a:rPr>
              <a:t>等场景下，</a:t>
            </a:r>
            <a:r>
              <a:rPr lang="en-US" altLang="zh-CN" sz="1200" b="0" i="0" kern="1200" dirty="0">
                <a:solidFill>
                  <a:schemeClr val="tx1"/>
                </a:solidFill>
                <a:effectLst/>
                <a:latin typeface="+mn-lt"/>
                <a:ea typeface="+mn-ea"/>
                <a:cs typeface="+mn-cs"/>
              </a:rPr>
              <a:t>LS3M </a:t>
            </a:r>
            <a:r>
              <a:rPr lang="zh-CN" altLang="en-US" sz="1200" b="0" i="0" kern="1200" dirty="0">
                <a:solidFill>
                  <a:schemeClr val="tx1"/>
                </a:solidFill>
                <a:effectLst/>
                <a:latin typeface="+mn-lt"/>
                <a:ea typeface="+mn-ea"/>
                <a:cs typeface="+mn-cs"/>
              </a:rPr>
              <a:t>的分割结果更贴合 </a:t>
            </a:r>
            <a:r>
              <a:rPr lang="en-US" altLang="zh-CN" sz="1200" b="0" i="0" kern="1200" dirty="0">
                <a:solidFill>
                  <a:schemeClr val="tx1"/>
                </a:solidFill>
                <a:effectLst/>
                <a:latin typeface="+mn-lt"/>
                <a:ea typeface="+mn-ea"/>
                <a:cs typeface="+mn-cs"/>
              </a:rPr>
              <a:t>Ground Truth</a:t>
            </a:r>
            <a:r>
              <a:rPr lang="zh-CN" altLang="en-US" sz="1200" b="0" i="0" kern="1200" dirty="0">
                <a:solidFill>
                  <a:schemeClr val="tx1"/>
                </a:solidFill>
                <a:effectLst/>
                <a:latin typeface="+mn-lt"/>
                <a:ea typeface="+mn-ea"/>
                <a:cs typeface="+mn-cs"/>
              </a:rPr>
              <a:t>，尤其在肿瘤边界与远端水肿区域的定位上，显著优于 </a:t>
            </a:r>
            <a:r>
              <a:rPr lang="en-US" altLang="zh-CN" sz="1200" b="0" i="0" kern="1200" dirty="0" err="1">
                <a:solidFill>
                  <a:schemeClr val="tx1"/>
                </a:solidFill>
                <a:effectLst/>
                <a:latin typeface="+mn-lt"/>
                <a:ea typeface="+mn-ea"/>
                <a:cs typeface="+mn-cs"/>
              </a:rPr>
              <a:t>RFNet</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mmFormer</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等方法，进一步验证了其在复杂缺失场景下的鲁棒性。</a:t>
            </a:r>
            <a:endParaRPr lang="zh-CN" altLang="en-US" sz="1200" kern="1200" dirty="0">
              <a:solidFill>
                <a:schemeClr val="tx1"/>
              </a:solidFill>
              <a:latin typeface="+mn-lt"/>
              <a:ea typeface="+mn-ea"/>
              <a:cs typeface="+mn-cs"/>
              <a:sym typeface="+mn-ea"/>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作者做了对照实验，验证每个核心模块的作用（基线是去掉 </a:t>
            </a:r>
            <a:r>
              <a:rPr lang="en-US" altLang="zh-CN" sz="1200" b="0" i="0" kern="1200" dirty="0">
                <a:solidFill>
                  <a:schemeClr val="tx1"/>
                </a:solidFill>
                <a:effectLst/>
                <a:latin typeface="+mn-lt"/>
                <a:ea typeface="+mn-ea"/>
                <a:cs typeface="+mn-cs"/>
              </a:rPr>
              <a:t>GIS</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SortP</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S3M </a:t>
            </a:r>
            <a:r>
              <a:rPr lang="zh-CN" altLang="en-US" sz="1200" b="0" i="0" kern="1200" dirty="0">
                <a:solidFill>
                  <a:schemeClr val="tx1"/>
                </a:solidFill>
                <a:effectLst/>
                <a:latin typeface="+mn-lt"/>
                <a:ea typeface="+mn-ea"/>
                <a:cs typeface="+mn-cs"/>
              </a:rPr>
              <a:t>的简化版 </a:t>
            </a:r>
            <a:r>
              <a:rPr lang="en-US" altLang="zh-CN" sz="1200" b="0" i="0" kern="1200" dirty="0">
                <a:solidFill>
                  <a:schemeClr val="tx1"/>
                </a:solidFill>
                <a:effectLst/>
                <a:latin typeface="+mn-lt"/>
                <a:ea typeface="+mn-ea"/>
                <a:cs typeface="+mn-cs"/>
              </a:rPr>
              <a:t>LS3M</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加入全局输入策略（</a:t>
            </a:r>
            <a:r>
              <a:rPr lang="en-US" altLang="zh-CN" sz="1200" b="0" i="0" kern="1200" dirty="0">
                <a:solidFill>
                  <a:schemeClr val="tx1"/>
                </a:solidFill>
                <a:effectLst/>
                <a:latin typeface="+mn-lt"/>
                <a:ea typeface="+mn-ea"/>
                <a:cs typeface="+mn-cs"/>
              </a:rPr>
              <a:t>GIS</a:t>
            </a:r>
            <a:r>
              <a:rPr lang="zh-CN" altLang="en-US" sz="1200" b="0" i="0" kern="1200" dirty="0">
                <a:solidFill>
                  <a:schemeClr val="tx1"/>
                </a:solidFill>
                <a:effectLst/>
                <a:latin typeface="+mn-lt"/>
                <a:ea typeface="+mn-ea"/>
                <a:cs typeface="+mn-cs"/>
              </a:rPr>
              <a:t>）后，</a:t>
            </a:r>
            <a:r>
              <a:rPr lang="en-US" altLang="zh-CN" sz="1200" b="0" i="0" kern="1200" dirty="0">
                <a:solidFill>
                  <a:schemeClr val="tx1"/>
                </a:solidFill>
                <a:effectLst/>
                <a:latin typeface="+mn-lt"/>
                <a:ea typeface="+mn-ea"/>
                <a:cs typeface="+mn-cs"/>
              </a:rPr>
              <a:t>WT/Dice </a:t>
            </a:r>
            <a:r>
              <a:rPr lang="zh-CN" altLang="en-US" sz="1200" b="0" i="0" kern="1200" dirty="0">
                <a:solidFill>
                  <a:schemeClr val="tx1"/>
                </a:solidFill>
                <a:effectLst/>
                <a:latin typeface="+mn-lt"/>
                <a:ea typeface="+mn-ea"/>
                <a:cs typeface="+mn-cs"/>
              </a:rPr>
              <a:t>提升 </a:t>
            </a:r>
            <a:r>
              <a:rPr lang="en-US" altLang="zh-CN" sz="1200" b="0" i="0" kern="1200" dirty="0">
                <a:solidFill>
                  <a:schemeClr val="tx1"/>
                </a:solidFill>
                <a:effectLst/>
                <a:latin typeface="+mn-lt"/>
                <a:ea typeface="+mn-ea"/>
                <a:cs typeface="+mn-cs"/>
              </a:rPr>
              <a:t>0.8%</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ET/Dice </a:t>
            </a:r>
            <a:r>
              <a:rPr lang="zh-CN" altLang="en-US" sz="1200" b="0" i="0" kern="1200" dirty="0">
                <a:solidFill>
                  <a:schemeClr val="tx1"/>
                </a:solidFill>
                <a:effectLst/>
                <a:latin typeface="+mn-lt"/>
                <a:ea typeface="+mn-ea"/>
                <a:cs typeface="+mn-cs"/>
              </a:rPr>
              <a:t>提升 </a:t>
            </a:r>
            <a:r>
              <a:rPr lang="en-US" altLang="zh-CN" sz="1200" b="0" i="0" kern="1200" dirty="0">
                <a:solidFill>
                  <a:schemeClr val="tx1"/>
                </a:solidFill>
                <a:effectLst/>
                <a:latin typeface="+mn-lt"/>
                <a:ea typeface="+mn-ea"/>
                <a:cs typeface="+mn-cs"/>
              </a:rPr>
              <a:t>2.33%</a:t>
            </a:r>
            <a:r>
              <a:rPr lang="zh-CN" altLang="en-US" sz="1200" b="0" i="0" kern="1200" dirty="0">
                <a:solidFill>
                  <a:schemeClr val="tx1"/>
                </a:solidFill>
                <a:effectLst/>
                <a:latin typeface="+mn-lt"/>
                <a:ea typeface="+mn-ea"/>
                <a:cs typeface="+mn-cs"/>
              </a:rPr>
              <a:t>，说明全局上下文很关键；</a:t>
            </a:r>
          </a:p>
          <a:p>
            <a:r>
              <a:rPr lang="zh-CN" altLang="en-US" sz="1200" b="0" i="0" kern="1200" dirty="0">
                <a:solidFill>
                  <a:schemeClr val="tx1"/>
                </a:solidFill>
                <a:effectLst/>
                <a:latin typeface="+mn-lt"/>
                <a:ea typeface="+mn-ea"/>
                <a:cs typeface="+mn-cs"/>
              </a:rPr>
              <a:t>再加入 </a:t>
            </a:r>
            <a:r>
              <a:rPr lang="en-US" altLang="zh-CN" sz="1200" b="0" i="0" kern="1200" dirty="0">
                <a:solidFill>
                  <a:schemeClr val="tx1"/>
                </a:solidFill>
                <a:effectLst/>
                <a:latin typeface="+mn-lt"/>
                <a:ea typeface="+mn-ea"/>
                <a:cs typeface="+mn-cs"/>
              </a:rPr>
              <a:t>S3M </a:t>
            </a:r>
            <a:r>
              <a:rPr lang="zh-CN" altLang="en-US" sz="1200" b="0" i="0" kern="1200" dirty="0">
                <a:solidFill>
                  <a:schemeClr val="tx1"/>
                </a:solidFill>
                <a:effectLst/>
                <a:latin typeface="+mn-lt"/>
                <a:ea typeface="+mn-ea"/>
                <a:cs typeface="+mn-cs"/>
              </a:rPr>
              <a:t>块，</a:t>
            </a:r>
            <a:r>
              <a:rPr lang="en-US" altLang="zh-CN" sz="1200" b="0" i="0" kern="1200" dirty="0">
                <a:solidFill>
                  <a:schemeClr val="tx1"/>
                </a:solidFill>
                <a:effectLst/>
                <a:latin typeface="+mn-lt"/>
                <a:ea typeface="+mn-ea"/>
                <a:cs typeface="+mn-cs"/>
              </a:rPr>
              <a:t>WT/Dice </a:t>
            </a:r>
            <a:r>
              <a:rPr lang="zh-CN" altLang="en-US" sz="1200" b="0" i="0" kern="1200" dirty="0">
                <a:solidFill>
                  <a:schemeClr val="tx1"/>
                </a:solidFill>
                <a:effectLst/>
                <a:latin typeface="+mn-lt"/>
                <a:ea typeface="+mn-ea"/>
                <a:cs typeface="+mn-cs"/>
              </a:rPr>
              <a:t>又提升 </a:t>
            </a:r>
            <a:r>
              <a:rPr lang="en-US" altLang="zh-CN" sz="1200" b="0" i="0" kern="1200" dirty="0">
                <a:solidFill>
                  <a:schemeClr val="tx1"/>
                </a:solidFill>
                <a:effectLst/>
                <a:latin typeface="+mn-lt"/>
                <a:ea typeface="+mn-ea"/>
                <a:cs typeface="+mn-cs"/>
              </a:rPr>
              <a:t>0.94%</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TC/Dice </a:t>
            </a:r>
            <a:r>
              <a:rPr lang="zh-CN" altLang="en-US" sz="1200" b="0" i="0" kern="1200" dirty="0">
                <a:solidFill>
                  <a:schemeClr val="tx1"/>
                </a:solidFill>
                <a:effectLst/>
                <a:latin typeface="+mn-lt"/>
                <a:ea typeface="+mn-ea"/>
                <a:cs typeface="+mn-cs"/>
              </a:rPr>
              <a:t>提升 </a:t>
            </a:r>
            <a:r>
              <a:rPr lang="en-US" altLang="zh-CN" sz="1200" b="0" i="0" kern="1200" dirty="0">
                <a:solidFill>
                  <a:schemeClr val="tx1"/>
                </a:solidFill>
                <a:effectLst/>
                <a:latin typeface="+mn-lt"/>
                <a:ea typeface="+mn-ea"/>
                <a:cs typeface="+mn-cs"/>
              </a:rPr>
              <a:t>1.94%</a:t>
            </a:r>
            <a:r>
              <a:rPr lang="zh-CN" altLang="en-US" sz="1200" b="0" i="0" kern="1200" dirty="0">
                <a:solidFill>
                  <a:schemeClr val="tx1"/>
                </a:solidFill>
                <a:effectLst/>
                <a:latin typeface="+mn-lt"/>
                <a:ea typeface="+mn-ea"/>
                <a:cs typeface="+mn-cs"/>
              </a:rPr>
              <a:t>，证明串联双向建模比并行更有效；</a:t>
            </a:r>
          </a:p>
          <a:p>
            <a:r>
              <a:rPr lang="zh-CN" altLang="en-US" sz="1200" b="0" i="0" kern="1200" dirty="0">
                <a:solidFill>
                  <a:schemeClr val="tx1"/>
                </a:solidFill>
                <a:effectLst/>
                <a:latin typeface="+mn-lt"/>
                <a:ea typeface="+mn-ea"/>
                <a:cs typeface="+mn-cs"/>
              </a:rPr>
              <a:t>最后加入 </a:t>
            </a:r>
            <a:r>
              <a:rPr lang="en-US" altLang="zh-CN" sz="1200" b="0" i="0" kern="1200" dirty="0">
                <a:solidFill>
                  <a:schemeClr val="tx1"/>
                </a:solidFill>
                <a:effectLst/>
                <a:latin typeface="+mn-lt"/>
                <a:ea typeface="+mn-ea"/>
                <a:cs typeface="+mn-cs"/>
              </a:rPr>
              <a:t>SortP </a:t>
            </a:r>
            <a:r>
              <a:rPr lang="zh-CN" altLang="en-US" sz="1200" b="0" i="0" kern="1200" dirty="0">
                <a:solidFill>
                  <a:schemeClr val="tx1"/>
                </a:solidFill>
                <a:effectLst/>
                <a:latin typeface="+mn-lt"/>
                <a:ea typeface="+mn-ea"/>
                <a:cs typeface="+mn-cs"/>
              </a:rPr>
              <a:t>模块，三个子区域的 </a:t>
            </a:r>
            <a:r>
              <a:rPr lang="en-US" altLang="zh-CN" sz="1200" b="0" i="0" kern="1200" dirty="0">
                <a:solidFill>
                  <a:schemeClr val="tx1"/>
                </a:solidFill>
                <a:effectLst/>
                <a:latin typeface="+mn-lt"/>
                <a:ea typeface="+mn-ea"/>
                <a:cs typeface="+mn-cs"/>
              </a:rPr>
              <a:t>Dice </a:t>
            </a:r>
            <a:r>
              <a:rPr lang="zh-CN" altLang="en-US" sz="1200" b="0" i="0" kern="1200" dirty="0">
                <a:solidFill>
                  <a:schemeClr val="tx1"/>
                </a:solidFill>
                <a:effectLst/>
                <a:latin typeface="+mn-lt"/>
                <a:ea typeface="+mn-ea"/>
                <a:cs typeface="+mn-cs"/>
              </a:rPr>
              <a:t>均达到最优，验证了可学习排序的核心价值。</a:t>
            </a:r>
          </a:p>
          <a:p>
            <a:r>
              <a:rPr lang="zh-CN" altLang="en-US" sz="1200" b="0" i="0" kern="1200" dirty="0">
                <a:solidFill>
                  <a:schemeClr val="tx1"/>
                </a:solidFill>
                <a:effectLst/>
                <a:latin typeface="+mn-lt"/>
                <a:ea typeface="+mn-ea"/>
                <a:cs typeface="+mn-cs"/>
              </a:rPr>
              <a:t>另外，扫描策略的对比显示，</a:t>
            </a:r>
            <a:r>
              <a:rPr lang="en-US" altLang="zh-CN" sz="1200" b="0" i="0" kern="1200" dirty="0">
                <a:solidFill>
                  <a:schemeClr val="tx1"/>
                </a:solidFill>
                <a:effectLst/>
                <a:latin typeface="+mn-lt"/>
                <a:ea typeface="+mn-ea"/>
                <a:cs typeface="+mn-cs"/>
              </a:rPr>
              <a:t>LS3M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sorted </a:t>
            </a:r>
            <a:r>
              <a:rPr lang="zh-CN" altLang="en-US" sz="1200" b="0" i="0" kern="1200" dirty="0">
                <a:solidFill>
                  <a:schemeClr val="tx1"/>
                </a:solidFill>
                <a:effectLst/>
                <a:latin typeface="+mn-lt"/>
                <a:ea typeface="+mn-ea"/>
                <a:cs typeface="+mn-cs"/>
              </a:rPr>
              <a:t>扫描” 比，单向、双向、四向扫描的 </a:t>
            </a:r>
            <a:r>
              <a:rPr lang="en-US" altLang="zh-CN" sz="1200" b="0" i="0" kern="1200" dirty="0">
                <a:solidFill>
                  <a:schemeClr val="tx1"/>
                </a:solidFill>
                <a:effectLst/>
                <a:latin typeface="+mn-lt"/>
                <a:ea typeface="+mn-ea"/>
                <a:cs typeface="+mn-cs"/>
              </a:rPr>
              <a:t>Dice </a:t>
            </a:r>
            <a:r>
              <a:rPr lang="zh-CN" altLang="en-US" sz="1200" b="0" i="0" kern="1200" dirty="0">
                <a:solidFill>
                  <a:schemeClr val="tx1"/>
                </a:solidFill>
                <a:effectLst/>
                <a:latin typeface="+mn-lt"/>
                <a:ea typeface="+mn-ea"/>
                <a:cs typeface="+mn-cs"/>
              </a:rPr>
              <a:t>更高，进一步说明排序能更好保留空间和语义关联。</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mn-lt"/>
              <a:ea typeface="+mn-ea"/>
              <a:cs typeface="+mn-cs"/>
              <a:sym typeface="+mn-ea"/>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85546F3-DA74-492A-8CCE-24C0562514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933A62-8780-4CAA-8D19-25292B7F5684}" type="slidenum">
              <a:rPr lang="zh-CN" altLang="en-US" smtClean="0"/>
              <a:t>13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2" y="1122364"/>
            <a:ext cx="9144000" cy="2387600"/>
          </a:xfrm>
        </p:spPr>
        <p:txBody>
          <a:bodyPr anchor="b"/>
          <a:lstStyle>
            <a:lvl1pPr algn="ctr">
              <a:defRPr sz="599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2" y="3602038"/>
            <a:ext cx="9144000" cy="1655763"/>
          </a:xfrm>
        </p:spPr>
        <p:txBody>
          <a:bodyPr/>
          <a:lstStyle>
            <a:lvl1pPr marL="0" indent="0" algn="ctr">
              <a:buNone/>
              <a:defRPr sz="2400"/>
            </a:lvl1pPr>
            <a:lvl2pPr marL="457200" indent="0" algn="ctr">
              <a:buNone/>
              <a:defRPr sz="2000"/>
            </a:lvl2pPr>
            <a:lvl3pPr marL="913765" indent="0" algn="ctr">
              <a:buNone/>
              <a:defRPr sz="1800"/>
            </a:lvl3pPr>
            <a:lvl4pPr marL="1370965" indent="0" algn="ctr">
              <a:buNone/>
              <a:defRPr sz="1600"/>
            </a:lvl4pPr>
            <a:lvl5pPr marL="1827530" indent="0" algn="ctr">
              <a:buNone/>
              <a:defRPr sz="1600"/>
            </a:lvl5pPr>
            <a:lvl6pPr marL="2284730" indent="0" algn="ctr">
              <a:buNone/>
              <a:defRPr sz="1600"/>
            </a:lvl6pPr>
            <a:lvl7pPr marL="2741930" indent="0" algn="ctr">
              <a:buNone/>
              <a:defRPr sz="1600"/>
            </a:lvl7pPr>
            <a:lvl8pPr marL="3198495" indent="0" algn="ctr">
              <a:buNone/>
              <a:defRPr sz="1600"/>
            </a:lvl8pPr>
            <a:lvl9pPr marL="3655695"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2" y="1122364"/>
            <a:ext cx="9144000" cy="2387600"/>
          </a:xfrm>
        </p:spPr>
        <p:txBody>
          <a:bodyPr anchor="b"/>
          <a:lstStyle>
            <a:lvl1pPr algn="ctr">
              <a:defRPr sz="599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2" y="3602038"/>
            <a:ext cx="9144000" cy="1655763"/>
          </a:xfrm>
        </p:spPr>
        <p:txBody>
          <a:bodyPr/>
          <a:lstStyle>
            <a:lvl1pPr marL="0" indent="0" algn="ctr">
              <a:buNone/>
              <a:defRPr sz="2400"/>
            </a:lvl1pPr>
            <a:lvl2pPr marL="457200" indent="0" algn="ctr">
              <a:buNone/>
              <a:defRPr sz="2000"/>
            </a:lvl2pPr>
            <a:lvl3pPr marL="913765" indent="0" algn="ctr">
              <a:buNone/>
              <a:defRPr sz="1800"/>
            </a:lvl3pPr>
            <a:lvl4pPr marL="1370965" indent="0" algn="ctr">
              <a:buNone/>
              <a:defRPr sz="1600"/>
            </a:lvl4pPr>
            <a:lvl5pPr marL="1827530" indent="0" algn="ctr">
              <a:buNone/>
              <a:defRPr sz="1600"/>
            </a:lvl5pPr>
            <a:lvl6pPr marL="2284730" indent="0" algn="ctr">
              <a:buNone/>
              <a:defRPr sz="1600"/>
            </a:lvl6pPr>
            <a:lvl7pPr marL="2741930" indent="0" algn="ctr">
              <a:buNone/>
              <a:defRPr sz="1600"/>
            </a:lvl7pPr>
            <a:lvl8pPr marL="3198495" indent="0" algn="ctr">
              <a:buNone/>
              <a:defRPr sz="1600"/>
            </a:lvl8pPr>
            <a:lvl9pPr marL="3655695"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599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3765" indent="0">
              <a:buNone/>
              <a:defRPr sz="1800">
                <a:solidFill>
                  <a:schemeClr val="tx1">
                    <a:tint val="75000"/>
                  </a:schemeClr>
                </a:solidFill>
              </a:defRPr>
            </a:lvl3pPr>
            <a:lvl4pPr marL="1370965" indent="0">
              <a:buNone/>
              <a:defRPr sz="1600">
                <a:solidFill>
                  <a:schemeClr val="tx1">
                    <a:tint val="75000"/>
                  </a:schemeClr>
                </a:solidFill>
              </a:defRPr>
            </a:lvl4pPr>
            <a:lvl5pPr marL="1827530" indent="0">
              <a:buNone/>
              <a:defRPr sz="1600">
                <a:solidFill>
                  <a:schemeClr val="tx1">
                    <a:tint val="75000"/>
                  </a:schemeClr>
                </a:solidFill>
              </a:defRPr>
            </a:lvl5pPr>
            <a:lvl6pPr marL="2284730" indent="0">
              <a:buNone/>
              <a:defRPr sz="1600">
                <a:solidFill>
                  <a:schemeClr val="tx1">
                    <a:tint val="75000"/>
                  </a:schemeClr>
                </a:solidFill>
              </a:defRPr>
            </a:lvl6pPr>
            <a:lvl7pPr marL="2741930" indent="0">
              <a:buNone/>
              <a:defRPr sz="1600">
                <a:solidFill>
                  <a:schemeClr val="tx1">
                    <a:tint val="75000"/>
                  </a:schemeClr>
                </a:solidFill>
              </a:defRPr>
            </a:lvl7pPr>
            <a:lvl8pPr marL="3198495" indent="0">
              <a:buNone/>
              <a:defRPr sz="1600">
                <a:solidFill>
                  <a:schemeClr val="tx1">
                    <a:tint val="75000"/>
                  </a:schemeClr>
                </a:solidFill>
              </a:defRPr>
            </a:lvl8pPr>
            <a:lvl9pPr marL="3655695"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1" y="1825627"/>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1" y="1825627"/>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90" y="1681163"/>
            <a:ext cx="5157786"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90" y="2505076"/>
            <a:ext cx="5157786"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1" y="1681163"/>
            <a:ext cx="5183189"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1" y="2505076"/>
            <a:ext cx="5183189"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90" y="987428"/>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90" y="987428"/>
            <a:ext cx="6172199" cy="4873625"/>
          </a:xfrm>
        </p:spPr>
        <p:txBody>
          <a:bodyPr anchor="t"/>
          <a:lstStyle>
            <a:lvl1pPr marL="0" indent="0">
              <a:buNone/>
              <a:defRPr sz="3200"/>
            </a:lvl1pPr>
            <a:lvl2pPr marL="457200" indent="0">
              <a:buNone/>
              <a:defRPr sz="2800"/>
            </a:lvl2pPr>
            <a:lvl3pPr marL="913765" indent="0">
              <a:buNone/>
              <a:defRPr sz="2400"/>
            </a:lvl3pPr>
            <a:lvl4pPr marL="1370965" indent="0">
              <a:buNone/>
              <a:defRPr sz="2000"/>
            </a:lvl4pPr>
            <a:lvl5pPr marL="1827530" indent="0">
              <a:buNone/>
              <a:defRPr sz="2000"/>
            </a:lvl5pPr>
            <a:lvl6pPr marL="2284730" indent="0">
              <a:buNone/>
              <a:defRPr sz="2000"/>
            </a:lvl6pPr>
            <a:lvl7pPr marL="2741930" indent="0">
              <a:buNone/>
              <a:defRPr sz="2000"/>
            </a:lvl7pPr>
            <a:lvl8pPr marL="3198495" indent="0">
              <a:buNone/>
              <a:defRPr sz="2000"/>
            </a:lvl8pPr>
            <a:lvl9pPr marL="3655695"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8"/>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2" y="365128"/>
            <a:ext cx="7734301"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cSld>
  <p:clrMapOvr>
    <a:masterClrMapping/>
  </p:clrMapOvr>
  <p:transition spd="slow" advClick="0" advTm="1000">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3_空白">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7"/>
            <a:ext cx="10515600" cy="4351339"/>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72DE3-FE0A-428A-AB10-325226F2F564}" type="datetimeFigureOut">
              <a:rPr lang="zh-CN" altLang="en-US" smtClean="0"/>
              <a:t>2025/11/22</a:t>
            </a:fld>
            <a:endParaRPr lang="zh-CN" alt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C7F20-4EEE-4847-AC76-B538472E8A3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transition spd="slow" advClick="0" advTm="1000">
    <p:randomBar dir="vert"/>
  </p:transition>
  <p:txStyles>
    <p:titleStyle>
      <a:lvl1pPr algn="l" defTabSz="913765" rtl="0" eaLnBrk="1" latinLnBrk="0" hangingPunct="1">
        <a:lnSpc>
          <a:spcPct val="90000"/>
        </a:lnSpc>
        <a:spcBef>
          <a:spcPct val="0"/>
        </a:spcBef>
        <a:buNone/>
        <a:defRPr sz="4395"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165"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1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0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2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730"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8495" algn="l" defTabSz="913765" rtl="0" eaLnBrk="1" latinLnBrk="0" hangingPunct="1">
        <a:defRPr sz="1800" kern="1200">
          <a:solidFill>
            <a:schemeClr val="tx1"/>
          </a:solidFill>
          <a:latin typeface="+mn-lt"/>
          <a:ea typeface="+mn-ea"/>
          <a:cs typeface="+mn-cs"/>
        </a:defRPr>
      </a:lvl8pPr>
      <a:lvl9pPr marL="3655695"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389" y="365780"/>
            <a:ext cx="10515224" cy="132463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389" y="1825890"/>
            <a:ext cx="10515224" cy="435172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389" y="6356747"/>
            <a:ext cx="2742447" cy="364275"/>
          </a:xfrm>
          <a:prstGeom prst="rect">
            <a:avLst/>
          </a:prstGeom>
        </p:spPr>
        <p:txBody>
          <a:bodyPr vert="horz" lIns="91440" tIns="45720" rIns="91440" bIns="45720" rtlCol="0" anchor="ctr"/>
          <a:lstStyle>
            <a:lvl1pPr algn="l">
              <a:defRPr sz="1140">
                <a:solidFill>
                  <a:schemeClr val="tx1">
                    <a:tint val="75000"/>
                  </a:schemeClr>
                </a:solidFill>
              </a:defRPr>
            </a:lvl1pPr>
          </a:lstStyle>
          <a:p>
            <a:fld id="{43A93E93-166D-47F5-9EF1-ACEABE24AEEA}" type="datetimeFigureOut">
              <a:rPr lang="zh-CN" altLang="en-US" smtClean="0"/>
              <a:t>2025/11/22</a:t>
            </a:fld>
            <a:endParaRPr lang="zh-CN" altLang="en-US"/>
          </a:p>
        </p:txBody>
      </p:sp>
      <p:sp>
        <p:nvSpPr>
          <p:cNvPr id="5" name="页脚占位符 4"/>
          <p:cNvSpPr>
            <a:spLocks noGrp="1"/>
          </p:cNvSpPr>
          <p:nvPr>
            <p:ph type="ftr" sz="quarter" idx="3"/>
          </p:nvPr>
        </p:nvSpPr>
        <p:spPr>
          <a:xfrm>
            <a:off x="4038413" y="6356747"/>
            <a:ext cx="4115176" cy="364275"/>
          </a:xfrm>
          <a:prstGeom prst="rect">
            <a:avLst/>
          </a:prstGeom>
        </p:spPr>
        <p:txBody>
          <a:bodyPr vert="horz" lIns="91440" tIns="45720" rIns="91440" bIns="45720" rtlCol="0" anchor="ctr"/>
          <a:lstStyle>
            <a:lvl1pPr algn="ctr">
              <a:defRPr sz="11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166" y="6356747"/>
            <a:ext cx="2742447" cy="364275"/>
          </a:xfrm>
          <a:prstGeom prst="rect">
            <a:avLst/>
          </a:prstGeom>
        </p:spPr>
        <p:txBody>
          <a:bodyPr vert="horz" lIns="91440" tIns="45720" rIns="91440" bIns="45720" rtlCol="0" anchor="ctr"/>
          <a:lstStyle>
            <a:lvl1pPr algn="r">
              <a:defRPr sz="1140">
                <a:solidFill>
                  <a:schemeClr val="tx1">
                    <a:tint val="75000"/>
                  </a:schemeClr>
                </a:solidFill>
              </a:defRPr>
            </a:lvl1pPr>
          </a:lstStyle>
          <a:p>
            <a:fld id="{118D5ACA-62CA-46DB-AD6B-12EDD6D51A2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l" defTabSz="866775" rtl="0" eaLnBrk="1" latinLnBrk="0" hangingPunct="1">
        <a:lnSpc>
          <a:spcPct val="90000"/>
        </a:lnSpc>
        <a:spcBef>
          <a:spcPct val="0"/>
        </a:spcBef>
        <a:buNone/>
        <a:defRPr sz="4170" kern="1200">
          <a:solidFill>
            <a:schemeClr val="tx1"/>
          </a:solidFill>
          <a:latin typeface="+mj-lt"/>
          <a:ea typeface="+mj-ea"/>
          <a:cs typeface="+mj-cs"/>
        </a:defRPr>
      </a:lvl1pPr>
    </p:titleStyle>
    <p:bodyStyle>
      <a:lvl1pPr marL="216535" indent="-216535" algn="l" defTabSz="866775" rtl="0" eaLnBrk="1" latinLnBrk="0" hangingPunct="1">
        <a:lnSpc>
          <a:spcPct val="90000"/>
        </a:lnSpc>
        <a:spcBef>
          <a:spcPts val="950"/>
        </a:spcBef>
        <a:buFont typeface="Arial" panose="020B0604020202020204" pitchFamily="34" charset="0"/>
        <a:buChar char="•"/>
        <a:defRPr sz="2655" kern="1200">
          <a:solidFill>
            <a:schemeClr val="tx1"/>
          </a:solidFill>
          <a:latin typeface="+mn-lt"/>
          <a:ea typeface="+mn-ea"/>
          <a:cs typeface="+mn-cs"/>
        </a:defRPr>
      </a:lvl1pPr>
      <a:lvl2pPr marL="650240" indent="-216535" algn="l" defTabSz="866775" rtl="0" eaLnBrk="1" latinLnBrk="0" hangingPunct="1">
        <a:lnSpc>
          <a:spcPct val="90000"/>
        </a:lnSpc>
        <a:spcBef>
          <a:spcPts val="475"/>
        </a:spcBef>
        <a:buFont typeface="Arial" panose="020B0604020202020204" pitchFamily="34" charset="0"/>
        <a:buChar char="•"/>
        <a:defRPr sz="2275" kern="1200">
          <a:solidFill>
            <a:schemeClr val="tx1"/>
          </a:solidFill>
          <a:latin typeface="+mn-lt"/>
          <a:ea typeface="+mn-ea"/>
          <a:cs typeface="+mn-cs"/>
        </a:defRPr>
      </a:lvl2pPr>
      <a:lvl3pPr marL="1083945" indent="-216535" algn="l" defTabSz="866775" rtl="0" eaLnBrk="1" latinLnBrk="0" hangingPunct="1">
        <a:lnSpc>
          <a:spcPct val="90000"/>
        </a:lnSpc>
        <a:spcBef>
          <a:spcPts val="475"/>
        </a:spcBef>
        <a:buFont typeface="Arial" panose="020B0604020202020204" pitchFamily="34" charset="0"/>
        <a:buChar char="•"/>
        <a:defRPr sz="1895" kern="1200">
          <a:solidFill>
            <a:schemeClr val="tx1"/>
          </a:solidFill>
          <a:latin typeface="+mn-lt"/>
          <a:ea typeface="+mn-ea"/>
          <a:cs typeface="+mn-cs"/>
        </a:defRPr>
      </a:lvl3pPr>
      <a:lvl4pPr marL="151701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4pPr>
      <a:lvl5pPr marL="195072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5pPr>
      <a:lvl6pPr marL="238379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6pPr>
      <a:lvl7pPr marL="281749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7pPr>
      <a:lvl8pPr marL="325120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8pPr>
      <a:lvl9pPr marL="368427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9pPr>
    </p:bodyStyle>
    <p:otherStyle>
      <a:defPPr>
        <a:defRPr lang="zh-CN"/>
      </a:defPPr>
      <a:lvl1pPr marL="0" algn="l" defTabSz="866775" rtl="0" eaLnBrk="1" latinLnBrk="0" hangingPunct="1">
        <a:defRPr sz="1705" kern="1200">
          <a:solidFill>
            <a:schemeClr val="tx1"/>
          </a:solidFill>
          <a:latin typeface="+mn-lt"/>
          <a:ea typeface="+mn-ea"/>
          <a:cs typeface="+mn-cs"/>
        </a:defRPr>
      </a:lvl1pPr>
      <a:lvl2pPr marL="433705" algn="l" defTabSz="866775" rtl="0" eaLnBrk="1" latinLnBrk="0" hangingPunct="1">
        <a:defRPr sz="1705" kern="1200">
          <a:solidFill>
            <a:schemeClr val="tx1"/>
          </a:solidFill>
          <a:latin typeface="+mn-lt"/>
          <a:ea typeface="+mn-ea"/>
          <a:cs typeface="+mn-cs"/>
        </a:defRPr>
      </a:lvl2pPr>
      <a:lvl3pPr marL="866775" algn="l" defTabSz="866775" rtl="0" eaLnBrk="1" latinLnBrk="0" hangingPunct="1">
        <a:defRPr sz="1705" kern="1200">
          <a:solidFill>
            <a:schemeClr val="tx1"/>
          </a:solidFill>
          <a:latin typeface="+mn-lt"/>
          <a:ea typeface="+mn-ea"/>
          <a:cs typeface="+mn-cs"/>
        </a:defRPr>
      </a:lvl3pPr>
      <a:lvl4pPr marL="1300480" algn="l" defTabSz="866775" rtl="0" eaLnBrk="1" latinLnBrk="0" hangingPunct="1">
        <a:defRPr sz="1705" kern="1200">
          <a:solidFill>
            <a:schemeClr val="tx1"/>
          </a:solidFill>
          <a:latin typeface="+mn-lt"/>
          <a:ea typeface="+mn-ea"/>
          <a:cs typeface="+mn-cs"/>
        </a:defRPr>
      </a:lvl4pPr>
      <a:lvl5pPr marL="1734185" algn="l" defTabSz="866775" rtl="0" eaLnBrk="1" latinLnBrk="0" hangingPunct="1">
        <a:defRPr sz="1705" kern="1200">
          <a:solidFill>
            <a:schemeClr val="tx1"/>
          </a:solidFill>
          <a:latin typeface="+mn-lt"/>
          <a:ea typeface="+mn-ea"/>
          <a:cs typeface="+mn-cs"/>
        </a:defRPr>
      </a:lvl5pPr>
      <a:lvl6pPr marL="2167255" algn="l" defTabSz="866775" rtl="0" eaLnBrk="1" latinLnBrk="0" hangingPunct="1">
        <a:defRPr sz="1705" kern="1200">
          <a:solidFill>
            <a:schemeClr val="tx1"/>
          </a:solidFill>
          <a:latin typeface="+mn-lt"/>
          <a:ea typeface="+mn-ea"/>
          <a:cs typeface="+mn-cs"/>
        </a:defRPr>
      </a:lvl6pPr>
      <a:lvl7pPr marL="2600960" algn="l" defTabSz="866775" rtl="0" eaLnBrk="1" latinLnBrk="0" hangingPunct="1">
        <a:defRPr sz="1705" kern="1200">
          <a:solidFill>
            <a:schemeClr val="tx1"/>
          </a:solidFill>
          <a:latin typeface="+mn-lt"/>
          <a:ea typeface="+mn-ea"/>
          <a:cs typeface="+mn-cs"/>
        </a:defRPr>
      </a:lvl7pPr>
      <a:lvl8pPr marL="3034030" algn="l" defTabSz="866775" rtl="0" eaLnBrk="1" latinLnBrk="0" hangingPunct="1">
        <a:defRPr sz="1705" kern="1200">
          <a:solidFill>
            <a:schemeClr val="tx1"/>
          </a:solidFill>
          <a:latin typeface="+mn-lt"/>
          <a:ea typeface="+mn-ea"/>
          <a:cs typeface="+mn-cs"/>
        </a:defRPr>
      </a:lvl8pPr>
      <a:lvl9pPr marL="3467735" algn="l" defTabSz="866775" rtl="0" eaLnBrk="1" latinLnBrk="0" hangingPunct="1">
        <a:defRPr sz="17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0.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5" name="矩形 4"/>
          <p:cNvSpPr/>
          <p:nvPr/>
        </p:nvSpPr>
        <p:spPr>
          <a:xfrm>
            <a:off x="0" y="2546580"/>
            <a:ext cx="12191331" cy="1838567"/>
          </a:xfrm>
          <a:prstGeom prst="rect">
            <a:avLst/>
          </a:prstGeom>
          <a:solidFill>
            <a:srgbClr val="1A78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dirty="0">
              <a:solidFill>
                <a:prstClr val="white"/>
              </a:solidFill>
              <a:latin typeface="Calibri" panose="020F0502020204030204"/>
              <a:ea typeface="等线" panose="02010600030101010101" pitchFamily="2" charset="-122"/>
            </a:endParaRPr>
          </a:p>
        </p:txBody>
      </p:sp>
      <p:sp>
        <p:nvSpPr>
          <p:cNvPr id="12" name="椭圆 11"/>
          <p:cNvSpPr/>
          <p:nvPr/>
        </p:nvSpPr>
        <p:spPr>
          <a:xfrm>
            <a:off x="1524353" y="2153727"/>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pic>
        <p:nvPicPr>
          <p:cNvPr id="9" name="图片 8"/>
          <p:cNvPicPr>
            <a:picLocks noChangeAspect="1"/>
          </p:cNvPicPr>
          <p:nvPr/>
        </p:nvPicPr>
        <p:blipFill>
          <a:blip r:embed="rId3">
            <a:extLst>
              <a:ext uri="{BEBA8EAE-BF5A-486C-A8C5-ECC9F3942E4B}">
                <a14:imgProps xmlns:a14="http://schemas.microsoft.com/office/drawing/2010/main">
                  <a14:imgLayer r:embed="rId4">
                    <a14:imgEffect>
                      <a14:brightnessContrast bright="14000" contrast="21000"/>
                    </a14:imgEffect>
                    <a14:imgEffect>
                      <a14:colorTemperature colorTemp="6700"/>
                    </a14:imgEffect>
                  </a14:imgLayer>
                </a14:imgProps>
              </a:ext>
              <a:ext uri="{28A0092B-C50C-407E-A947-70E740481C1C}">
                <a14:useLocalDpi xmlns:a14="http://schemas.microsoft.com/office/drawing/2010/main" val="0"/>
              </a:ext>
            </a:extLst>
          </a:blip>
          <a:stretch>
            <a:fillRect/>
          </a:stretch>
        </p:blipFill>
        <p:spPr>
          <a:xfrm>
            <a:off x="1266181" y="2014069"/>
            <a:ext cx="3140616" cy="2903588"/>
          </a:xfrm>
          <a:prstGeom prst="rect">
            <a:avLst/>
          </a:prstGeom>
        </p:spPr>
      </p:pic>
      <p:pic>
        <p:nvPicPr>
          <p:cNvPr id="10" name="图片 9"/>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4000" contrast="21000"/>
                    </a14:imgEffect>
                    <a14:imgEffect>
                      <a14:colorTemperature colorTemp="6700"/>
                    </a14:imgEffect>
                    <a14:imgEffect>
                      <a14:sharpenSoften amount="3000"/>
                    </a14:imgEffect>
                  </a14:imgLayer>
                </a14:imgProps>
              </a:ext>
              <a:ext uri="{28A0092B-C50C-407E-A947-70E740481C1C}">
                <a14:useLocalDpi xmlns:a14="http://schemas.microsoft.com/office/drawing/2010/main" val="0"/>
              </a:ext>
            </a:extLst>
          </a:blip>
          <a:stretch>
            <a:fillRect/>
          </a:stretch>
        </p:blipFill>
        <p:spPr>
          <a:xfrm>
            <a:off x="9897401" y="150150"/>
            <a:ext cx="1966449" cy="575997"/>
          </a:xfrm>
          <a:prstGeom prst="rect">
            <a:avLst/>
          </a:prstGeom>
        </p:spPr>
      </p:pic>
      <p:sp>
        <p:nvSpPr>
          <p:cNvPr id="8" name="文本框 7"/>
          <p:cNvSpPr txBox="1"/>
          <p:nvPr/>
        </p:nvSpPr>
        <p:spPr>
          <a:xfrm>
            <a:off x="3922273" y="2752395"/>
            <a:ext cx="8398143" cy="1135054"/>
          </a:xfrm>
          <a:prstGeom prst="rect">
            <a:avLst/>
          </a:prstGeom>
          <a:noFill/>
        </p:spPr>
        <p:txBody>
          <a:bodyPr wrap="square" rtlCol="0">
            <a:spAutoFit/>
          </a:bodyPr>
          <a:lstStyle/>
          <a:p>
            <a:pPr algn="ctr" defTabSz="913765">
              <a:lnSpc>
                <a:spcPct val="150000"/>
              </a:lnSpc>
              <a:defRPr/>
            </a:pPr>
            <a:r>
              <a:rPr lang="en-US" altLang="zh-CN" sz="24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Incomplete Multi-modal Brain Tumor Segmentation  via Learnable Sorting State Space Model</a:t>
            </a:r>
          </a:p>
        </p:txBody>
      </p:sp>
      <p:sp>
        <p:nvSpPr>
          <p:cNvPr id="11" name="文本占位符 13"/>
          <p:cNvSpPr txBox="1"/>
          <p:nvPr/>
        </p:nvSpPr>
        <p:spPr>
          <a:xfrm>
            <a:off x="5159039" y="4709760"/>
            <a:ext cx="3028952" cy="79802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sz="1800" dirty="0">
                <a:solidFill>
                  <a:sysClr val="windowText" lastClr="000000"/>
                </a:solidFill>
                <a:latin typeface="Arial" panose="020B0604020202020204"/>
                <a:ea typeface="微软雅黑" panose="020B0503020204020204" pitchFamily="34" charset="-122"/>
              </a:rPr>
              <a:t>CVPR</a:t>
            </a:r>
            <a:r>
              <a:rPr lang="en-US" sz="1800" dirty="0">
                <a:solidFill>
                  <a:sysClr val="windowText" lastClr="000000"/>
                </a:solidFill>
                <a:latin typeface="Arial" panose="020B0604020202020204"/>
                <a:ea typeface="微软雅黑" panose="020B0503020204020204" pitchFamily="34" charset="-122"/>
              </a:rPr>
              <a:t> 2025</a:t>
            </a:r>
            <a:r>
              <a:rPr lang="en-US" dirty="0">
                <a:solidFill>
                  <a:sysClr val="windowText" lastClr="000000"/>
                </a:solidFill>
                <a:latin typeface="Arial" panose="020B0604020202020204"/>
                <a:ea typeface="微软雅黑" panose="020B0503020204020204" pitchFamily="34" charset="-122"/>
              </a:rPr>
              <a:t> </a:t>
            </a:r>
          </a:p>
        </p:txBody>
      </p:sp>
    </p:spTree>
  </p:cSld>
  <p:clrMapOvr>
    <a:masterClrMapping/>
  </p:clrMapOvr>
  <p:transition spd="slow" advClick="0" advTm="1000">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290" name="直接连接符 50"/>
          <p:cNvCxnSpPr>
            <a:cxnSpLocks noChangeShapeType="1"/>
          </p:cNvCxnSpPr>
          <p:nvPr/>
        </p:nvCxnSpPr>
        <p:spPr bwMode="auto">
          <a:xfrm>
            <a:off x="660400" y="760413"/>
            <a:ext cx="10858500" cy="0"/>
          </a:xfrm>
          <a:prstGeom prst="line">
            <a:avLst/>
          </a:prstGeom>
          <a:noFill/>
          <a:ln w="22225">
            <a:solidFill>
              <a:srgbClr val="1C6299"/>
            </a:solidFill>
            <a:miter lim="800000"/>
          </a:ln>
          <a:extLst>
            <a:ext uri="{909E8E84-426E-40DD-AFC4-6F175D3DCCD1}">
              <a14:hiddenFill xmlns:a14="http://schemas.microsoft.com/office/drawing/2010/main">
                <a:noFill/>
              </a14:hiddenFill>
            </a:ext>
          </a:extLst>
        </p:spPr>
      </p:cxnSp>
      <p:sp>
        <p:nvSpPr>
          <p:cNvPr id="12291" name="标题占位符 1"/>
          <p:cNvSpPr txBox="1">
            <a:spLocks noChangeArrowheads="1"/>
          </p:cNvSpPr>
          <p:nvPr/>
        </p:nvSpPr>
        <p:spPr bwMode="auto">
          <a:xfrm>
            <a:off x="965200" y="-100013"/>
            <a:ext cx="54356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rgbClr val="000000"/>
                </a:solidFill>
                <a:latin typeface="Arial" panose="020B0604020202020204" pitchFamily="34" charset="0"/>
                <a:ea typeface="微软雅黑" panose="020B0503020204020204" pitchFamily="34" charset="-122"/>
              </a:rPr>
              <a:t>Authors</a:t>
            </a:r>
          </a:p>
        </p:txBody>
      </p:sp>
      <p:grpSp>
        <p:nvGrpSpPr>
          <p:cNvPr id="12292" name="组合 53"/>
          <p:cNvGrpSpPr/>
          <p:nvPr/>
        </p:nvGrpSpPr>
        <p:grpSpPr bwMode="auto">
          <a:xfrm>
            <a:off x="203200" y="160338"/>
            <a:ext cx="647700" cy="619125"/>
            <a:chOff x="178632" y="159728"/>
            <a:chExt cx="647571" cy="619478"/>
          </a:xfrm>
        </p:grpSpPr>
        <p:sp>
          <p:nvSpPr>
            <p:cNvPr id="55" name="椭圆 54"/>
            <p:cNvSpPr/>
            <p:nvPr/>
          </p:nvSpPr>
          <p:spPr>
            <a:xfrm>
              <a:off x="357984" y="159728"/>
              <a:ext cx="468219" cy="468579"/>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i="1" dirty="0">
                <a:solidFill>
                  <a:prstClr val="white"/>
                </a:solidFill>
                <a:latin typeface="微软雅黑" panose="020B0503020204020204" pitchFamily="34" charset="-122"/>
                <a:ea typeface="微软雅黑" panose="020B0503020204020204" pitchFamily="34" charset="-122"/>
              </a:endParaRPr>
            </a:p>
          </p:txBody>
        </p:sp>
        <p:sp>
          <p:nvSpPr>
            <p:cNvPr id="57" name="椭圆 56"/>
            <p:cNvSpPr/>
            <p:nvPr/>
          </p:nvSpPr>
          <p:spPr>
            <a:xfrm>
              <a:off x="178632" y="602893"/>
              <a:ext cx="176178" cy="1763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i="1" dirty="0">
                <a:solidFill>
                  <a:prstClr val="white"/>
                </a:solidFill>
                <a:latin typeface="微软雅黑" panose="020B0503020204020204" pitchFamily="34" charset="-122"/>
                <a:ea typeface="微软雅黑" panose="020B0503020204020204" pitchFamily="34" charset="-122"/>
              </a:endParaRPr>
            </a:p>
          </p:txBody>
        </p:sp>
      </p:grpSp>
      <p:sp>
        <p:nvSpPr>
          <p:cNvPr id="59" name="文本框 58"/>
          <p:cNvSpPr txBox="1"/>
          <p:nvPr/>
        </p:nvSpPr>
        <p:spPr>
          <a:xfrm>
            <a:off x="660400" y="6535738"/>
            <a:ext cx="1941513" cy="246062"/>
          </a:xfrm>
          <a:prstGeom prst="rect">
            <a:avLst/>
          </a:prstGeom>
          <a:noFill/>
        </p:spPr>
        <p:txBody>
          <a:bodyPr wrap="none">
            <a:spAutoFit/>
          </a:bodyPr>
          <a:lstStyle/>
          <a:p>
            <a:pPr eaLnBrk="1" fontAlgn="auto" hangingPunct="1">
              <a:spcBef>
                <a:spcPts val="0"/>
              </a:spcBef>
              <a:spcAft>
                <a:spcPts val="0"/>
              </a:spcAft>
              <a:defRPr/>
            </a:pPr>
            <a:r>
              <a:rPr lang="zh-CN" altLang="en-US" sz="1000" spc="600" dirty="0">
                <a:solidFill>
                  <a:prstClr val="white"/>
                </a:solidFill>
                <a:latin typeface="微软雅黑" panose="020B0503020204020204" pitchFamily="34" charset="-122"/>
                <a:ea typeface="微软雅黑" panose="020B0503020204020204" pitchFamily="34" charset="-122"/>
              </a:rPr>
              <a:t>自强不息 厚德载物</a:t>
            </a:r>
          </a:p>
        </p:txBody>
      </p:sp>
      <p:pic>
        <p:nvPicPr>
          <p:cNvPr id="12294" name="图片 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25025" y="176213"/>
            <a:ext cx="1897063"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矩形 61"/>
          <p:cNvSpPr/>
          <p:nvPr/>
        </p:nvSpPr>
        <p:spPr>
          <a:xfrm>
            <a:off x="0" y="6570663"/>
            <a:ext cx="12192000" cy="287337"/>
          </a:xfrm>
          <a:prstGeom prst="rect">
            <a:avLst/>
          </a:prstGeom>
          <a:solidFill>
            <a:srgbClr val="1C6299"/>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kern="0">
              <a:solidFill>
                <a:prstClr val="white"/>
              </a:solidFill>
              <a:latin typeface="Arial" panose="020B0604020202020204"/>
              <a:ea typeface="微软雅黑" panose="020B0503020204020204" pitchFamily="34" charset="-122"/>
            </a:endParaRPr>
          </a:p>
        </p:txBody>
      </p:sp>
      <p:sp>
        <p:nvSpPr>
          <p:cNvPr id="63" name="文本框 62"/>
          <p:cNvSpPr txBox="1"/>
          <p:nvPr/>
        </p:nvSpPr>
        <p:spPr>
          <a:xfrm>
            <a:off x="593725" y="6583363"/>
            <a:ext cx="2032000" cy="246062"/>
          </a:xfrm>
          <a:prstGeom prst="rect">
            <a:avLst/>
          </a:prstGeom>
          <a:noFill/>
        </p:spPr>
        <p:txBody>
          <a:bodyPr wrap="none">
            <a:spAutoFit/>
          </a:bodyPr>
          <a:lstStyle/>
          <a:p>
            <a:pPr eaLnBrk="1" fontAlgn="auto" hangingPunct="1">
              <a:spcBef>
                <a:spcPts val="0"/>
              </a:spcBef>
              <a:spcAft>
                <a:spcPts val="0"/>
              </a:spcAft>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p>
        </p:txBody>
      </p:sp>
      <p:sp>
        <p:nvSpPr>
          <p:cNvPr id="2" name="文本框 1"/>
          <p:cNvSpPr txBox="1"/>
          <p:nvPr/>
        </p:nvSpPr>
        <p:spPr>
          <a:xfrm>
            <a:off x="256004"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0D202C5C-F055-1A12-0EFE-36C891294389}"/>
              </a:ext>
            </a:extLst>
          </p:cNvPr>
          <p:cNvPicPr>
            <a:picLocks noChangeAspect="1"/>
          </p:cNvPicPr>
          <p:nvPr/>
        </p:nvPicPr>
        <p:blipFill>
          <a:blip r:embed="rId4"/>
          <a:stretch>
            <a:fillRect/>
          </a:stretch>
        </p:blipFill>
        <p:spPr>
          <a:xfrm>
            <a:off x="929104" y="849313"/>
            <a:ext cx="9818844" cy="5561549"/>
          </a:xfrm>
          <a:prstGeom prst="rect">
            <a:avLst/>
          </a:prstGeom>
        </p:spPr>
      </p:pic>
    </p:spTree>
  </p:cSld>
  <p:clrMapOvr>
    <a:masterClrMapping/>
  </p:clrMapOvr>
  <p:transition spd="slow" advTm="3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203760"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1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pPr>
            <a:r>
              <a:rPr lang="en-US" altLang="zh-CN" sz="2600" b="1" dirty="0">
                <a:solidFill>
                  <a:sysClr val="windowText" lastClr="000000"/>
                </a:solidFill>
                <a:latin typeface="Arial" panose="020B0604020202020204"/>
                <a:ea typeface="微软雅黑" panose="020B0503020204020204" pitchFamily="34" charset="-122"/>
                <a:cs typeface="+mn-cs"/>
              </a:rPr>
              <a:t>Background</a:t>
            </a:r>
          </a:p>
        </p:txBody>
      </p:sp>
      <p:sp>
        <p:nvSpPr>
          <p:cNvPr id="2" name="文本框 1"/>
          <p:cNvSpPr txBox="1"/>
          <p:nvPr/>
        </p:nvSpPr>
        <p:spPr>
          <a:xfrm>
            <a:off x="537772" y="1722986"/>
            <a:ext cx="10858500" cy="5035391"/>
          </a:xfrm>
          <a:prstGeom prst="rect">
            <a:avLst/>
          </a:prstGeom>
          <a:noFill/>
        </p:spPr>
        <p:txBody>
          <a:bodyPr wrap="square" rtlCol="0">
            <a:noAutofit/>
          </a:bodyPr>
          <a:lstStyle/>
          <a:p>
            <a:pPr>
              <a:lnSpc>
                <a:spcPct val="150000"/>
              </a:lnSpc>
            </a:pPr>
            <a:r>
              <a:rPr lang="zh-CN" altLang="en-US" dirty="0">
                <a:latin typeface="宋体" panose="02010600030101010101" pitchFamily="2" charset="-122"/>
                <a:ea typeface="宋体" panose="02010600030101010101" pitchFamily="2" charset="-122"/>
                <a:cs typeface="微软雅黑" panose="020B0503020204020204" pitchFamily="34" charset="-122"/>
              </a:rPr>
              <a:t>脑肿瘤分割通常需要多种模态提供互补信息从而更好的分割，</a:t>
            </a:r>
            <a:r>
              <a:rPr lang="zh-CN" altLang="en-US" dirty="0">
                <a:latin typeface="宋体" panose="02010600030101010101" pitchFamily="2" charset="-122"/>
                <a:ea typeface="宋体" panose="02010600030101010101" pitchFamily="2" charset="-122"/>
              </a:rPr>
              <a:t>然而，某些模态的频繁不可用为精确分割带来了巨大的挑战。</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现有处理缺失模态的方法主要分为两类</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）通过模态融合来生成缺失模态或通过知识蒸馏填补缺失模态和传统模态的差别。</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优化架构，从可用模态中最大限度地提取信息</a:t>
            </a:r>
            <a:endParaRPr lang="en-US" altLang="zh-CN" b="1" dirty="0">
              <a:latin typeface="宋体" panose="02010600030101010101" pitchFamily="2" charset="-122"/>
              <a:ea typeface="宋体" panose="02010600030101010101" pitchFamily="2" charset="-122"/>
            </a:endParaRPr>
          </a:p>
          <a:p>
            <a:pPr>
              <a:lnSpc>
                <a:spcPct val="150000"/>
              </a:lnSpc>
            </a:pPr>
            <a:endParaRPr lang="en-US" altLang="zh-CN" b="1" dirty="0">
              <a:latin typeface="宋体" panose="02010600030101010101" pitchFamily="2" charset="-122"/>
              <a:ea typeface="宋体" panose="02010600030101010101" pitchFamily="2" charset="-122"/>
            </a:endParaRPr>
          </a:p>
          <a:p>
            <a:pPr>
              <a:lnSpc>
                <a:spcPct val="150000"/>
              </a:lnSpc>
            </a:pPr>
            <a:endParaRPr lang="zh-CN" altLang="en-US" dirty="0"/>
          </a:p>
          <a:p>
            <a:pPr>
              <a:lnSpc>
                <a:spcPct val="150000"/>
              </a:lnSpc>
            </a:pPr>
            <a:endParaRPr lang="zh-CN" altLang="en-US" dirty="0">
              <a:latin typeface="+mn-ea"/>
            </a:endParaRPr>
          </a:p>
          <a:p>
            <a:pPr indent="0" fontAlgn="auto">
              <a:lnSpc>
                <a:spcPct val="150000"/>
              </a:lnSpc>
            </a:pP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lang="zh-CN"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a:extLst>
              <a:ext uri="{FF2B5EF4-FFF2-40B4-BE49-F238E27FC236}">
                <a16:creationId xmlns:a16="http://schemas.microsoft.com/office/drawing/2014/main" id="{6A5EE9EE-76ED-E703-0589-0617D0475800}"/>
              </a:ext>
            </a:extLst>
          </p:cNvPr>
          <p:cNvSpPr txBox="1"/>
          <p:nvPr/>
        </p:nvSpPr>
        <p:spPr>
          <a:xfrm>
            <a:off x="537772" y="893099"/>
            <a:ext cx="6097248" cy="458908"/>
          </a:xfrm>
          <a:prstGeom prst="rect">
            <a:avLst/>
          </a:prstGeom>
          <a:noFill/>
        </p:spPr>
        <p:txBody>
          <a:bodyPr wrap="square">
            <a:spAutoFit/>
          </a:bodyPr>
          <a:lstStyle/>
          <a:p>
            <a:pPr indent="0" fontAlgn="auto">
              <a:lnSpc>
                <a:spcPct val="15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、引言</a:t>
            </a:r>
            <a:endParaRPr lang="en-US" altLang="zh-CN" sz="1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203760"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1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pPr>
            <a:r>
              <a:rPr lang="en-US" altLang="zh-CN" sz="2600" b="1" dirty="0">
                <a:solidFill>
                  <a:sysClr val="windowText" lastClr="000000"/>
                </a:solidFill>
                <a:latin typeface="Arial" panose="020B0604020202020204"/>
                <a:ea typeface="微软雅黑" panose="020B0503020204020204" pitchFamily="34" charset="-122"/>
                <a:cs typeface="+mn-cs"/>
              </a:rPr>
              <a:t>Introduction</a:t>
            </a:r>
          </a:p>
        </p:txBody>
      </p:sp>
      <p:sp>
        <p:nvSpPr>
          <p:cNvPr id="5" name="文本框 4"/>
          <p:cNvSpPr txBox="1"/>
          <p:nvPr/>
        </p:nvSpPr>
        <p:spPr>
          <a:xfrm>
            <a:off x="593725" y="988060"/>
            <a:ext cx="10925175" cy="2151038"/>
          </a:xfrm>
          <a:prstGeom prst="rect">
            <a:avLst/>
          </a:prstGeom>
          <a:noFill/>
        </p:spPr>
        <p:txBody>
          <a:bodyPr wrap="square" rtlCol="0">
            <a:spAutoFit/>
          </a:bodyPr>
          <a:lstStyle/>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存在的问题</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en-US" altLang="zh-CN" dirty="0">
                <a:latin typeface="宋体" panose="02010600030101010101" pitchFamily="2" charset="-122"/>
                <a:ea typeface="宋体" panose="02010600030101010101" pitchFamily="2" charset="-122"/>
                <a:cs typeface="微软雅黑" panose="020B0503020204020204" pitchFamily="34" charset="-122"/>
              </a:rPr>
              <a:t>(1)</a:t>
            </a:r>
            <a:r>
              <a:rPr lang="zh-CN" altLang="en-US" dirty="0">
                <a:latin typeface="宋体" panose="02010600030101010101" pitchFamily="2" charset="-122"/>
                <a:ea typeface="宋体" panose="02010600030101010101" pitchFamily="2" charset="-122"/>
                <a:cs typeface="微软雅黑" panose="020B0503020204020204" pitchFamily="34" charset="-122"/>
              </a:rPr>
              <a:t>长程依赖对于理解肿瘤和周围结构之间的空间关系至关重要。</a:t>
            </a:r>
            <a:r>
              <a:rPr lang="en-US" altLang="zh-CN" dirty="0">
                <a:latin typeface="宋体" panose="02010600030101010101" pitchFamily="2" charset="-122"/>
                <a:ea typeface="宋体" panose="02010600030101010101" pitchFamily="2" charset="-122"/>
                <a:cs typeface="微软雅黑" panose="020B0503020204020204" pitchFamily="34" charset="-122"/>
              </a:rPr>
              <a:t>Transformer</a:t>
            </a:r>
            <a:r>
              <a:rPr lang="zh-CN" altLang="en-US" dirty="0">
                <a:latin typeface="宋体" panose="02010600030101010101" pitchFamily="2" charset="-122"/>
                <a:ea typeface="宋体" panose="02010600030101010101" pitchFamily="2" charset="-122"/>
                <a:cs typeface="微软雅黑" panose="020B0503020204020204" pitchFamily="34" charset="-122"/>
              </a:rPr>
              <a:t>虽能建模长程依赖，但是计算量过大。</a:t>
            </a:r>
            <a:endParaRPr lang="en-US" altLang="zh-CN" dirty="0">
              <a:latin typeface="宋体" panose="02010600030101010101" pitchFamily="2" charset="-122"/>
              <a:ea typeface="宋体" panose="02010600030101010101" pitchFamily="2" charset="-122"/>
              <a:cs typeface="微软雅黑" panose="020B0503020204020204" pitchFamily="34" charset="-122"/>
            </a:endParaRPr>
          </a:p>
          <a:p>
            <a:pPr indent="0" fontAlgn="auto">
              <a:lnSpc>
                <a:spcPct val="150000"/>
              </a:lnSpc>
            </a:pPr>
            <a:r>
              <a:rPr lang="en-US" altLang="zh-CN" dirty="0">
                <a:latin typeface="宋体" panose="02010600030101010101" pitchFamily="2" charset="-122"/>
                <a:ea typeface="宋体" panose="02010600030101010101" pitchFamily="2" charset="-122"/>
                <a:cs typeface="微软雅黑" panose="020B0503020204020204" pitchFamily="34" charset="-122"/>
              </a:rPr>
              <a:t>(2)Mamba</a:t>
            </a:r>
            <a:r>
              <a:rPr lang="zh-CN" altLang="en-US" dirty="0">
                <a:latin typeface="宋体" panose="02010600030101010101" pitchFamily="2" charset="-122"/>
                <a:ea typeface="宋体" panose="02010600030101010101" pitchFamily="2" charset="-122"/>
              </a:rPr>
              <a:t>虽然能以线性复杂度建模长程依赖，但存在两大缺陷</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展平</a:t>
            </a:r>
            <a:r>
              <a:rPr lang="en-US" altLang="zh-CN" dirty="0">
                <a:latin typeface="宋体" panose="02010600030101010101" pitchFamily="2" charset="-122"/>
                <a:ea typeface="宋体" panose="02010600030101010101" pitchFamily="2" charset="-122"/>
              </a:rPr>
              <a:t>3D MRI</a:t>
            </a:r>
            <a:r>
              <a:rPr lang="zh-CN" altLang="en-US" dirty="0">
                <a:latin typeface="宋体" panose="02010600030101010101" pitchFamily="2" charset="-122"/>
                <a:ea typeface="宋体" panose="02010600030101010101" pitchFamily="2" charset="-122"/>
              </a:rPr>
              <a:t>为</a:t>
            </a:r>
            <a:r>
              <a:rPr lang="en-US" altLang="zh-CN" dirty="0">
                <a:latin typeface="宋体" panose="02010600030101010101" pitchFamily="2" charset="-122"/>
                <a:ea typeface="宋体" panose="02010600030101010101" pitchFamily="2" charset="-122"/>
              </a:rPr>
              <a:t>1D</a:t>
            </a:r>
            <a:r>
              <a:rPr lang="zh-CN" altLang="en-US" dirty="0">
                <a:latin typeface="宋体" panose="02010600030101010101" pitchFamily="2" charset="-122"/>
                <a:ea typeface="宋体" panose="02010600030101010101" pitchFamily="2" charset="-122"/>
              </a:rPr>
              <a:t>序列时破坏空间结构，且远距离</a:t>
            </a:r>
            <a:r>
              <a:rPr lang="en-US" altLang="zh-CN" dirty="0">
                <a:latin typeface="宋体" panose="02010600030101010101" pitchFamily="2" charset="-122"/>
                <a:ea typeface="宋体" panose="02010600030101010101" pitchFamily="2" charset="-122"/>
              </a:rPr>
              <a:t>token</a:t>
            </a:r>
            <a:r>
              <a:rPr lang="zh-CN" altLang="en-US" dirty="0">
                <a:latin typeface="宋体" panose="02010600030101010101" pitchFamily="2" charset="-122"/>
                <a:ea typeface="宋体" panose="02010600030101010101" pitchFamily="2" charset="-122"/>
              </a:rPr>
              <a:t>影响力随序列长度衰减，无法关联肿瘤与远端脑区的语义关系。</a:t>
            </a:r>
            <a:endParaRPr lang="en-US" altLang="zh-CN" dirty="0">
              <a:latin typeface="宋体" panose="02010600030101010101" pitchFamily="2" charset="-122"/>
              <a:ea typeface="宋体" panose="02010600030101010101" pitchFamily="2" charset="-122"/>
            </a:endParaRPr>
          </a:p>
        </p:txBody>
      </p:sp>
      <p:sp>
        <p:nvSpPr>
          <p:cNvPr id="6" name="文本框 5"/>
          <p:cNvSpPr txBox="1"/>
          <p:nvPr/>
        </p:nvSpPr>
        <p:spPr>
          <a:xfrm>
            <a:off x="517229" y="3668674"/>
            <a:ext cx="5311263" cy="2371749"/>
          </a:xfrm>
          <a:prstGeom prst="rect">
            <a:avLst/>
          </a:prstGeom>
          <a:noFill/>
        </p:spPr>
        <p:txBody>
          <a:bodyPr wrap="square" rtlCol="0">
            <a:noAutofit/>
          </a:bodyPr>
          <a:lstStyle/>
          <a:p>
            <a:pPr indent="0" fontAlgn="auto">
              <a:lnSpc>
                <a:spcPct val="150000"/>
              </a:lnSpc>
            </a:pPr>
            <a:r>
              <a:rPr lang="zh-CN" altLang="en-US" dirty="0">
                <a:latin typeface="宋体" panose="02010600030101010101" pitchFamily="2" charset="-122"/>
                <a:ea typeface="宋体" panose="02010600030101010101" pitchFamily="2" charset="-122"/>
              </a:rPr>
              <a:t>    为解决上述问题，本文提出</a:t>
            </a:r>
            <a:r>
              <a:rPr lang="zh-CN" altLang="en-US" b="1" dirty="0">
                <a:latin typeface="宋体" panose="02010600030101010101" pitchFamily="2" charset="-122"/>
                <a:ea typeface="宋体" panose="02010600030101010101" pitchFamily="2" charset="-122"/>
              </a:rPr>
              <a:t>可学习排序机制，</a:t>
            </a:r>
            <a:r>
              <a:rPr lang="zh-CN" altLang="en-US" dirty="0">
                <a:latin typeface="宋体" panose="02010600030101010101" pitchFamily="2" charset="-122"/>
                <a:ea typeface="宋体" panose="02010600030101010101" pitchFamily="2" charset="-122"/>
              </a:rPr>
              <a:t>通过动态调整序列扫描顺序，从而实现空间邻近、语义相关的</a:t>
            </a:r>
            <a:r>
              <a:rPr lang="en-US" altLang="zh-CN" dirty="0">
                <a:latin typeface="宋体" panose="02010600030101010101" pitchFamily="2" charset="-122"/>
                <a:ea typeface="宋体" panose="02010600030101010101" pitchFamily="2" charset="-122"/>
              </a:rPr>
              <a:t>token</a:t>
            </a:r>
            <a:r>
              <a:rPr lang="zh-CN" altLang="en-US" dirty="0">
                <a:latin typeface="宋体" panose="02010600030101010101" pitchFamily="2" charset="-122"/>
                <a:ea typeface="宋体" panose="02010600030101010101" pitchFamily="2" charset="-122"/>
              </a:rPr>
              <a:t>更接近。</a:t>
            </a:r>
            <a:r>
              <a:rPr lang="en-US" altLang="zh-CN" dirty="0">
                <a:latin typeface="宋体" panose="02010600030101010101" pitchFamily="2" charset="-122"/>
                <a:ea typeface="宋体" panose="02010600030101010101" pitchFamily="2" charset="-122"/>
              </a:rPr>
              <a:t> </a:t>
            </a:r>
            <a:endParaRPr lang="en-US" altLang="zh-CN" sz="2000" b="1" dirty="0">
              <a:latin typeface="宋体" panose="02010600030101010101" pitchFamily="2" charset="-122"/>
              <a:ea typeface="宋体" panose="02010600030101010101" pitchFamily="2" charset="-122"/>
              <a:cs typeface="宋体" panose="02010600030101010101" pitchFamily="2" charset="-122"/>
            </a:endParaRPr>
          </a:p>
        </p:txBody>
      </p:sp>
      <p:pic>
        <p:nvPicPr>
          <p:cNvPr id="3" name="图片 2">
            <a:extLst>
              <a:ext uri="{FF2B5EF4-FFF2-40B4-BE49-F238E27FC236}">
                <a16:creationId xmlns:a16="http://schemas.microsoft.com/office/drawing/2014/main" id="{5DB01FBC-7F19-C880-0B94-54B588E6423D}"/>
              </a:ext>
            </a:extLst>
          </p:cNvPr>
          <p:cNvPicPr>
            <a:picLocks noChangeAspect="1"/>
          </p:cNvPicPr>
          <p:nvPr/>
        </p:nvPicPr>
        <p:blipFill>
          <a:blip r:embed="rId4"/>
          <a:stretch>
            <a:fillRect/>
          </a:stretch>
        </p:blipFill>
        <p:spPr>
          <a:xfrm>
            <a:off x="5962976" y="3366744"/>
            <a:ext cx="6000000" cy="262857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199555"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pic>
        <p:nvPicPr>
          <p:cNvPr id="4" name="图片 3">
            <a:extLst>
              <a:ext uri="{FF2B5EF4-FFF2-40B4-BE49-F238E27FC236}">
                <a16:creationId xmlns:a16="http://schemas.microsoft.com/office/drawing/2014/main" id="{503A3C9F-55F7-8129-0023-E7A30723B497}"/>
              </a:ext>
            </a:extLst>
          </p:cNvPr>
          <p:cNvPicPr>
            <a:picLocks noChangeAspect="1"/>
          </p:cNvPicPr>
          <p:nvPr/>
        </p:nvPicPr>
        <p:blipFill>
          <a:blip r:embed="rId4"/>
          <a:stretch>
            <a:fillRect/>
          </a:stretch>
        </p:blipFill>
        <p:spPr>
          <a:xfrm>
            <a:off x="375768" y="1281472"/>
            <a:ext cx="10978093" cy="4483305"/>
          </a:xfrm>
          <a:prstGeom prst="rect">
            <a:avLst/>
          </a:prstGeom>
        </p:spPr>
      </p:pic>
      <p:pic>
        <p:nvPicPr>
          <p:cNvPr id="2" name="图片 1">
            <a:extLst>
              <a:ext uri="{FF2B5EF4-FFF2-40B4-BE49-F238E27FC236}">
                <a16:creationId xmlns:a16="http://schemas.microsoft.com/office/drawing/2014/main" id="{FB1E9A98-DE9E-BF65-2D56-7C43F74C4D5C}"/>
              </a:ext>
            </a:extLst>
          </p:cNvPr>
          <p:cNvPicPr>
            <a:picLocks noChangeAspect="1"/>
          </p:cNvPicPr>
          <p:nvPr/>
        </p:nvPicPr>
        <p:blipFill>
          <a:blip r:embed="rId5"/>
          <a:stretch>
            <a:fillRect/>
          </a:stretch>
        </p:blipFill>
        <p:spPr>
          <a:xfrm>
            <a:off x="3521162" y="5905483"/>
            <a:ext cx="4295238" cy="5238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199555"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4" name="文本框 3"/>
          <p:cNvSpPr txBox="1"/>
          <p:nvPr>
            <p:custDataLst>
              <p:tags r:id="rId1"/>
            </p:custDataLst>
          </p:nvPr>
        </p:nvSpPr>
        <p:spPr>
          <a:xfrm>
            <a:off x="594360" y="777240"/>
            <a:ext cx="10878185" cy="516890"/>
          </a:xfrm>
          <a:prstGeom prst="rect">
            <a:avLst/>
          </a:prstGeom>
          <a:noFill/>
        </p:spPr>
        <p:txBody>
          <a:bodyPr wrap="square" rtlCol="0">
            <a:noAutofit/>
          </a:bodyPr>
          <a:lstStyle/>
          <a:p>
            <a:pPr indent="0" fontAlgn="auto">
              <a:lnSpc>
                <a:spcPct val="150000"/>
              </a:lnSpc>
            </a:pPr>
            <a:r>
              <a:rPr lang="zh-CN" sz="2000" b="1" dirty="0"/>
              <a:t>模块</a:t>
            </a:r>
            <a:r>
              <a:rPr lang="en-US" altLang="zh-CN" sz="2000" b="1" dirty="0"/>
              <a:t>1</a:t>
            </a:r>
            <a:r>
              <a:rPr lang="zh-CN" altLang="en-US" sz="2000" b="1" dirty="0"/>
              <a:t>：全局输入策略</a:t>
            </a:r>
            <a:endParaRPr lang="zh-CN" sz="2000" b="1" dirty="0"/>
          </a:p>
          <a:p>
            <a:pPr indent="0" fontAlgn="auto">
              <a:lnSpc>
                <a:spcPct val="150000"/>
              </a:lnSpc>
            </a:pPr>
            <a:endParaRPr lang="zh-CN" sz="2000" b="1" dirty="0"/>
          </a:p>
          <a:p>
            <a:pPr indent="0" fontAlgn="auto">
              <a:lnSpc>
                <a:spcPct val="150000"/>
              </a:lnSpc>
            </a:pPr>
            <a:endParaRPr lang="en-US"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dirty="0">
                <a:latin typeface="宋体" panose="02010600030101010101" pitchFamily="2" charset="-122"/>
                <a:ea typeface="宋体" panose="02010600030101010101" pitchFamily="2" charset="-122"/>
                <a:cs typeface="宋体" panose="02010600030101010101" pitchFamily="2" charset="-122"/>
              </a:rPr>
              <a:t>      </a:t>
            </a:r>
            <a:endParaRPr dirty="0">
              <a:latin typeface="宋体" panose="02010600030101010101" pitchFamily="2" charset="-122"/>
              <a:ea typeface="宋体" panose="02010600030101010101" pitchFamily="2" charset="-122"/>
              <a:cs typeface="宋体" panose="02010600030101010101" pitchFamily="2" charset="-122"/>
            </a:endParaRPr>
          </a:p>
        </p:txBody>
      </p:sp>
      <p:sp>
        <p:nvSpPr>
          <p:cNvPr id="15" name="文本框 14"/>
          <p:cNvSpPr txBox="1"/>
          <p:nvPr/>
        </p:nvSpPr>
        <p:spPr>
          <a:xfrm>
            <a:off x="660400" y="1352550"/>
            <a:ext cx="10786110" cy="1830070"/>
          </a:xfrm>
          <a:prstGeom prst="rect">
            <a:avLst/>
          </a:prstGeom>
          <a:noFill/>
        </p:spPr>
        <p:txBody>
          <a:bodyPr wrap="square" rtlCol="0">
            <a:noAutofit/>
          </a:bodyPr>
          <a:lstStyle/>
          <a:p>
            <a:endParaRPr lang="zh-CN" altLang="en-US" dirty="0"/>
          </a:p>
        </p:txBody>
      </p:sp>
      <p:pic>
        <p:nvPicPr>
          <p:cNvPr id="5" name="图片 4">
            <a:extLst>
              <a:ext uri="{FF2B5EF4-FFF2-40B4-BE49-F238E27FC236}">
                <a16:creationId xmlns:a16="http://schemas.microsoft.com/office/drawing/2014/main" id="{272179B0-E349-4E14-74F9-166FB4838190}"/>
              </a:ext>
            </a:extLst>
          </p:cNvPr>
          <p:cNvPicPr>
            <a:picLocks noChangeAspect="1"/>
          </p:cNvPicPr>
          <p:nvPr/>
        </p:nvPicPr>
        <p:blipFill>
          <a:blip r:embed="rId5"/>
          <a:stretch>
            <a:fillRect/>
          </a:stretch>
        </p:blipFill>
        <p:spPr>
          <a:xfrm>
            <a:off x="6861788" y="1532215"/>
            <a:ext cx="3700795" cy="4076239"/>
          </a:xfrm>
          <a:prstGeom prst="rect">
            <a:avLst/>
          </a:prstGeom>
        </p:spPr>
      </p:pic>
      <p:sp>
        <p:nvSpPr>
          <p:cNvPr id="2" name="文本框 1">
            <a:extLst>
              <a:ext uri="{FF2B5EF4-FFF2-40B4-BE49-F238E27FC236}">
                <a16:creationId xmlns:a16="http://schemas.microsoft.com/office/drawing/2014/main" id="{A43202CE-89B1-8418-AB00-D4E182278D07}"/>
              </a:ext>
            </a:extLst>
          </p:cNvPr>
          <p:cNvSpPr txBox="1"/>
          <p:nvPr/>
        </p:nvSpPr>
        <p:spPr>
          <a:xfrm>
            <a:off x="847132" y="2149412"/>
            <a:ext cx="5611267" cy="2031325"/>
          </a:xfrm>
          <a:prstGeom prst="rect">
            <a:avLst/>
          </a:prstGeom>
          <a:noFill/>
        </p:spPr>
        <p:txBody>
          <a:bodyPr wrap="square" rtlCol="0">
            <a:spAutoFit/>
          </a:bodyPr>
          <a:lstStyle/>
          <a:p>
            <a:r>
              <a:rPr lang="zh-CN" altLang="en-US" dirty="0"/>
              <a:t>问题：仅以裁剪块作为输入会丢失全局上下文信息</a:t>
            </a:r>
            <a:endParaRPr lang="en-US" altLang="zh-CN" dirty="0"/>
          </a:p>
          <a:p>
            <a:endParaRPr lang="en-US" altLang="zh-CN" dirty="0"/>
          </a:p>
          <a:p>
            <a:endParaRPr lang="en-US" altLang="zh-CN" dirty="0"/>
          </a:p>
          <a:p>
            <a:r>
              <a:rPr lang="zh-CN" altLang="en-US" dirty="0"/>
              <a:t>因此本模块通过两步实现全局信息补充：首先引入完整的全图，为裁剪块提供缺失的全局信息；然后又对全图添加相对位置编码，明确裁剪块在全图中的空间位置。</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199555"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5" name="文本框 4"/>
          <p:cNvSpPr txBox="1"/>
          <p:nvPr/>
        </p:nvSpPr>
        <p:spPr>
          <a:xfrm>
            <a:off x="594360" y="777240"/>
            <a:ext cx="10822940" cy="1383030"/>
          </a:xfrm>
          <a:prstGeom prst="rect">
            <a:avLst/>
          </a:prstGeom>
          <a:noFill/>
        </p:spPr>
        <p:txBody>
          <a:bodyPr wrap="square" rtlCol="0">
            <a:noAutofit/>
          </a:bodyPr>
          <a:lstStyle/>
          <a:p>
            <a:pPr indent="0" fontAlgn="auto">
              <a:lnSpc>
                <a:spcPct val="150000"/>
              </a:lnSpc>
            </a:pPr>
            <a:r>
              <a:rPr lang="zh-CN" sz="2000" b="1" dirty="0"/>
              <a:t>模块</a:t>
            </a:r>
            <a:r>
              <a:rPr lang="en-US" altLang="zh-CN" sz="2000" b="1" dirty="0"/>
              <a:t>2</a:t>
            </a:r>
            <a:r>
              <a:rPr lang="zh-CN" altLang="en-US" sz="2000" b="1" dirty="0"/>
              <a:t>：可学习的排序过程</a:t>
            </a:r>
            <a:endParaRPr lang="zh-CN" sz="2000" b="1" dirty="0"/>
          </a:p>
          <a:p>
            <a:pPr indent="0" fontAlgn="auto">
              <a:lnSpc>
                <a:spcPct val="150000"/>
              </a:lnSpc>
            </a:pPr>
            <a:endParaRPr lang="en-US"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dirty="0">
                <a:latin typeface="宋体" panose="02010600030101010101" pitchFamily="2" charset="-122"/>
                <a:ea typeface="宋体" panose="02010600030101010101" pitchFamily="2" charset="-122"/>
                <a:cs typeface="宋体" panose="02010600030101010101" pitchFamily="2" charset="-122"/>
              </a:rPr>
              <a:t>      </a:t>
            </a:r>
            <a:endParaRPr dirty="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a:extLst>
              <a:ext uri="{FF2B5EF4-FFF2-40B4-BE49-F238E27FC236}">
                <a16:creationId xmlns:a16="http://schemas.microsoft.com/office/drawing/2014/main" id="{45CFB7C5-52D2-BBB7-95E2-C4B20FD8EEB2}"/>
              </a:ext>
            </a:extLst>
          </p:cNvPr>
          <p:cNvSpPr txBox="1"/>
          <p:nvPr/>
        </p:nvSpPr>
        <p:spPr>
          <a:xfrm>
            <a:off x="924899" y="1851102"/>
            <a:ext cx="5687774" cy="2031325"/>
          </a:xfrm>
          <a:prstGeom prst="rect">
            <a:avLst/>
          </a:prstGeom>
          <a:noFill/>
        </p:spPr>
        <p:txBody>
          <a:bodyPr wrap="square" rtlCol="0">
            <a:spAutoFit/>
          </a:bodyPr>
          <a:lstStyle/>
          <a:p>
            <a:r>
              <a:rPr lang="zh-CN" altLang="en-US" dirty="0"/>
              <a:t>        解决 </a:t>
            </a:r>
            <a:r>
              <a:rPr lang="en-US" altLang="zh-CN" dirty="0"/>
              <a:t>Mamba “</a:t>
            </a:r>
            <a:r>
              <a:rPr lang="zh-CN" altLang="en-US" dirty="0"/>
              <a:t>远距离 </a:t>
            </a:r>
            <a:r>
              <a:rPr lang="en-US" altLang="zh-CN" dirty="0"/>
              <a:t>token </a:t>
            </a:r>
            <a:r>
              <a:rPr lang="zh-CN" altLang="en-US" dirty="0"/>
              <a:t>影响弱” 的问题。传统排序是非可微的，无法端到端训练。</a:t>
            </a:r>
            <a:endParaRPr lang="en-US" altLang="zh-CN" dirty="0"/>
          </a:p>
          <a:p>
            <a:r>
              <a:rPr lang="en-US" altLang="zh-CN" dirty="0"/>
              <a:t>        </a:t>
            </a:r>
            <a:r>
              <a:rPr lang="zh-CN" altLang="en-US" dirty="0"/>
              <a:t>通过 “</a:t>
            </a:r>
            <a:r>
              <a:rPr lang="en-US" altLang="zh-CN" dirty="0" err="1"/>
              <a:t>SortNet+Gumbel-Softmax+Sinkhorn</a:t>
            </a:r>
            <a:r>
              <a:rPr lang="en-US" altLang="zh-CN" dirty="0"/>
              <a:t> </a:t>
            </a:r>
            <a:r>
              <a:rPr lang="zh-CN" altLang="en-US" dirty="0"/>
              <a:t>算子”，把排序变成了可微操作，生成能动态调整序列的排列矩阵 </a:t>
            </a:r>
            <a:r>
              <a:rPr lang="en-US" altLang="zh-CN" dirty="0"/>
              <a:t>P</a:t>
            </a:r>
            <a:r>
              <a:rPr lang="zh-CN" altLang="en-US" dirty="0"/>
              <a:t>。</a:t>
            </a:r>
            <a:endParaRPr lang="en-US" altLang="zh-CN" dirty="0"/>
          </a:p>
          <a:p>
            <a:r>
              <a:rPr lang="en-US" altLang="zh-CN" dirty="0"/>
              <a:t>        </a:t>
            </a:r>
            <a:r>
              <a:rPr lang="zh-CN" altLang="en-US" dirty="0"/>
              <a:t>多模态融合部分，通过引入多模态代码</a:t>
            </a:r>
            <a:r>
              <a:rPr lang="en-US" altLang="zh-CN" dirty="0"/>
              <a:t>h</a:t>
            </a:r>
            <a:r>
              <a:rPr lang="zh-CN" altLang="en-US" dirty="0"/>
              <a:t>，动态融合各模态的置换矩阵</a:t>
            </a:r>
            <a:r>
              <a:rPr lang="en-US" altLang="zh-CN" dirty="0"/>
              <a:t>P</a:t>
            </a:r>
            <a:r>
              <a:rPr lang="zh-CN" altLang="en-US" dirty="0"/>
              <a:t>。</a:t>
            </a:r>
          </a:p>
        </p:txBody>
      </p:sp>
      <p:pic>
        <p:nvPicPr>
          <p:cNvPr id="4" name="图片 3">
            <a:extLst>
              <a:ext uri="{FF2B5EF4-FFF2-40B4-BE49-F238E27FC236}">
                <a16:creationId xmlns:a16="http://schemas.microsoft.com/office/drawing/2014/main" id="{3E4DA77C-AEFD-8ADB-10BE-B05EF1B831A7}"/>
              </a:ext>
            </a:extLst>
          </p:cNvPr>
          <p:cNvPicPr>
            <a:picLocks noChangeAspect="1"/>
          </p:cNvPicPr>
          <p:nvPr/>
        </p:nvPicPr>
        <p:blipFill>
          <a:blip r:embed="rId4"/>
          <a:stretch>
            <a:fillRect/>
          </a:stretch>
        </p:blipFill>
        <p:spPr>
          <a:xfrm>
            <a:off x="6558617" y="1727347"/>
            <a:ext cx="5158349" cy="3789991"/>
          </a:xfrm>
          <a:prstGeom prst="rect">
            <a:avLst/>
          </a:prstGeom>
        </p:spPr>
      </p:pic>
      <p:pic>
        <p:nvPicPr>
          <p:cNvPr id="7" name="图片 6">
            <a:extLst>
              <a:ext uri="{FF2B5EF4-FFF2-40B4-BE49-F238E27FC236}">
                <a16:creationId xmlns:a16="http://schemas.microsoft.com/office/drawing/2014/main" id="{5985CFEA-0B94-A7B4-5100-DD8A529CC2EC}"/>
              </a:ext>
            </a:extLst>
          </p:cNvPr>
          <p:cNvPicPr>
            <a:picLocks noChangeAspect="1"/>
          </p:cNvPicPr>
          <p:nvPr/>
        </p:nvPicPr>
        <p:blipFill>
          <a:blip r:embed="rId5"/>
          <a:stretch>
            <a:fillRect/>
          </a:stretch>
        </p:blipFill>
        <p:spPr>
          <a:xfrm>
            <a:off x="924899" y="4314829"/>
            <a:ext cx="5286330" cy="176997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BF13836C-DA73-5DE0-2B13-2F4E0DFAC6DC}"/>
            </a:ext>
          </a:extLst>
        </p:cNvPr>
        <p:cNvGrpSpPr/>
        <p:nvPr/>
      </p:nvGrpSpPr>
      <p:grpSpPr>
        <a:xfrm>
          <a:off x="0" y="0"/>
          <a:ext cx="0" cy="0"/>
          <a:chOff x="0" y="0"/>
          <a:chExt cx="0" cy="0"/>
        </a:xfrm>
      </p:grpSpPr>
      <p:sp>
        <p:nvSpPr>
          <p:cNvPr id="37" name="文本框 36">
            <a:extLst>
              <a:ext uri="{FF2B5EF4-FFF2-40B4-BE49-F238E27FC236}">
                <a16:creationId xmlns:a16="http://schemas.microsoft.com/office/drawing/2014/main" id="{45239545-7E20-741E-3DDB-9D66CA856351}"/>
              </a:ext>
            </a:extLst>
          </p:cNvPr>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a:extLst>
              <a:ext uri="{FF2B5EF4-FFF2-40B4-BE49-F238E27FC236}">
                <a16:creationId xmlns:a16="http://schemas.microsoft.com/office/drawing/2014/main" id="{2F2BC807-95EB-CF91-B5A7-A4F7C67FD1A4}"/>
              </a:ext>
            </a:extLst>
          </p:cNvPr>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a:extLst>
              <a:ext uri="{FF2B5EF4-FFF2-40B4-BE49-F238E27FC236}">
                <a16:creationId xmlns:a16="http://schemas.microsoft.com/office/drawing/2014/main" id="{B920164F-CC6B-954F-8556-0BFC2071660D}"/>
              </a:ext>
            </a:extLst>
          </p:cNvPr>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a:extLst>
              <a:ext uri="{FF2B5EF4-FFF2-40B4-BE49-F238E27FC236}">
                <a16:creationId xmlns:a16="http://schemas.microsoft.com/office/drawing/2014/main" id="{D3420A09-2AD6-2F59-2F8A-7E2C2E2CEB6F}"/>
              </a:ext>
            </a:extLst>
          </p:cNvPr>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a:extLst>
              <a:ext uri="{FF2B5EF4-FFF2-40B4-BE49-F238E27FC236}">
                <a16:creationId xmlns:a16="http://schemas.microsoft.com/office/drawing/2014/main" id="{3C3A7D13-707E-8448-9CDE-E7E3F7836BC8}"/>
              </a:ext>
            </a:extLst>
          </p:cNvPr>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a:extLst>
              <a:ext uri="{FF2B5EF4-FFF2-40B4-BE49-F238E27FC236}">
                <a16:creationId xmlns:a16="http://schemas.microsoft.com/office/drawing/2014/main" id="{E5F64FD4-97AF-E382-3289-F200133C96BD}"/>
              </a:ext>
            </a:extLst>
          </p:cNvPr>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a:extLst>
              <a:ext uri="{FF2B5EF4-FFF2-40B4-BE49-F238E27FC236}">
                <a16:creationId xmlns:a16="http://schemas.microsoft.com/office/drawing/2014/main" id="{2C7E00E7-3414-1374-2E10-91290C490D74}"/>
              </a:ext>
            </a:extLst>
          </p:cNvPr>
          <p:cNvGrpSpPr/>
          <p:nvPr/>
        </p:nvGrpSpPr>
        <p:grpSpPr>
          <a:xfrm>
            <a:off x="199555" y="159728"/>
            <a:ext cx="725344" cy="619478"/>
            <a:chOff x="178632" y="159728"/>
            <a:chExt cx="725344" cy="619478"/>
          </a:xfrm>
        </p:grpSpPr>
        <p:sp>
          <p:nvSpPr>
            <p:cNvPr id="71" name="椭圆 70">
              <a:extLst>
                <a:ext uri="{FF2B5EF4-FFF2-40B4-BE49-F238E27FC236}">
                  <a16:creationId xmlns:a16="http://schemas.microsoft.com/office/drawing/2014/main" id="{967BCAD2-7638-221F-BC5F-700D77E0BDD5}"/>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BA900269-3CB9-88D3-301B-BB948C40DE0D}"/>
                </a:ext>
              </a:extLst>
            </p:cNvPr>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a:extLst>
                <a:ext uri="{FF2B5EF4-FFF2-40B4-BE49-F238E27FC236}">
                  <a16:creationId xmlns:a16="http://schemas.microsoft.com/office/drawing/2014/main" id="{05FA1A32-2A1D-7244-B6CE-7A62289D3083}"/>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a:extLst>
              <a:ext uri="{FF2B5EF4-FFF2-40B4-BE49-F238E27FC236}">
                <a16:creationId xmlns:a16="http://schemas.microsoft.com/office/drawing/2014/main" id="{E3EF3A36-6272-9575-A6F1-6B950DDB22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a:extLst>
              <a:ext uri="{FF2B5EF4-FFF2-40B4-BE49-F238E27FC236}">
                <a16:creationId xmlns:a16="http://schemas.microsoft.com/office/drawing/2014/main" id="{974C8A42-237D-C634-8367-2EE49565BED4}"/>
              </a:ext>
            </a:extLst>
          </p:cNvPr>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5" name="文本框 4">
            <a:extLst>
              <a:ext uri="{FF2B5EF4-FFF2-40B4-BE49-F238E27FC236}">
                <a16:creationId xmlns:a16="http://schemas.microsoft.com/office/drawing/2014/main" id="{9CB1F531-EED2-933A-88E8-A91C863B5144}"/>
              </a:ext>
            </a:extLst>
          </p:cNvPr>
          <p:cNvSpPr txBox="1"/>
          <p:nvPr/>
        </p:nvSpPr>
        <p:spPr>
          <a:xfrm>
            <a:off x="594360" y="777240"/>
            <a:ext cx="10822940" cy="1383030"/>
          </a:xfrm>
          <a:prstGeom prst="rect">
            <a:avLst/>
          </a:prstGeom>
          <a:noFill/>
        </p:spPr>
        <p:txBody>
          <a:bodyPr wrap="square" rtlCol="0">
            <a:noAutofit/>
          </a:bodyPr>
          <a:lstStyle/>
          <a:p>
            <a:pPr indent="0" fontAlgn="auto">
              <a:lnSpc>
                <a:spcPct val="150000"/>
              </a:lnSpc>
            </a:pPr>
            <a:r>
              <a:rPr lang="zh-CN" sz="2000" b="1" dirty="0"/>
              <a:t>模块</a:t>
            </a:r>
            <a:r>
              <a:rPr lang="en-US" altLang="zh-CN" sz="2000" b="1" dirty="0"/>
              <a:t>2</a:t>
            </a:r>
            <a:r>
              <a:rPr lang="zh-CN" altLang="en-US" sz="2000" b="1" dirty="0"/>
              <a:t>：可学习的排序过程</a:t>
            </a:r>
            <a:endParaRPr lang="zh-CN" sz="2000" b="1" dirty="0"/>
          </a:p>
          <a:p>
            <a:pPr indent="0" fontAlgn="auto">
              <a:lnSpc>
                <a:spcPct val="150000"/>
              </a:lnSpc>
            </a:pPr>
            <a:endParaRPr lang="en-US"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dirty="0">
                <a:latin typeface="宋体" panose="02010600030101010101" pitchFamily="2" charset="-122"/>
                <a:ea typeface="宋体" panose="02010600030101010101" pitchFamily="2" charset="-122"/>
                <a:cs typeface="宋体" panose="02010600030101010101" pitchFamily="2" charset="-122"/>
              </a:rPr>
              <a:t>      </a:t>
            </a:r>
            <a:endParaRPr dirty="0">
              <a:latin typeface="宋体" panose="02010600030101010101" pitchFamily="2" charset="-122"/>
              <a:ea typeface="宋体" panose="02010600030101010101" pitchFamily="2" charset="-122"/>
              <a:cs typeface="宋体" panose="02010600030101010101" pitchFamily="2" charset="-122"/>
            </a:endParaRPr>
          </a:p>
        </p:txBody>
      </p:sp>
      <p:pic>
        <p:nvPicPr>
          <p:cNvPr id="6" name="图片 5">
            <a:extLst>
              <a:ext uri="{FF2B5EF4-FFF2-40B4-BE49-F238E27FC236}">
                <a16:creationId xmlns:a16="http://schemas.microsoft.com/office/drawing/2014/main" id="{45FABC53-68C5-6C64-6E58-E1CA110CC69C}"/>
              </a:ext>
            </a:extLst>
          </p:cNvPr>
          <p:cNvPicPr>
            <a:picLocks noChangeAspect="1"/>
          </p:cNvPicPr>
          <p:nvPr/>
        </p:nvPicPr>
        <p:blipFill>
          <a:blip r:embed="rId4"/>
          <a:stretch>
            <a:fillRect/>
          </a:stretch>
        </p:blipFill>
        <p:spPr>
          <a:xfrm>
            <a:off x="489600" y="2590302"/>
            <a:ext cx="10728241" cy="2391896"/>
          </a:xfrm>
          <a:prstGeom prst="rect">
            <a:avLst/>
          </a:prstGeom>
        </p:spPr>
      </p:pic>
    </p:spTree>
    <p:extLst>
      <p:ext uri="{BB962C8B-B14F-4D97-AF65-F5344CB8AC3E}">
        <p14:creationId xmlns:p14="http://schemas.microsoft.com/office/powerpoint/2010/main" val="2315633103"/>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199555"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3" name="文本框 2"/>
          <p:cNvSpPr txBox="1"/>
          <p:nvPr>
            <p:custDataLst>
              <p:tags r:id="rId1"/>
            </p:custDataLst>
          </p:nvPr>
        </p:nvSpPr>
        <p:spPr>
          <a:xfrm>
            <a:off x="594360" y="777240"/>
            <a:ext cx="10925175" cy="1384161"/>
          </a:xfrm>
          <a:prstGeom prst="rect">
            <a:avLst/>
          </a:prstGeom>
          <a:noFill/>
        </p:spPr>
        <p:txBody>
          <a:bodyPr wrap="square" rtlCol="0">
            <a:spAutoFit/>
          </a:bodyPr>
          <a:lstStyle/>
          <a:p>
            <a:pPr indent="0" fontAlgn="auto">
              <a:lnSpc>
                <a:spcPct val="150000"/>
              </a:lnSpc>
              <a:spcAft>
                <a:spcPts val="500"/>
              </a:spcAft>
            </a:pPr>
            <a:r>
              <a:rPr lang="zh-CN" sz="2000" b="1" dirty="0"/>
              <a:t>模块</a:t>
            </a:r>
            <a:r>
              <a:rPr lang="en-US" altLang="zh-CN" sz="2000" b="1" dirty="0"/>
              <a:t>3</a:t>
            </a:r>
            <a:r>
              <a:rPr lang="zh-CN" altLang="en-US" sz="2000" b="1" dirty="0"/>
              <a:t>：连续状态空间模块</a:t>
            </a:r>
            <a:endParaRPr lang="zh-CN" sz="2000" b="1" dirty="0"/>
          </a:p>
          <a:p>
            <a:pPr indent="0" fontAlgn="auto">
              <a:lnSpc>
                <a:spcPct val="150000"/>
              </a:lnSpc>
            </a:pPr>
            <a:endParaRPr dirty="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endParaRPr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594360" y="1353968"/>
            <a:ext cx="10822940" cy="956945"/>
          </a:xfrm>
          <a:prstGeom prst="rect">
            <a:avLst/>
          </a:prstGeom>
          <a:noFill/>
        </p:spPr>
        <p:txBody>
          <a:bodyPr wrap="square" rtlCol="0">
            <a:noAutofit/>
          </a:bodyPr>
          <a:lstStyle/>
          <a:p>
            <a:pPr>
              <a:lnSpc>
                <a:spcPct val="150000"/>
              </a:lnSpc>
            </a:pPr>
            <a:r>
              <a:rPr lang="zh-CN" altLang="en-US" dirty="0"/>
              <a:t>解决传统 </a:t>
            </a:r>
            <a:r>
              <a:rPr lang="en-US" altLang="zh-CN" dirty="0"/>
              <a:t>Mamba </a:t>
            </a:r>
            <a:r>
              <a:rPr lang="zh-CN" altLang="en-US" dirty="0"/>
              <a:t>并行双向建模 “信息孤立” 的问题。传统方法的前向、后向 </a:t>
            </a:r>
            <a:r>
              <a:rPr lang="en-US" altLang="zh-CN" dirty="0"/>
              <a:t>SSM </a:t>
            </a:r>
            <a:r>
              <a:rPr lang="zh-CN" altLang="en-US" dirty="0"/>
              <a:t>是并行的，两者独立处理序列，无法实现信息交互。</a:t>
            </a:r>
          </a:p>
        </p:txBody>
      </p:sp>
      <p:sp>
        <p:nvSpPr>
          <p:cNvPr id="11" name="文本框 10"/>
          <p:cNvSpPr txBox="1"/>
          <p:nvPr/>
        </p:nvSpPr>
        <p:spPr>
          <a:xfrm>
            <a:off x="6242685" y="5612765"/>
            <a:ext cx="4413885" cy="1049655"/>
          </a:xfrm>
          <a:prstGeom prst="rect">
            <a:avLst/>
          </a:prstGeom>
          <a:noFill/>
        </p:spPr>
        <p:txBody>
          <a:bodyPr wrap="square" rtlCol="0">
            <a:noAutofit/>
          </a:bodyPr>
          <a:lstStyle/>
          <a:p>
            <a:pPr>
              <a:lnSpc>
                <a:spcPct val="150000"/>
              </a:lnSpc>
            </a:pPr>
            <a:endParaRPr lang="zh-CN" dirty="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a:extLst>
              <a:ext uri="{FF2B5EF4-FFF2-40B4-BE49-F238E27FC236}">
                <a16:creationId xmlns:a16="http://schemas.microsoft.com/office/drawing/2014/main" id="{849143D7-59D5-C70E-55BC-52FBC5800EFF}"/>
              </a:ext>
            </a:extLst>
          </p:cNvPr>
          <p:cNvPicPr>
            <a:picLocks noChangeAspect="1"/>
          </p:cNvPicPr>
          <p:nvPr/>
        </p:nvPicPr>
        <p:blipFill>
          <a:blip r:embed="rId5"/>
          <a:stretch>
            <a:fillRect/>
          </a:stretch>
        </p:blipFill>
        <p:spPr>
          <a:xfrm>
            <a:off x="10474" y="2947447"/>
            <a:ext cx="11612293" cy="298601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199555"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Experiments</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pic>
        <p:nvPicPr>
          <p:cNvPr id="7" name="图片 6">
            <a:extLst>
              <a:ext uri="{FF2B5EF4-FFF2-40B4-BE49-F238E27FC236}">
                <a16:creationId xmlns:a16="http://schemas.microsoft.com/office/drawing/2014/main" id="{744A5F36-C0D3-23EC-D114-35F8917F6185}"/>
              </a:ext>
            </a:extLst>
          </p:cNvPr>
          <p:cNvPicPr>
            <a:picLocks noChangeAspect="1"/>
          </p:cNvPicPr>
          <p:nvPr/>
        </p:nvPicPr>
        <p:blipFill>
          <a:blip r:embed="rId4"/>
          <a:stretch>
            <a:fillRect/>
          </a:stretch>
        </p:blipFill>
        <p:spPr>
          <a:xfrm>
            <a:off x="1743788" y="977720"/>
            <a:ext cx="8372797" cy="5186597"/>
          </a:xfrm>
          <a:prstGeom prst="rect">
            <a:avLst/>
          </a:prstGeom>
        </p:spPr>
      </p:pic>
      <p:sp>
        <p:nvSpPr>
          <p:cNvPr id="2" name="文本框 1">
            <a:extLst>
              <a:ext uri="{FF2B5EF4-FFF2-40B4-BE49-F238E27FC236}">
                <a16:creationId xmlns:a16="http://schemas.microsoft.com/office/drawing/2014/main" id="{B03BD021-B745-BEBA-5398-DE82502701E2}"/>
              </a:ext>
            </a:extLst>
          </p:cNvPr>
          <p:cNvSpPr txBox="1"/>
          <p:nvPr/>
        </p:nvSpPr>
        <p:spPr>
          <a:xfrm>
            <a:off x="447969" y="1123233"/>
            <a:ext cx="1183209" cy="369332"/>
          </a:xfrm>
          <a:prstGeom prst="rect">
            <a:avLst/>
          </a:prstGeom>
          <a:noFill/>
        </p:spPr>
        <p:txBody>
          <a:bodyPr wrap="square" rtlCol="0">
            <a:spAutoFit/>
          </a:bodyPr>
          <a:lstStyle/>
          <a:p>
            <a:r>
              <a:rPr lang="en-US" altLang="zh-CN" dirty="0"/>
              <a:t>Dice</a:t>
            </a:r>
            <a:r>
              <a:rPr lang="zh-CN" altLang="en-US" dirty="0"/>
              <a:t>系数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199555"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Experiments</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4" name="文本框 3"/>
          <p:cNvSpPr txBox="1"/>
          <p:nvPr/>
        </p:nvSpPr>
        <p:spPr>
          <a:xfrm>
            <a:off x="660400" y="995680"/>
            <a:ext cx="4710430" cy="368300"/>
          </a:xfrm>
          <a:prstGeom prst="rect">
            <a:avLst/>
          </a:prstGeom>
          <a:noFill/>
        </p:spPr>
        <p:txBody>
          <a:bodyPr wrap="square" rtlCol="0">
            <a:spAutoFit/>
          </a:bodyPr>
          <a:lstStyle/>
          <a:p>
            <a:r>
              <a:rPr lang="zh-CN" altLang="en-US" b="1" dirty="0">
                <a:latin typeface="+mn-ea"/>
              </a:rPr>
              <a:t>分割可视化</a:t>
            </a:r>
          </a:p>
        </p:txBody>
      </p:sp>
      <p:pic>
        <p:nvPicPr>
          <p:cNvPr id="3" name="图片 2">
            <a:extLst>
              <a:ext uri="{FF2B5EF4-FFF2-40B4-BE49-F238E27FC236}">
                <a16:creationId xmlns:a16="http://schemas.microsoft.com/office/drawing/2014/main" id="{BFE73EBE-EDB9-9567-5BCB-6561D01FFACF}"/>
              </a:ext>
            </a:extLst>
          </p:cNvPr>
          <p:cNvPicPr>
            <a:picLocks noChangeAspect="1"/>
          </p:cNvPicPr>
          <p:nvPr/>
        </p:nvPicPr>
        <p:blipFill>
          <a:blip r:embed="rId4"/>
          <a:stretch>
            <a:fillRect/>
          </a:stretch>
        </p:blipFill>
        <p:spPr>
          <a:xfrm>
            <a:off x="431070" y="1363980"/>
            <a:ext cx="11100530" cy="518024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 name="文本框 36"/>
          <p:cNvSpPr txBox="1"/>
          <p:nvPr/>
        </p:nvSpPr>
        <p:spPr>
          <a:xfrm>
            <a:off x="8610404" y="6583649"/>
            <a:ext cx="3012363" cy="24622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Tsinghua University of China</a:t>
            </a:r>
            <a:endParaRPr kumimoji="0" lang="zh-CN" altLang="en-US" sz="1000" b="0"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sp>
        <p:nvSpPr>
          <p:cNvPr id="64" name="矩形 63"/>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6" name="文本框 65"/>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69" name="直接连接符 68"/>
          <p:cNvCxnSpPr/>
          <p:nvPr/>
        </p:nvCxnSpPr>
        <p:spPr>
          <a:xfrm>
            <a:off x="660400" y="760413"/>
            <a:ext cx="10858500" cy="0"/>
          </a:xfrm>
          <a:prstGeom prst="line">
            <a:avLst/>
          </a:prstGeom>
          <a:noFill/>
          <a:ln w="22225" cap="flat" cmpd="sng" algn="ctr">
            <a:solidFill>
              <a:srgbClr val="1C6299"/>
            </a:solidFill>
            <a:prstDash val="solid"/>
            <a:miter lim="800000"/>
          </a:ln>
          <a:effectLst/>
        </p:spPr>
      </p:cxnSp>
      <p:grpSp>
        <p:nvGrpSpPr>
          <p:cNvPr id="70" name="组合 69"/>
          <p:cNvGrpSpPr/>
          <p:nvPr/>
        </p:nvGrpSpPr>
        <p:grpSpPr>
          <a:xfrm>
            <a:off x="199555" y="159728"/>
            <a:ext cx="725344" cy="619478"/>
            <a:chOff x="178632" y="159728"/>
            <a:chExt cx="725344" cy="619478"/>
          </a:xfrm>
        </p:grpSpPr>
        <p:sp>
          <p:nvSpPr>
            <p:cNvPr id="71" name="椭圆 70"/>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3" name="椭圆 72"/>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75" name="标题占位符 1"/>
          <p:cNvSpPr txBox="1"/>
          <p:nvPr/>
        </p:nvSpPr>
        <p:spPr>
          <a:xfrm>
            <a:off x="965199" y="-100014"/>
            <a:ext cx="8759713"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Experiments</a:t>
            </a:r>
            <a:endParaRPr lang="zh-CN" altLang="en-US" sz="2600" b="1" dirty="0">
              <a:solidFill>
                <a:sysClr val="windowText" lastClr="000000"/>
              </a:solidFill>
              <a:latin typeface="Arial" panose="020B0604020202020204"/>
              <a:ea typeface="微软雅黑" panose="020B0503020204020204" pitchFamily="34" charset="-122"/>
              <a:cs typeface="+mn-cs"/>
            </a:endParaRPr>
          </a:p>
        </p:txBody>
      </p:sp>
      <p:sp>
        <p:nvSpPr>
          <p:cNvPr id="4" name="文本框 3"/>
          <p:cNvSpPr txBox="1"/>
          <p:nvPr/>
        </p:nvSpPr>
        <p:spPr>
          <a:xfrm>
            <a:off x="660400" y="995680"/>
            <a:ext cx="8659495" cy="368300"/>
          </a:xfrm>
          <a:prstGeom prst="rect">
            <a:avLst/>
          </a:prstGeom>
          <a:noFill/>
        </p:spPr>
        <p:txBody>
          <a:bodyPr wrap="square" rtlCol="0">
            <a:spAutoFit/>
          </a:bodyPr>
          <a:lstStyle/>
          <a:p>
            <a:r>
              <a:rPr lang="zh-CN" altLang="en-US" b="1" dirty="0">
                <a:latin typeface="+mn-ea"/>
              </a:rPr>
              <a:t>消融实验</a:t>
            </a:r>
            <a:r>
              <a:rPr lang="zh-CN" b="1" dirty="0">
                <a:latin typeface="+mn-ea"/>
              </a:rPr>
              <a:t>：</a:t>
            </a:r>
          </a:p>
        </p:txBody>
      </p:sp>
      <p:pic>
        <p:nvPicPr>
          <p:cNvPr id="5" name="图片 4">
            <a:extLst>
              <a:ext uri="{FF2B5EF4-FFF2-40B4-BE49-F238E27FC236}">
                <a16:creationId xmlns:a16="http://schemas.microsoft.com/office/drawing/2014/main" id="{FAA89918-7403-9535-E286-6D7FB3DFB0F6}"/>
              </a:ext>
            </a:extLst>
          </p:cNvPr>
          <p:cNvPicPr>
            <a:picLocks noChangeAspect="1"/>
          </p:cNvPicPr>
          <p:nvPr/>
        </p:nvPicPr>
        <p:blipFill>
          <a:blip r:embed="rId4"/>
          <a:stretch>
            <a:fillRect/>
          </a:stretch>
        </p:blipFill>
        <p:spPr>
          <a:xfrm>
            <a:off x="1994412" y="3673793"/>
            <a:ext cx="8190476" cy="1619048"/>
          </a:xfrm>
          <a:prstGeom prst="rect">
            <a:avLst/>
          </a:prstGeom>
        </p:spPr>
      </p:pic>
      <p:pic>
        <p:nvPicPr>
          <p:cNvPr id="7" name="图片 6">
            <a:extLst>
              <a:ext uri="{FF2B5EF4-FFF2-40B4-BE49-F238E27FC236}">
                <a16:creationId xmlns:a16="http://schemas.microsoft.com/office/drawing/2014/main" id="{90CD0931-9007-07B1-AFCD-476AAF82DC3C}"/>
              </a:ext>
            </a:extLst>
          </p:cNvPr>
          <p:cNvPicPr>
            <a:picLocks noChangeAspect="1"/>
          </p:cNvPicPr>
          <p:nvPr/>
        </p:nvPicPr>
        <p:blipFill>
          <a:blip r:embed="rId5"/>
          <a:stretch>
            <a:fillRect/>
          </a:stretch>
        </p:blipFill>
        <p:spPr>
          <a:xfrm>
            <a:off x="1997537" y="2032855"/>
            <a:ext cx="8047619" cy="134285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4" y="1951493"/>
            <a:ext cx="12220271" cy="1838567"/>
          </a:xfrm>
          <a:prstGeom prst="rect">
            <a:avLst/>
          </a:prstGeom>
          <a:solidFill>
            <a:srgbClr val="1C62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sp>
        <p:nvSpPr>
          <p:cNvPr id="7" name="文本框 6"/>
          <p:cNvSpPr txBox="1"/>
          <p:nvPr/>
        </p:nvSpPr>
        <p:spPr>
          <a:xfrm>
            <a:off x="5644784" y="2252225"/>
            <a:ext cx="2675732" cy="923330"/>
          </a:xfrm>
          <a:prstGeom prst="rect">
            <a:avLst/>
          </a:prstGeom>
          <a:noFill/>
        </p:spPr>
        <p:txBody>
          <a:bodyPr wrap="none" rtlCol="0">
            <a:spAutoFit/>
          </a:bodyPr>
          <a:lstStyle/>
          <a:p>
            <a:pPr defTabSz="913765">
              <a:defRPr/>
            </a:pPr>
            <a:r>
              <a:rPr lang="zh-CN" altLang="en-US" sz="5400" b="1" dirty="0">
                <a:solidFill>
                  <a:prstClr val="white"/>
                </a:solidFill>
                <a:latin typeface="微软雅黑" panose="020B0503020204020204" pitchFamily="34" charset="-122"/>
                <a:ea typeface="微软雅黑" panose="020B0503020204020204" pitchFamily="34" charset="-122"/>
              </a:rPr>
              <a:t>谢 谢 ！</a:t>
            </a:r>
          </a:p>
        </p:txBody>
      </p:sp>
      <p:sp>
        <p:nvSpPr>
          <p:cNvPr id="12" name="椭圆 11"/>
          <p:cNvSpPr/>
          <p:nvPr/>
        </p:nvSpPr>
        <p:spPr>
          <a:xfrm>
            <a:off x="1524353" y="1558640"/>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6181" y="1418982"/>
            <a:ext cx="3140616" cy="2903588"/>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751" y="212782"/>
            <a:ext cx="1966449" cy="575997"/>
          </a:xfrm>
          <a:prstGeom prst="rect">
            <a:avLst/>
          </a:prstGeom>
        </p:spPr>
      </p:pic>
      <p:sp>
        <p:nvSpPr>
          <p:cNvPr id="19" name="矩形 18"/>
          <p:cNvSpPr/>
          <p:nvPr/>
        </p:nvSpPr>
        <p:spPr>
          <a:xfrm>
            <a:off x="5701249" y="3291452"/>
            <a:ext cx="6498497" cy="276956"/>
          </a:xfrm>
          <a:prstGeom prst="rect">
            <a:avLst/>
          </a:prstGeom>
        </p:spPr>
        <p:txBody>
          <a:bodyPr wrap="square" lIns="91397" tIns="45699" rIns="91397" bIns="45699">
            <a:spAutoFit/>
          </a:bodyPr>
          <a:lstStyle/>
          <a:p>
            <a:pPr defTabSz="913765">
              <a:defRPr/>
            </a:pPr>
            <a:r>
              <a:rPr lang="en-US" altLang="zh-CN" sz="1200" b="1" dirty="0">
                <a:solidFill>
                  <a:prstClr val="white"/>
                </a:solidFill>
                <a:latin typeface="微软雅黑" panose="020B0503020204020204" pitchFamily="34" charset="-122"/>
                <a:ea typeface="微软雅黑" panose="020B0503020204020204" pitchFamily="34" charset="-122"/>
              </a:rPr>
              <a:t>THANKS FOR ALL</a:t>
            </a:r>
          </a:p>
        </p:txBody>
      </p:sp>
    </p:spTree>
  </p:cSld>
  <p:clrMapOvr>
    <a:masterClrMapping/>
  </p:clrMapOvr>
  <mc:AlternateContent xmlns:mc="http://schemas.openxmlformats.org/markup-compatibility/2006" xmlns:p14="http://schemas.microsoft.com/office/powerpoint/2010/main">
    <mc:Choice Requires="p14">
      <p:transition p14:dur="0" advClick="0" advTm="1000"/>
    </mc:Choice>
    <mc:Fallback xmlns="">
      <p:transition advClick="0" advTm="1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llYjZlY2E1NzI0NjExNzdhYjQ3NjY1NjVhMmIwOD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自定义 100">
      <a:dk1>
        <a:sysClr val="windowText" lastClr="000000"/>
      </a:dk1>
      <a:lt1>
        <a:sysClr val="window" lastClr="FFFFFF"/>
      </a:lt1>
      <a:dk2>
        <a:srgbClr val="44546A"/>
      </a:dk2>
      <a:lt2>
        <a:srgbClr val="E7E6E6"/>
      </a:lt2>
      <a:accent1>
        <a:srgbClr val="591B89"/>
      </a:accent1>
      <a:accent2>
        <a:srgbClr val="EEB51A"/>
      </a:accent2>
      <a:accent3>
        <a:srgbClr val="591B89"/>
      </a:accent3>
      <a:accent4>
        <a:srgbClr val="EEB51A"/>
      </a:accent4>
      <a:accent5>
        <a:srgbClr val="591B89"/>
      </a:accent5>
      <a:accent6>
        <a:srgbClr val="EEB51A"/>
      </a:accent6>
      <a:hlink>
        <a:srgbClr val="591B89"/>
      </a:hlink>
      <a:folHlink>
        <a:srgbClr val="EEB51A"/>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4100</TotalTime>
  <Words>1772</Words>
  <Application>Microsoft Office PowerPoint</Application>
  <PresentationFormat>宽屏</PresentationFormat>
  <Paragraphs>133</Paragraphs>
  <Slides>13</Slides>
  <Notes>13</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13</vt:i4>
      </vt:variant>
    </vt:vector>
  </HeadingPairs>
  <TitlesOfParts>
    <vt:vector size="23" baseType="lpstr">
      <vt:lpstr>等线</vt:lpstr>
      <vt:lpstr>宋体</vt:lpstr>
      <vt:lpstr>微软雅黑</vt:lpstr>
      <vt:lpstr>Arial</vt:lpstr>
      <vt:lpstr>Calibri</vt:lpstr>
      <vt:lpstr>Calibri Light</vt:lpstr>
      <vt:lpstr>Times New Roman</vt:lpstr>
      <vt:lpstr>1_Office 主题​​</vt:lpstr>
      <vt:lpstr>2_Office 主题​​</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紫色沉稳简约毕业答辩毕业论文答辩PPT</dc:title>
  <dc:creator>秦佳瑶</dc:creator>
  <cp:lastModifiedBy>维贵 赵</cp:lastModifiedBy>
  <cp:revision>1174</cp:revision>
  <dcterms:created xsi:type="dcterms:W3CDTF">2019-03-09T08:01:00Z</dcterms:created>
  <dcterms:modified xsi:type="dcterms:W3CDTF">2025-11-22T08:18:17Z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2052-12.1.0.15374</vt:lpwstr>
  </property>
  <property fmtid="{D5CDD505-2E9C-101B-9397-08002B2CF9AE}" pid="3" name="ICV">
    <vt:lpwstr>0C95BC188EFC487BA7C01F2F718226AD_13</vt:lpwstr>
  </property>
</Properties>
</file>