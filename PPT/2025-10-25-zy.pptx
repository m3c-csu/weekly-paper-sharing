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59" r:id="rId5"/>
    <p:sldId id="329" r:id="rId6"/>
    <p:sldId id="373" r:id="rId7"/>
    <p:sldId id="309" r:id="rId8"/>
    <p:sldId id="424" r:id="rId9"/>
    <p:sldId id="425" r:id="rId10"/>
    <p:sldId id="426" r:id="rId11"/>
    <p:sldId id="358" r:id="rId12"/>
    <p:sldId id="443" r:id="rId13"/>
    <p:sldId id="446" r:id="rId14"/>
    <p:sldId id="449" r:id="rId15"/>
    <p:sldId id="445" r:id="rId16"/>
    <p:sldId id="411" r:id="rId17"/>
    <p:sldId id="448" r:id="rId18"/>
    <p:sldId id="413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6" userDrawn="1">
          <p15:clr>
            <a:srgbClr val="A4A3A4"/>
          </p15:clr>
        </p15:guide>
        <p15:guide id="2" pos="38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74A7"/>
    <a:srgbClr val="1F4E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86" autoAdjust="0"/>
    <p:restoredTop sz="95387" autoAdjust="0"/>
  </p:normalViewPr>
  <p:slideViewPr>
    <p:cSldViewPr snapToGrid="0" showGuides="1">
      <p:cViewPr varScale="1">
        <p:scale>
          <a:sx n="84" d="100"/>
          <a:sy n="84" d="100"/>
        </p:scale>
        <p:origin x="285" y="42"/>
      </p:cViewPr>
      <p:guideLst>
        <p:guide orient="horz" pos="2146"/>
        <p:guide pos="38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7" d="100"/>
          <a:sy n="67" d="100"/>
        </p:scale>
        <p:origin x="2829" y="2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301BD9-4243-4367-977C-650CCA5948F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5E627-AC3B-4BB5-A330-7F7F083169B2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7F0A5-1087-41D0-863F-D517773395D3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fld id="{18C8E5C5-05D3-4171-9F3F-370131363719}" type="slidenum">
              <a:rPr lang="zh-CN" altLang="en-US" smtClean="0"/>
            </a:fld>
            <a:r>
              <a:rPr lang="zh-CN" altLang="en-US" dirty="0"/>
              <a:t>页，共</a:t>
            </a:r>
            <a:r>
              <a:rPr lang="en-US" altLang="zh-CN" dirty="0"/>
              <a:t>15</a:t>
            </a:r>
            <a:r>
              <a:rPr lang="zh-CN" altLang="en-US" dirty="0"/>
              <a:t>页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2F8BE-5063-4F34-92EA-B3FA843CFEA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r>
              <a:rPr lang="en-US" altLang="zh-CN" dirty="0"/>
              <a:t>/18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02B46-BFB9-4CEF-93EC-34E5AD6D0033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5AA0C-B1BD-4BCF-A3B8-708428A52EE6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E93D6-D454-43F6-A870-BD41E383CC80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68832-DD79-4DDD-BB66-19DFD0E3EA84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09E26-EE57-44FC-858A-1B70E6729020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1F654-30F8-442A-AC99-FC9623976293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4CBED-1363-4FDB-B4C8-A06ACFE08A33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65E6C-173D-433B-A34A-167DC24B4260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1A9766-F52F-4A3F-8A78-9B1927FC31F0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dirty="0"/>
              <a:t>第</a:t>
            </a:r>
            <a:fld id="{18C8E5C5-05D3-4171-9F3F-370131363719}" type="slidenum">
              <a:rPr lang="zh-CN" altLang="en-US" smtClean="0"/>
            </a:fld>
            <a:r>
              <a:rPr lang="zh-CN" altLang="en-US" dirty="0"/>
              <a:t>页，共</a:t>
            </a:r>
            <a:r>
              <a:rPr lang="en-US" altLang="zh-CN" dirty="0"/>
              <a:t>18</a:t>
            </a:r>
            <a:r>
              <a:rPr lang="zh-CN" altLang="en-US" dirty="0"/>
              <a:t>页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hyperlink" Target="https://www.mdpi.com/2072-666X/14/11/2113" TargetMode="Externa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2.png"/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2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311085" cy="6857999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1880915" y="0"/>
            <a:ext cx="311085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" name="直接连接符 19"/>
          <p:cNvCxnSpPr/>
          <p:nvPr/>
        </p:nvCxnSpPr>
        <p:spPr>
          <a:xfrm>
            <a:off x="2662096" y="3455347"/>
            <a:ext cx="741103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2765140" y="5079845"/>
            <a:ext cx="741103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椭圆 24"/>
          <p:cNvSpPr/>
          <p:nvPr/>
        </p:nvSpPr>
        <p:spPr>
          <a:xfrm>
            <a:off x="5095186" y="649462"/>
            <a:ext cx="2123437" cy="2123436"/>
          </a:xfrm>
          <a:prstGeom prst="ellipse">
            <a:avLst/>
          </a:prstGeom>
          <a:gradFill flip="none" rotWithShape="1">
            <a:gsLst>
              <a:gs pos="0">
                <a:srgbClr val="BFBFBF"/>
              </a:gs>
              <a:gs pos="52000">
                <a:srgbClr val="FFFFFF"/>
              </a:gs>
              <a:gs pos="100000">
                <a:srgbClr val="0070C0">
                  <a:tint val="0"/>
                </a:srgbClr>
              </a:gs>
            </a:gsLst>
            <a:lin ang="2700000" scaled="1"/>
            <a:tileRect/>
          </a:gradFill>
          <a:ln w="73025" cap="flat" cmpd="sng" algn="ctr">
            <a:solidFill>
              <a:srgbClr val="F2F2F2"/>
            </a:solidFill>
            <a:prstDash val="solid"/>
          </a:ln>
          <a:effectLst>
            <a:outerShdw blurRad="190500" dist="254000" dir="2699985" rotWithShape="0">
              <a:scrgbClr r="0" g="0" b="0">
                <a:alpha val="23000"/>
              </a:scrgbClr>
            </a:outerShdw>
          </a:effectLst>
        </p:spPr>
        <p:txBody>
          <a:bodyPr rtlCol="0" anchor="ctr"/>
          <a:lstStyle/>
          <a:p>
            <a:pPr algn="ctr" defTabSz="1088390">
              <a:defRPr/>
            </a:pPr>
            <a:endParaRPr lang="zh-CN" altLang="en-US" sz="3200" kern="0">
              <a:solidFill>
                <a:srgbClr val="000000"/>
              </a:solidFill>
              <a:latin typeface="Impact" panose="020B0806030902050204"/>
              <a:ea typeface="方正姚体" panose="02010601030101010101" charset="-122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2056" y="746331"/>
            <a:ext cx="2005547" cy="2005547"/>
          </a:xfrm>
          <a:prstGeom prst="rect">
            <a:avLst/>
          </a:prstGeom>
        </p:spPr>
      </p:pic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fld id="{18C8E5C5-05D3-4171-9F3F-370131363719}" type="slidenum">
              <a:rPr lang="zh-CN" altLang="en-US" smtClean="0"/>
            </a:fld>
            <a:r>
              <a:rPr lang="zh-CN" altLang="en-US" dirty="0"/>
              <a:t>页，共</a:t>
            </a:r>
            <a:r>
              <a:rPr lang="en-US" altLang="zh-CN" dirty="0"/>
              <a:t>15</a:t>
            </a:r>
            <a:r>
              <a:rPr lang="zh-CN" altLang="en-US" dirty="0"/>
              <a:t>页</a:t>
            </a:r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1107440" y="2889885"/>
            <a:ext cx="10349230" cy="207962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r>
              <a:rPr lang="en-US" altLang="zh-CN" sz="4800"/>
              <a:t> </a:t>
            </a:r>
            <a:r>
              <a:rPr lang="en-US" altLang="zh-CN" sz="4400"/>
              <a:t>BIMII-Net: </a:t>
            </a:r>
            <a:r>
              <a:rPr lang="en-US" altLang="zh-CN" sz="4400">
                <a:highlight>
                  <a:srgbClr val="FFFF00"/>
                </a:highlight>
              </a:rPr>
              <a:t>Brain-Inspired</a:t>
            </a:r>
            <a:r>
              <a:rPr lang="en-US" altLang="zh-CN" sz="4400"/>
              <a:t> </a:t>
            </a:r>
            <a:r>
              <a:rPr lang="en-US" altLang="zh-CN" sz="4400">
                <a:highlight>
                  <a:srgbClr val="FFFF00"/>
                </a:highlight>
              </a:rPr>
              <a:t>Multi-Iterative Interactive</a:t>
            </a:r>
            <a:r>
              <a:rPr lang="en-US" altLang="zh-CN" sz="4400"/>
              <a:t> Network for RGB-T Road Scene Semantic Segmentation</a:t>
            </a:r>
            <a:endParaRPr lang="en-US" altLang="zh-CN" sz="4800"/>
          </a:p>
          <a:p>
            <a:endParaRPr lang="en-US" altLang="zh-CN"/>
          </a:p>
          <a:p>
            <a:r>
              <a:rPr lang="en-US" altLang="zh-CN"/>
              <a:t> </a:t>
            </a:r>
            <a:endParaRPr lang="en-US" altLang="zh-CN"/>
          </a:p>
          <a:p>
            <a:r>
              <a:rPr lang="en-US" altLang="zh-CN"/>
              <a:t>                                         Hanshuo Qiu, Jie Jiang, Ruoli Yang∗, Lixin Zhan, and Jizhao Liu</a:t>
            </a:r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1932495" y="806587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2168165" y="264321"/>
            <a:ext cx="27809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作者</a:t>
            </a:r>
            <a:endParaRPr lang="zh-CN" altLang="en-US" sz="28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44" y="0"/>
            <a:ext cx="1789251" cy="1051863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0675" y="71847"/>
            <a:ext cx="2336220" cy="673654"/>
          </a:xfrm>
          <a:prstGeom prst="rect">
            <a:avLst/>
          </a:prstGeom>
        </p:spPr>
      </p:pic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fld id="{18C8E5C5-05D3-4171-9F3F-370131363719}" type="slidenum">
              <a:rPr lang="zh-CN" altLang="en-US" smtClean="0"/>
            </a:fld>
            <a:r>
              <a:rPr lang="zh-CN" altLang="en-US" dirty="0"/>
              <a:t>页，共</a:t>
            </a:r>
            <a:r>
              <a:rPr lang="en-US" altLang="zh-CN" dirty="0"/>
              <a:t>15</a:t>
            </a:r>
            <a:r>
              <a:rPr lang="zh-CN" altLang="en-US" dirty="0"/>
              <a:t>页</a:t>
            </a:r>
            <a:endParaRPr lang="zh-CN" altLang="en-US" dirty="0"/>
          </a:p>
        </p:txBody>
      </p:sp>
      <p:graphicFrame>
        <p:nvGraphicFramePr>
          <p:cNvPr id="8" name="表格 7"/>
          <p:cNvGraphicFramePr/>
          <p:nvPr/>
        </p:nvGraphicFramePr>
        <p:xfrm>
          <a:off x="5090795" y="937895"/>
          <a:ext cx="7011352" cy="5783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6235"/>
                <a:gridCol w="1070610"/>
                <a:gridCol w="2420620"/>
                <a:gridCol w="1893887"/>
              </a:tblGrid>
              <a:tr h="64008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年份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期刊</a:t>
                      </a:r>
                      <a:r>
                        <a:rPr lang="zh-CN" altLang="en-US"/>
                        <a:t>分区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文章</a:t>
                      </a:r>
                      <a:r>
                        <a:rPr lang="zh-CN" altLang="en-US"/>
                        <a:t>名字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任务</a:t>
                      </a:r>
                      <a:endParaRPr lang="zh-CN" altLang="en-US"/>
                    </a:p>
                  </a:txBody>
                  <a:tcPr/>
                </a:tc>
              </a:tr>
              <a:tr h="81915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/>
                    </a:p>
                    <a:p>
                      <a:pPr algn="ctr">
                        <a:buNone/>
                      </a:pPr>
                      <a:r>
                        <a:rPr lang="en-US" altLang="zh-CN"/>
                        <a:t>2022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  <a:p>
                      <a:pPr algn="ctr">
                        <a:buNone/>
                      </a:pPr>
                      <a:r>
                        <a:rPr lang="zh-CN" altLang="en-US"/>
                        <a:t>二区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The Butterfly Effect in Primary Visual Cortex</a:t>
                      </a:r>
                      <a:endParaRPr lang="en-US" altLang="zh-CN" sz="1800"/>
                    </a:p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  <a:p>
                      <a:pPr algn="ctr">
                        <a:buNone/>
                      </a:pPr>
                      <a:r>
                        <a:rPr lang="zh-CN" altLang="en-US"/>
                        <a:t>提出</a:t>
                      </a:r>
                      <a:r>
                        <a:rPr lang="en-US" altLang="zh-CN"/>
                        <a:t>ccnn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/>
                    </a:p>
                    <a:p>
                      <a:pPr algn="ctr">
                        <a:buNone/>
                      </a:pPr>
                      <a:r>
                        <a:rPr lang="en-US" altLang="zh-CN"/>
                        <a:t>2023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/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/>
                        <a:t>三区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ClrTx/>
                        <a:buSzTx/>
                        <a:buNone/>
                      </a:pPr>
                      <a:r>
                        <a:rPr lang="en-US" altLang="zh-CN" sz="1800" b="0" i="0">
                          <a:hlinkClick r:id="rId3" tooltip="https://www.mdpi.com/2072-666X/14/11/2113"/>
                        </a:rPr>
                        <a:t>Infrared UAV target detection based on continuous-coupled neural network</a:t>
                      </a:r>
                      <a:endParaRPr lang="en-US" altLang="zh-CN" sz="1800" b="0" i="0">
                        <a:hlinkClick r:id="rId3" tooltip="https://www.mdpi.com/2072-666X/14/11/2113"/>
                      </a:endParaRPr>
                    </a:p>
                  </a:txBody>
                  <a:tcPr marL="7937" marR="7937" marT="7937" marB="0"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i="0"/>
                        <a:t>无人机目标检测</a:t>
                      </a:r>
                      <a:endParaRPr lang="zh-CN" altLang="en-US" sz="1800" b="0" i="0"/>
                    </a:p>
                  </a:txBody>
                  <a:tcPr marL="7937" marR="7937" marT="7937" marB="0" anchor="ctr" anchorCtr="0"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/>
                    </a:p>
                    <a:p>
                      <a:pPr algn="ctr">
                        <a:buNone/>
                      </a:pPr>
                      <a:r>
                        <a:rPr lang="en-US" altLang="zh-CN"/>
                        <a:t>2024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en-US" sz="1800" b="0" i="0"/>
                        <a:t>一区top</a:t>
                      </a:r>
                      <a:endParaRPr lang="zh-CN" altLang="en-US" sz="1800" b="0" i="0"/>
                    </a:p>
                  </a:txBody>
                  <a:tcPr marL="7937" marR="7937" marT="7937" marB="0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Revealing the mechanisms of semantic satiation with deep learning model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/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/>
                        <a:t>生物学—揭示语义</a:t>
                      </a:r>
                      <a:r>
                        <a:rPr lang="zh-CN" altLang="en-US"/>
                        <a:t>饱和机制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2024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i="0"/>
                        <a:t>三区</a:t>
                      </a:r>
                      <a:endParaRPr lang="zh-CN" altLang="en-US" sz="1800" b="0" i="0"/>
                    </a:p>
                  </a:txBody>
                  <a:tcPr marL="7937" marR="7937" marT="7937" marB="0"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800" b="0" i="0"/>
                        <a:t>A novel image encryption scheme based on ccnn</a:t>
                      </a:r>
                      <a:endParaRPr lang="en-US" altLang="zh-CN" sz="1800" b="0" i="0"/>
                    </a:p>
                  </a:txBody>
                  <a:tcPr marL="7937" marR="7937" marT="7937" marB="0"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i="0"/>
                        <a:t>图像加密</a:t>
                      </a:r>
                      <a:endParaRPr lang="zh-CN" altLang="en-US" sz="1800" b="0" i="0"/>
                    </a:p>
                  </a:txBody>
                  <a:tcPr marL="7937" marR="7937" marT="7937" marB="0" anchor="ctr" anchorCtr="0"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/>
                    </a:p>
                    <a:p>
                      <a:pPr algn="ctr">
                        <a:buNone/>
                      </a:pPr>
                      <a:r>
                        <a:rPr lang="en-US" altLang="zh-CN"/>
                        <a:t>2025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  <a:p>
                      <a:pPr algn="ctr">
                        <a:buNone/>
                      </a:pPr>
                      <a:r>
                        <a:rPr lang="zh-CN" altLang="en-US"/>
                        <a:t>四区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800" b="0" i="0"/>
                        <a:t>A Deep Learning Method of Credit Card Fraud Detection Based on Continuous-Coupled Neural Network</a:t>
                      </a:r>
                      <a:endParaRPr lang="en-US" altLang="zh-CN" sz="1800" b="0" i="0"/>
                    </a:p>
                  </a:txBody>
                  <a:tcPr marL="7937" marR="7937" marT="7937" marB="0"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i="0"/>
                        <a:t>信用卡欺诈检测</a:t>
                      </a:r>
                      <a:endParaRPr lang="zh-CN" altLang="en-US" sz="1800" b="0" i="0"/>
                    </a:p>
                  </a:txBody>
                  <a:tcPr marL="7937" marR="7937" marT="7937" marB="0" anchor="ctr" anchorCtr="0"/>
                </a:tc>
              </a:tr>
            </a:tbl>
          </a:graphicData>
        </a:graphic>
      </p:graphicFrame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220" y="1285875"/>
            <a:ext cx="2190750" cy="239077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175125"/>
            <a:ext cx="4924425" cy="1352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1932495" y="806587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2168165" y="264321"/>
            <a:ext cx="278090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描述</a:t>
            </a:r>
            <a:endParaRPr lang="zh-CN" altLang="en-US" sz="28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44" y="0"/>
            <a:ext cx="1789251" cy="1051863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0675" y="71847"/>
            <a:ext cx="2336220" cy="673654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42570" y="998220"/>
            <a:ext cx="10490835" cy="3969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/>
              <a:t>问题</a:t>
            </a:r>
            <a:r>
              <a:rPr lang="zh-CN" altLang="en-US" sz="2400" dirty="0"/>
              <a:t>：</a:t>
            </a:r>
            <a:endParaRPr lang="en-US" altLang="zh-CN" sz="2400" dirty="0"/>
          </a:p>
          <a:p>
            <a:endParaRPr lang="en-US" altLang="zh-CN" sz="24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sz="24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3600" dirty="0"/>
              <a:t>纹理和局部信息的特征提取和表达有限</a:t>
            </a:r>
            <a:r>
              <a:rPr lang="en-US" altLang="zh-CN" sz="3600" dirty="0"/>
              <a:t>--</a:t>
            </a:r>
            <a:r>
              <a:rPr lang="zh-CN" altLang="en-US" sz="3600" dirty="0"/>
              <a:t>引入</a:t>
            </a:r>
            <a:r>
              <a:rPr lang="en-US" altLang="zh-CN" sz="3600" dirty="0"/>
              <a:t>CCNN</a:t>
            </a:r>
            <a:r>
              <a:rPr lang="zh-CN" altLang="en-US" sz="3600" dirty="0"/>
              <a:t>网络来持续改进和纠正</a:t>
            </a:r>
            <a:r>
              <a:rPr lang="zh-CN" altLang="en-US" sz="3600" dirty="0"/>
              <a:t>特征表达</a:t>
            </a:r>
            <a:endParaRPr lang="zh-CN" altLang="en-US" sz="36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sz="36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3600" dirty="0"/>
              <a:t>多尺度特征之间的协调性欠缺</a:t>
            </a:r>
            <a:r>
              <a:rPr lang="en-US" altLang="zh-CN" sz="3600" dirty="0"/>
              <a:t>--</a:t>
            </a:r>
            <a:r>
              <a:rPr lang="zh-CN" altLang="en-US" sz="3600" dirty="0"/>
              <a:t>利用互补互交</a:t>
            </a:r>
            <a:r>
              <a:rPr lang="zh-CN" altLang="en-US" sz="3600" dirty="0"/>
              <a:t>解码器</a:t>
            </a:r>
            <a:endParaRPr lang="zh-CN" altLang="en-US" sz="3600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fld id="{18C8E5C5-05D3-4171-9F3F-370131363719}" type="slidenum">
              <a:rPr lang="zh-CN" altLang="en-US" smtClean="0"/>
            </a:fld>
            <a:r>
              <a:rPr lang="zh-CN" altLang="en-US" dirty="0"/>
              <a:t>页，共</a:t>
            </a:r>
            <a:r>
              <a:rPr lang="en-US" altLang="zh-CN" dirty="0"/>
              <a:t>15</a:t>
            </a:r>
            <a:r>
              <a:rPr lang="zh-CN" altLang="en-US" dirty="0"/>
              <a:t>页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1932495" y="806587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2168165" y="264321"/>
            <a:ext cx="278090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整体网络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</a:t>
            </a:r>
            <a:endParaRPr lang="zh-CN" altLang="en-US" sz="28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44" y="0"/>
            <a:ext cx="1789251" cy="1051863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0675" y="71847"/>
            <a:ext cx="2336220" cy="673654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7435" y="970915"/>
            <a:ext cx="7412990" cy="57531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1932495" y="806587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2167890" y="264160"/>
            <a:ext cx="48520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网络模型：可迭代的</a:t>
            </a:r>
            <a:r>
              <a:rPr lang="en-US" altLang="zh-CN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CCNN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</a:t>
            </a:r>
            <a:endParaRPr lang="zh-CN" altLang="en-US" sz="28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44" y="0"/>
            <a:ext cx="1789251" cy="1051863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0675" y="71847"/>
            <a:ext cx="2336220" cy="67365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1660" y="1270000"/>
            <a:ext cx="6203315" cy="247904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888365" y="4150360"/>
                <a:ext cx="10662920" cy="19405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2400" b="1"/>
                  <a:t>生物学</a:t>
                </a:r>
                <a:r>
                  <a:rPr lang="zh-CN" altLang="en-US" sz="2400"/>
                  <a:t>角度：</a:t>
                </a:r>
                <a:r>
                  <a:rPr lang="en-US" altLang="zh-CN" sz="2400"/>
                  <a:t>CCNN</a:t>
                </a:r>
                <a:r>
                  <a:rPr lang="zh-CN" altLang="en-US" sz="2400"/>
                  <a:t>可以模拟生物神经元的混沌动态行为</a:t>
                </a:r>
                <a:endParaRPr lang="zh-CN" altLang="en-US" sz="2400"/>
              </a:p>
              <a:p>
                <a:endParaRPr lang="zh-CN" altLang="en-US" sz="2400"/>
              </a:p>
              <a:p>
                <a:r>
                  <a:rPr lang="zh-CN" altLang="en-US" sz="2400" b="1"/>
                  <a:t>深度学习</a:t>
                </a:r>
                <a:r>
                  <a:rPr lang="zh-CN" altLang="en-US" sz="2400"/>
                  <a:t>角度：</a:t>
                </a:r>
                <a:r>
                  <a:rPr lang="en-US" altLang="zh-CN" sz="2400"/>
                  <a:t>CCNN</a:t>
                </a:r>
                <a:r>
                  <a:rPr lang="zh-CN" altLang="en-US" sz="2400"/>
                  <a:t>的动态属性增强了非线性表达能力，动态阈值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𝐸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altLang="zh-CN" sz="2400"/>
                  <a:t>(n) </a:t>
                </a:r>
                <a:r>
                  <a:rPr lang="zh-CN" altLang="en-US" sz="2400"/>
                  <a:t>使</a:t>
                </a:r>
                <a:r>
                  <a:rPr lang="en-US" altLang="zh-CN" sz="2400"/>
                  <a:t>CCNN</a:t>
                </a:r>
                <a:r>
                  <a:rPr lang="zh-CN" altLang="en-US" sz="2400"/>
                  <a:t>能够捕获特征的时序属性，并利用记忆机制提高预测精度。</a:t>
                </a:r>
                <a:endParaRPr lang="zh-CN" altLang="en-US" sz="2400"/>
              </a:p>
              <a:p>
                <a:endParaRPr lang="zh-CN" altLang="en-US" sz="2400"/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365" y="4150360"/>
                <a:ext cx="10662920" cy="194056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1932495" y="806587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2167890" y="264160"/>
            <a:ext cx="48520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网络模型：</a:t>
            </a:r>
            <a:r>
              <a:rPr lang="en-US" altLang="zh-CN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DCCNN</a:t>
            </a:r>
            <a:endParaRPr lang="en-US" altLang="zh-CN" sz="28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44" y="0"/>
            <a:ext cx="1789251" cy="1051863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0675" y="71847"/>
            <a:ext cx="2336220" cy="67365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9745" y="1032510"/>
            <a:ext cx="4305300" cy="57531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975" y="2025015"/>
            <a:ext cx="3349625" cy="12179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1932495" y="806587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2167890" y="264160"/>
            <a:ext cx="48520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网络模型：融合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模块</a:t>
            </a:r>
            <a:endParaRPr lang="zh-CN" altLang="en-US" sz="28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44" y="0"/>
            <a:ext cx="1789251" cy="1051863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0675" y="71847"/>
            <a:ext cx="2336220" cy="67365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0685" y="1051560"/>
            <a:ext cx="8851265" cy="45542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1932495" y="806587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2167890" y="264160"/>
            <a:ext cx="54565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网络模型：互补互交多层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解码器</a:t>
            </a:r>
            <a:endParaRPr lang="zh-CN" altLang="en-US" sz="28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44" y="0"/>
            <a:ext cx="1789251" cy="1051863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0675" y="71847"/>
            <a:ext cx="2336220" cy="67365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510" y="1332865"/>
            <a:ext cx="6067425" cy="38957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1920" y="911225"/>
            <a:ext cx="5480685" cy="58724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1932495" y="806587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2167890" y="264160"/>
            <a:ext cx="44748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损失函数</a:t>
            </a:r>
            <a:endParaRPr lang="zh-CN" altLang="en-US" sz="28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44" y="0"/>
            <a:ext cx="1789251" cy="1051863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0675" y="71847"/>
            <a:ext cx="2336220" cy="673654"/>
          </a:xfrm>
          <a:prstGeom prst="rect">
            <a:avLst/>
          </a:prstGeom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fld id="{18C8E5C5-05D3-4171-9F3F-370131363719}" type="slidenum">
              <a:rPr lang="zh-CN" altLang="en-US" smtClean="0"/>
            </a:fld>
            <a:r>
              <a:rPr lang="zh-CN" altLang="en-US" dirty="0"/>
              <a:t>页，共</a:t>
            </a:r>
            <a:r>
              <a:rPr lang="en-US" altLang="zh-CN" dirty="0"/>
              <a:t>15</a:t>
            </a:r>
            <a:r>
              <a:rPr lang="zh-CN" altLang="en-US" dirty="0"/>
              <a:t>页</a:t>
            </a:r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1865" y="2312035"/>
            <a:ext cx="6181725" cy="235267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" y="1561465"/>
            <a:ext cx="6067425" cy="3895725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8544560" y="2733675"/>
            <a:ext cx="786130" cy="508000"/>
          </a:xfrm>
          <a:prstGeom prst="rect">
            <a:avLst/>
          </a:prstGeom>
          <a:noFill/>
          <a:ln w="28575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C0000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8288655" y="3818255"/>
            <a:ext cx="597535" cy="508000"/>
          </a:xfrm>
          <a:prstGeom prst="rect">
            <a:avLst/>
          </a:prstGeom>
          <a:noFill/>
          <a:ln w="28575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C0000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10674350" y="2733675"/>
            <a:ext cx="1288415" cy="508000"/>
          </a:xfrm>
          <a:prstGeom prst="rect">
            <a:avLst/>
          </a:prstGeom>
          <a:noFill/>
          <a:ln w="28575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C0000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0109835" y="3908425"/>
            <a:ext cx="447675" cy="417830"/>
          </a:xfrm>
          <a:prstGeom prst="rect">
            <a:avLst/>
          </a:prstGeom>
          <a:noFill/>
          <a:ln w="28575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C0000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8029575" y="4499610"/>
            <a:ext cx="1442085" cy="2762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rgbClr val="FF0000"/>
                </a:solidFill>
              </a:rPr>
              <a:t>语义监督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0721340" y="2242185"/>
            <a:ext cx="13944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边界监督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9874250" y="4483735"/>
            <a:ext cx="14306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可学习权重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496300" y="2271395"/>
            <a:ext cx="14306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二元监督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1932495" y="806587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2167890" y="264160"/>
            <a:ext cx="41497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对比实验</a:t>
            </a:r>
            <a:r>
              <a:rPr lang="en-US" altLang="zh-CN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-MFN</a:t>
            </a:r>
            <a:r>
              <a:rPr lang="en-US" altLang="zh-CN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et</a:t>
            </a:r>
            <a:endParaRPr lang="en-US" altLang="zh-CN" sz="28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44" y="0"/>
            <a:ext cx="1789251" cy="1051863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0675" y="71847"/>
            <a:ext cx="2336220" cy="67365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75" y="1466215"/>
            <a:ext cx="11881485" cy="392493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1932495" y="806587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2167890" y="264160"/>
            <a:ext cx="68878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对比实验</a:t>
            </a:r>
            <a:r>
              <a:rPr lang="en-US" altLang="zh-CN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-MFNet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的白天</a:t>
            </a:r>
            <a:r>
              <a:rPr lang="en-US" altLang="zh-CN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夜晚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子场景</a:t>
            </a:r>
            <a:endParaRPr lang="zh-CN" altLang="en-US" sz="28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44" y="0"/>
            <a:ext cx="1789251" cy="1051863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0675" y="71847"/>
            <a:ext cx="2336220" cy="673654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220" y="1784985"/>
            <a:ext cx="5087620" cy="262382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8215" y="1051560"/>
            <a:ext cx="5219700" cy="39719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1932495" y="806587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2167890" y="264160"/>
            <a:ext cx="41497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对比实验</a:t>
            </a:r>
            <a:r>
              <a:rPr lang="en-US" altLang="zh-CN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-PST900</a:t>
            </a:r>
            <a:endParaRPr lang="en-US" altLang="zh-CN" sz="28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44" y="0"/>
            <a:ext cx="1789251" cy="1051863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0675" y="71847"/>
            <a:ext cx="2336220" cy="673654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510" y="1770380"/>
            <a:ext cx="11913870" cy="32861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1932495" y="806587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2168165" y="264321"/>
            <a:ext cx="278090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模型复杂度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比较</a:t>
            </a:r>
            <a:endParaRPr lang="zh-CN" altLang="en-US" sz="28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44" y="0"/>
            <a:ext cx="1789251" cy="1051863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0675" y="71847"/>
            <a:ext cx="2336220" cy="67365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4465" y="1304290"/>
            <a:ext cx="6782435" cy="257302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234440" y="4711700"/>
            <a:ext cx="980948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结论：参数数量低于大多数模型，</a:t>
            </a:r>
            <a:r>
              <a:rPr lang="en-US" altLang="zh-CN" sz="2400"/>
              <a:t> </a:t>
            </a:r>
            <a:r>
              <a:rPr lang="zh-CN" altLang="en-US" sz="2400"/>
              <a:t>但浮点运算次数和推理速度高于其他模型</a:t>
            </a:r>
            <a:endParaRPr lang="zh-CN" altLang="en-US" sz="2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1932495" y="806587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2167890" y="264160"/>
            <a:ext cx="41408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消融实验及其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可视化</a:t>
            </a:r>
            <a:endParaRPr lang="zh-CN" altLang="en-US" sz="28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44" y="0"/>
            <a:ext cx="1789251" cy="1051863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0675" y="71847"/>
            <a:ext cx="2336220" cy="673654"/>
          </a:xfrm>
          <a:prstGeom prst="rect">
            <a:avLst/>
          </a:prstGeom>
        </p:spPr>
      </p:pic>
      <p:grpSp>
        <p:nvGrpSpPr>
          <p:cNvPr id="16" name="组合 15"/>
          <p:cNvGrpSpPr/>
          <p:nvPr/>
        </p:nvGrpSpPr>
        <p:grpSpPr>
          <a:xfrm>
            <a:off x="563245" y="895985"/>
            <a:ext cx="10059035" cy="2759710"/>
            <a:chOff x="887" y="1411"/>
            <a:chExt cx="16549" cy="8699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7" y="1411"/>
              <a:ext cx="5475" cy="8699"/>
            </a:xfrm>
            <a:prstGeom prst="rect">
              <a:avLst/>
            </a:prstGeom>
          </p:spPr>
        </p:pic>
        <p:sp>
          <p:nvSpPr>
            <p:cNvPr id="7" name="右大括号 6"/>
            <p:cNvSpPr/>
            <p:nvPr/>
          </p:nvSpPr>
          <p:spPr>
            <a:xfrm>
              <a:off x="9167" y="2518"/>
              <a:ext cx="433" cy="1538"/>
            </a:xfrm>
            <a:prstGeom prst="rightBrace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11036" y="2880"/>
              <a:ext cx="6400" cy="12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000"/>
                <a:t>验证每个模块对整体性能的影响</a:t>
              </a:r>
              <a:endParaRPr lang="zh-CN" altLang="en-US" sz="2000"/>
            </a:p>
          </p:txBody>
        </p:sp>
        <p:sp>
          <p:nvSpPr>
            <p:cNvPr id="11" name="右大括号 10"/>
            <p:cNvSpPr/>
            <p:nvPr/>
          </p:nvSpPr>
          <p:spPr>
            <a:xfrm>
              <a:off x="9169" y="4697"/>
              <a:ext cx="430" cy="1944"/>
            </a:xfrm>
            <a:prstGeom prst="rightBrace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右大括号 11"/>
            <p:cNvSpPr/>
            <p:nvPr/>
          </p:nvSpPr>
          <p:spPr>
            <a:xfrm>
              <a:off x="9215" y="7247"/>
              <a:ext cx="384" cy="1975"/>
            </a:xfrm>
            <a:prstGeom prst="rightBrace">
              <a:avLst>
                <a:gd name="adj1" fmla="val 0"/>
                <a:gd name="adj2" fmla="val 50000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11036" y="5147"/>
              <a:ext cx="6143" cy="12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000"/>
                <a:t>检验子模块的作用</a:t>
              </a:r>
              <a:endParaRPr lang="zh-CN" altLang="en-US" sz="2000"/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6746875" y="2850515"/>
            <a:ext cx="52800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监督策略消融</a:t>
            </a:r>
            <a:endParaRPr lang="zh-CN" altLang="en-US" sz="2000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0050" y="3648075"/>
            <a:ext cx="8167370" cy="311277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1932495" y="806587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2167890" y="264160"/>
            <a:ext cx="47923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消融实验</a:t>
            </a:r>
            <a:r>
              <a:rPr lang="en-US" altLang="zh-CN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其他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类脑模型</a:t>
            </a:r>
            <a:endParaRPr lang="zh-CN" altLang="en-US" sz="28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44" y="0"/>
            <a:ext cx="1789251" cy="1051863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0675" y="71847"/>
            <a:ext cx="2336220" cy="673654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2325" y="1524000"/>
            <a:ext cx="5467350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1932495" y="806587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2168165" y="264321"/>
            <a:ext cx="278090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zh-CN" altLang="en-US" sz="28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44" y="0"/>
            <a:ext cx="1789251" cy="1051863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0675" y="71847"/>
            <a:ext cx="2336220" cy="673654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035050" y="1250315"/>
            <a:ext cx="10304780" cy="4316730"/>
          </a:xfrm>
          <a:prstGeom prst="rect">
            <a:avLst/>
          </a:prstGeom>
        </p:spPr>
        <p:txBody>
          <a:bodyPr>
            <a:noAutofit/>
          </a:bodyPr>
          <a:p>
            <a:r>
              <a:rPr lang="zh-CN" altLang="en-US" sz="2400"/>
              <a:t>提出了一种新的</a:t>
            </a:r>
            <a:r>
              <a:rPr lang="en-US" altLang="zh-CN" sz="2400"/>
              <a:t>RGB-T</a:t>
            </a:r>
            <a:r>
              <a:rPr lang="zh-CN" altLang="en-US" sz="2400"/>
              <a:t>道路场景语义分割模型，即受大脑启发多迭代交互网络（</a:t>
            </a:r>
            <a:r>
              <a:rPr lang="en-US" altLang="zh-CN" sz="2400"/>
              <a:t>BIMII-Net</a:t>
            </a:r>
            <a:r>
              <a:rPr lang="zh-CN" altLang="en-US" sz="2400"/>
              <a:t>）。</a:t>
            </a:r>
            <a:endParaRPr lang="zh-CN" altLang="en-US" sz="2400"/>
          </a:p>
          <a:p>
            <a:endParaRPr lang="zh-CN" altLang="en-US" sz="2000"/>
          </a:p>
          <a:p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•</a:t>
            </a:r>
            <a:r>
              <a:rPr lang="zh-CN" altLang="en-US" sz="2800"/>
              <a:t>深度连续耦合神经网络（</a:t>
            </a:r>
            <a:r>
              <a:rPr lang="en-US" altLang="zh-CN" sz="2800"/>
              <a:t>DCCNN</a:t>
            </a:r>
            <a:r>
              <a:rPr lang="zh-CN" altLang="en-US" sz="2800"/>
              <a:t>）利用了受大脑启发模型连续耦合神经网络（</a:t>
            </a:r>
            <a:r>
              <a:rPr lang="en-US" altLang="zh-CN" sz="2800"/>
              <a:t>CCNN</a:t>
            </a:r>
            <a:r>
              <a:rPr lang="zh-CN" altLang="en-US" sz="2800"/>
              <a:t>）的迭代优化机制，以促进多尺度特征的逐层融合和渐进式更新，从而有效捕获纹理和局部细节信息</a:t>
            </a:r>
            <a:endParaRPr lang="zh-CN" altLang="en-US" sz="2800"/>
          </a:p>
          <a:p>
            <a:endParaRPr lang="zh-CN" altLang="en-US" sz="2800"/>
          </a:p>
          <a:p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•</a:t>
            </a:r>
            <a:r>
              <a:rPr lang="zh-CN" altLang="en-US" sz="2800"/>
              <a:t>互补交互多层解码器利用了浅层特征迭代模块、深层特征迭代模块和多特征增强模块的集成，以促进全局骨架和局部细节信息的互补提取，从而提高分割效果。 </a:t>
            </a:r>
            <a:endParaRPr lang="zh-CN" altLang="en-US" sz="2800"/>
          </a:p>
          <a:p>
            <a:endParaRPr lang="zh-CN" altLang="en-US" sz="2000"/>
          </a:p>
          <a:p>
            <a:endParaRPr lang="zh-CN" altLang="en-US" sz="2000"/>
          </a:p>
          <a:p>
            <a:endParaRPr lang="zh-CN" altLang="en-US"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1244</Words>
  <Application>WPS 演示</Application>
  <PresentationFormat>宽屏</PresentationFormat>
  <Paragraphs>129</Paragraphs>
  <Slides>16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7" baseType="lpstr">
      <vt:lpstr>Arial</vt:lpstr>
      <vt:lpstr>宋体</vt:lpstr>
      <vt:lpstr>Wingdings</vt:lpstr>
      <vt:lpstr>Impact</vt:lpstr>
      <vt:lpstr>方正姚体</vt:lpstr>
      <vt:lpstr>微软雅黑</vt:lpstr>
      <vt:lpstr>Cambria Math</vt:lpstr>
      <vt:lpstr>Calibri</vt:lpstr>
      <vt:lpstr>Arial Unicode MS</vt:lpstr>
      <vt:lpstr>Calibri Light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演示文稿3</dc:title>
  <dc:creator>LYK</dc:creator>
  <cp:lastModifiedBy>月色</cp:lastModifiedBy>
  <cp:revision>259</cp:revision>
  <dcterms:created xsi:type="dcterms:W3CDTF">2016-04-09T13:02:00Z</dcterms:created>
  <dcterms:modified xsi:type="dcterms:W3CDTF">2025-11-22T10:44:11Z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2052-12.1.0.18912</vt:lpwstr>
  </property>
  <property fmtid="{D5CDD505-2E9C-101B-9397-08002B2CF9AE}" pid="3" name="ICV">
    <vt:lpwstr>B5CC9B3014534934B8927105366829CF_12</vt:lpwstr>
  </property>
</Properties>
</file>