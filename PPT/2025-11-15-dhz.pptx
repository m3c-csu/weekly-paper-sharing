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53" r:id="rId1"/>
    <p:sldMasterId id="2147483666" r:id="rId2"/>
  </p:sldMasterIdLst>
  <p:notesMasterIdLst>
    <p:notesMasterId r:id="rId17"/>
  </p:notesMasterIdLst>
  <p:sldIdLst>
    <p:sldId id="3228" r:id="rId3"/>
    <p:sldId id="3280" r:id="rId4"/>
    <p:sldId id="3262" r:id="rId5"/>
    <p:sldId id="548" r:id="rId6"/>
    <p:sldId id="3249" r:id="rId7"/>
    <p:sldId id="3282" r:id="rId8"/>
    <p:sldId id="3281" r:id="rId9"/>
    <p:sldId id="3291" r:id="rId10"/>
    <p:sldId id="3290" r:id="rId11"/>
    <p:sldId id="3292" r:id="rId12"/>
    <p:sldId id="3267" r:id="rId13"/>
    <p:sldId id="3288" r:id="rId14"/>
    <p:sldId id="3289" r:id="rId15"/>
    <p:sldId id="3293" r:id="rId16"/>
  </p:sldIdLst>
  <p:sldSz cx="12192000" cy="6858000"/>
  <p:notesSz cx="6858000" cy="9144000"/>
  <p:custDataLst>
    <p:tags r:id="rId1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54DC"/>
    <a:srgbClr val="5B9BD5"/>
    <a:srgbClr val="FF0000"/>
    <a:srgbClr val="1A78C2"/>
    <a:srgbClr val="1A78C3"/>
    <a:srgbClr val="1B6299"/>
    <a:srgbClr val="8609AD"/>
    <a:srgbClr val="1C6299"/>
    <a:srgbClr val="1B6298"/>
    <a:srgbClr val="96C4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中度样式 3 - 强调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74C1A8A3-306A-4EB7-A6B1-4F7E0EB9C5D6}" styleName="中度样式 3 - 强调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43" autoAdjust="0"/>
    <p:restoredTop sz="86920" autoAdjust="0"/>
  </p:normalViewPr>
  <p:slideViewPr>
    <p:cSldViewPr snapToGrid="0" showGuides="1">
      <p:cViewPr varScale="1">
        <p:scale>
          <a:sx n="98" d="100"/>
          <a:sy n="98" d="100"/>
        </p:scale>
        <p:origin x="1074" y="78"/>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gs" Target="tags/tag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893C12-D317-442F-945E-D6517EECB5C8}" type="datetimeFigureOut">
              <a:rPr lang="zh-CN" altLang="en-US" smtClean="0"/>
              <a:t>2025/11/15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933A62-8780-4CAA-8D19-25292B7F5684}"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B933A62-8780-4CAA-8D19-25292B7F5684}" type="slidenum">
              <a:rPr lang="zh-CN" altLang="en-US" smtClean="0"/>
              <a:t>1</a:t>
            </a:fld>
            <a:endParaRPr lang="zh-CN" altLang="en-US"/>
          </a:p>
        </p:txBody>
      </p:sp>
    </p:spTree>
    <p:extLst>
      <p:ext uri="{BB962C8B-B14F-4D97-AF65-F5344CB8AC3E}">
        <p14:creationId xmlns:p14="http://schemas.microsoft.com/office/powerpoint/2010/main" val="10355108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i="0" dirty="0">
                <a:solidFill>
                  <a:srgbClr val="2C3A4A"/>
                </a:solidFill>
                <a:effectLst/>
                <a:latin typeface="__Noto_Sans_086c6e"/>
              </a:rPr>
              <a:t>上海交大的直博生，共一第</a:t>
            </a:r>
            <a:r>
              <a:rPr lang="en-US" altLang="zh-CN" b="1" i="0" dirty="0">
                <a:solidFill>
                  <a:srgbClr val="2C3A4A"/>
                </a:solidFill>
                <a:effectLst/>
                <a:latin typeface="__Noto_Sans_086c6e"/>
              </a:rPr>
              <a:t>2</a:t>
            </a:r>
            <a:r>
              <a:rPr lang="zh-CN" altLang="en-US" b="1" i="0" dirty="0">
                <a:solidFill>
                  <a:srgbClr val="2C3A4A"/>
                </a:solidFill>
                <a:effectLst/>
                <a:latin typeface="__Noto_Sans_086c6e"/>
              </a:rPr>
              <a:t>（第</a:t>
            </a:r>
            <a:r>
              <a:rPr lang="en-US" altLang="zh-CN" b="1" i="0" dirty="0">
                <a:solidFill>
                  <a:srgbClr val="2C3A4A"/>
                </a:solidFill>
                <a:effectLst/>
                <a:latin typeface="__Noto_Sans_086c6e"/>
              </a:rPr>
              <a:t>1</a:t>
            </a:r>
            <a:r>
              <a:rPr lang="zh-CN" altLang="en-US" b="1" i="0" dirty="0">
                <a:solidFill>
                  <a:srgbClr val="2C3A4A"/>
                </a:solidFill>
                <a:effectLst/>
                <a:latin typeface="__Noto_Sans_086c6e"/>
              </a:rPr>
              <a:t>没有页面）</a:t>
            </a:r>
            <a:endParaRPr lang="en-US" altLang="zh-CN" b="1" i="0" dirty="0">
              <a:solidFill>
                <a:srgbClr val="2C3A4A"/>
              </a:solidFill>
              <a:effectLst/>
              <a:latin typeface="__Noto_Sans_086c6e"/>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i="0" dirty="0">
                <a:solidFill>
                  <a:srgbClr val="2C3A4A"/>
                </a:solidFill>
                <a:effectLst/>
                <a:latin typeface="__Noto_Sans_086c6e"/>
              </a:rPr>
              <a:t>这两年基本上就是做的跟多模态大模型相关的工作（预训练、微调等）</a:t>
            </a:r>
            <a:endParaRPr lang="en-US" altLang="zh-CN" b="1" i="0" dirty="0">
              <a:solidFill>
                <a:srgbClr val="2C3A4A"/>
              </a:solidFill>
              <a:effectLst/>
              <a:latin typeface="__Noto_Sans_086c6e"/>
            </a:endParaRP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995DCBA-0CD2-47DC-90CF-EC7D70760B5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2</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22998476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995DCBA-0CD2-47DC-90CF-EC7D70760B5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3</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21636773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995DCBA-0CD2-47DC-90CF-EC7D70760B5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4</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995DCBA-0CD2-47DC-90CF-EC7D70760B5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5</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5121612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995DCBA-0CD2-47DC-90CF-EC7D70760B5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6</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34589542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通过多组合</a:t>
            </a:r>
            <a:r>
              <a:rPr lang="en-US" altLang="zh-CN" dirty="0"/>
              <a:t>+</a:t>
            </a:r>
            <a:r>
              <a:rPr lang="zh-CN" altLang="en-US" dirty="0"/>
              <a:t>路由的方式，稀释了模态选择的过程（本来是</a:t>
            </a:r>
            <a:r>
              <a:rPr lang="en-US" altLang="zh-CN" dirty="0"/>
              <a:t>2</a:t>
            </a:r>
            <a:r>
              <a:rPr lang="zh-CN" altLang="en-US" dirty="0"/>
              <a:t>选</a:t>
            </a:r>
            <a:r>
              <a:rPr lang="en-US" altLang="zh-CN" dirty="0"/>
              <a:t>1</a:t>
            </a:r>
            <a:r>
              <a:rPr lang="zh-CN" altLang="en-US" dirty="0"/>
              <a:t>，两个全是纯血的，现在变成</a:t>
            </a:r>
            <a:r>
              <a:rPr lang="en-US" altLang="zh-CN" dirty="0"/>
              <a:t>10</a:t>
            </a:r>
            <a:r>
              <a:rPr lang="zh-CN" altLang="en-US" dirty="0"/>
              <a:t>选</a:t>
            </a:r>
            <a:r>
              <a:rPr lang="en-US" altLang="zh-CN" dirty="0"/>
              <a:t>5</a:t>
            </a:r>
            <a:r>
              <a:rPr lang="zh-CN" altLang="en-US" dirty="0"/>
              <a:t>，</a:t>
            </a:r>
            <a:r>
              <a:rPr lang="en-US" altLang="zh-CN" dirty="0"/>
              <a:t>10</a:t>
            </a:r>
            <a:r>
              <a:rPr lang="zh-CN" altLang="en-US" dirty="0"/>
              <a:t>个里面大部分是混合的，霸凌概率降低）</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995DCBA-0CD2-47DC-90CF-EC7D70760B5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7</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36822960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995DCBA-0CD2-47DC-90CF-EC7D70760B5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8</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13107339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可学习加权 </a:t>
            </a:r>
            <a:r>
              <a:rPr lang="en-US" altLang="zh-CN" sz="1200" dirty="0" err="1">
                <a:solidFill>
                  <a:srgbClr val="212121"/>
                </a:solidFill>
                <a:latin typeface="Noto Sans SC" pitchFamily="34" charset="0"/>
                <a:ea typeface="Noto Sans SC" pitchFamily="34" charset="-122"/>
                <a:cs typeface="Noto Sans SC" pitchFamily="34" charset="-120"/>
              </a:rPr>
              <a:t>通过softmax参数自动优化，简单但需仔细调参</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反向对比  </a:t>
            </a:r>
            <a:r>
              <a:rPr lang="en-US" altLang="zh-CN" sz="1200" dirty="0" err="1">
                <a:solidFill>
                  <a:srgbClr val="212121"/>
                </a:solidFill>
                <a:latin typeface="Noto Sans SC" pitchFamily="34" charset="0"/>
                <a:ea typeface="Noto Sans SC" pitchFamily="34" charset="-122"/>
                <a:cs typeface="Noto Sans SC" pitchFamily="34" charset="-120"/>
              </a:rPr>
              <a:t>利用得分倒数实现细粒度过渡，提供精细控制</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高斯对比 </a:t>
            </a:r>
            <a:r>
              <a:rPr lang="en-US" altLang="zh-CN" sz="1200" dirty="0" err="1">
                <a:solidFill>
                  <a:srgbClr val="212121"/>
                </a:solidFill>
                <a:latin typeface="Noto Sans SC" pitchFamily="34" charset="0"/>
                <a:ea typeface="Noto Sans SC" pitchFamily="34" charset="-122"/>
                <a:cs typeface="Noto Sans SC" pitchFamily="34" charset="-120"/>
              </a:rPr>
              <a:t>通过钟形曲线实现平滑过渡，适合需要渐进式调整的场景</a:t>
            </a:r>
            <a:endParaRPr lang="en-US" altLang="zh-CN" dirty="0"/>
          </a:p>
          <a:p>
            <a:r>
              <a:rPr lang="zh-CN" altLang="en-US" dirty="0"/>
              <a:t>阈值对比 </a:t>
            </a:r>
            <a:r>
              <a:rPr lang="en-US" altLang="zh-CN" sz="1200" dirty="0" err="1">
                <a:solidFill>
                  <a:srgbClr val="212121"/>
                </a:solidFill>
                <a:latin typeface="Noto Sans SC" pitchFamily="34" charset="0"/>
                <a:ea typeface="Noto Sans SC" pitchFamily="34" charset="-122"/>
                <a:cs typeface="Noto Sans SC" pitchFamily="34" charset="-120"/>
              </a:rPr>
              <a:t>以tanh函数产生断崖式切换，适合需要明确阶段转换的场景</a:t>
            </a:r>
            <a:endParaRPr lang="en-US" altLang="zh-CN"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995DCBA-0CD2-47DC-90CF-EC7D70760B5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9</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39806852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预训练小模型是作者自己搭的一个，图像</a:t>
            </a:r>
            <a:r>
              <a:rPr lang="en-US" altLang="zh-CN" dirty="0"/>
              <a:t>CNN</a:t>
            </a:r>
            <a:r>
              <a:rPr lang="zh-CN" altLang="en-US" dirty="0"/>
              <a:t>文本</a:t>
            </a:r>
            <a:r>
              <a:rPr lang="en-US" altLang="zh-CN" dirty="0" err="1"/>
              <a:t>embedding+RNN</a:t>
            </a:r>
            <a:r>
              <a:rPr lang="en-US" altLang="zh-CN" dirty="0"/>
              <a:t> </a:t>
            </a:r>
            <a:r>
              <a:rPr lang="zh-CN" altLang="en-US" dirty="0"/>
              <a:t>然后拼接，</a:t>
            </a:r>
            <a:r>
              <a:rPr lang="en-US" altLang="zh-CN" dirty="0"/>
              <a:t>attention </a:t>
            </a:r>
            <a:r>
              <a:rPr lang="zh-CN" altLang="en-US" dirty="0"/>
              <a:t>送入分类头</a:t>
            </a:r>
            <a:endParaRPr lang="en-US" altLang="zh-CN"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995DCBA-0CD2-47DC-90CF-EC7D70760B5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10</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31199053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Mortality Prediction</a:t>
            </a:r>
            <a:r>
              <a:rPr lang="zh-CN" altLang="en-US" dirty="0"/>
              <a:t>（死亡预测）二分类预测患者是否会</a:t>
            </a:r>
            <a:r>
              <a:rPr lang="zh-CN" altLang="en-US" b="1" dirty="0"/>
              <a:t>在住院期间或指定时间窗口内死亡</a:t>
            </a:r>
            <a:r>
              <a:rPr lang="zh-CN" altLang="en-US" dirty="0"/>
              <a:t>。</a:t>
            </a:r>
            <a:endParaRPr lang="en-US" altLang="zh-CN" dirty="0"/>
          </a:p>
          <a:p>
            <a:r>
              <a:rPr lang="en-US" altLang="zh-CN" dirty="0"/>
              <a:t>Length of Stay (</a:t>
            </a:r>
            <a:r>
              <a:rPr lang="en-US" altLang="zh-CN" dirty="0" err="1"/>
              <a:t>LoS</a:t>
            </a:r>
            <a:r>
              <a:rPr lang="en-US" altLang="zh-CN" dirty="0"/>
              <a:t>) Prediction</a:t>
            </a:r>
            <a:r>
              <a:rPr lang="zh-CN" altLang="en-US" dirty="0"/>
              <a:t>（住院时长预测</a:t>
            </a:r>
            <a:r>
              <a:rPr lang="en-US" altLang="zh-CN" dirty="0"/>
              <a:t>) </a:t>
            </a:r>
            <a:r>
              <a:rPr lang="zh-CN" altLang="en-US" b="0" i="0" dirty="0">
                <a:effectLst/>
                <a:latin typeface="-apple-system"/>
              </a:rPr>
              <a:t>住院时长是否超过 </a:t>
            </a:r>
            <a:r>
              <a:rPr lang="en-US" altLang="zh-CN" b="0" i="0" dirty="0">
                <a:effectLst/>
                <a:latin typeface="-apple-system"/>
              </a:rPr>
              <a:t>7 </a:t>
            </a:r>
            <a:r>
              <a:rPr lang="zh-CN" altLang="en-US" b="0" i="0" dirty="0">
                <a:effectLst/>
                <a:latin typeface="-apple-system"/>
              </a:rPr>
              <a:t>天（或中位数）</a:t>
            </a:r>
            <a:endParaRPr lang="en-US" altLang="zh-CN" b="0" i="0" dirty="0">
              <a:effectLst/>
              <a:latin typeface="-apple-system"/>
            </a:endParaRPr>
          </a:p>
          <a:p>
            <a:r>
              <a:rPr lang="en-US" altLang="zh-CN" dirty="0"/>
              <a:t>Readmission (30-day Readmission Prediction) </a:t>
            </a:r>
            <a:r>
              <a:rPr lang="zh-CN" altLang="en-US" dirty="0"/>
              <a:t>再入院预测预测患者是否</a:t>
            </a:r>
            <a:r>
              <a:rPr lang="zh-CN" altLang="en-US" b="1" dirty="0"/>
              <a:t>会在出院后 </a:t>
            </a:r>
            <a:r>
              <a:rPr lang="en-US" altLang="zh-CN" b="1" dirty="0"/>
              <a:t>30 </a:t>
            </a:r>
            <a:r>
              <a:rPr lang="zh-CN" altLang="en-US" b="1" dirty="0"/>
              <a:t>天内再次入院</a:t>
            </a:r>
            <a:r>
              <a:rPr lang="zh-CN" altLang="en-US" dirty="0"/>
              <a:t>。</a:t>
            </a:r>
            <a:endParaRPr lang="en-US" altLang="zh-CN"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995DCBA-0CD2-47DC-90CF-EC7D70760B5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11</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22365220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995DCBA-0CD2-47DC-90CF-EC7D70760B5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12</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19915876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消融</a:t>
            </a:r>
            <a:endParaRPr lang="en-US" altLang="zh-CN"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995DCBA-0CD2-47DC-90CF-EC7D70760B5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13</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22486510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源代码中甚至是三段式训练，每一段训练好保存好数据在进行下一步</a:t>
            </a:r>
            <a:endParaRPr lang="en-US" altLang="zh-CN" dirty="0"/>
          </a:p>
          <a:p>
            <a:r>
              <a:rPr lang="zh-CN" altLang="en-US" dirty="0"/>
              <a:t>以小博大，在缺乏数据的医学领域中多模态小模型和单模态大模型之间的冲突问题新颖且有意义</a:t>
            </a:r>
            <a:endParaRPr lang="en-US" altLang="zh-CN" dirty="0"/>
          </a:p>
          <a:p>
            <a:r>
              <a:rPr lang="zh-CN" altLang="en-US" dirty="0"/>
              <a:t>这个相似度设置的对比损失</a:t>
            </a:r>
            <a:r>
              <a:rPr lang="en-US" altLang="zh-CN" dirty="0"/>
              <a:t>+</a:t>
            </a:r>
            <a:r>
              <a:rPr lang="zh-CN" altLang="en-US" dirty="0"/>
              <a:t>任务损失很有启发性</a:t>
            </a:r>
            <a:endParaRPr lang="en-US" altLang="zh-CN" dirty="0"/>
          </a:p>
          <a:p>
            <a:r>
              <a:rPr lang="en-US" altLang="zh-CN" dirty="0" err="1"/>
              <a:t>MoME</a:t>
            </a:r>
            <a:r>
              <a:rPr lang="zh-CN" altLang="en-US" dirty="0"/>
              <a:t>采用全组合</a:t>
            </a:r>
            <a:r>
              <a:rPr lang="en-US" altLang="zh-CN" dirty="0"/>
              <a:t>+</a:t>
            </a:r>
            <a:r>
              <a:rPr lang="zh-CN" altLang="en-US" dirty="0"/>
              <a:t>拼接式融合专家，全组合会导致在模态</a:t>
            </a:r>
            <a:r>
              <a:rPr lang="en-US" altLang="zh-CN" dirty="0"/>
              <a:t>&gt;3</a:t>
            </a:r>
            <a:r>
              <a:rPr lang="zh-CN" altLang="en-US" dirty="0"/>
              <a:t>时模型的架构复杂度将会指数上涨，</a:t>
            </a:r>
            <a:r>
              <a:rPr lang="en-US" altLang="zh-CN" dirty="0" err="1"/>
              <a:t>concat</a:t>
            </a:r>
            <a:r>
              <a:rPr lang="en-US" altLang="zh-CN" dirty="0"/>
              <a:t>+</a:t>
            </a:r>
            <a:r>
              <a:rPr lang="zh-CN" altLang="en-US" dirty="0"/>
              <a:t>线性层作为融合专家效果有限</a:t>
            </a:r>
            <a:endParaRPr lang="en-US" altLang="zh-CN" dirty="0"/>
          </a:p>
          <a:p>
            <a:r>
              <a:rPr lang="zh-CN" altLang="en-US" dirty="0"/>
              <a:t>那个模态霸凌在我看来没有显式的解决，只是作者做了一个可视化，发现有这么个效果再补充这么个问题上去（假如都是真的）</a:t>
            </a:r>
            <a:endParaRPr lang="en-US" altLang="zh-CN" dirty="0"/>
          </a:p>
          <a:p>
            <a:r>
              <a:rPr lang="zh-CN" altLang="en-US" dirty="0"/>
              <a:t>问题相对简单，只是做最基本的标准多模态数据集</a:t>
            </a:r>
            <a:r>
              <a:rPr lang="en-US" altLang="zh-CN" dirty="0"/>
              <a:t>+</a:t>
            </a:r>
            <a:r>
              <a:rPr lang="zh-CN" altLang="en-US" dirty="0"/>
              <a:t>标准训练测试</a:t>
            </a:r>
            <a:r>
              <a:rPr lang="en-US" altLang="zh-CN" dirty="0"/>
              <a:t>+</a:t>
            </a:r>
            <a:r>
              <a:rPr lang="zh-CN" altLang="en-US" dirty="0"/>
              <a:t>分类，有较多的拓展空间</a:t>
            </a:r>
            <a:endParaRPr lang="en-US" altLang="zh-CN"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995DCBA-0CD2-47DC-90CF-EC7D70760B5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14</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37018525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2" y="1122364"/>
            <a:ext cx="9144000" cy="2387600"/>
          </a:xfrm>
        </p:spPr>
        <p:txBody>
          <a:bodyPr anchor="b"/>
          <a:lstStyle>
            <a:lvl1pPr algn="ctr">
              <a:defRPr sz="5995"/>
            </a:lvl1pPr>
          </a:lstStyle>
          <a:p>
            <a:r>
              <a:rPr lang="zh-CN" altLang="en-US"/>
              <a:t>单击此处编辑母版标题样式</a:t>
            </a:r>
            <a:endParaRPr lang="en-US" dirty="0"/>
          </a:p>
        </p:txBody>
      </p:sp>
      <p:sp>
        <p:nvSpPr>
          <p:cNvPr id="3" name="Subtitle 2"/>
          <p:cNvSpPr>
            <a:spLocks noGrp="1"/>
          </p:cNvSpPr>
          <p:nvPr>
            <p:ph type="subTitle" idx="1" hasCustomPrompt="1"/>
          </p:nvPr>
        </p:nvSpPr>
        <p:spPr>
          <a:xfrm>
            <a:off x="1524002" y="3602038"/>
            <a:ext cx="9144000" cy="1655763"/>
          </a:xfrm>
        </p:spPr>
        <p:txBody>
          <a:bodyPr/>
          <a:lstStyle>
            <a:lvl1pPr marL="0" indent="0" algn="ctr">
              <a:buNone/>
              <a:defRPr sz="2400"/>
            </a:lvl1pPr>
            <a:lvl2pPr marL="457200" indent="0" algn="ctr">
              <a:buNone/>
              <a:defRPr sz="2000"/>
            </a:lvl2pPr>
            <a:lvl3pPr marL="913765" indent="0" algn="ctr">
              <a:buNone/>
              <a:defRPr sz="1800"/>
            </a:lvl3pPr>
            <a:lvl4pPr marL="1370965" indent="0" algn="ctr">
              <a:buNone/>
              <a:defRPr sz="1600"/>
            </a:lvl4pPr>
            <a:lvl5pPr marL="1827530" indent="0" algn="ctr">
              <a:buNone/>
              <a:defRPr sz="1600"/>
            </a:lvl5pPr>
            <a:lvl6pPr marL="2284730" indent="0" algn="ctr">
              <a:buNone/>
              <a:defRPr sz="1600"/>
            </a:lvl6pPr>
            <a:lvl7pPr marL="2741930" indent="0" algn="ctr">
              <a:buNone/>
              <a:defRPr sz="1600"/>
            </a:lvl7pPr>
            <a:lvl8pPr marL="3198495" indent="0" algn="ctr">
              <a:buNone/>
              <a:defRPr sz="1600"/>
            </a:lvl8pPr>
            <a:lvl9pPr marL="3655695" indent="0" algn="ctr">
              <a:buNone/>
              <a:defRPr sz="16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fld id="{C5B72DE3-FE0A-428A-AB10-325226F2F564}" type="datetimeFigureOut">
              <a:rPr lang="zh-CN" altLang="en-US" smtClean="0"/>
              <a:t>2025/11/15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12C7F20-4EEE-4847-AC76-B538472E8A39}" type="slidenum">
              <a:rPr lang="zh-CN" altLang="en-US" smtClean="0"/>
              <a:t>‹#›</a:t>
            </a:fld>
            <a:endParaRPr lang="zh-CN" altLang="en-US"/>
          </a:p>
        </p:txBody>
      </p:sp>
    </p:spTree>
  </p:cSld>
  <p:clrMapOvr>
    <a:masterClrMapping/>
  </p:clrMapOvr>
  <p:transition spd="slow" advClick="0" advTm="1000">
    <p:randomBar dir="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C5B72DE3-FE0A-428A-AB10-325226F2F564}" type="datetimeFigureOut">
              <a:rPr lang="zh-CN" altLang="en-US" smtClean="0"/>
              <a:t>2025/11/15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12C7F20-4EEE-4847-AC76-B538472E8A39}" type="slidenum">
              <a:rPr lang="zh-CN" altLang="en-US" smtClean="0"/>
              <a:t>‹#›</a:t>
            </a:fld>
            <a:endParaRPr lang="zh-CN" altLang="en-US"/>
          </a:p>
        </p:txBody>
      </p:sp>
    </p:spTree>
  </p:cSld>
  <p:clrMapOvr>
    <a:masterClrMapping/>
  </p:clrMapOvr>
  <p:transition spd="slow" advClick="0" advTm="1000">
    <p:randomBar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1"/>
            <a:ext cx="10515600" cy="2852737"/>
          </a:xfrm>
        </p:spPr>
        <p:txBody>
          <a:bodyPr anchor="b"/>
          <a:lstStyle>
            <a:lvl1pPr>
              <a:defRPr sz="5995"/>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1851"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3765" indent="0">
              <a:buNone/>
              <a:defRPr sz="1800">
                <a:solidFill>
                  <a:schemeClr val="tx1">
                    <a:tint val="75000"/>
                  </a:schemeClr>
                </a:solidFill>
              </a:defRPr>
            </a:lvl3pPr>
            <a:lvl4pPr marL="1370965" indent="0">
              <a:buNone/>
              <a:defRPr sz="1600">
                <a:solidFill>
                  <a:schemeClr val="tx1">
                    <a:tint val="75000"/>
                  </a:schemeClr>
                </a:solidFill>
              </a:defRPr>
            </a:lvl4pPr>
            <a:lvl5pPr marL="1827530" indent="0">
              <a:buNone/>
              <a:defRPr sz="1600">
                <a:solidFill>
                  <a:schemeClr val="tx1">
                    <a:tint val="75000"/>
                  </a:schemeClr>
                </a:solidFill>
              </a:defRPr>
            </a:lvl5pPr>
            <a:lvl6pPr marL="2284730" indent="0">
              <a:buNone/>
              <a:defRPr sz="1600">
                <a:solidFill>
                  <a:schemeClr val="tx1">
                    <a:tint val="75000"/>
                  </a:schemeClr>
                </a:solidFill>
              </a:defRPr>
            </a:lvl6pPr>
            <a:lvl7pPr marL="2741930" indent="0">
              <a:buNone/>
              <a:defRPr sz="1600">
                <a:solidFill>
                  <a:schemeClr val="tx1">
                    <a:tint val="75000"/>
                  </a:schemeClr>
                </a:solidFill>
              </a:defRPr>
            </a:lvl7pPr>
            <a:lvl8pPr marL="3198495" indent="0">
              <a:buNone/>
              <a:defRPr sz="1600">
                <a:solidFill>
                  <a:schemeClr val="tx1">
                    <a:tint val="75000"/>
                  </a:schemeClr>
                </a:solidFill>
              </a:defRPr>
            </a:lvl8pPr>
            <a:lvl9pPr marL="3655695"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C5B72DE3-FE0A-428A-AB10-325226F2F564}" type="datetimeFigureOut">
              <a:rPr lang="zh-CN" altLang="en-US" smtClean="0"/>
              <a:t>2025/11/15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12C7F20-4EEE-4847-AC76-B538472E8A39}" type="slidenum">
              <a:rPr lang="zh-CN" altLang="en-US" smtClean="0"/>
              <a:t>‹#›</a:t>
            </a:fld>
            <a:endParaRPr lang="zh-CN" altLang="en-US"/>
          </a:p>
        </p:txBody>
      </p:sp>
    </p:spTree>
  </p:cSld>
  <p:clrMapOvr>
    <a:masterClrMapping/>
  </p:clrMapOvr>
  <p:transition spd="slow" advClick="0" advTm="1000">
    <p:randomBar dir="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838201" y="1825627"/>
            <a:ext cx="5181600" cy="4351339"/>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hasCustomPrompt="1"/>
          </p:nvPr>
        </p:nvSpPr>
        <p:spPr>
          <a:xfrm>
            <a:off x="6172201" y="1825627"/>
            <a:ext cx="5181600" cy="4351339"/>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C5B72DE3-FE0A-428A-AB10-325226F2F564}" type="datetimeFigureOut">
              <a:rPr lang="zh-CN" altLang="en-US" smtClean="0"/>
              <a:t>2025/11/15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12C7F20-4EEE-4847-AC76-B538472E8A39}" type="slidenum">
              <a:rPr lang="zh-CN" altLang="en-US" smtClean="0"/>
              <a:t>‹#›</a:t>
            </a:fld>
            <a:endParaRPr lang="zh-CN" altLang="en-US"/>
          </a:p>
        </p:txBody>
      </p:sp>
    </p:spTree>
  </p:cSld>
  <p:clrMapOvr>
    <a:masterClrMapping/>
  </p:clrMapOvr>
  <p:transition spd="slow" advClick="0" advTm="1000">
    <p:randomBar dir="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9790" y="1681163"/>
            <a:ext cx="5157786" cy="823912"/>
          </a:xfrm>
        </p:spPr>
        <p:txBody>
          <a:bodyPr anchor="b"/>
          <a:lstStyle>
            <a:lvl1pPr marL="0" indent="0">
              <a:buNone/>
              <a:defRPr sz="2400" b="1"/>
            </a:lvl1pPr>
            <a:lvl2pPr marL="457200" indent="0">
              <a:buNone/>
              <a:defRPr sz="2000" b="1"/>
            </a:lvl2pPr>
            <a:lvl3pPr marL="913765" indent="0">
              <a:buNone/>
              <a:defRPr sz="1800" b="1"/>
            </a:lvl3pPr>
            <a:lvl4pPr marL="1370965" indent="0">
              <a:buNone/>
              <a:defRPr sz="1600" b="1"/>
            </a:lvl4pPr>
            <a:lvl5pPr marL="1827530" indent="0">
              <a:buNone/>
              <a:defRPr sz="1600" b="1"/>
            </a:lvl5pPr>
            <a:lvl6pPr marL="2284730" indent="0">
              <a:buNone/>
              <a:defRPr sz="1600" b="1"/>
            </a:lvl6pPr>
            <a:lvl7pPr marL="2741930" indent="0">
              <a:buNone/>
              <a:defRPr sz="1600" b="1"/>
            </a:lvl7pPr>
            <a:lvl8pPr marL="3198495" indent="0">
              <a:buNone/>
              <a:defRPr sz="1600" b="1"/>
            </a:lvl8pPr>
            <a:lvl9pPr marL="3655695" indent="0">
              <a:buNone/>
              <a:defRPr sz="1600" b="1"/>
            </a:lvl9pPr>
          </a:lstStyle>
          <a:p>
            <a:pPr lvl="0"/>
            <a:r>
              <a:rPr lang="zh-CN" altLang="en-US"/>
              <a:t>编辑母版文本样式</a:t>
            </a:r>
          </a:p>
        </p:txBody>
      </p:sp>
      <p:sp>
        <p:nvSpPr>
          <p:cNvPr id="4" name="Content Placeholder 3"/>
          <p:cNvSpPr>
            <a:spLocks noGrp="1"/>
          </p:cNvSpPr>
          <p:nvPr>
            <p:ph sz="half" idx="2" hasCustomPrompt="1"/>
          </p:nvPr>
        </p:nvSpPr>
        <p:spPr>
          <a:xfrm>
            <a:off x="839790" y="2505076"/>
            <a:ext cx="5157786"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hasCustomPrompt="1"/>
          </p:nvPr>
        </p:nvSpPr>
        <p:spPr>
          <a:xfrm>
            <a:off x="6172201" y="1681163"/>
            <a:ext cx="5183189" cy="823912"/>
          </a:xfrm>
        </p:spPr>
        <p:txBody>
          <a:bodyPr anchor="b"/>
          <a:lstStyle>
            <a:lvl1pPr marL="0" indent="0">
              <a:buNone/>
              <a:defRPr sz="2400" b="1"/>
            </a:lvl1pPr>
            <a:lvl2pPr marL="457200" indent="0">
              <a:buNone/>
              <a:defRPr sz="2000" b="1"/>
            </a:lvl2pPr>
            <a:lvl3pPr marL="913765" indent="0">
              <a:buNone/>
              <a:defRPr sz="1800" b="1"/>
            </a:lvl3pPr>
            <a:lvl4pPr marL="1370965" indent="0">
              <a:buNone/>
              <a:defRPr sz="1600" b="1"/>
            </a:lvl4pPr>
            <a:lvl5pPr marL="1827530" indent="0">
              <a:buNone/>
              <a:defRPr sz="1600" b="1"/>
            </a:lvl5pPr>
            <a:lvl6pPr marL="2284730" indent="0">
              <a:buNone/>
              <a:defRPr sz="1600" b="1"/>
            </a:lvl6pPr>
            <a:lvl7pPr marL="2741930" indent="0">
              <a:buNone/>
              <a:defRPr sz="1600" b="1"/>
            </a:lvl7pPr>
            <a:lvl8pPr marL="3198495" indent="0">
              <a:buNone/>
              <a:defRPr sz="1600" b="1"/>
            </a:lvl8pPr>
            <a:lvl9pPr marL="3655695" indent="0">
              <a:buNone/>
              <a:defRPr sz="1600" b="1"/>
            </a:lvl9pPr>
          </a:lstStyle>
          <a:p>
            <a:pPr lvl="0"/>
            <a:r>
              <a:rPr lang="zh-CN" altLang="en-US"/>
              <a:t>编辑母版文本样式</a:t>
            </a:r>
          </a:p>
        </p:txBody>
      </p:sp>
      <p:sp>
        <p:nvSpPr>
          <p:cNvPr id="6" name="Content Placeholder 5"/>
          <p:cNvSpPr>
            <a:spLocks noGrp="1"/>
          </p:cNvSpPr>
          <p:nvPr>
            <p:ph sz="quarter" idx="4" hasCustomPrompt="1"/>
          </p:nvPr>
        </p:nvSpPr>
        <p:spPr>
          <a:xfrm>
            <a:off x="6172201" y="2505076"/>
            <a:ext cx="5183189"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C5B72DE3-FE0A-428A-AB10-325226F2F564}" type="datetimeFigureOut">
              <a:rPr lang="zh-CN" altLang="en-US" smtClean="0"/>
              <a:t>2025/11/15</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D12C7F20-4EEE-4847-AC76-B538472E8A39}" type="slidenum">
              <a:rPr lang="zh-CN" altLang="en-US" smtClean="0"/>
              <a:t>‹#›</a:t>
            </a:fld>
            <a:endParaRPr lang="zh-CN" altLang="en-US"/>
          </a:p>
        </p:txBody>
      </p:sp>
    </p:spTree>
  </p:cSld>
  <p:clrMapOvr>
    <a:masterClrMapping/>
  </p:clrMapOvr>
  <p:transition spd="slow" advClick="0" advTm="1000">
    <p:randomBar dir="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C5B72DE3-FE0A-428A-AB10-325226F2F564}" type="datetimeFigureOut">
              <a:rPr lang="zh-CN" altLang="en-US" smtClean="0"/>
              <a:t>2025/11/15</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D12C7F20-4EEE-4847-AC76-B538472E8A39}" type="slidenum">
              <a:rPr lang="zh-CN" altLang="en-US" smtClean="0"/>
              <a:t>‹#›</a:t>
            </a:fld>
            <a:endParaRPr lang="zh-CN" altLang="en-US"/>
          </a:p>
        </p:txBody>
      </p:sp>
    </p:spTree>
  </p:cSld>
  <p:clrMapOvr>
    <a:masterClrMapping/>
  </p:clrMapOvr>
  <p:transition spd="slow" advClick="0" advTm="1000">
    <p:randomBar dir="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5B72DE3-FE0A-428A-AB10-325226F2F564}" type="datetimeFigureOut">
              <a:rPr lang="zh-CN" altLang="en-US" smtClean="0"/>
              <a:t>2025/11/15</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D12C7F20-4EEE-4847-AC76-B538472E8A39}" type="slidenum">
              <a:rPr lang="zh-CN" altLang="en-US" smtClean="0"/>
              <a:t>‹#›</a:t>
            </a:fld>
            <a:endParaRPr lang="zh-CN" altLang="en-US"/>
          </a:p>
        </p:txBody>
      </p:sp>
    </p:spTree>
  </p:cSld>
  <p:clrMapOvr>
    <a:masterClrMapping/>
  </p:clrMapOvr>
  <p:transition spd="slow" advClick="0" advTm="1000">
    <p:randomBar dir="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1"/>
            <a:ext cx="3932238" cy="1600199"/>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5183190" y="987428"/>
            <a:ext cx="6172199"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hasCustomPrompt="1"/>
          </p:nvPr>
        </p:nvSpPr>
        <p:spPr>
          <a:xfrm>
            <a:off x="839788" y="2057401"/>
            <a:ext cx="3932238" cy="3811588"/>
          </a:xfrm>
        </p:spPr>
        <p:txBody>
          <a:bodyPr/>
          <a:lstStyle>
            <a:lvl1pPr marL="0" indent="0">
              <a:buNone/>
              <a:defRPr sz="1600"/>
            </a:lvl1pPr>
            <a:lvl2pPr marL="457200" indent="0">
              <a:buNone/>
              <a:defRPr sz="1400"/>
            </a:lvl2pPr>
            <a:lvl3pPr marL="913765" indent="0">
              <a:buNone/>
              <a:defRPr sz="1200"/>
            </a:lvl3pPr>
            <a:lvl4pPr marL="1370965" indent="0">
              <a:buNone/>
              <a:defRPr sz="1000"/>
            </a:lvl4pPr>
            <a:lvl5pPr marL="1827530" indent="0">
              <a:buNone/>
              <a:defRPr sz="1000"/>
            </a:lvl5pPr>
            <a:lvl6pPr marL="2284730" indent="0">
              <a:buNone/>
              <a:defRPr sz="1000"/>
            </a:lvl6pPr>
            <a:lvl7pPr marL="2741930" indent="0">
              <a:buNone/>
              <a:defRPr sz="1000"/>
            </a:lvl7pPr>
            <a:lvl8pPr marL="3198495" indent="0">
              <a:buNone/>
              <a:defRPr sz="1000"/>
            </a:lvl8pPr>
            <a:lvl9pPr marL="3655695"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C5B72DE3-FE0A-428A-AB10-325226F2F564}" type="datetimeFigureOut">
              <a:rPr lang="zh-CN" altLang="en-US" smtClean="0"/>
              <a:t>2025/11/15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12C7F20-4EEE-4847-AC76-B538472E8A39}" type="slidenum">
              <a:rPr lang="zh-CN" altLang="en-US" smtClean="0"/>
              <a:t>‹#›</a:t>
            </a:fld>
            <a:endParaRPr lang="zh-CN" altLang="en-US"/>
          </a:p>
        </p:txBody>
      </p:sp>
    </p:spTree>
  </p:cSld>
  <p:clrMapOvr>
    <a:masterClrMapping/>
  </p:clrMapOvr>
  <p:transition spd="slow" advClick="0" advTm="1000">
    <p:randomBar dir="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1"/>
            <a:ext cx="3932238" cy="1600199"/>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90" y="987428"/>
            <a:ext cx="6172199" cy="4873625"/>
          </a:xfrm>
        </p:spPr>
        <p:txBody>
          <a:bodyPr anchor="t"/>
          <a:lstStyle>
            <a:lvl1pPr marL="0" indent="0">
              <a:buNone/>
              <a:defRPr sz="3200"/>
            </a:lvl1pPr>
            <a:lvl2pPr marL="457200" indent="0">
              <a:buNone/>
              <a:defRPr sz="2800"/>
            </a:lvl2pPr>
            <a:lvl3pPr marL="913765" indent="0">
              <a:buNone/>
              <a:defRPr sz="2400"/>
            </a:lvl3pPr>
            <a:lvl4pPr marL="1370965" indent="0">
              <a:buNone/>
              <a:defRPr sz="2000"/>
            </a:lvl4pPr>
            <a:lvl5pPr marL="1827530" indent="0">
              <a:buNone/>
              <a:defRPr sz="2000"/>
            </a:lvl5pPr>
            <a:lvl6pPr marL="2284730" indent="0">
              <a:buNone/>
              <a:defRPr sz="2000"/>
            </a:lvl6pPr>
            <a:lvl7pPr marL="2741930" indent="0">
              <a:buNone/>
              <a:defRPr sz="2000"/>
            </a:lvl7pPr>
            <a:lvl8pPr marL="3198495" indent="0">
              <a:buNone/>
              <a:defRPr sz="2000"/>
            </a:lvl8pPr>
            <a:lvl9pPr marL="3655695" indent="0">
              <a:buNone/>
              <a:defRPr sz="20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839788" y="2057401"/>
            <a:ext cx="3932238" cy="3811588"/>
          </a:xfrm>
        </p:spPr>
        <p:txBody>
          <a:bodyPr/>
          <a:lstStyle>
            <a:lvl1pPr marL="0" indent="0">
              <a:buNone/>
              <a:defRPr sz="1600"/>
            </a:lvl1pPr>
            <a:lvl2pPr marL="457200" indent="0">
              <a:buNone/>
              <a:defRPr sz="1400"/>
            </a:lvl2pPr>
            <a:lvl3pPr marL="913765" indent="0">
              <a:buNone/>
              <a:defRPr sz="1200"/>
            </a:lvl3pPr>
            <a:lvl4pPr marL="1370965" indent="0">
              <a:buNone/>
              <a:defRPr sz="1000"/>
            </a:lvl4pPr>
            <a:lvl5pPr marL="1827530" indent="0">
              <a:buNone/>
              <a:defRPr sz="1000"/>
            </a:lvl5pPr>
            <a:lvl6pPr marL="2284730" indent="0">
              <a:buNone/>
              <a:defRPr sz="1000"/>
            </a:lvl6pPr>
            <a:lvl7pPr marL="2741930" indent="0">
              <a:buNone/>
              <a:defRPr sz="1000"/>
            </a:lvl7pPr>
            <a:lvl8pPr marL="3198495" indent="0">
              <a:buNone/>
              <a:defRPr sz="1000"/>
            </a:lvl8pPr>
            <a:lvl9pPr marL="3655695"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C5B72DE3-FE0A-428A-AB10-325226F2F564}" type="datetimeFigureOut">
              <a:rPr lang="zh-CN" altLang="en-US" smtClean="0"/>
              <a:t>2025/11/15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12C7F20-4EEE-4847-AC76-B538472E8A39}" type="slidenum">
              <a:rPr lang="zh-CN" altLang="en-US" smtClean="0"/>
              <a:t>‹#›</a:t>
            </a:fld>
            <a:endParaRPr lang="zh-CN" altLang="en-US"/>
          </a:p>
        </p:txBody>
      </p:sp>
    </p:spTree>
  </p:cSld>
  <p:clrMapOvr>
    <a:masterClrMapping/>
  </p:clrMapOvr>
  <p:transition spd="slow" advClick="0" advTm="1000">
    <p:randomBar dir="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C5B72DE3-FE0A-428A-AB10-325226F2F564}" type="datetimeFigureOut">
              <a:rPr lang="zh-CN" altLang="en-US" smtClean="0"/>
              <a:t>2025/11/15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12C7F20-4EEE-4847-AC76-B538472E8A39}" type="slidenum">
              <a:rPr lang="zh-CN" altLang="en-US" smtClean="0"/>
              <a:t>‹#›</a:t>
            </a:fld>
            <a:endParaRPr lang="zh-CN" altLang="en-US"/>
          </a:p>
        </p:txBody>
      </p:sp>
    </p:spTree>
  </p:cSld>
  <p:clrMapOvr>
    <a:masterClrMapping/>
  </p:clrMapOvr>
  <p:transition spd="slow" advClick="0" advTm="1000">
    <p:randomBar dir="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8"/>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838202" y="365128"/>
            <a:ext cx="7734301"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C5B72DE3-FE0A-428A-AB10-325226F2F564}" type="datetimeFigureOut">
              <a:rPr lang="zh-CN" altLang="en-US" smtClean="0"/>
              <a:t>2025/11/15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12C7F20-4EEE-4847-AC76-B538472E8A39}" type="slidenum">
              <a:rPr lang="zh-CN" altLang="en-US" smtClean="0"/>
              <a:t>‹#›</a:t>
            </a:fld>
            <a:endParaRPr lang="zh-CN" altLang="en-US"/>
          </a:p>
        </p:txBody>
      </p:sp>
    </p:spTree>
  </p:cSld>
  <p:clrMapOvr>
    <a:masterClrMapping/>
  </p:clrMapOvr>
  <p:transition spd="slow" advClick="0" advTm="1000">
    <p:randomBar dir="vert"/>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 y="0"/>
            <a:ext cx="12192000" cy="6858000"/>
          </a:xfrm>
          <a:prstGeom prst="rect">
            <a:avLst/>
          </a:prstGeom>
        </p:spPr>
      </p:pic>
    </p:spTree>
  </p:cSld>
  <p:clrMapOvr>
    <a:masterClrMapping/>
  </p:clrMapOvr>
  <p:transition spd="slow" advClick="0" advTm="1000">
    <p:randomBar dir="vert"/>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3_空白">
    <p:bg>
      <p:bgRef idx="1001">
        <a:schemeClr val="bg1"/>
      </p:bgRef>
    </p:bg>
    <p:spTree>
      <p:nvGrpSpPr>
        <p:cNvPr id="1" name=""/>
        <p:cNvGrpSpPr/>
        <p:nvPr/>
      </p:nvGrpSpPr>
      <p:grpSpPr>
        <a:xfrm>
          <a:off x="0" y="0"/>
          <a:ext cx="0" cy="0"/>
          <a:chOff x="0" y="0"/>
          <a:chExt cx="0" cy="0"/>
        </a:xfrm>
      </p:grpSpPr>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1"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1" y="1825627"/>
            <a:ext cx="10515600" cy="4351339"/>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5B72DE3-FE0A-428A-AB10-325226F2F564}" type="datetimeFigureOut">
              <a:rPr lang="zh-CN" altLang="en-US" smtClean="0"/>
              <a:t>2025/11/15</a:t>
            </a:fld>
            <a:endParaRPr lang="zh-CN" altLang="en-US"/>
          </a:p>
        </p:txBody>
      </p:sp>
      <p:sp>
        <p:nvSpPr>
          <p:cNvPr id="5" name="Footer Placeholder 4"/>
          <p:cNvSpPr>
            <a:spLocks noGrp="1"/>
          </p:cNvSpPr>
          <p:nvPr>
            <p:ph type="ftr" sz="quarter" idx="3"/>
          </p:nvPr>
        </p:nvSpPr>
        <p:spPr>
          <a:xfrm>
            <a:off x="4038601"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12C7F20-4EEE-4847-AC76-B538472E8A3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 id="2147483665" r:id="rId12"/>
  </p:sldLayoutIdLst>
  <p:transition spd="slow" advClick="0" advTm="1000">
    <p:randomBar dir="vert"/>
  </p:transition>
  <p:txStyles>
    <p:titleStyle>
      <a:lvl1pPr algn="l" defTabSz="913765" rtl="0" eaLnBrk="1" latinLnBrk="0" hangingPunct="1">
        <a:lnSpc>
          <a:spcPct val="90000"/>
        </a:lnSpc>
        <a:spcBef>
          <a:spcPct val="0"/>
        </a:spcBef>
        <a:buNone/>
        <a:defRPr sz="4395" kern="1200">
          <a:solidFill>
            <a:schemeClr val="tx1"/>
          </a:solidFill>
          <a:latin typeface="+mj-lt"/>
          <a:ea typeface="+mj-ea"/>
          <a:cs typeface="+mj-cs"/>
        </a:defRPr>
      </a:lvl1pPr>
    </p:titleStyle>
    <p:bodyStyle>
      <a:lvl1pPr marL="228600" indent="-228600" algn="l" defTabSz="913765"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165" indent="-228600" algn="l" defTabSz="913765"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365" indent="-228600" algn="l" defTabSz="913765"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565"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1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095"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295"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3765" algn="l" defTabSz="913765" rtl="0" eaLnBrk="1" latinLnBrk="0" hangingPunct="1">
        <a:defRPr sz="1800" kern="1200">
          <a:solidFill>
            <a:schemeClr val="tx1"/>
          </a:solidFill>
          <a:latin typeface="+mn-lt"/>
          <a:ea typeface="+mn-ea"/>
          <a:cs typeface="+mn-cs"/>
        </a:defRPr>
      </a:lvl3pPr>
      <a:lvl4pPr marL="1370965" algn="l" defTabSz="913765" rtl="0" eaLnBrk="1" latinLnBrk="0" hangingPunct="1">
        <a:defRPr sz="1800" kern="1200">
          <a:solidFill>
            <a:schemeClr val="tx1"/>
          </a:solidFill>
          <a:latin typeface="+mn-lt"/>
          <a:ea typeface="+mn-ea"/>
          <a:cs typeface="+mn-cs"/>
        </a:defRPr>
      </a:lvl4pPr>
      <a:lvl5pPr marL="1827530" algn="l" defTabSz="913765" rtl="0" eaLnBrk="1" latinLnBrk="0" hangingPunct="1">
        <a:defRPr sz="1800" kern="1200">
          <a:solidFill>
            <a:schemeClr val="tx1"/>
          </a:solidFill>
          <a:latin typeface="+mn-lt"/>
          <a:ea typeface="+mn-ea"/>
          <a:cs typeface="+mn-cs"/>
        </a:defRPr>
      </a:lvl5pPr>
      <a:lvl6pPr marL="2284730" algn="l" defTabSz="913765" rtl="0" eaLnBrk="1" latinLnBrk="0" hangingPunct="1">
        <a:defRPr sz="1800" kern="1200">
          <a:solidFill>
            <a:schemeClr val="tx1"/>
          </a:solidFill>
          <a:latin typeface="+mn-lt"/>
          <a:ea typeface="+mn-ea"/>
          <a:cs typeface="+mn-cs"/>
        </a:defRPr>
      </a:lvl6pPr>
      <a:lvl7pPr marL="2741930" algn="l" defTabSz="913765" rtl="0" eaLnBrk="1" latinLnBrk="0" hangingPunct="1">
        <a:defRPr sz="1800" kern="1200">
          <a:solidFill>
            <a:schemeClr val="tx1"/>
          </a:solidFill>
          <a:latin typeface="+mn-lt"/>
          <a:ea typeface="+mn-ea"/>
          <a:cs typeface="+mn-cs"/>
        </a:defRPr>
      </a:lvl7pPr>
      <a:lvl8pPr marL="3198495" algn="l" defTabSz="913765" rtl="0" eaLnBrk="1" latinLnBrk="0" hangingPunct="1">
        <a:defRPr sz="1800" kern="1200">
          <a:solidFill>
            <a:schemeClr val="tx1"/>
          </a:solidFill>
          <a:latin typeface="+mn-lt"/>
          <a:ea typeface="+mn-ea"/>
          <a:cs typeface="+mn-cs"/>
        </a:defRPr>
      </a:lvl8pPr>
      <a:lvl9pPr marL="3655695" algn="l" defTabSz="913765"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389" y="365780"/>
            <a:ext cx="10515224" cy="1324636"/>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389" y="1825890"/>
            <a:ext cx="10515224" cy="4351729"/>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389" y="6356747"/>
            <a:ext cx="2742447" cy="364275"/>
          </a:xfrm>
          <a:prstGeom prst="rect">
            <a:avLst/>
          </a:prstGeom>
        </p:spPr>
        <p:txBody>
          <a:bodyPr vert="horz" lIns="91440" tIns="45720" rIns="91440" bIns="45720" rtlCol="0" anchor="ctr"/>
          <a:lstStyle>
            <a:lvl1pPr algn="l">
              <a:defRPr sz="1140">
                <a:solidFill>
                  <a:schemeClr val="tx1">
                    <a:tint val="75000"/>
                  </a:schemeClr>
                </a:solidFill>
              </a:defRPr>
            </a:lvl1pPr>
          </a:lstStyle>
          <a:p>
            <a:fld id="{43A93E93-166D-47F5-9EF1-ACEABE24AEEA}" type="datetimeFigureOut">
              <a:rPr lang="zh-CN" altLang="en-US" smtClean="0"/>
              <a:t>2025/11/15</a:t>
            </a:fld>
            <a:endParaRPr lang="zh-CN" altLang="en-US"/>
          </a:p>
        </p:txBody>
      </p:sp>
      <p:sp>
        <p:nvSpPr>
          <p:cNvPr id="5" name="页脚占位符 4"/>
          <p:cNvSpPr>
            <a:spLocks noGrp="1"/>
          </p:cNvSpPr>
          <p:nvPr>
            <p:ph type="ftr" sz="quarter" idx="3"/>
          </p:nvPr>
        </p:nvSpPr>
        <p:spPr>
          <a:xfrm>
            <a:off x="4038413" y="6356747"/>
            <a:ext cx="4115176" cy="364275"/>
          </a:xfrm>
          <a:prstGeom prst="rect">
            <a:avLst/>
          </a:prstGeom>
        </p:spPr>
        <p:txBody>
          <a:bodyPr vert="horz" lIns="91440" tIns="45720" rIns="91440" bIns="45720" rtlCol="0" anchor="ctr"/>
          <a:lstStyle>
            <a:lvl1pPr algn="ctr">
              <a:defRPr sz="114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1166" y="6356747"/>
            <a:ext cx="2742447" cy="364275"/>
          </a:xfrm>
          <a:prstGeom prst="rect">
            <a:avLst/>
          </a:prstGeom>
        </p:spPr>
        <p:txBody>
          <a:bodyPr vert="horz" lIns="91440" tIns="45720" rIns="91440" bIns="45720" rtlCol="0" anchor="ctr"/>
          <a:lstStyle>
            <a:lvl1pPr algn="r">
              <a:defRPr sz="1140">
                <a:solidFill>
                  <a:schemeClr val="tx1">
                    <a:tint val="75000"/>
                  </a:schemeClr>
                </a:solidFill>
              </a:defRPr>
            </a:lvl1pPr>
          </a:lstStyle>
          <a:p>
            <a:fld id="{118D5ACA-62CA-46DB-AD6B-12EDD6D51A23}"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7" r:id="rId1"/>
  </p:sldLayoutIdLst>
  <p:txStyles>
    <p:titleStyle>
      <a:lvl1pPr algn="l" defTabSz="866775" rtl="0" eaLnBrk="1" latinLnBrk="0" hangingPunct="1">
        <a:lnSpc>
          <a:spcPct val="90000"/>
        </a:lnSpc>
        <a:spcBef>
          <a:spcPct val="0"/>
        </a:spcBef>
        <a:buNone/>
        <a:defRPr sz="4170" kern="1200">
          <a:solidFill>
            <a:schemeClr val="tx1"/>
          </a:solidFill>
          <a:latin typeface="+mj-lt"/>
          <a:ea typeface="+mj-ea"/>
          <a:cs typeface="+mj-cs"/>
        </a:defRPr>
      </a:lvl1pPr>
    </p:titleStyle>
    <p:bodyStyle>
      <a:lvl1pPr marL="216535" indent="-216535" algn="l" defTabSz="866775" rtl="0" eaLnBrk="1" latinLnBrk="0" hangingPunct="1">
        <a:lnSpc>
          <a:spcPct val="90000"/>
        </a:lnSpc>
        <a:spcBef>
          <a:spcPts val="950"/>
        </a:spcBef>
        <a:buFont typeface="Arial" panose="020B0604020202020204" pitchFamily="34" charset="0"/>
        <a:buChar char="•"/>
        <a:defRPr sz="2655" kern="1200">
          <a:solidFill>
            <a:schemeClr val="tx1"/>
          </a:solidFill>
          <a:latin typeface="+mn-lt"/>
          <a:ea typeface="+mn-ea"/>
          <a:cs typeface="+mn-cs"/>
        </a:defRPr>
      </a:lvl1pPr>
      <a:lvl2pPr marL="650240" indent="-216535" algn="l" defTabSz="866775" rtl="0" eaLnBrk="1" latinLnBrk="0" hangingPunct="1">
        <a:lnSpc>
          <a:spcPct val="90000"/>
        </a:lnSpc>
        <a:spcBef>
          <a:spcPts val="475"/>
        </a:spcBef>
        <a:buFont typeface="Arial" panose="020B0604020202020204" pitchFamily="34" charset="0"/>
        <a:buChar char="•"/>
        <a:defRPr sz="2275" kern="1200">
          <a:solidFill>
            <a:schemeClr val="tx1"/>
          </a:solidFill>
          <a:latin typeface="+mn-lt"/>
          <a:ea typeface="+mn-ea"/>
          <a:cs typeface="+mn-cs"/>
        </a:defRPr>
      </a:lvl2pPr>
      <a:lvl3pPr marL="1083945" indent="-216535" algn="l" defTabSz="866775" rtl="0" eaLnBrk="1" latinLnBrk="0" hangingPunct="1">
        <a:lnSpc>
          <a:spcPct val="90000"/>
        </a:lnSpc>
        <a:spcBef>
          <a:spcPts val="475"/>
        </a:spcBef>
        <a:buFont typeface="Arial" panose="020B0604020202020204" pitchFamily="34" charset="0"/>
        <a:buChar char="•"/>
        <a:defRPr sz="1895" kern="1200">
          <a:solidFill>
            <a:schemeClr val="tx1"/>
          </a:solidFill>
          <a:latin typeface="+mn-lt"/>
          <a:ea typeface="+mn-ea"/>
          <a:cs typeface="+mn-cs"/>
        </a:defRPr>
      </a:lvl3pPr>
      <a:lvl4pPr marL="1517015" indent="-216535" algn="l" defTabSz="866775" rtl="0" eaLnBrk="1" latinLnBrk="0" hangingPunct="1">
        <a:lnSpc>
          <a:spcPct val="90000"/>
        </a:lnSpc>
        <a:spcBef>
          <a:spcPts val="475"/>
        </a:spcBef>
        <a:buFont typeface="Arial" panose="020B0604020202020204" pitchFamily="34" charset="0"/>
        <a:buChar char="•"/>
        <a:defRPr sz="1705" kern="1200">
          <a:solidFill>
            <a:schemeClr val="tx1"/>
          </a:solidFill>
          <a:latin typeface="+mn-lt"/>
          <a:ea typeface="+mn-ea"/>
          <a:cs typeface="+mn-cs"/>
        </a:defRPr>
      </a:lvl4pPr>
      <a:lvl5pPr marL="1950720" indent="-216535" algn="l" defTabSz="866775" rtl="0" eaLnBrk="1" latinLnBrk="0" hangingPunct="1">
        <a:lnSpc>
          <a:spcPct val="90000"/>
        </a:lnSpc>
        <a:spcBef>
          <a:spcPts val="475"/>
        </a:spcBef>
        <a:buFont typeface="Arial" panose="020B0604020202020204" pitchFamily="34" charset="0"/>
        <a:buChar char="•"/>
        <a:defRPr sz="1705" kern="1200">
          <a:solidFill>
            <a:schemeClr val="tx1"/>
          </a:solidFill>
          <a:latin typeface="+mn-lt"/>
          <a:ea typeface="+mn-ea"/>
          <a:cs typeface="+mn-cs"/>
        </a:defRPr>
      </a:lvl5pPr>
      <a:lvl6pPr marL="2383790" indent="-216535" algn="l" defTabSz="866775" rtl="0" eaLnBrk="1" latinLnBrk="0" hangingPunct="1">
        <a:lnSpc>
          <a:spcPct val="90000"/>
        </a:lnSpc>
        <a:spcBef>
          <a:spcPts val="475"/>
        </a:spcBef>
        <a:buFont typeface="Arial" panose="020B0604020202020204" pitchFamily="34" charset="0"/>
        <a:buChar char="•"/>
        <a:defRPr sz="1705" kern="1200">
          <a:solidFill>
            <a:schemeClr val="tx1"/>
          </a:solidFill>
          <a:latin typeface="+mn-lt"/>
          <a:ea typeface="+mn-ea"/>
          <a:cs typeface="+mn-cs"/>
        </a:defRPr>
      </a:lvl6pPr>
      <a:lvl7pPr marL="2817495" indent="-216535" algn="l" defTabSz="866775" rtl="0" eaLnBrk="1" latinLnBrk="0" hangingPunct="1">
        <a:lnSpc>
          <a:spcPct val="90000"/>
        </a:lnSpc>
        <a:spcBef>
          <a:spcPts val="475"/>
        </a:spcBef>
        <a:buFont typeface="Arial" panose="020B0604020202020204" pitchFamily="34" charset="0"/>
        <a:buChar char="•"/>
        <a:defRPr sz="1705" kern="1200">
          <a:solidFill>
            <a:schemeClr val="tx1"/>
          </a:solidFill>
          <a:latin typeface="+mn-lt"/>
          <a:ea typeface="+mn-ea"/>
          <a:cs typeface="+mn-cs"/>
        </a:defRPr>
      </a:lvl7pPr>
      <a:lvl8pPr marL="3251200" indent="-216535" algn="l" defTabSz="866775" rtl="0" eaLnBrk="1" latinLnBrk="0" hangingPunct="1">
        <a:lnSpc>
          <a:spcPct val="90000"/>
        </a:lnSpc>
        <a:spcBef>
          <a:spcPts val="475"/>
        </a:spcBef>
        <a:buFont typeface="Arial" panose="020B0604020202020204" pitchFamily="34" charset="0"/>
        <a:buChar char="•"/>
        <a:defRPr sz="1705" kern="1200">
          <a:solidFill>
            <a:schemeClr val="tx1"/>
          </a:solidFill>
          <a:latin typeface="+mn-lt"/>
          <a:ea typeface="+mn-ea"/>
          <a:cs typeface="+mn-cs"/>
        </a:defRPr>
      </a:lvl8pPr>
      <a:lvl9pPr marL="3684270" indent="-216535" algn="l" defTabSz="866775" rtl="0" eaLnBrk="1" latinLnBrk="0" hangingPunct="1">
        <a:lnSpc>
          <a:spcPct val="90000"/>
        </a:lnSpc>
        <a:spcBef>
          <a:spcPts val="475"/>
        </a:spcBef>
        <a:buFont typeface="Arial" panose="020B0604020202020204" pitchFamily="34" charset="0"/>
        <a:buChar char="•"/>
        <a:defRPr sz="1705" kern="1200">
          <a:solidFill>
            <a:schemeClr val="tx1"/>
          </a:solidFill>
          <a:latin typeface="+mn-lt"/>
          <a:ea typeface="+mn-ea"/>
          <a:cs typeface="+mn-cs"/>
        </a:defRPr>
      </a:lvl9pPr>
    </p:bodyStyle>
    <p:otherStyle>
      <a:defPPr>
        <a:defRPr lang="zh-CN"/>
      </a:defPPr>
      <a:lvl1pPr marL="0" algn="l" defTabSz="866775" rtl="0" eaLnBrk="1" latinLnBrk="0" hangingPunct="1">
        <a:defRPr sz="1705" kern="1200">
          <a:solidFill>
            <a:schemeClr val="tx1"/>
          </a:solidFill>
          <a:latin typeface="+mn-lt"/>
          <a:ea typeface="+mn-ea"/>
          <a:cs typeface="+mn-cs"/>
        </a:defRPr>
      </a:lvl1pPr>
      <a:lvl2pPr marL="433705" algn="l" defTabSz="866775" rtl="0" eaLnBrk="1" latinLnBrk="0" hangingPunct="1">
        <a:defRPr sz="1705" kern="1200">
          <a:solidFill>
            <a:schemeClr val="tx1"/>
          </a:solidFill>
          <a:latin typeface="+mn-lt"/>
          <a:ea typeface="+mn-ea"/>
          <a:cs typeface="+mn-cs"/>
        </a:defRPr>
      </a:lvl2pPr>
      <a:lvl3pPr marL="866775" algn="l" defTabSz="866775" rtl="0" eaLnBrk="1" latinLnBrk="0" hangingPunct="1">
        <a:defRPr sz="1705" kern="1200">
          <a:solidFill>
            <a:schemeClr val="tx1"/>
          </a:solidFill>
          <a:latin typeface="+mn-lt"/>
          <a:ea typeface="+mn-ea"/>
          <a:cs typeface="+mn-cs"/>
        </a:defRPr>
      </a:lvl3pPr>
      <a:lvl4pPr marL="1300480" algn="l" defTabSz="866775" rtl="0" eaLnBrk="1" latinLnBrk="0" hangingPunct="1">
        <a:defRPr sz="1705" kern="1200">
          <a:solidFill>
            <a:schemeClr val="tx1"/>
          </a:solidFill>
          <a:latin typeface="+mn-lt"/>
          <a:ea typeface="+mn-ea"/>
          <a:cs typeface="+mn-cs"/>
        </a:defRPr>
      </a:lvl4pPr>
      <a:lvl5pPr marL="1734185" algn="l" defTabSz="866775" rtl="0" eaLnBrk="1" latinLnBrk="0" hangingPunct="1">
        <a:defRPr sz="1705" kern="1200">
          <a:solidFill>
            <a:schemeClr val="tx1"/>
          </a:solidFill>
          <a:latin typeface="+mn-lt"/>
          <a:ea typeface="+mn-ea"/>
          <a:cs typeface="+mn-cs"/>
        </a:defRPr>
      </a:lvl5pPr>
      <a:lvl6pPr marL="2167255" algn="l" defTabSz="866775" rtl="0" eaLnBrk="1" latinLnBrk="0" hangingPunct="1">
        <a:defRPr sz="1705" kern="1200">
          <a:solidFill>
            <a:schemeClr val="tx1"/>
          </a:solidFill>
          <a:latin typeface="+mn-lt"/>
          <a:ea typeface="+mn-ea"/>
          <a:cs typeface="+mn-cs"/>
        </a:defRPr>
      </a:lvl6pPr>
      <a:lvl7pPr marL="2600960" algn="l" defTabSz="866775" rtl="0" eaLnBrk="1" latinLnBrk="0" hangingPunct="1">
        <a:defRPr sz="1705" kern="1200">
          <a:solidFill>
            <a:schemeClr val="tx1"/>
          </a:solidFill>
          <a:latin typeface="+mn-lt"/>
          <a:ea typeface="+mn-ea"/>
          <a:cs typeface="+mn-cs"/>
        </a:defRPr>
      </a:lvl7pPr>
      <a:lvl8pPr marL="3034030" algn="l" defTabSz="866775" rtl="0" eaLnBrk="1" latinLnBrk="0" hangingPunct="1">
        <a:defRPr sz="1705" kern="1200">
          <a:solidFill>
            <a:schemeClr val="tx1"/>
          </a:solidFill>
          <a:latin typeface="+mn-lt"/>
          <a:ea typeface="+mn-ea"/>
          <a:cs typeface="+mn-cs"/>
        </a:defRPr>
      </a:lvl8pPr>
      <a:lvl9pPr marL="3467735" algn="l" defTabSz="866775" rtl="0" eaLnBrk="1" latinLnBrk="0" hangingPunct="1">
        <a:defRPr sz="170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microsoft.com/office/2007/relationships/hdphoto" Target="../media/hdphoto2.wdp"/><Relationship Id="rId5" Type="http://schemas.openxmlformats.org/officeDocument/2006/relationships/image" Target="../media/image3.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4.png"/><Relationship Id="rId7"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wdUpDiag">
          <a:fgClr>
            <a:schemeClr val="bg1">
              <a:lumMod val="95000"/>
            </a:schemeClr>
          </a:fgClr>
          <a:bgClr>
            <a:schemeClr val="bg1"/>
          </a:bgClr>
        </a:pattFill>
        <a:effectLst/>
      </p:bgPr>
    </p:bg>
    <p:spTree>
      <p:nvGrpSpPr>
        <p:cNvPr id="1" name=""/>
        <p:cNvGrpSpPr/>
        <p:nvPr/>
      </p:nvGrpSpPr>
      <p:grpSpPr>
        <a:xfrm>
          <a:off x="0" y="0"/>
          <a:ext cx="0" cy="0"/>
          <a:chOff x="0" y="0"/>
          <a:chExt cx="0" cy="0"/>
        </a:xfrm>
      </p:grpSpPr>
      <p:sp>
        <p:nvSpPr>
          <p:cNvPr id="5" name="矩形 4"/>
          <p:cNvSpPr/>
          <p:nvPr/>
        </p:nvSpPr>
        <p:spPr>
          <a:xfrm>
            <a:off x="0" y="2546580"/>
            <a:ext cx="12191331" cy="1838567"/>
          </a:xfrm>
          <a:prstGeom prst="rect">
            <a:avLst/>
          </a:prstGeom>
          <a:solidFill>
            <a:srgbClr val="1A78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dirty="0">
              <a:solidFill>
                <a:prstClr val="white"/>
              </a:solidFill>
              <a:latin typeface="Calibri" panose="020F0502020204030204"/>
              <a:ea typeface="等线" panose="02010600030101010101" pitchFamily="2" charset="-122"/>
            </a:endParaRPr>
          </a:p>
        </p:txBody>
      </p:sp>
      <p:sp>
        <p:nvSpPr>
          <p:cNvPr id="12" name="椭圆 11"/>
          <p:cNvSpPr/>
          <p:nvPr/>
        </p:nvSpPr>
        <p:spPr>
          <a:xfrm>
            <a:off x="1524353" y="2153727"/>
            <a:ext cx="2624273" cy="2624273"/>
          </a:xfrm>
          <a:prstGeom prst="ellipse">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prstClr val="white"/>
              </a:solidFill>
              <a:latin typeface="Calibri" panose="020F0502020204030204"/>
              <a:ea typeface="等线" panose="02010600030101010101" pitchFamily="2" charset="-122"/>
            </a:endParaRPr>
          </a:p>
        </p:txBody>
      </p:sp>
      <p:pic>
        <p:nvPicPr>
          <p:cNvPr id="9" name="图片 8"/>
          <p:cNvPicPr>
            <a:picLocks noChangeAspect="1"/>
          </p:cNvPicPr>
          <p:nvPr/>
        </p:nvPicPr>
        <p:blipFill>
          <a:blip r:embed="rId3">
            <a:extLst>
              <a:ext uri="{BEBA8EAE-BF5A-486C-A8C5-ECC9F3942E4B}">
                <a14:imgProps xmlns:a14="http://schemas.microsoft.com/office/drawing/2010/main">
                  <a14:imgLayer r:embed="rId4">
                    <a14:imgEffect>
                      <a14:brightnessContrast bright="14000" contrast="21000"/>
                    </a14:imgEffect>
                    <a14:imgEffect>
                      <a14:colorTemperature colorTemp="6700"/>
                    </a14:imgEffect>
                  </a14:imgLayer>
                </a14:imgProps>
              </a:ext>
              <a:ext uri="{28A0092B-C50C-407E-A947-70E740481C1C}">
                <a14:useLocalDpi xmlns:a14="http://schemas.microsoft.com/office/drawing/2010/main" val="0"/>
              </a:ext>
            </a:extLst>
          </a:blip>
          <a:stretch>
            <a:fillRect/>
          </a:stretch>
        </p:blipFill>
        <p:spPr>
          <a:xfrm>
            <a:off x="1266181" y="2014069"/>
            <a:ext cx="3140616" cy="2903588"/>
          </a:xfrm>
          <a:prstGeom prst="rect">
            <a:avLst/>
          </a:prstGeom>
        </p:spPr>
      </p:pic>
      <p:sp>
        <p:nvSpPr>
          <p:cNvPr id="8" name="文本框 7"/>
          <p:cNvSpPr txBox="1"/>
          <p:nvPr/>
        </p:nvSpPr>
        <p:spPr>
          <a:xfrm>
            <a:off x="3793188" y="2927254"/>
            <a:ext cx="8398143" cy="1077218"/>
          </a:xfrm>
          <a:prstGeom prst="rect">
            <a:avLst/>
          </a:prstGeom>
          <a:noFill/>
        </p:spPr>
        <p:txBody>
          <a:bodyPr wrap="square" rtlCol="0">
            <a:spAutoFit/>
          </a:bodyPr>
          <a:lstStyle/>
          <a:p>
            <a:pPr algn="ctr" defTabSz="913765">
              <a:defRPr/>
            </a:pPr>
            <a:r>
              <a:rPr lang="it-IT" altLang="zh-CN" sz="3200" b="1" dirty="0">
                <a:solidFill>
                  <a:prstClr val="white"/>
                </a:solidFill>
                <a:latin typeface="微软雅黑" panose="020B0503020204020204" pitchFamily="34" charset="-122"/>
                <a:ea typeface="微软雅黑" panose="020B0503020204020204" pitchFamily="34" charset="-122"/>
                <a:cs typeface="微软雅黑" panose="020B0503020204020204" pitchFamily="34" charset="-122"/>
              </a:rPr>
              <a:t>Multi-modal Medical Diagnosis via Large-small Model Collaboration</a:t>
            </a:r>
            <a:endParaRPr lang="en-US" altLang="zh-CN" sz="3200" b="1" dirty="0">
              <a:solidFill>
                <a:prstClr val="white"/>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0" name="图片 9"/>
          <p:cNvPicPr>
            <a:picLocks noChangeAspect="1"/>
          </p:cNvPicPr>
          <p:nvPr/>
        </p:nvPicPr>
        <p:blipFill>
          <a:blip r:embed="rId5" cstate="print">
            <a:extLst>
              <a:ext uri="{BEBA8EAE-BF5A-486C-A8C5-ECC9F3942E4B}">
                <a14:imgProps xmlns:a14="http://schemas.microsoft.com/office/drawing/2010/main">
                  <a14:imgLayer r:embed="rId6">
                    <a14:imgEffect>
                      <a14:brightnessContrast bright="14000" contrast="21000"/>
                    </a14:imgEffect>
                    <a14:imgEffect>
                      <a14:colorTemperature colorTemp="6700"/>
                    </a14:imgEffect>
                    <a14:imgEffect>
                      <a14:sharpenSoften amount="3000"/>
                    </a14:imgEffect>
                  </a14:imgLayer>
                </a14:imgProps>
              </a:ext>
              <a:ext uri="{28A0092B-C50C-407E-A947-70E740481C1C}">
                <a14:useLocalDpi xmlns:a14="http://schemas.microsoft.com/office/drawing/2010/main" val="0"/>
              </a:ext>
            </a:extLst>
          </a:blip>
          <a:stretch>
            <a:fillRect/>
          </a:stretch>
        </p:blipFill>
        <p:spPr>
          <a:xfrm>
            <a:off x="9897401" y="150150"/>
            <a:ext cx="1966449" cy="575997"/>
          </a:xfrm>
          <a:prstGeom prst="rect">
            <a:avLst/>
          </a:prstGeom>
        </p:spPr>
      </p:pic>
      <p:grpSp>
        <p:nvGrpSpPr>
          <p:cNvPr id="13" name="组合 12"/>
          <p:cNvGrpSpPr/>
          <p:nvPr/>
        </p:nvGrpSpPr>
        <p:grpSpPr>
          <a:xfrm>
            <a:off x="4581189" y="5938779"/>
            <a:ext cx="3028952" cy="799311"/>
            <a:chOff x="4977763" y="4912139"/>
            <a:chExt cx="3028952" cy="799311"/>
          </a:xfrm>
        </p:grpSpPr>
        <p:sp>
          <p:nvSpPr>
            <p:cNvPr id="16" name="文本占位符 56"/>
            <p:cNvSpPr txBox="1"/>
            <p:nvPr/>
          </p:nvSpPr>
          <p:spPr>
            <a:xfrm>
              <a:off x="5530014" y="4912139"/>
              <a:ext cx="1924047" cy="353120"/>
            </a:xfrm>
            <a:custGeom>
              <a:avLst/>
              <a:gdLst>
                <a:gd name="connsiteX0" fmla="*/ 0 w 1747925"/>
                <a:gd name="connsiteY0" fmla="*/ 176559 h 353120"/>
                <a:gd name="connsiteX1" fmla="*/ 0 w 1747925"/>
                <a:gd name="connsiteY1" fmla="*/ 176560 h 353120"/>
                <a:gd name="connsiteX2" fmla="*/ 0 w 1747925"/>
                <a:gd name="connsiteY2" fmla="*/ 176560 h 353120"/>
                <a:gd name="connsiteX3" fmla="*/ 176560 w 1747925"/>
                <a:gd name="connsiteY3" fmla="*/ 0 h 353120"/>
                <a:gd name="connsiteX4" fmla="*/ 1571365 w 1747925"/>
                <a:gd name="connsiteY4" fmla="*/ 0 h 353120"/>
                <a:gd name="connsiteX5" fmla="*/ 1747925 w 1747925"/>
                <a:gd name="connsiteY5" fmla="*/ 176560 h 353120"/>
                <a:gd name="connsiteX6" fmla="*/ 1747924 w 1747925"/>
                <a:gd name="connsiteY6" fmla="*/ 176560 h 353120"/>
                <a:gd name="connsiteX7" fmla="*/ 1571364 w 1747925"/>
                <a:gd name="connsiteY7" fmla="*/ 353120 h 353120"/>
                <a:gd name="connsiteX8" fmla="*/ 176560 w 1747925"/>
                <a:gd name="connsiteY8" fmla="*/ 353119 h 353120"/>
                <a:gd name="connsiteX9" fmla="*/ 13875 w 1747925"/>
                <a:gd name="connsiteY9" fmla="*/ 245284 h 353120"/>
                <a:gd name="connsiteX10" fmla="*/ 0 w 1747925"/>
                <a:gd name="connsiteY10" fmla="*/ 176560 h 353120"/>
                <a:gd name="connsiteX11" fmla="*/ 13875 w 1747925"/>
                <a:gd name="connsiteY11" fmla="*/ 107835 h 353120"/>
                <a:gd name="connsiteX12" fmla="*/ 176560 w 1747925"/>
                <a:gd name="connsiteY12" fmla="*/ 0 h 353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47925" h="353120">
                  <a:moveTo>
                    <a:pt x="0" y="176559"/>
                  </a:moveTo>
                  <a:lnTo>
                    <a:pt x="0" y="176560"/>
                  </a:lnTo>
                  <a:lnTo>
                    <a:pt x="0" y="176560"/>
                  </a:lnTo>
                  <a:close/>
                  <a:moveTo>
                    <a:pt x="176560" y="0"/>
                  </a:moveTo>
                  <a:lnTo>
                    <a:pt x="1571365" y="0"/>
                  </a:lnTo>
                  <a:cubicBezTo>
                    <a:pt x="1668876" y="0"/>
                    <a:pt x="1747925" y="79049"/>
                    <a:pt x="1747925" y="176560"/>
                  </a:cubicBezTo>
                  <a:lnTo>
                    <a:pt x="1747924" y="176560"/>
                  </a:lnTo>
                  <a:cubicBezTo>
                    <a:pt x="1747924" y="274071"/>
                    <a:pt x="1668875" y="353120"/>
                    <a:pt x="1571364" y="353120"/>
                  </a:cubicBezTo>
                  <a:lnTo>
                    <a:pt x="176560" y="353119"/>
                  </a:lnTo>
                  <a:cubicBezTo>
                    <a:pt x="103427" y="353119"/>
                    <a:pt x="40679" y="308654"/>
                    <a:pt x="13875" y="245284"/>
                  </a:cubicBezTo>
                  <a:lnTo>
                    <a:pt x="0" y="176560"/>
                  </a:lnTo>
                  <a:lnTo>
                    <a:pt x="13875" y="107835"/>
                  </a:lnTo>
                  <a:cubicBezTo>
                    <a:pt x="40679" y="44465"/>
                    <a:pt x="103427" y="0"/>
                    <a:pt x="176560" y="0"/>
                  </a:cubicBezTo>
                  <a:close/>
                </a:path>
              </a:pathLst>
            </a:custGeom>
            <a:solidFill>
              <a:srgbClr val="1A78C3"/>
            </a:solidFill>
          </p:spPr>
          <p:txBody>
            <a:bodyPr vert="horz" wrap="square" lIns="91440" tIns="45720" rIns="91440" bIns="45720" rtlCol="0" anchor="ctr" anchorCtr="0">
              <a:noAutofit/>
            </a:bodyPr>
            <a:lstStyle>
              <a:lvl1pPr marL="0" indent="0" algn="ctr" defTabSz="914400" rtl="0" eaLnBrk="1" latinLnBrk="0" hangingPunct="1">
                <a:lnSpc>
                  <a:spcPct val="90000"/>
                </a:lnSpc>
                <a:spcBef>
                  <a:spcPts val="1000"/>
                </a:spcBef>
                <a:buFontTx/>
                <a:buNone/>
                <a:defRPr sz="140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Tx/>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dirty="0">
                  <a:solidFill>
                    <a:sysClr val="window" lastClr="FFFFFF"/>
                  </a:solidFill>
                  <a:latin typeface="Arial" panose="020B0604020202020204"/>
                  <a:ea typeface="微软雅黑" panose="020B0503020204020204" pitchFamily="34" charset="-122"/>
                </a:rPr>
                <a:t>汇报人：邓恒章</a:t>
              </a:r>
            </a:p>
          </p:txBody>
        </p:sp>
        <p:sp>
          <p:nvSpPr>
            <p:cNvPr id="17" name="文本占位符 13"/>
            <p:cNvSpPr txBox="1"/>
            <p:nvPr/>
          </p:nvSpPr>
          <p:spPr>
            <a:xfrm>
              <a:off x="4977763" y="5415179"/>
              <a:ext cx="3028952" cy="296271"/>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1400" b="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US" altLang="zh-CN" dirty="0">
                  <a:solidFill>
                    <a:sysClr val="windowText" lastClr="000000"/>
                  </a:solidFill>
                  <a:latin typeface="Arial" panose="020B0604020202020204"/>
                  <a:ea typeface="微软雅黑" panose="020B0503020204020204" pitchFamily="34" charset="-122"/>
                </a:rPr>
                <a:t> 2025 / 11 / 15</a:t>
              </a:r>
              <a:endParaRPr lang="zh-CN" altLang="en-US" dirty="0">
                <a:solidFill>
                  <a:sysClr val="windowText" lastClr="000000"/>
                </a:solidFill>
                <a:latin typeface="Arial" panose="020B0604020202020204"/>
                <a:ea typeface="微软雅黑" panose="020B0503020204020204" pitchFamily="34" charset="-122"/>
              </a:endParaRPr>
            </a:p>
          </p:txBody>
        </p:sp>
      </p:grpSp>
      <p:sp>
        <p:nvSpPr>
          <p:cNvPr id="11" name="文本占位符 13">
            <a:extLst>
              <a:ext uri="{FF2B5EF4-FFF2-40B4-BE49-F238E27FC236}">
                <a16:creationId xmlns:a16="http://schemas.microsoft.com/office/drawing/2014/main" id="{F3FB24F5-63D6-4DE8-8E4D-977EB21B2EFE}"/>
              </a:ext>
            </a:extLst>
          </p:cNvPr>
          <p:cNvSpPr txBox="1"/>
          <p:nvPr/>
        </p:nvSpPr>
        <p:spPr>
          <a:xfrm>
            <a:off x="4581189" y="5389845"/>
            <a:ext cx="3028952" cy="798027"/>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1400" b="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US" altLang="zh-CN" dirty="0">
                <a:solidFill>
                  <a:sysClr val="windowText" lastClr="000000"/>
                </a:solidFill>
                <a:latin typeface="Arial" panose="020B0604020202020204"/>
                <a:ea typeface="微软雅黑" panose="020B0503020204020204" pitchFamily="34" charset="-122"/>
              </a:rPr>
              <a:t>CVPR2025</a:t>
            </a:r>
            <a:endParaRPr lang="zh-CN" altLang="en-US" dirty="0">
              <a:solidFill>
                <a:sysClr val="windowText" lastClr="000000"/>
              </a:solidFill>
              <a:latin typeface="Arial" panose="020B0604020202020204"/>
              <a:ea typeface="微软雅黑" panose="020B0503020204020204" pitchFamily="34" charset="-122"/>
            </a:endParaRPr>
          </a:p>
        </p:txBody>
      </p:sp>
    </p:spTree>
  </p:cSld>
  <p:clrMapOvr>
    <a:masterClrMapping/>
  </p:clrMapOvr>
  <p:transition spd="slow" advClick="0" advTm="1000">
    <p:randomBar dir="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1" name="直接连接符 50"/>
          <p:cNvCxnSpPr/>
          <p:nvPr/>
        </p:nvCxnSpPr>
        <p:spPr>
          <a:xfrm>
            <a:off x="660400" y="760413"/>
            <a:ext cx="10858500" cy="0"/>
          </a:xfrm>
          <a:prstGeom prst="line">
            <a:avLst/>
          </a:prstGeom>
          <a:noFill/>
          <a:ln w="22225" cap="flat" cmpd="sng" algn="ctr">
            <a:solidFill>
              <a:srgbClr val="1C6299"/>
            </a:solidFill>
            <a:prstDash val="solid"/>
            <a:miter lim="800000"/>
          </a:ln>
          <a:effectLst/>
        </p:spPr>
      </p:cxnSp>
      <p:sp>
        <p:nvSpPr>
          <p:cNvPr id="52" name="标题占位符 1"/>
          <p:cNvSpPr txBox="1"/>
          <p:nvPr/>
        </p:nvSpPr>
        <p:spPr>
          <a:xfrm>
            <a:off x="965200" y="-100014"/>
            <a:ext cx="5435600" cy="817564"/>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lang="en-US" altLang="zh-CN" sz="2600" b="1" dirty="0">
                <a:solidFill>
                  <a:sysClr val="windowText" lastClr="000000"/>
                </a:solidFill>
                <a:latin typeface="Arial" panose="020B0604020202020204"/>
                <a:ea typeface="微软雅黑" panose="020B0503020204020204" pitchFamily="34" charset="-122"/>
              </a:rPr>
              <a:t>Authors</a:t>
            </a:r>
            <a:endParaRPr kumimoji="0" lang="zh-CN" altLang="en-US" sz="2600" b="1" i="0" u="none" strike="noStrike" kern="1200" cap="none" spc="0" normalizeH="0" baseline="0" noProof="0" dirty="0">
              <a:ln>
                <a:noFill/>
              </a:ln>
              <a:solidFill>
                <a:sysClr val="windowText" lastClr="000000"/>
              </a:solidFill>
              <a:effectLst/>
              <a:uLnTx/>
              <a:uFillTx/>
              <a:latin typeface="Arial" panose="020B0604020202020204"/>
              <a:ea typeface="微软雅黑" panose="020B0503020204020204" pitchFamily="34" charset="-122"/>
              <a:cs typeface="+mj-cs"/>
            </a:endParaRPr>
          </a:p>
        </p:txBody>
      </p:sp>
      <p:grpSp>
        <p:nvGrpSpPr>
          <p:cNvPr id="54" name="组合 53"/>
          <p:cNvGrpSpPr/>
          <p:nvPr/>
        </p:nvGrpSpPr>
        <p:grpSpPr>
          <a:xfrm>
            <a:off x="203760" y="159728"/>
            <a:ext cx="725344" cy="619478"/>
            <a:chOff x="178632" y="159728"/>
            <a:chExt cx="725344" cy="619478"/>
          </a:xfrm>
        </p:grpSpPr>
        <p:sp>
          <p:nvSpPr>
            <p:cNvPr id="55" name="椭圆 54"/>
            <p:cNvSpPr/>
            <p:nvPr/>
          </p:nvSpPr>
          <p:spPr>
            <a:xfrm>
              <a:off x="358210" y="159728"/>
              <a:ext cx="468000" cy="468000"/>
            </a:xfrm>
            <a:prstGeom prst="ellipse">
              <a:avLst/>
            </a:prstGeom>
            <a:gradFill>
              <a:gsLst>
                <a:gs pos="0">
                  <a:srgbClr val="1C6299"/>
                </a:gs>
                <a:gs pos="100000">
                  <a:srgbClr val="5C307D">
                    <a:alpha val="9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6" name="文本框 55"/>
            <p:cNvSpPr txBox="1"/>
            <p:nvPr/>
          </p:nvSpPr>
          <p:spPr>
            <a:xfrm>
              <a:off x="230876" y="233483"/>
              <a:ext cx="67310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01</a:t>
              </a:r>
              <a:endParaRPr kumimoji="0" lang="zh-CN" altLang="en-US"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7" name="椭圆 56"/>
            <p:cNvSpPr/>
            <p:nvPr/>
          </p:nvSpPr>
          <p:spPr>
            <a:xfrm>
              <a:off x="178632" y="602993"/>
              <a:ext cx="176213" cy="176213"/>
            </a:xfrm>
            <a:prstGeom prst="ellipse">
              <a:avLst/>
            </a:prstGeom>
            <a:gradFill>
              <a:gsLst>
                <a:gs pos="0">
                  <a:srgbClr val="1C6299"/>
                </a:gs>
                <a:gs pos="100000">
                  <a:srgbClr val="5C307D">
                    <a:alpha val="90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59" name="文本框 58"/>
          <p:cNvSpPr txBox="1"/>
          <p:nvPr/>
        </p:nvSpPr>
        <p:spPr>
          <a:xfrm>
            <a:off x="660400" y="6583649"/>
            <a:ext cx="1941557"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自强不息 厚德载物</a:t>
            </a:r>
          </a:p>
        </p:txBody>
      </p:sp>
      <p:pic>
        <p:nvPicPr>
          <p:cNvPr id="61" name="图片 6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24913" y="176378"/>
            <a:ext cx="1897854" cy="555905"/>
          </a:xfrm>
          <a:prstGeom prst="rect">
            <a:avLst/>
          </a:prstGeom>
        </p:spPr>
      </p:pic>
      <p:sp>
        <p:nvSpPr>
          <p:cNvPr id="62" name="矩形 61"/>
          <p:cNvSpPr/>
          <p:nvPr/>
        </p:nvSpPr>
        <p:spPr>
          <a:xfrm>
            <a:off x="0" y="6570000"/>
            <a:ext cx="12192000" cy="288000"/>
          </a:xfrm>
          <a:prstGeom prst="rect">
            <a:avLst/>
          </a:prstGeom>
          <a:solidFill>
            <a:srgbClr val="1C629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63" name="文本框 62"/>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latin typeface="微软雅黑" panose="020B0503020204020204" pitchFamily="34" charset="-122"/>
                <a:ea typeface="微软雅黑" panose="020B0503020204020204" pitchFamily="34" charset="-122"/>
              </a:rPr>
              <a:t>知行合一、经世致用</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4" name="文本框 63"/>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latin typeface="Arial" panose="020B0604020202020204" pitchFamily="34" charset="0"/>
                <a:ea typeface="微软雅黑" panose="020B0503020204020204" pitchFamily="34" charset="-122"/>
                <a:cs typeface="Arial" panose="020B0604020202020204" pitchFamily="34" charset="0"/>
              </a:rPr>
              <a:t>Central South University</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pic>
        <p:nvPicPr>
          <p:cNvPr id="3" name="图片 2">
            <a:extLst>
              <a:ext uri="{FF2B5EF4-FFF2-40B4-BE49-F238E27FC236}">
                <a16:creationId xmlns:a16="http://schemas.microsoft.com/office/drawing/2014/main" id="{962B01E7-FE4B-4571-9BCD-344B446D5F66}"/>
              </a:ext>
            </a:extLst>
          </p:cNvPr>
          <p:cNvPicPr>
            <a:picLocks noChangeAspect="1"/>
          </p:cNvPicPr>
          <p:nvPr/>
        </p:nvPicPr>
        <p:blipFill>
          <a:blip r:embed="rId4"/>
          <a:stretch>
            <a:fillRect/>
          </a:stretch>
        </p:blipFill>
        <p:spPr>
          <a:xfrm>
            <a:off x="1416374" y="792687"/>
            <a:ext cx="8867937" cy="5710360"/>
          </a:xfrm>
          <a:prstGeom prst="rect">
            <a:avLst/>
          </a:prstGeom>
        </p:spPr>
      </p:pic>
    </p:spTree>
    <p:extLst>
      <p:ext uri="{BB962C8B-B14F-4D97-AF65-F5344CB8AC3E}">
        <p14:creationId xmlns:p14="http://schemas.microsoft.com/office/powerpoint/2010/main" val="2026840185"/>
      </p:ext>
    </p:extLst>
  </p:cSld>
  <p:clrMapOvr>
    <a:masterClrMapping/>
  </p:clrMapOvr>
  <p:transition spd="slow" advClick="0" advTm="1000">
    <p:randomBar dir="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1" name="直接连接符 50"/>
          <p:cNvCxnSpPr/>
          <p:nvPr/>
        </p:nvCxnSpPr>
        <p:spPr>
          <a:xfrm>
            <a:off x="660400" y="760413"/>
            <a:ext cx="10858500" cy="0"/>
          </a:xfrm>
          <a:prstGeom prst="line">
            <a:avLst/>
          </a:prstGeom>
          <a:noFill/>
          <a:ln w="22225" cap="flat" cmpd="sng" algn="ctr">
            <a:solidFill>
              <a:srgbClr val="1C6299"/>
            </a:solidFill>
            <a:prstDash val="solid"/>
            <a:miter lim="800000"/>
          </a:ln>
          <a:effectLst/>
        </p:spPr>
      </p:cxnSp>
      <p:sp>
        <p:nvSpPr>
          <p:cNvPr id="52" name="标题占位符 1"/>
          <p:cNvSpPr txBox="1"/>
          <p:nvPr/>
        </p:nvSpPr>
        <p:spPr>
          <a:xfrm>
            <a:off x="965200" y="-100014"/>
            <a:ext cx="5435600" cy="817564"/>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altLang="zh-CN" sz="2600" b="1" dirty="0">
                <a:solidFill>
                  <a:sysClr val="windowText" lastClr="000000"/>
                </a:solidFill>
                <a:latin typeface="Arial" panose="020B0604020202020204"/>
                <a:ea typeface="微软雅黑" panose="020B0503020204020204" pitchFamily="34" charset="-122"/>
              </a:rPr>
              <a:t>Introduction</a:t>
            </a:r>
            <a:endParaRPr kumimoji="0" lang="zh-CN" altLang="en-US" sz="2600" b="1" i="0" u="none" strike="noStrike" kern="1200" cap="none" spc="0" normalizeH="0" baseline="0" noProof="0" dirty="0">
              <a:ln>
                <a:noFill/>
              </a:ln>
              <a:solidFill>
                <a:sysClr val="windowText" lastClr="000000"/>
              </a:solidFill>
              <a:effectLst/>
              <a:uLnTx/>
              <a:uFillTx/>
              <a:latin typeface="Arial" panose="020B0604020202020204"/>
              <a:ea typeface="微软雅黑" panose="020B0503020204020204" pitchFamily="34" charset="-122"/>
              <a:cs typeface="+mj-cs"/>
            </a:endParaRPr>
          </a:p>
        </p:txBody>
      </p:sp>
      <p:grpSp>
        <p:nvGrpSpPr>
          <p:cNvPr id="54" name="组合 53"/>
          <p:cNvGrpSpPr/>
          <p:nvPr/>
        </p:nvGrpSpPr>
        <p:grpSpPr>
          <a:xfrm>
            <a:off x="203760" y="159728"/>
            <a:ext cx="725344" cy="619478"/>
            <a:chOff x="178632" y="159728"/>
            <a:chExt cx="725344" cy="619478"/>
          </a:xfrm>
        </p:grpSpPr>
        <p:sp>
          <p:nvSpPr>
            <p:cNvPr id="55" name="椭圆 54"/>
            <p:cNvSpPr/>
            <p:nvPr/>
          </p:nvSpPr>
          <p:spPr>
            <a:xfrm>
              <a:off x="358210" y="159728"/>
              <a:ext cx="468000" cy="468000"/>
            </a:xfrm>
            <a:prstGeom prst="ellipse">
              <a:avLst/>
            </a:prstGeom>
            <a:gradFill>
              <a:gsLst>
                <a:gs pos="0">
                  <a:srgbClr val="1C6299"/>
                </a:gs>
                <a:gs pos="100000">
                  <a:srgbClr val="5C307D">
                    <a:alpha val="9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6" name="文本框 55"/>
            <p:cNvSpPr txBox="1"/>
            <p:nvPr/>
          </p:nvSpPr>
          <p:spPr>
            <a:xfrm>
              <a:off x="230876" y="233483"/>
              <a:ext cx="67310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02</a:t>
              </a:r>
              <a:endParaRPr kumimoji="0" lang="zh-CN" altLang="en-US"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7" name="椭圆 56"/>
            <p:cNvSpPr/>
            <p:nvPr/>
          </p:nvSpPr>
          <p:spPr>
            <a:xfrm>
              <a:off x="178632" y="602993"/>
              <a:ext cx="176213" cy="176213"/>
            </a:xfrm>
            <a:prstGeom prst="ellipse">
              <a:avLst/>
            </a:prstGeom>
            <a:gradFill>
              <a:gsLst>
                <a:gs pos="0">
                  <a:srgbClr val="1C6299"/>
                </a:gs>
                <a:gs pos="100000">
                  <a:srgbClr val="5C307D">
                    <a:alpha val="90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59" name="文本框 58"/>
          <p:cNvSpPr txBox="1"/>
          <p:nvPr/>
        </p:nvSpPr>
        <p:spPr>
          <a:xfrm>
            <a:off x="660400" y="6583649"/>
            <a:ext cx="1941557"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自强不息 厚德载物</a:t>
            </a:r>
          </a:p>
        </p:txBody>
      </p:sp>
      <p:pic>
        <p:nvPicPr>
          <p:cNvPr id="61" name="图片 6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24913" y="176378"/>
            <a:ext cx="1897854" cy="555905"/>
          </a:xfrm>
          <a:prstGeom prst="rect">
            <a:avLst/>
          </a:prstGeom>
        </p:spPr>
      </p:pic>
      <p:sp>
        <p:nvSpPr>
          <p:cNvPr id="62" name="矩形 61"/>
          <p:cNvSpPr/>
          <p:nvPr/>
        </p:nvSpPr>
        <p:spPr>
          <a:xfrm>
            <a:off x="0" y="6570000"/>
            <a:ext cx="12192000" cy="288000"/>
          </a:xfrm>
          <a:prstGeom prst="rect">
            <a:avLst/>
          </a:prstGeom>
          <a:solidFill>
            <a:srgbClr val="1C629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63" name="文本框 62"/>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latin typeface="微软雅黑" panose="020B0503020204020204" pitchFamily="34" charset="-122"/>
                <a:ea typeface="微软雅黑" panose="020B0503020204020204" pitchFamily="34" charset="-122"/>
              </a:rPr>
              <a:t>知行合一、经世致用</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4" name="文本框 63"/>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latin typeface="Arial" panose="020B0604020202020204" pitchFamily="34" charset="0"/>
                <a:ea typeface="微软雅黑" panose="020B0503020204020204" pitchFamily="34" charset="-122"/>
                <a:cs typeface="Arial" panose="020B0604020202020204" pitchFamily="34" charset="0"/>
              </a:rPr>
              <a:t>Central South University</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2" name="文本框 1">
            <a:extLst>
              <a:ext uri="{FF2B5EF4-FFF2-40B4-BE49-F238E27FC236}">
                <a16:creationId xmlns:a16="http://schemas.microsoft.com/office/drawing/2014/main" id="{6C14C6C7-DAC3-4A52-8AC2-85D9F1F3ACB2}"/>
              </a:ext>
            </a:extLst>
          </p:cNvPr>
          <p:cNvSpPr txBox="1"/>
          <p:nvPr/>
        </p:nvSpPr>
        <p:spPr>
          <a:xfrm>
            <a:off x="660400" y="803277"/>
            <a:ext cx="10473267" cy="2031325"/>
          </a:xfrm>
          <a:prstGeom prst="rect">
            <a:avLst/>
          </a:prstGeom>
          <a:noFill/>
        </p:spPr>
        <p:txBody>
          <a:bodyPr wrap="square" rtlCol="0">
            <a:spAutoFit/>
          </a:bodyPr>
          <a:lstStyle/>
          <a:p>
            <a:r>
              <a:rPr lang="en-US" altLang="zh-CN" b="1" dirty="0"/>
              <a:t>Background</a:t>
            </a:r>
          </a:p>
          <a:p>
            <a:r>
              <a:rPr lang="en-US" altLang="zh-CN" b="1" dirty="0"/>
              <a:t>·</a:t>
            </a:r>
            <a:r>
              <a:rPr lang="zh-CN" altLang="en-US" b="1" dirty="0">
                <a:solidFill>
                  <a:srgbClr val="404040"/>
                </a:solidFill>
                <a:effectLst/>
                <a:latin typeface="Noto Sans SC" panose="020B0200000000000000" pitchFamily="34" charset="-122"/>
                <a:ea typeface="Noto Sans SC" panose="020B0200000000000000" pitchFamily="34" charset="-122"/>
              </a:rPr>
              <a:t>医学</a:t>
            </a:r>
            <a:r>
              <a:rPr lang="en-US" altLang="zh-CN" b="1" dirty="0">
                <a:solidFill>
                  <a:srgbClr val="404040"/>
                </a:solidFill>
                <a:effectLst/>
                <a:latin typeface="Noto Sans SC" panose="020B0200000000000000" pitchFamily="34" charset="-122"/>
                <a:ea typeface="Noto Sans SC" panose="020B0200000000000000" pitchFamily="34" charset="-122"/>
              </a:rPr>
              <a:t>AI</a:t>
            </a:r>
            <a:r>
              <a:rPr lang="zh-CN" altLang="en-US" b="1" dirty="0">
                <a:solidFill>
                  <a:srgbClr val="404040"/>
                </a:solidFill>
                <a:effectLst/>
                <a:latin typeface="Noto Sans SC" panose="020B0200000000000000" pitchFamily="34" charset="-122"/>
                <a:ea typeface="Noto Sans SC" panose="020B0200000000000000" pitchFamily="34" charset="-122"/>
              </a:rPr>
              <a:t>迈向大模型时代</a:t>
            </a:r>
            <a:endParaRPr lang="zh-CN" altLang="en-US" dirty="0"/>
          </a:p>
          <a:p>
            <a:r>
              <a:rPr lang="zh-CN" altLang="en-US" dirty="0">
                <a:solidFill>
                  <a:srgbClr val="212121"/>
                </a:solidFill>
                <a:effectLst/>
                <a:latin typeface="Noto Sans SC" panose="020B0200000000000000" pitchFamily="34" charset="-122"/>
                <a:ea typeface="Noto Sans SC" panose="020B0200000000000000" pitchFamily="34" charset="-122"/>
              </a:rPr>
              <a:t>医学人工智能正沿着参数规模化、模态多样化方向快速演进。</a:t>
            </a:r>
            <a:r>
              <a:rPr lang="en-US" altLang="zh-CN" dirty="0" err="1">
                <a:solidFill>
                  <a:srgbClr val="212121"/>
                </a:solidFill>
                <a:effectLst/>
                <a:latin typeface="Noto Sans SC" panose="020B0200000000000000" pitchFamily="34" charset="-122"/>
                <a:ea typeface="Noto Sans SC" panose="020B0200000000000000" pitchFamily="34" charset="-122"/>
              </a:rPr>
              <a:t>MedSAM</a:t>
            </a:r>
            <a:r>
              <a:rPr lang="zh-CN" altLang="en-US" dirty="0">
                <a:solidFill>
                  <a:srgbClr val="212121"/>
                </a:solidFill>
                <a:effectLst/>
                <a:latin typeface="Noto Sans SC" panose="020B0200000000000000" pitchFamily="34" charset="-122"/>
                <a:ea typeface="Noto Sans SC" panose="020B0200000000000000" pitchFamily="34" charset="-122"/>
              </a:rPr>
              <a:t>、</a:t>
            </a:r>
            <a:r>
              <a:rPr lang="en-US" altLang="zh-CN" dirty="0" err="1">
                <a:solidFill>
                  <a:srgbClr val="212121"/>
                </a:solidFill>
                <a:effectLst/>
                <a:latin typeface="Noto Sans SC" panose="020B0200000000000000" pitchFamily="34" charset="-122"/>
                <a:ea typeface="Noto Sans SC" panose="020B0200000000000000" pitchFamily="34" charset="-122"/>
              </a:rPr>
              <a:t>MedPaLM</a:t>
            </a:r>
            <a:r>
              <a:rPr lang="en-US" altLang="zh-CN" dirty="0">
                <a:solidFill>
                  <a:srgbClr val="212121"/>
                </a:solidFill>
                <a:effectLst/>
                <a:latin typeface="Noto Sans SC" panose="020B0200000000000000" pitchFamily="34" charset="-122"/>
                <a:ea typeface="Noto Sans SC" panose="020B0200000000000000" pitchFamily="34" charset="-122"/>
              </a:rPr>
              <a:t> </a:t>
            </a:r>
            <a:r>
              <a:rPr lang="zh-CN" altLang="en-US" dirty="0">
                <a:solidFill>
                  <a:srgbClr val="212121"/>
                </a:solidFill>
                <a:effectLst/>
                <a:latin typeface="Noto Sans SC" panose="020B0200000000000000" pitchFamily="34" charset="-122"/>
                <a:ea typeface="Noto Sans SC" panose="020B0200000000000000" pitchFamily="34" charset="-122"/>
              </a:rPr>
              <a:t>等单模态大模型在影像、文本任务上刷新精度，却受限于数据模态单一，难以满足临床多源信息综合判读需求。多模态小模型</a:t>
            </a:r>
            <a:r>
              <a:rPr lang="zh-CN" altLang="en-US">
                <a:solidFill>
                  <a:srgbClr val="212121"/>
                </a:solidFill>
                <a:effectLst/>
                <a:latin typeface="Noto Sans SC" panose="020B0200000000000000" pitchFamily="34" charset="-122"/>
                <a:ea typeface="Noto Sans SC" panose="020B0200000000000000" pitchFamily="34" charset="-122"/>
              </a:rPr>
              <a:t>能够很好</a:t>
            </a:r>
            <a:r>
              <a:rPr lang="zh-CN" altLang="en-US">
                <a:solidFill>
                  <a:srgbClr val="212121"/>
                </a:solidFill>
                <a:latin typeface="Noto Sans SC" panose="020B0200000000000000" pitchFamily="34" charset="-122"/>
                <a:ea typeface="Noto Sans SC" panose="020B0200000000000000" pitchFamily="34" charset="-122"/>
              </a:rPr>
              <a:t>学习</a:t>
            </a:r>
            <a:r>
              <a:rPr lang="zh-CN" altLang="en-US">
                <a:solidFill>
                  <a:srgbClr val="212121"/>
                </a:solidFill>
                <a:effectLst/>
                <a:latin typeface="Noto Sans SC" panose="020B0200000000000000" pitchFamily="34" charset="-122"/>
                <a:ea typeface="Noto Sans SC" panose="020B0200000000000000" pitchFamily="34" charset="-122"/>
              </a:rPr>
              <a:t>数据</a:t>
            </a:r>
            <a:r>
              <a:rPr lang="zh-CN" altLang="en-US" dirty="0">
                <a:solidFill>
                  <a:srgbClr val="212121"/>
                </a:solidFill>
                <a:effectLst/>
                <a:latin typeface="Noto Sans SC" panose="020B0200000000000000" pitchFamily="34" charset="-122"/>
                <a:ea typeface="Noto Sans SC" panose="020B0200000000000000" pitchFamily="34" charset="-122"/>
              </a:rPr>
              <a:t>集内部多模态的交互</a:t>
            </a:r>
            <a:r>
              <a:rPr lang="zh-CN" altLang="en-US">
                <a:solidFill>
                  <a:srgbClr val="212121"/>
                </a:solidFill>
                <a:effectLst/>
                <a:latin typeface="Noto Sans SC" panose="020B0200000000000000" pitchFamily="34" charset="-122"/>
                <a:ea typeface="Noto Sans SC" panose="020B0200000000000000" pitchFamily="34" charset="-122"/>
              </a:rPr>
              <a:t>，却受制</a:t>
            </a:r>
            <a:r>
              <a:rPr lang="zh-CN" altLang="en-US" dirty="0">
                <a:solidFill>
                  <a:srgbClr val="212121"/>
                </a:solidFill>
                <a:effectLst/>
                <a:latin typeface="Noto Sans SC" panose="020B0200000000000000" pitchFamily="34" charset="-122"/>
                <a:ea typeface="Noto Sans SC" panose="020B0200000000000000" pitchFamily="34" charset="-122"/>
              </a:rPr>
              <a:t>于数据泛化性能较差。</a:t>
            </a:r>
            <a:endParaRPr lang="en-US" altLang="zh-CN" dirty="0">
              <a:solidFill>
                <a:srgbClr val="212121"/>
              </a:solidFill>
              <a:effectLst/>
              <a:latin typeface="Noto Sans SC" panose="020B0200000000000000" pitchFamily="34" charset="-122"/>
              <a:ea typeface="Noto Sans SC" panose="020B0200000000000000" pitchFamily="34" charset="-122"/>
            </a:endParaRPr>
          </a:p>
          <a:p>
            <a:r>
              <a:rPr lang="zh-CN" altLang="en-US" dirty="0">
                <a:solidFill>
                  <a:srgbClr val="212121"/>
                </a:solidFill>
                <a:latin typeface="Noto Sans SC" panose="020B0200000000000000" pitchFamily="34" charset="-122"/>
                <a:ea typeface="Noto Sans SC" panose="020B0200000000000000" pitchFamily="34" charset="-122"/>
              </a:rPr>
              <a:t>因此，</a:t>
            </a:r>
            <a:r>
              <a:rPr lang="zh-CN" altLang="en-US" b="1" dirty="0">
                <a:solidFill>
                  <a:srgbClr val="404040"/>
                </a:solidFill>
                <a:effectLst/>
                <a:latin typeface="Noto Sans SC" panose="020B0200000000000000" pitchFamily="34" charset="-122"/>
                <a:ea typeface="Noto Sans SC" panose="020B0200000000000000" pitchFamily="34" charset="-122"/>
              </a:rPr>
              <a:t>如何兼顾大模型深度表示与多模态互补信息，成为医学诊断落地的关键。</a:t>
            </a:r>
            <a:endParaRPr lang="zh-CN" altLang="en-US" dirty="0"/>
          </a:p>
          <a:p>
            <a:endParaRPr lang="en-US" altLang="zh-CN" dirty="0"/>
          </a:p>
        </p:txBody>
      </p:sp>
      <p:pic>
        <p:nvPicPr>
          <p:cNvPr id="7" name="图片 6">
            <a:extLst>
              <a:ext uri="{FF2B5EF4-FFF2-40B4-BE49-F238E27FC236}">
                <a16:creationId xmlns:a16="http://schemas.microsoft.com/office/drawing/2014/main" id="{635A149E-733B-43B0-AA90-3734D98DD181}"/>
              </a:ext>
            </a:extLst>
          </p:cNvPr>
          <p:cNvPicPr>
            <a:picLocks noChangeAspect="1"/>
          </p:cNvPicPr>
          <p:nvPr/>
        </p:nvPicPr>
        <p:blipFill>
          <a:blip r:embed="rId4"/>
          <a:stretch>
            <a:fillRect/>
          </a:stretch>
        </p:blipFill>
        <p:spPr>
          <a:xfrm>
            <a:off x="2480126" y="2657710"/>
            <a:ext cx="7219048" cy="3590476"/>
          </a:xfrm>
          <a:prstGeom prst="rect">
            <a:avLst/>
          </a:prstGeom>
        </p:spPr>
      </p:pic>
    </p:spTree>
    <p:extLst>
      <p:ext uri="{BB962C8B-B14F-4D97-AF65-F5344CB8AC3E}">
        <p14:creationId xmlns:p14="http://schemas.microsoft.com/office/powerpoint/2010/main" val="2142665457"/>
      </p:ext>
    </p:extLst>
  </p:cSld>
  <p:clrMapOvr>
    <a:masterClrMapping/>
  </p:clrMapOvr>
  <p:transition spd="slow" advClick="0" advTm="1000">
    <p:randomBar dir="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1" name="直接连接符 50"/>
          <p:cNvCxnSpPr/>
          <p:nvPr/>
        </p:nvCxnSpPr>
        <p:spPr>
          <a:xfrm>
            <a:off x="660400" y="760413"/>
            <a:ext cx="10858500" cy="0"/>
          </a:xfrm>
          <a:prstGeom prst="line">
            <a:avLst/>
          </a:prstGeom>
          <a:noFill/>
          <a:ln w="22225" cap="flat" cmpd="sng" algn="ctr">
            <a:solidFill>
              <a:srgbClr val="1C6299"/>
            </a:solidFill>
            <a:prstDash val="solid"/>
            <a:miter lim="800000"/>
          </a:ln>
          <a:effectLst/>
        </p:spPr>
      </p:cxnSp>
      <p:sp>
        <p:nvSpPr>
          <p:cNvPr id="52" name="标题占位符 1"/>
          <p:cNvSpPr txBox="1"/>
          <p:nvPr/>
        </p:nvSpPr>
        <p:spPr>
          <a:xfrm>
            <a:off x="965200" y="-100014"/>
            <a:ext cx="5435600" cy="817564"/>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altLang="zh-CN" sz="2600" b="1" dirty="0">
                <a:solidFill>
                  <a:sysClr val="windowText" lastClr="000000"/>
                </a:solidFill>
                <a:latin typeface="Arial" panose="020B0604020202020204"/>
                <a:ea typeface="微软雅黑" panose="020B0503020204020204" pitchFamily="34" charset="-122"/>
              </a:rPr>
              <a:t>Introduction</a:t>
            </a:r>
            <a:endParaRPr kumimoji="0" lang="zh-CN" altLang="en-US" sz="2600" b="1" i="0" u="none" strike="noStrike" kern="1200" cap="none" spc="0" normalizeH="0" baseline="0" noProof="0" dirty="0">
              <a:ln>
                <a:noFill/>
              </a:ln>
              <a:solidFill>
                <a:sysClr val="windowText" lastClr="000000"/>
              </a:solidFill>
              <a:effectLst/>
              <a:uLnTx/>
              <a:uFillTx/>
              <a:latin typeface="Arial" panose="020B0604020202020204"/>
              <a:ea typeface="微软雅黑" panose="020B0503020204020204" pitchFamily="34" charset="-122"/>
              <a:cs typeface="+mj-cs"/>
            </a:endParaRPr>
          </a:p>
        </p:txBody>
      </p:sp>
      <p:grpSp>
        <p:nvGrpSpPr>
          <p:cNvPr id="54" name="组合 53"/>
          <p:cNvGrpSpPr/>
          <p:nvPr/>
        </p:nvGrpSpPr>
        <p:grpSpPr>
          <a:xfrm>
            <a:off x="203760" y="159728"/>
            <a:ext cx="725344" cy="619478"/>
            <a:chOff x="178632" y="159728"/>
            <a:chExt cx="725344" cy="619478"/>
          </a:xfrm>
        </p:grpSpPr>
        <p:sp>
          <p:nvSpPr>
            <p:cNvPr id="55" name="椭圆 54"/>
            <p:cNvSpPr/>
            <p:nvPr/>
          </p:nvSpPr>
          <p:spPr>
            <a:xfrm>
              <a:off x="358210" y="159728"/>
              <a:ext cx="468000" cy="468000"/>
            </a:xfrm>
            <a:prstGeom prst="ellipse">
              <a:avLst/>
            </a:prstGeom>
            <a:gradFill>
              <a:gsLst>
                <a:gs pos="0">
                  <a:srgbClr val="1C6299"/>
                </a:gs>
                <a:gs pos="100000">
                  <a:srgbClr val="5C307D">
                    <a:alpha val="9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6" name="文本框 55"/>
            <p:cNvSpPr txBox="1"/>
            <p:nvPr/>
          </p:nvSpPr>
          <p:spPr>
            <a:xfrm>
              <a:off x="230876" y="233483"/>
              <a:ext cx="67310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02</a:t>
              </a:r>
              <a:endParaRPr kumimoji="0" lang="zh-CN" altLang="en-US"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7" name="椭圆 56"/>
            <p:cNvSpPr/>
            <p:nvPr/>
          </p:nvSpPr>
          <p:spPr>
            <a:xfrm>
              <a:off x="178632" y="602993"/>
              <a:ext cx="176213" cy="176213"/>
            </a:xfrm>
            <a:prstGeom prst="ellipse">
              <a:avLst/>
            </a:prstGeom>
            <a:gradFill>
              <a:gsLst>
                <a:gs pos="0">
                  <a:srgbClr val="1C6299"/>
                </a:gs>
                <a:gs pos="100000">
                  <a:srgbClr val="5C307D">
                    <a:alpha val="90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59" name="文本框 58"/>
          <p:cNvSpPr txBox="1"/>
          <p:nvPr/>
        </p:nvSpPr>
        <p:spPr>
          <a:xfrm>
            <a:off x="660400" y="6583649"/>
            <a:ext cx="1941557"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自强不息 厚德载物</a:t>
            </a:r>
          </a:p>
        </p:txBody>
      </p:sp>
      <p:pic>
        <p:nvPicPr>
          <p:cNvPr id="61" name="图片 6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24913" y="176378"/>
            <a:ext cx="1897854" cy="555905"/>
          </a:xfrm>
          <a:prstGeom prst="rect">
            <a:avLst/>
          </a:prstGeom>
        </p:spPr>
      </p:pic>
      <p:sp>
        <p:nvSpPr>
          <p:cNvPr id="62" name="矩形 61"/>
          <p:cNvSpPr/>
          <p:nvPr/>
        </p:nvSpPr>
        <p:spPr>
          <a:xfrm>
            <a:off x="0" y="6570000"/>
            <a:ext cx="12192000" cy="288000"/>
          </a:xfrm>
          <a:prstGeom prst="rect">
            <a:avLst/>
          </a:prstGeom>
          <a:solidFill>
            <a:srgbClr val="1C629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63" name="文本框 62"/>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latin typeface="微软雅黑" panose="020B0503020204020204" pitchFamily="34" charset="-122"/>
                <a:ea typeface="微软雅黑" panose="020B0503020204020204" pitchFamily="34" charset="-122"/>
              </a:rPr>
              <a:t>知行合一、经世致用</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4" name="文本框 63"/>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latin typeface="Arial" panose="020B0604020202020204" pitchFamily="34" charset="0"/>
                <a:ea typeface="微软雅黑" panose="020B0503020204020204" pitchFamily="34" charset="-122"/>
                <a:cs typeface="Arial" panose="020B0604020202020204" pitchFamily="34" charset="0"/>
              </a:rPr>
              <a:t>Central South University</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22" name="Text 0">
            <a:extLst>
              <a:ext uri="{FF2B5EF4-FFF2-40B4-BE49-F238E27FC236}">
                <a16:creationId xmlns:a16="http://schemas.microsoft.com/office/drawing/2014/main" id="{83B64A13-C32C-4A20-9A80-EFA2D3FEBC14}"/>
              </a:ext>
            </a:extLst>
          </p:cNvPr>
          <p:cNvSpPr/>
          <p:nvPr/>
        </p:nvSpPr>
        <p:spPr>
          <a:xfrm>
            <a:off x="0" y="1240042"/>
            <a:ext cx="12065000" cy="457200"/>
          </a:xfrm>
          <a:prstGeom prst="rect">
            <a:avLst/>
          </a:prstGeom>
          <a:noFill/>
          <a:ln/>
        </p:spPr>
        <p:txBody>
          <a:bodyPr wrap="square" lIns="0" tIns="0" rIns="0" bIns="0" rtlCol="0" anchor="ctr"/>
          <a:lstStyle/>
          <a:p>
            <a:pPr algn="ctr">
              <a:lnSpc>
                <a:spcPct val="100000"/>
              </a:lnSpc>
            </a:pPr>
            <a:r>
              <a:rPr lang="zh-CN" altLang="en-US" sz="3000" b="1" dirty="0">
                <a:solidFill>
                  <a:srgbClr val="404040"/>
                </a:solidFill>
                <a:latin typeface="Noto Sans SC" pitchFamily="34" charset="0"/>
                <a:ea typeface="Noto Sans SC" pitchFamily="34" charset="-122"/>
                <a:cs typeface="Noto Sans SC" pitchFamily="34" charset="-120"/>
              </a:rPr>
              <a:t>结合</a:t>
            </a:r>
            <a:r>
              <a:rPr lang="en-US" sz="3000" b="1" dirty="0" err="1">
                <a:solidFill>
                  <a:srgbClr val="404040"/>
                </a:solidFill>
                <a:latin typeface="Noto Sans SC" pitchFamily="34" charset="0"/>
                <a:ea typeface="Noto Sans SC" pitchFamily="34" charset="-122"/>
                <a:cs typeface="Noto Sans SC" pitchFamily="34" charset="-120"/>
              </a:rPr>
              <a:t>多模态</a:t>
            </a:r>
            <a:r>
              <a:rPr lang="zh-CN" altLang="en-US" sz="3000" b="1" dirty="0">
                <a:solidFill>
                  <a:srgbClr val="404040"/>
                </a:solidFill>
                <a:latin typeface="Noto Sans SC" pitchFamily="34" charset="0"/>
                <a:ea typeface="Noto Sans SC" pitchFamily="34" charset="-122"/>
                <a:cs typeface="Noto Sans SC" pitchFamily="34" charset="-120"/>
              </a:rPr>
              <a:t>与</a:t>
            </a:r>
            <a:r>
              <a:rPr lang="en-US" sz="3000" b="1" dirty="0" err="1">
                <a:solidFill>
                  <a:srgbClr val="404040"/>
                </a:solidFill>
                <a:latin typeface="Noto Sans SC" pitchFamily="34" charset="0"/>
                <a:ea typeface="Noto Sans SC" pitchFamily="34" charset="-122"/>
                <a:cs typeface="Noto Sans SC" pitchFamily="34" charset="-120"/>
              </a:rPr>
              <a:t>大模型的三重障碍</a:t>
            </a:r>
            <a:endParaRPr lang="en-US" sz="1600" dirty="0"/>
          </a:p>
        </p:txBody>
      </p:sp>
      <p:sp>
        <p:nvSpPr>
          <p:cNvPr id="23" name="Shape 1">
            <a:extLst>
              <a:ext uri="{FF2B5EF4-FFF2-40B4-BE49-F238E27FC236}">
                <a16:creationId xmlns:a16="http://schemas.microsoft.com/office/drawing/2014/main" id="{C81BC877-62B2-4F87-9E36-FB2599ED0491}"/>
              </a:ext>
            </a:extLst>
          </p:cNvPr>
          <p:cNvSpPr/>
          <p:nvPr/>
        </p:nvSpPr>
        <p:spPr>
          <a:xfrm>
            <a:off x="256004" y="2096886"/>
            <a:ext cx="3695700" cy="2692400"/>
          </a:xfrm>
          <a:custGeom>
            <a:avLst/>
            <a:gdLst/>
            <a:ahLst/>
            <a:cxnLst/>
            <a:rect l="l" t="t" r="r" b="b"/>
            <a:pathLst>
              <a:path w="3695700" h="2692400">
                <a:moveTo>
                  <a:pt x="101611" y="0"/>
                </a:moveTo>
                <a:lnTo>
                  <a:pt x="3594089" y="0"/>
                </a:lnTo>
                <a:cubicBezTo>
                  <a:pt x="3650207" y="0"/>
                  <a:pt x="3695700" y="45493"/>
                  <a:pt x="3695700" y="101611"/>
                </a:cubicBezTo>
                <a:lnTo>
                  <a:pt x="3695700" y="2590789"/>
                </a:lnTo>
                <a:cubicBezTo>
                  <a:pt x="3695700" y="2646907"/>
                  <a:pt x="3650207" y="2692400"/>
                  <a:pt x="3594089" y="2692400"/>
                </a:cubicBezTo>
                <a:lnTo>
                  <a:pt x="101611" y="2692400"/>
                </a:lnTo>
                <a:cubicBezTo>
                  <a:pt x="45493" y="2692400"/>
                  <a:pt x="0" y="2646907"/>
                  <a:pt x="0" y="2590789"/>
                </a:cubicBezTo>
                <a:lnTo>
                  <a:pt x="0" y="101611"/>
                </a:lnTo>
                <a:cubicBezTo>
                  <a:pt x="0" y="45530"/>
                  <a:pt x="45530" y="0"/>
                  <a:pt x="101611" y="0"/>
                </a:cubicBezTo>
                <a:close/>
              </a:path>
            </a:pathLst>
          </a:custGeom>
          <a:solidFill>
            <a:schemeClr val="accent5">
              <a:lumMod val="20000"/>
              <a:lumOff val="80000"/>
            </a:schemeClr>
          </a:solidFill>
          <a:ln/>
        </p:spPr>
      </p:sp>
      <p:sp>
        <p:nvSpPr>
          <p:cNvPr id="24" name="Shape 2">
            <a:extLst>
              <a:ext uri="{FF2B5EF4-FFF2-40B4-BE49-F238E27FC236}">
                <a16:creationId xmlns:a16="http://schemas.microsoft.com/office/drawing/2014/main" id="{32D19FEE-5BD8-4652-868F-BE644140E8FF}"/>
              </a:ext>
            </a:extLst>
          </p:cNvPr>
          <p:cNvSpPr/>
          <p:nvPr/>
        </p:nvSpPr>
        <p:spPr>
          <a:xfrm>
            <a:off x="1695271" y="2300086"/>
            <a:ext cx="812800" cy="812800"/>
          </a:xfrm>
          <a:custGeom>
            <a:avLst/>
            <a:gdLst/>
            <a:ahLst/>
            <a:cxnLst/>
            <a:rect l="l" t="t" r="r" b="b"/>
            <a:pathLst>
              <a:path w="812800" h="812800">
                <a:moveTo>
                  <a:pt x="406400" y="0"/>
                </a:moveTo>
                <a:lnTo>
                  <a:pt x="406400" y="0"/>
                </a:lnTo>
                <a:cubicBezTo>
                  <a:pt x="630698" y="0"/>
                  <a:pt x="812800" y="182102"/>
                  <a:pt x="812800" y="406400"/>
                </a:cubicBezTo>
                <a:lnTo>
                  <a:pt x="812800" y="406400"/>
                </a:lnTo>
                <a:cubicBezTo>
                  <a:pt x="812800" y="630698"/>
                  <a:pt x="630698" y="812800"/>
                  <a:pt x="406400" y="812800"/>
                </a:cubicBezTo>
                <a:lnTo>
                  <a:pt x="406400" y="812800"/>
                </a:lnTo>
                <a:cubicBezTo>
                  <a:pt x="182102" y="812800"/>
                  <a:pt x="0" y="630698"/>
                  <a:pt x="0" y="406400"/>
                </a:cubicBezTo>
                <a:lnTo>
                  <a:pt x="0" y="406400"/>
                </a:lnTo>
                <a:cubicBezTo>
                  <a:pt x="0" y="182102"/>
                  <a:pt x="182102" y="0"/>
                  <a:pt x="406400" y="0"/>
                </a:cubicBezTo>
                <a:close/>
              </a:path>
            </a:pathLst>
          </a:custGeom>
          <a:solidFill>
            <a:schemeClr val="accent1">
              <a:lumMod val="40000"/>
              <a:lumOff val="60000"/>
            </a:schemeClr>
          </a:solidFill>
          <a:ln/>
        </p:spPr>
      </p:sp>
      <p:sp>
        <p:nvSpPr>
          <p:cNvPr id="25" name="Shape 3">
            <a:extLst>
              <a:ext uri="{FF2B5EF4-FFF2-40B4-BE49-F238E27FC236}">
                <a16:creationId xmlns:a16="http://schemas.microsoft.com/office/drawing/2014/main" id="{9CCCB5F9-D5BD-4843-9B14-A35EE5C2CB53}"/>
              </a:ext>
            </a:extLst>
          </p:cNvPr>
          <p:cNvSpPr/>
          <p:nvPr/>
        </p:nvSpPr>
        <p:spPr>
          <a:xfrm>
            <a:off x="1938159" y="2515986"/>
            <a:ext cx="333375" cy="381000"/>
          </a:xfrm>
          <a:custGeom>
            <a:avLst/>
            <a:gdLst/>
            <a:ahLst/>
            <a:cxnLst/>
            <a:rect l="l" t="t" r="r" b="b"/>
            <a:pathLst>
              <a:path w="333375" h="381000">
                <a:moveTo>
                  <a:pt x="333375" y="153144"/>
                </a:moveTo>
                <a:cubicBezTo>
                  <a:pt x="322362" y="160437"/>
                  <a:pt x="309711" y="166315"/>
                  <a:pt x="296540" y="171004"/>
                </a:cubicBezTo>
                <a:cubicBezTo>
                  <a:pt x="261565" y="183505"/>
                  <a:pt x="215652" y="190500"/>
                  <a:pt x="166688" y="190500"/>
                </a:cubicBezTo>
                <a:cubicBezTo>
                  <a:pt x="117723" y="190500"/>
                  <a:pt x="71735" y="183431"/>
                  <a:pt x="36835" y="171004"/>
                </a:cubicBezTo>
                <a:cubicBezTo>
                  <a:pt x="23738" y="166315"/>
                  <a:pt x="11013" y="160437"/>
                  <a:pt x="0" y="153144"/>
                </a:cubicBezTo>
                <a:lnTo>
                  <a:pt x="0" y="214313"/>
                </a:lnTo>
                <a:cubicBezTo>
                  <a:pt x="0" y="247204"/>
                  <a:pt x="74637" y="273844"/>
                  <a:pt x="166688" y="273844"/>
                </a:cubicBezTo>
                <a:cubicBezTo>
                  <a:pt x="258738" y="273844"/>
                  <a:pt x="333375" y="247204"/>
                  <a:pt x="333375" y="214313"/>
                </a:cubicBezTo>
                <a:lnTo>
                  <a:pt x="333375" y="153144"/>
                </a:lnTo>
                <a:close/>
                <a:moveTo>
                  <a:pt x="333375" y="95250"/>
                </a:moveTo>
                <a:lnTo>
                  <a:pt x="333375" y="59531"/>
                </a:lnTo>
                <a:cubicBezTo>
                  <a:pt x="333375" y="26640"/>
                  <a:pt x="258738" y="0"/>
                  <a:pt x="166688" y="0"/>
                </a:cubicBezTo>
                <a:cubicBezTo>
                  <a:pt x="74637" y="0"/>
                  <a:pt x="0" y="26640"/>
                  <a:pt x="0" y="59531"/>
                </a:cubicBezTo>
                <a:lnTo>
                  <a:pt x="0" y="95250"/>
                </a:lnTo>
                <a:cubicBezTo>
                  <a:pt x="0" y="128141"/>
                  <a:pt x="74637" y="154781"/>
                  <a:pt x="166688" y="154781"/>
                </a:cubicBezTo>
                <a:cubicBezTo>
                  <a:pt x="258738" y="154781"/>
                  <a:pt x="333375" y="128141"/>
                  <a:pt x="333375" y="95250"/>
                </a:cubicBezTo>
                <a:close/>
                <a:moveTo>
                  <a:pt x="296540" y="290066"/>
                </a:moveTo>
                <a:cubicBezTo>
                  <a:pt x="261640" y="302493"/>
                  <a:pt x="215726" y="309563"/>
                  <a:pt x="166688" y="309563"/>
                </a:cubicBezTo>
                <a:cubicBezTo>
                  <a:pt x="117649" y="309563"/>
                  <a:pt x="71735" y="302493"/>
                  <a:pt x="36835" y="290066"/>
                </a:cubicBezTo>
                <a:cubicBezTo>
                  <a:pt x="23738" y="285378"/>
                  <a:pt x="11013" y="279499"/>
                  <a:pt x="0" y="272207"/>
                </a:cubicBezTo>
                <a:lnTo>
                  <a:pt x="0" y="321469"/>
                </a:lnTo>
                <a:cubicBezTo>
                  <a:pt x="0" y="354360"/>
                  <a:pt x="74637" y="381000"/>
                  <a:pt x="166688" y="381000"/>
                </a:cubicBezTo>
                <a:cubicBezTo>
                  <a:pt x="258738" y="381000"/>
                  <a:pt x="333375" y="354360"/>
                  <a:pt x="333375" y="321469"/>
                </a:cubicBezTo>
                <a:lnTo>
                  <a:pt x="333375" y="272207"/>
                </a:lnTo>
                <a:cubicBezTo>
                  <a:pt x="322362" y="279499"/>
                  <a:pt x="309711" y="285378"/>
                  <a:pt x="296540" y="290066"/>
                </a:cubicBezTo>
                <a:close/>
              </a:path>
            </a:pathLst>
          </a:custGeom>
          <a:solidFill>
            <a:srgbClr val="FFFFFF"/>
          </a:solidFill>
          <a:ln/>
        </p:spPr>
      </p:sp>
      <p:sp>
        <p:nvSpPr>
          <p:cNvPr id="26" name="Text 4">
            <a:extLst>
              <a:ext uri="{FF2B5EF4-FFF2-40B4-BE49-F238E27FC236}">
                <a16:creationId xmlns:a16="http://schemas.microsoft.com/office/drawing/2014/main" id="{872F4BD2-A864-470A-B350-DF0CD1A2291D}"/>
              </a:ext>
            </a:extLst>
          </p:cNvPr>
          <p:cNvSpPr/>
          <p:nvPr/>
        </p:nvSpPr>
        <p:spPr>
          <a:xfrm>
            <a:off x="1466671" y="3265286"/>
            <a:ext cx="1270000" cy="355600"/>
          </a:xfrm>
          <a:prstGeom prst="rect">
            <a:avLst/>
          </a:prstGeom>
          <a:noFill/>
          <a:ln/>
        </p:spPr>
        <p:txBody>
          <a:bodyPr wrap="square" lIns="0" tIns="0" rIns="0" bIns="0" rtlCol="0" anchor="ctr"/>
          <a:lstStyle/>
          <a:p>
            <a:pPr algn="ctr">
              <a:lnSpc>
                <a:spcPct val="120000"/>
              </a:lnSpc>
            </a:pPr>
            <a:r>
              <a:rPr lang="en-US" sz="2000" b="1" dirty="0">
                <a:solidFill>
                  <a:srgbClr val="404040"/>
                </a:solidFill>
                <a:latin typeface="Noto Sans SC" pitchFamily="34" charset="0"/>
                <a:ea typeface="Noto Sans SC" pitchFamily="34" charset="-122"/>
                <a:cs typeface="Noto Sans SC" pitchFamily="34" charset="-120"/>
              </a:rPr>
              <a:t>数据稀缺</a:t>
            </a:r>
            <a:endParaRPr lang="en-US" sz="1600" dirty="0"/>
          </a:p>
        </p:txBody>
      </p:sp>
      <p:sp>
        <p:nvSpPr>
          <p:cNvPr id="27" name="Text 5">
            <a:extLst>
              <a:ext uri="{FF2B5EF4-FFF2-40B4-BE49-F238E27FC236}">
                <a16:creationId xmlns:a16="http://schemas.microsoft.com/office/drawing/2014/main" id="{911086F6-5E6D-4886-8F85-8CC3BDCEBFE0}"/>
              </a:ext>
            </a:extLst>
          </p:cNvPr>
          <p:cNvSpPr/>
          <p:nvPr/>
        </p:nvSpPr>
        <p:spPr>
          <a:xfrm>
            <a:off x="321508" y="3773286"/>
            <a:ext cx="3524250" cy="863600"/>
          </a:xfrm>
          <a:prstGeom prst="rect">
            <a:avLst/>
          </a:prstGeom>
          <a:noFill/>
          <a:ln/>
        </p:spPr>
        <p:txBody>
          <a:bodyPr wrap="square" lIns="0" tIns="0" rIns="0" bIns="0" rtlCol="0" anchor="ctr"/>
          <a:lstStyle/>
          <a:p>
            <a:pPr algn="ctr">
              <a:lnSpc>
                <a:spcPct val="140000"/>
              </a:lnSpc>
            </a:pPr>
            <a:r>
              <a:rPr lang="en-US" sz="1400" dirty="0">
                <a:solidFill>
                  <a:srgbClr val="212121"/>
                </a:solidFill>
                <a:latin typeface="Noto Sans SC" pitchFamily="34" charset="0"/>
                <a:ea typeface="Noto Sans SC" pitchFamily="34" charset="-122"/>
                <a:cs typeface="Noto Sans SC" pitchFamily="34" charset="-120"/>
              </a:rPr>
              <a:t>配对完备的多模态医学数据稀缺，三个及以上模态同步采集、标注、脱敏成本极高。</a:t>
            </a:r>
            <a:endParaRPr lang="en-US" sz="1600" dirty="0"/>
          </a:p>
        </p:txBody>
      </p:sp>
      <p:sp>
        <p:nvSpPr>
          <p:cNvPr id="28" name="Shape 6">
            <a:extLst>
              <a:ext uri="{FF2B5EF4-FFF2-40B4-BE49-F238E27FC236}">
                <a16:creationId xmlns:a16="http://schemas.microsoft.com/office/drawing/2014/main" id="{CFB875F8-7F37-4B2C-8126-B16C76D94AF2}"/>
              </a:ext>
            </a:extLst>
          </p:cNvPr>
          <p:cNvSpPr/>
          <p:nvPr/>
        </p:nvSpPr>
        <p:spPr>
          <a:xfrm>
            <a:off x="4252337" y="2300086"/>
            <a:ext cx="3695700" cy="2692400"/>
          </a:xfrm>
          <a:custGeom>
            <a:avLst/>
            <a:gdLst/>
            <a:ahLst/>
            <a:cxnLst/>
            <a:rect l="l" t="t" r="r" b="b"/>
            <a:pathLst>
              <a:path w="3695700" h="2692400">
                <a:moveTo>
                  <a:pt x="101611" y="0"/>
                </a:moveTo>
                <a:lnTo>
                  <a:pt x="3594089" y="0"/>
                </a:lnTo>
                <a:cubicBezTo>
                  <a:pt x="3650207" y="0"/>
                  <a:pt x="3695700" y="45493"/>
                  <a:pt x="3695700" y="101611"/>
                </a:cubicBezTo>
                <a:lnTo>
                  <a:pt x="3695700" y="2590789"/>
                </a:lnTo>
                <a:cubicBezTo>
                  <a:pt x="3695700" y="2646907"/>
                  <a:pt x="3650207" y="2692400"/>
                  <a:pt x="3594089" y="2692400"/>
                </a:cubicBezTo>
                <a:lnTo>
                  <a:pt x="101611" y="2692400"/>
                </a:lnTo>
                <a:cubicBezTo>
                  <a:pt x="45493" y="2692400"/>
                  <a:pt x="0" y="2646907"/>
                  <a:pt x="0" y="2590789"/>
                </a:cubicBezTo>
                <a:lnTo>
                  <a:pt x="0" y="101611"/>
                </a:lnTo>
                <a:cubicBezTo>
                  <a:pt x="0" y="45530"/>
                  <a:pt x="45530" y="0"/>
                  <a:pt x="101611" y="0"/>
                </a:cubicBezTo>
                <a:close/>
              </a:path>
            </a:pathLst>
          </a:custGeom>
          <a:solidFill>
            <a:schemeClr val="accent5">
              <a:lumMod val="20000"/>
              <a:lumOff val="80000"/>
            </a:schemeClr>
          </a:solidFill>
          <a:ln/>
        </p:spPr>
      </p:sp>
      <p:sp>
        <p:nvSpPr>
          <p:cNvPr id="29" name="Shape 7">
            <a:extLst>
              <a:ext uri="{FF2B5EF4-FFF2-40B4-BE49-F238E27FC236}">
                <a16:creationId xmlns:a16="http://schemas.microsoft.com/office/drawing/2014/main" id="{3D35ECE3-874D-451B-BE17-165D272F4794}"/>
              </a:ext>
            </a:extLst>
          </p:cNvPr>
          <p:cNvSpPr/>
          <p:nvPr/>
        </p:nvSpPr>
        <p:spPr>
          <a:xfrm>
            <a:off x="5691604" y="2503286"/>
            <a:ext cx="812800" cy="812800"/>
          </a:xfrm>
          <a:custGeom>
            <a:avLst/>
            <a:gdLst/>
            <a:ahLst/>
            <a:cxnLst/>
            <a:rect l="l" t="t" r="r" b="b"/>
            <a:pathLst>
              <a:path w="812800" h="812800">
                <a:moveTo>
                  <a:pt x="406400" y="0"/>
                </a:moveTo>
                <a:lnTo>
                  <a:pt x="406400" y="0"/>
                </a:lnTo>
                <a:cubicBezTo>
                  <a:pt x="630698" y="0"/>
                  <a:pt x="812800" y="182102"/>
                  <a:pt x="812800" y="406400"/>
                </a:cubicBezTo>
                <a:lnTo>
                  <a:pt x="812800" y="406400"/>
                </a:lnTo>
                <a:cubicBezTo>
                  <a:pt x="812800" y="630698"/>
                  <a:pt x="630698" y="812800"/>
                  <a:pt x="406400" y="812800"/>
                </a:cubicBezTo>
                <a:lnTo>
                  <a:pt x="406400" y="812800"/>
                </a:lnTo>
                <a:cubicBezTo>
                  <a:pt x="182102" y="812800"/>
                  <a:pt x="0" y="630698"/>
                  <a:pt x="0" y="406400"/>
                </a:cubicBezTo>
                <a:lnTo>
                  <a:pt x="0" y="406400"/>
                </a:lnTo>
                <a:cubicBezTo>
                  <a:pt x="0" y="182102"/>
                  <a:pt x="182102" y="0"/>
                  <a:pt x="406400" y="0"/>
                </a:cubicBezTo>
                <a:close/>
              </a:path>
            </a:pathLst>
          </a:custGeom>
          <a:solidFill>
            <a:schemeClr val="accent5">
              <a:lumMod val="60000"/>
              <a:lumOff val="40000"/>
            </a:schemeClr>
          </a:solidFill>
          <a:ln/>
        </p:spPr>
      </p:sp>
      <p:sp>
        <p:nvSpPr>
          <p:cNvPr id="30" name="Shape 8">
            <a:extLst>
              <a:ext uri="{FF2B5EF4-FFF2-40B4-BE49-F238E27FC236}">
                <a16:creationId xmlns:a16="http://schemas.microsoft.com/office/drawing/2014/main" id="{16C6E73D-7AB1-479F-8535-AD8354A3975D}"/>
              </a:ext>
            </a:extLst>
          </p:cNvPr>
          <p:cNvSpPr/>
          <p:nvPr/>
        </p:nvSpPr>
        <p:spPr>
          <a:xfrm>
            <a:off x="5863054" y="2719186"/>
            <a:ext cx="476250" cy="381000"/>
          </a:xfrm>
          <a:custGeom>
            <a:avLst/>
            <a:gdLst/>
            <a:ahLst/>
            <a:cxnLst/>
            <a:rect l="l" t="t" r="r" b="b"/>
            <a:pathLst>
              <a:path w="476250" h="381000">
                <a:moveTo>
                  <a:pt x="87957" y="46434"/>
                </a:moveTo>
                <a:cubicBezTo>
                  <a:pt x="75530" y="42267"/>
                  <a:pt x="68759" y="28724"/>
                  <a:pt x="72926" y="16297"/>
                </a:cubicBezTo>
                <a:cubicBezTo>
                  <a:pt x="77093" y="3870"/>
                  <a:pt x="90562" y="-2902"/>
                  <a:pt x="103063" y="1191"/>
                </a:cubicBezTo>
                <a:lnTo>
                  <a:pt x="187151" y="29245"/>
                </a:lnTo>
                <a:cubicBezTo>
                  <a:pt x="197495" y="11757"/>
                  <a:pt x="216619" y="0"/>
                  <a:pt x="238423" y="0"/>
                </a:cubicBezTo>
                <a:cubicBezTo>
                  <a:pt x="271314" y="0"/>
                  <a:pt x="297954" y="26640"/>
                  <a:pt x="297954" y="59531"/>
                </a:cubicBezTo>
                <a:cubicBezTo>
                  <a:pt x="297954" y="61764"/>
                  <a:pt x="297805" y="63922"/>
                  <a:pt x="297582" y="66080"/>
                </a:cubicBezTo>
                <a:lnTo>
                  <a:pt x="388813" y="96515"/>
                </a:lnTo>
                <a:cubicBezTo>
                  <a:pt x="401315" y="100682"/>
                  <a:pt x="408012" y="114151"/>
                  <a:pt x="403845" y="126653"/>
                </a:cubicBezTo>
                <a:cubicBezTo>
                  <a:pt x="399678" y="139154"/>
                  <a:pt x="386209" y="145852"/>
                  <a:pt x="373707" y="141684"/>
                </a:cubicBezTo>
                <a:lnTo>
                  <a:pt x="272876" y="108049"/>
                </a:lnTo>
                <a:cubicBezTo>
                  <a:pt x="269528" y="110430"/>
                  <a:pt x="265956" y="112440"/>
                  <a:pt x="262161" y="114151"/>
                </a:cubicBezTo>
                <a:lnTo>
                  <a:pt x="262161" y="357262"/>
                </a:lnTo>
                <a:cubicBezTo>
                  <a:pt x="262161" y="370433"/>
                  <a:pt x="251520" y="381074"/>
                  <a:pt x="238348" y="381074"/>
                </a:cubicBezTo>
                <a:lnTo>
                  <a:pt x="95473" y="381074"/>
                </a:lnTo>
                <a:cubicBezTo>
                  <a:pt x="82302" y="381074"/>
                  <a:pt x="71661" y="370433"/>
                  <a:pt x="71661" y="357262"/>
                </a:cubicBezTo>
                <a:cubicBezTo>
                  <a:pt x="71661" y="344091"/>
                  <a:pt x="82302" y="333449"/>
                  <a:pt x="95473" y="333449"/>
                </a:cubicBezTo>
                <a:lnTo>
                  <a:pt x="214536" y="333449"/>
                </a:lnTo>
                <a:lnTo>
                  <a:pt x="214536" y="114151"/>
                </a:lnTo>
                <a:cubicBezTo>
                  <a:pt x="198909" y="107305"/>
                  <a:pt x="186854" y="94059"/>
                  <a:pt x="181645" y="77688"/>
                </a:cubicBezTo>
                <a:lnTo>
                  <a:pt x="87957" y="46434"/>
                </a:lnTo>
                <a:close/>
                <a:moveTo>
                  <a:pt x="149423" y="214313"/>
                </a:moveTo>
                <a:lnTo>
                  <a:pt x="95473" y="121890"/>
                </a:lnTo>
                <a:lnTo>
                  <a:pt x="41597" y="214313"/>
                </a:lnTo>
                <a:lnTo>
                  <a:pt x="149423" y="214313"/>
                </a:lnTo>
                <a:close/>
                <a:moveTo>
                  <a:pt x="95548" y="285750"/>
                </a:moveTo>
                <a:cubicBezTo>
                  <a:pt x="48741" y="285750"/>
                  <a:pt x="9823" y="260449"/>
                  <a:pt x="1786" y="227037"/>
                </a:cubicBezTo>
                <a:cubicBezTo>
                  <a:pt x="-149" y="218852"/>
                  <a:pt x="2530" y="210443"/>
                  <a:pt x="6772" y="203150"/>
                </a:cubicBezTo>
                <a:lnTo>
                  <a:pt x="77614" y="81707"/>
                </a:lnTo>
                <a:cubicBezTo>
                  <a:pt x="81335" y="75307"/>
                  <a:pt x="88181" y="71438"/>
                  <a:pt x="95548" y="71438"/>
                </a:cubicBezTo>
                <a:cubicBezTo>
                  <a:pt x="102915" y="71438"/>
                  <a:pt x="109761" y="75381"/>
                  <a:pt x="113481" y="81707"/>
                </a:cubicBezTo>
                <a:lnTo>
                  <a:pt x="184324" y="203150"/>
                </a:lnTo>
                <a:cubicBezTo>
                  <a:pt x="188565" y="210443"/>
                  <a:pt x="191244" y="218852"/>
                  <a:pt x="189309" y="227037"/>
                </a:cubicBezTo>
                <a:cubicBezTo>
                  <a:pt x="181273" y="260375"/>
                  <a:pt x="142354" y="285750"/>
                  <a:pt x="95548" y="285750"/>
                </a:cubicBezTo>
                <a:close/>
                <a:moveTo>
                  <a:pt x="380405" y="217140"/>
                </a:moveTo>
                <a:lnTo>
                  <a:pt x="326529" y="309563"/>
                </a:lnTo>
                <a:lnTo>
                  <a:pt x="434355" y="309563"/>
                </a:lnTo>
                <a:lnTo>
                  <a:pt x="380479" y="217140"/>
                </a:lnTo>
                <a:close/>
                <a:moveTo>
                  <a:pt x="474166" y="322287"/>
                </a:moveTo>
                <a:cubicBezTo>
                  <a:pt x="466130" y="355699"/>
                  <a:pt x="427211" y="381000"/>
                  <a:pt x="380405" y="381000"/>
                </a:cubicBezTo>
                <a:cubicBezTo>
                  <a:pt x="333598" y="381000"/>
                  <a:pt x="294680" y="355699"/>
                  <a:pt x="286643" y="322287"/>
                </a:cubicBezTo>
                <a:cubicBezTo>
                  <a:pt x="284708" y="314102"/>
                  <a:pt x="287387" y="305693"/>
                  <a:pt x="291629" y="298400"/>
                </a:cubicBezTo>
                <a:lnTo>
                  <a:pt x="362471" y="176957"/>
                </a:lnTo>
                <a:cubicBezTo>
                  <a:pt x="366192" y="170557"/>
                  <a:pt x="373038" y="166688"/>
                  <a:pt x="380405" y="166688"/>
                </a:cubicBezTo>
                <a:cubicBezTo>
                  <a:pt x="387772" y="166688"/>
                  <a:pt x="394618" y="170631"/>
                  <a:pt x="398338" y="176957"/>
                </a:cubicBezTo>
                <a:lnTo>
                  <a:pt x="469181" y="298400"/>
                </a:lnTo>
                <a:cubicBezTo>
                  <a:pt x="473422" y="305693"/>
                  <a:pt x="476101" y="314102"/>
                  <a:pt x="474166" y="322287"/>
                </a:cubicBezTo>
                <a:close/>
              </a:path>
            </a:pathLst>
          </a:custGeom>
          <a:solidFill>
            <a:srgbClr val="FFFFFF"/>
          </a:solidFill>
          <a:ln/>
        </p:spPr>
      </p:sp>
      <p:sp>
        <p:nvSpPr>
          <p:cNvPr id="31" name="Text 9">
            <a:extLst>
              <a:ext uri="{FF2B5EF4-FFF2-40B4-BE49-F238E27FC236}">
                <a16:creationId xmlns:a16="http://schemas.microsoft.com/office/drawing/2014/main" id="{7185EA99-5FFC-4305-B47C-D9FADE0A45D6}"/>
              </a:ext>
            </a:extLst>
          </p:cNvPr>
          <p:cNvSpPr/>
          <p:nvPr/>
        </p:nvSpPr>
        <p:spPr>
          <a:xfrm>
            <a:off x="5463004" y="3468486"/>
            <a:ext cx="1270000" cy="355600"/>
          </a:xfrm>
          <a:prstGeom prst="rect">
            <a:avLst/>
          </a:prstGeom>
          <a:noFill/>
          <a:ln/>
        </p:spPr>
        <p:txBody>
          <a:bodyPr wrap="square" lIns="0" tIns="0" rIns="0" bIns="0" rtlCol="0" anchor="ctr"/>
          <a:lstStyle/>
          <a:p>
            <a:pPr algn="ctr">
              <a:lnSpc>
                <a:spcPct val="120000"/>
              </a:lnSpc>
            </a:pPr>
            <a:r>
              <a:rPr lang="en-US" sz="2000" b="1" dirty="0">
                <a:solidFill>
                  <a:srgbClr val="404040"/>
                </a:solidFill>
                <a:latin typeface="Noto Sans SC" pitchFamily="34" charset="0"/>
                <a:ea typeface="Noto Sans SC" pitchFamily="34" charset="-122"/>
                <a:cs typeface="Noto Sans SC" pitchFamily="34" charset="-120"/>
              </a:rPr>
              <a:t>模态霸权</a:t>
            </a:r>
            <a:endParaRPr lang="en-US" sz="1600" dirty="0"/>
          </a:p>
        </p:txBody>
      </p:sp>
      <p:sp>
        <p:nvSpPr>
          <p:cNvPr id="32" name="Text 10">
            <a:extLst>
              <a:ext uri="{FF2B5EF4-FFF2-40B4-BE49-F238E27FC236}">
                <a16:creationId xmlns:a16="http://schemas.microsoft.com/office/drawing/2014/main" id="{5E6E993B-BA8D-4B65-96D6-7C5115E0B783}"/>
              </a:ext>
            </a:extLst>
          </p:cNvPr>
          <p:cNvSpPr/>
          <p:nvPr/>
        </p:nvSpPr>
        <p:spPr>
          <a:xfrm>
            <a:off x="4392533" y="3987165"/>
            <a:ext cx="3410942" cy="863600"/>
          </a:xfrm>
          <a:prstGeom prst="rect">
            <a:avLst/>
          </a:prstGeom>
          <a:noFill/>
          <a:ln/>
        </p:spPr>
        <p:txBody>
          <a:bodyPr wrap="square" lIns="0" tIns="0" rIns="0" bIns="0" rtlCol="0" anchor="ctr"/>
          <a:lstStyle/>
          <a:p>
            <a:pPr algn="ctr">
              <a:lnSpc>
                <a:spcPct val="140000"/>
              </a:lnSpc>
            </a:pPr>
            <a:r>
              <a:rPr lang="en-US" sz="1400" dirty="0">
                <a:solidFill>
                  <a:srgbClr val="212121"/>
                </a:solidFill>
                <a:latin typeface="Noto Sans SC" pitchFamily="34" charset="0"/>
                <a:ea typeface="Noto Sans SC" pitchFamily="34" charset="-122"/>
                <a:cs typeface="Noto Sans SC" pitchFamily="34" charset="-120"/>
              </a:rPr>
              <a:t>传统拼接式融合造成模态霸权，文本或影像单方主导决策，违背临床综合判读原则。</a:t>
            </a:r>
            <a:endParaRPr lang="en-US" sz="1600" dirty="0"/>
          </a:p>
        </p:txBody>
      </p:sp>
      <p:sp>
        <p:nvSpPr>
          <p:cNvPr id="33" name="Shape 11">
            <a:extLst>
              <a:ext uri="{FF2B5EF4-FFF2-40B4-BE49-F238E27FC236}">
                <a16:creationId xmlns:a16="http://schemas.microsoft.com/office/drawing/2014/main" id="{22A2D08A-6A7B-4192-97B1-F1F65084BF8E}"/>
              </a:ext>
            </a:extLst>
          </p:cNvPr>
          <p:cNvSpPr/>
          <p:nvPr/>
        </p:nvSpPr>
        <p:spPr>
          <a:xfrm>
            <a:off x="8248670" y="2096886"/>
            <a:ext cx="3695700" cy="2413000"/>
          </a:xfrm>
          <a:custGeom>
            <a:avLst/>
            <a:gdLst/>
            <a:ahLst/>
            <a:cxnLst/>
            <a:rect l="l" t="t" r="r" b="b"/>
            <a:pathLst>
              <a:path w="3695700" h="2413000">
                <a:moveTo>
                  <a:pt x="101611" y="0"/>
                </a:moveTo>
                <a:lnTo>
                  <a:pt x="3594089" y="0"/>
                </a:lnTo>
                <a:cubicBezTo>
                  <a:pt x="3650207" y="0"/>
                  <a:pt x="3695700" y="45493"/>
                  <a:pt x="3695700" y="101611"/>
                </a:cubicBezTo>
                <a:lnTo>
                  <a:pt x="3695700" y="2311389"/>
                </a:lnTo>
                <a:cubicBezTo>
                  <a:pt x="3695700" y="2367507"/>
                  <a:pt x="3650207" y="2413000"/>
                  <a:pt x="3594089" y="2413000"/>
                </a:cubicBezTo>
                <a:lnTo>
                  <a:pt x="101611" y="2413000"/>
                </a:lnTo>
                <a:cubicBezTo>
                  <a:pt x="45493" y="2413000"/>
                  <a:pt x="0" y="2367507"/>
                  <a:pt x="0" y="2311389"/>
                </a:cubicBezTo>
                <a:lnTo>
                  <a:pt x="0" y="101611"/>
                </a:lnTo>
                <a:cubicBezTo>
                  <a:pt x="0" y="45493"/>
                  <a:pt x="45493" y="0"/>
                  <a:pt x="101611" y="0"/>
                </a:cubicBezTo>
                <a:close/>
              </a:path>
            </a:pathLst>
          </a:custGeom>
          <a:solidFill>
            <a:schemeClr val="accent5">
              <a:lumMod val="20000"/>
              <a:lumOff val="80000"/>
            </a:schemeClr>
          </a:solidFill>
          <a:ln/>
        </p:spPr>
      </p:sp>
      <p:sp>
        <p:nvSpPr>
          <p:cNvPr id="34" name="Shape 12">
            <a:extLst>
              <a:ext uri="{FF2B5EF4-FFF2-40B4-BE49-F238E27FC236}">
                <a16:creationId xmlns:a16="http://schemas.microsoft.com/office/drawing/2014/main" id="{90AFC96F-2CD0-4916-A32D-43DB6FF8E630}"/>
              </a:ext>
            </a:extLst>
          </p:cNvPr>
          <p:cNvSpPr/>
          <p:nvPr/>
        </p:nvSpPr>
        <p:spPr>
          <a:xfrm>
            <a:off x="9687937" y="2300086"/>
            <a:ext cx="812800" cy="812800"/>
          </a:xfrm>
          <a:custGeom>
            <a:avLst/>
            <a:gdLst/>
            <a:ahLst/>
            <a:cxnLst/>
            <a:rect l="l" t="t" r="r" b="b"/>
            <a:pathLst>
              <a:path w="812800" h="812800">
                <a:moveTo>
                  <a:pt x="406400" y="0"/>
                </a:moveTo>
                <a:lnTo>
                  <a:pt x="406400" y="0"/>
                </a:lnTo>
                <a:cubicBezTo>
                  <a:pt x="630698" y="0"/>
                  <a:pt x="812800" y="182102"/>
                  <a:pt x="812800" y="406400"/>
                </a:cubicBezTo>
                <a:lnTo>
                  <a:pt x="812800" y="406400"/>
                </a:lnTo>
                <a:cubicBezTo>
                  <a:pt x="812800" y="630698"/>
                  <a:pt x="630698" y="812800"/>
                  <a:pt x="406400" y="812800"/>
                </a:cubicBezTo>
                <a:lnTo>
                  <a:pt x="406400" y="812800"/>
                </a:lnTo>
                <a:cubicBezTo>
                  <a:pt x="182102" y="812800"/>
                  <a:pt x="0" y="630698"/>
                  <a:pt x="0" y="406400"/>
                </a:cubicBezTo>
                <a:lnTo>
                  <a:pt x="0" y="406400"/>
                </a:lnTo>
                <a:cubicBezTo>
                  <a:pt x="0" y="182102"/>
                  <a:pt x="182102" y="0"/>
                  <a:pt x="406400" y="0"/>
                </a:cubicBezTo>
                <a:close/>
              </a:path>
            </a:pathLst>
          </a:custGeom>
          <a:solidFill>
            <a:schemeClr val="accent5">
              <a:lumMod val="40000"/>
              <a:lumOff val="60000"/>
            </a:schemeClr>
          </a:solidFill>
          <a:ln/>
        </p:spPr>
      </p:sp>
      <p:sp>
        <p:nvSpPr>
          <p:cNvPr id="35" name="Shape 13">
            <a:extLst>
              <a:ext uri="{FF2B5EF4-FFF2-40B4-BE49-F238E27FC236}">
                <a16:creationId xmlns:a16="http://schemas.microsoft.com/office/drawing/2014/main" id="{1EE9DD38-0F40-40D0-A220-0AEDE91898FE}"/>
              </a:ext>
            </a:extLst>
          </p:cNvPr>
          <p:cNvSpPr/>
          <p:nvPr/>
        </p:nvSpPr>
        <p:spPr>
          <a:xfrm>
            <a:off x="9907012" y="2515986"/>
            <a:ext cx="381000" cy="381000"/>
          </a:xfrm>
          <a:custGeom>
            <a:avLst/>
            <a:gdLst/>
            <a:ahLst/>
            <a:cxnLst/>
            <a:rect l="l" t="t" r="r" b="b"/>
            <a:pathLst>
              <a:path w="381000" h="381000">
                <a:moveTo>
                  <a:pt x="130969" y="17859"/>
                </a:moveTo>
                <a:cubicBezTo>
                  <a:pt x="130969" y="7962"/>
                  <a:pt x="123006" y="0"/>
                  <a:pt x="113109" y="0"/>
                </a:cubicBezTo>
                <a:cubicBezTo>
                  <a:pt x="103212" y="0"/>
                  <a:pt x="95250" y="7962"/>
                  <a:pt x="95250" y="17859"/>
                </a:cubicBezTo>
                <a:lnTo>
                  <a:pt x="95250" y="47625"/>
                </a:lnTo>
                <a:cubicBezTo>
                  <a:pt x="68982" y="47625"/>
                  <a:pt x="47625" y="68982"/>
                  <a:pt x="47625" y="95250"/>
                </a:cubicBezTo>
                <a:lnTo>
                  <a:pt x="17859" y="95250"/>
                </a:lnTo>
                <a:cubicBezTo>
                  <a:pt x="7962" y="95250"/>
                  <a:pt x="0" y="103212"/>
                  <a:pt x="0" y="113109"/>
                </a:cubicBezTo>
                <a:cubicBezTo>
                  <a:pt x="0" y="123006"/>
                  <a:pt x="7962" y="130969"/>
                  <a:pt x="17859" y="130969"/>
                </a:cubicBezTo>
                <a:lnTo>
                  <a:pt x="47625" y="130969"/>
                </a:lnTo>
                <a:lnTo>
                  <a:pt x="47625" y="172641"/>
                </a:lnTo>
                <a:lnTo>
                  <a:pt x="17859" y="172641"/>
                </a:lnTo>
                <a:cubicBezTo>
                  <a:pt x="7962" y="172641"/>
                  <a:pt x="0" y="180603"/>
                  <a:pt x="0" y="190500"/>
                </a:cubicBezTo>
                <a:cubicBezTo>
                  <a:pt x="0" y="200397"/>
                  <a:pt x="7962" y="208359"/>
                  <a:pt x="17859" y="208359"/>
                </a:cubicBezTo>
                <a:lnTo>
                  <a:pt x="47625" y="208359"/>
                </a:lnTo>
                <a:lnTo>
                  <a:pt x="47625" y="250031"/>
                </a:lnTo>
                <a:lnTo>
                  <a:pt x="17859" y="250031"/>
                </a:lnTo>
                <a:cubicBezTo>
                  <a:pt x="7962" y="250031"/>
                  <a:pt x="0" y="257994"/>
                  <a:pt x="0" y="267891"/>
                </a:cubicBezTo>
                <a:cubicBezTo>
                  <a:pt x="0" y="277788"/>
                  <a:pt x="7962" y="285750"/>
                  <a:pt x="17859" y="285750"/>
                </a:cubicBezTo>
                <a:lnTo>
                  <a:pt x="47625" y="285750"/>
                </a:lnTo>
                <a:cubicBezTo>
                  <a:pt x="47625" y="312018"/>
                  <a:pt x="68982" y="333375"/>
                  <a:pt x="95250" y="333375"/>
                </a:cubicBezTo>
                <a:lnTo>
                  <a:pt x="95250" y="363141"/>
                </a:lnTo>
                <a:cubicBezTo>
                  <a:pt x="95250" y="373038"/>
                  <a:pt x="103212" y="381000"/>
                  <a:pt x="113109" y="381000"/>
                </a:cubicBezTo>
                <a:cubicBezTo>
                  <a:pt x="123006" y="381000"/>
                  <a:pt x="130969" y="373038"/>
                  <a:pt x="130969" y="363141"/>
                </a:cubicBezTo>
                <a:lnTo>
                  <a:pt x="130969" y="333375"/>
                </a:lnTo>
                <a:lnTo>
                  <a:pt x="172641" y="333375"/>
                </a:lnTo>
                <a:lnTo>
                  <a:pt x="172641" y="363141"/>
                </a:lnTo>
                <a:cubicBezTo>
                  <a:pt x="172641" y="373038"/>
                  <a:pt x="180603" y="381000"/>
                  <a:pt x="190500" y="381000"/>
                </a:cubicBezTo>
                <a:cubicBezTo>
                  <a:pt x="200397" y="381000"/>
                  <a:pt x="208359" y="373038"/>
                  <a:pt x="208359" y="363141"/>
                </a:cubicBezTo>
                <a:lnTo>
                  <a:pt x="208359" y="333375"/>
                </a:lnTo>
                <a:lnTo>
                  <a:pt x="250031" y="333375"/>
                </a:lnTo>
                <a:lnTo>
                  <a:pt x="250031" y="363141"/>
                </a:lnTo>
                <a:cubicBezTo>
                  <a:pt x="250031" y="373038"/>
                  <a:pt x="257994" y="381000"/>
                  <a:pt x="267891" y="381000"/>
                </a:cubicBezTo>
                <a:cubicBezTo>
                  <a:pt x="277788" y="381000"/>
                  <a:pt x="285750" y="373038"/>
                  <a:pt x="285750" y="363141"/>
                </a:cubicBezTo>
                <a:lnTo>
                  <a:pt x="285750" y="333375"/>
                </a:lnTo>
                <a:cubicBezTo>
                  <a:pt x="312018" y="333375"/>
                  <a:pt x="333375" y="312018"/>
                  <a:pt x="333375" y="285750"/>
                </a:cubicBezTo>
                <a:lnTo>
                  <a:pt x="363141" y="285750"/>
                </a:lnTo>
                <a:cubicBezTo>
                  <a:pt x="373038" y="285750"/>
                  <a:pt x="381000" y="277788"/>
                  <a:pt x="381000" y="267891"/>
                </a:cubicBezTo>
                <a:cubicBezTo>
                  <a:pt x="381000" y="257994"/>
                  <a:pt x="373038" y="250031"/>
                  <a:pt x="363141" y="250031"/>
                </a:cubicBezTo>
                <a:lnTo>
                  <a:pt x="333375" y="250031"/>
                </a:lnTo>
                <a:lnTo>
                  <a:pt x="333375" y="208359"/>
                </a:lnTo>
                <a:lnTo>
                  <a:pt x="363141" y="208359"/>
                </a:lnTo>
                <a:cubicBezTo>
                  <a:pt x="373038" y="208359"/>
                  <a:pt x="381000" y="200397"/>
                  <a:pt x="381000" y="190500"/>
                </a:cubicBezTo>
                <a:cubicBezTo>
                  <a:pt x="381000" y="180603"/>
                  <a:pt x="373038" y="172641"/>
                  <a:pt x="363141" y="172641"/>
                </a:cubicBezTo>
                <a:lnTo>
                  <a:pt x="333375" y="172641"/>
                </a:lnTo>
                <a:lnTo>
                  <a:pt x="333375" y="130969"/>
                </a:lnTo>
                <a:lnTo>
                  <a:pt x="363141" y="130969"/>
                </a:lnTo>
                <a:cubicBezTo>
                  <a:pt x="373038" y="130969"/>
                  <a:pt x="381000" y="123006"/>
                  <a:pt x="381000" y="113109"/>
                </a:cubicBezTo>
                <a:cubicBezTo>
                  <a:pt x="381000" y="103212"/>
                  <a:pt x="373038" y="95250"/>
                  <a:pt x="363141" y="95250"/>
                </a:cubicBezTo>
                <a:lnTo>
                  <a:pt x="333375" y="95250"/>
                </a:lnTo>
                <a:cubicBezTo>
                  <a:pt x="333375" y="68982"/>
                  <a:pt x="312018" y="47625"/>
                  <a:pt x="285750" y="47625"/>
                </a:cubicBezTo>
                <a:lnTo>
                  <a:pt x="285750" y="17859"/>
                </a:lnTo>
                <a:cubicBezTo>
                  <a:pt x="285750" y="7962"/>
                  <a:pt x="277788" y="0"/>
                  <a:pt x="267891" y="0"/>
                </a:cubicBezTo>
                <a:cubicBezTo>
                  <a:pt x="257994" y="0"/>
                  <a:pt x="250031" y="7962"/>
                  <a:pt x="250031" y="17859"/>
                </a:cubicBezTo>
                <a:lnTo>
                  <a:pt x="250031" y="47625"/>
                </a:lnTo>
                <a:lnTo>
                  <a:pt x="208359" y="47625"/>
                </a:lnTo>
                <a:lnTo>
                  <a:pt x="208359" y="17859"/>
                </a:lnTo>
                <a:cubicBezTo>
                  <a:pt x="208359" y="7962"/>
                  <a:pt x="200397" y="0"/>
                  <a:pt x="190500" y="0"/>
                </a:cubicBezTo>
                <a:cubicBezTo>
                  <a:pt x="180603" y="0"/>
                  <a:pt x="172641" y="7962"/>
                  <a:pt x="172641" y="17859"/>
                </a:cubicBezTo>
                <a:lnTo>
                  <a:pt x="172641" y="47625"/>
                </a:lnTo>
                <a:lnTo>
                  <a:pt x="130969" y="47625"/>
                </a:lnTo>
                <a:lnTo>
                  <a:pt x="130969" y="17859"/>
                </a:lnTo>
                <a:close/>
                <a:moveTo>
                  <a:pt x="119063" y="95250"/>
                </a:moveTo>
                <a:lnTo>
                  <a:pt x="261938" y="95250"/>
                </a:lnTo>
                <a:cubicBezTo>
                  <a:pt x="275109" y="95250"/>
                  <a:pt x="285750" y="105891"/>
                  <a:pt x="285750" y="119063"/>
                </a:cubicBezTo>
                <a:lnTo>
                  <a:pt x="285750" y="261938"/>
                </a:lnTo>
                <a:cubicBezTo>
                  <a:pt x="285750" y="275109"/>
                  <a:pt x="275109" y="285750"/>
                  <a:pt x="261938" y="285750"/>
                </a:cubicBezTo>
                <a:lnTo>
                  <a:pt x="119063" y="285750"/>
                </a:lnTo>
                <a:cubicBezTo>
                  <a:pt x="105891" y="285750"/>
                  <a:pt x="95250" y="275109"/>
                  <a:pt x="95250" y="261938"/>
                </a:cubicBezTo>
                <a:lnTo>
                  <a:pt x="95250" y="119063"/>
                </a:lnTo>
                <a:cubicBezTo>
                  <a:pt x="95250" y="105891"/>
                  <a:pt x="105891" y="95250"/>
                  <a:pt x="119063" y="95250"/>
                </a:cubicBezTo>
                <a:close/>
                <a:moveTo>
                  <a:pt x="130969" y="130969"/>
                </a:moveTo>
                <a:lnTo>
                  <a:pt x="130969" y="250031"/>
                </a:lnTo>
                <a:lnTo>
                  <a:pt x="250031" y="250031"/>
                </a:lnTo>
                <a:lnTo>
                  <a:pt x="250031" y="130969"/>
                </a:lnTo>
                <a:lnTo>
                  <a:pt x="130969" y="130969"/>
                </a:lnTo>
                <a:close/>
              </a:path>
            </a:pathLst>
          </a:custGeom>
          <a:solidFill>
            <a:srgbClr val="FFFFFF"/>
          </a:solidFill>
          <a:ln/>
        </p:spPr>
      </p:sp>
      <p:sp>
        <p:nvSpPr>
          <p:cNvPr id="36" name="Text 14">
            <a:extLst>
              <a:ext uri="{FF2B5EF4-FFF2-40B4-BE49-F238E27FC236}">
                <a16:creationId xmlns:a16="http://schemas.microsoft.com/office/drawing/2014/main" id="{246B8467-1DA4-422E-82A8-16130D7E93D0}"/>
              </a:ext>
            </a:extLst>
          </p:cNvPr>
          <p:cNvSpPr/>
          <p:nvPr/>
        </p:nvSpPr>
        <p:spPr>
          <a:xfrm>
            <a:off x="9459337" y="3265286"/>
            <a:ext cx="1270000" cy="355600"/>
          </a:xfrm>
          <a:prstGeom prst="rect">
            <a:avLst/>
          </a:prstGeom>
          <a:noFill/>
          <a:ln/>
        </p:spPr>
        <p:txBody>
          <a:bodyPr wrap="square" lIns="0" tIns="0" rIns="0" bIns="0" rtlCol="0" anchor="ctr"/>
          <a:lstStyle/>
          <a:p>
            <a:pPr algn="ctr">
              <a:lnSpc>
                <a:spcPct val="120000"/>
              </a:lnSpc>
            </a:pPr>
            <a:r>
              <a:rPr lang="en-US" sz="2000" b="1" dirty="0">
                <a:solidFill>
                  <a:srgbClr val="404040"/>
                </a:solidFill>
                <a:latin typeface="Noto Sans SC" pitchFamily="34" charset="0"/>
                <a:ea typeface="Noto Sans SC" pitchFamily="34" charset="-122"/>
                <a:cs typeface="Noto Sans SC" pitchFamily="34" charset="-120"/>
              </a:rPr>
              <a:t>计算昂贵</a:t>
            </a:r>
            <a:endParaRPr lang="en-US" sz="1600" dirty="0"/>
          </a:p>
        </p:txBody>
      </p:sp>
      <p:sp>
        <p:nvSpPr>
          <p:cNvPr id="37" name="Text 15">
            <a:extLst>
              <a:ext uri="{FF2B5EF4-FFF2-40B4-BE49-F238E27FC236}">
                <a16:creationId xmlns:a16="http://schemas.microsoft.com/office/drawing/2014/main" id="{C9CABB0E-3D89-4BFE-8194-F246A2E40B11}"/>
              </a:ext>
            </a:extLst>
          </p:cNvPr>
          <p:cNvSpPr/>
          <p:nvPr/>
        </p:nvSpPr>
        <p:spPr>
          <a:xfrm>
            <a:off x="8451870" y="3722486"/>
            <a:ext cx="3289300" cy="584200"/>
          </a:xfrm>
          <a:prstGeom prst="rect">
            <a:avLst/>
          </a:prstGeom>
          <a:noFill/>
          <a:ln/>
        </p:spPr>
        <p:txBody>
          <a:bodyPr wrap="square" lIns="0" tIns="0" rIns="0" bIns="0" rtlCol="0" anchor="ctr"/>
          <a:lstStyle/>
          <a:p>
            <a:pPr algn="ctr">
              <a:lnSpc>
                <a:spcPct val="140000"/>
              </a:lnSpc>
            </a:pPr>
            <a:r>
              <a:rPr lang="en-US" sz="1400" dirty="0">
                <a:solidFill>
                  <a:srgbClr val="212121"/>
                </a:solidFill>
                <a:latin typeface="Noto Sans SC" pitchFamily="34" charset="0"/>
                <a:ea typeface="Noto Sans SC" pitchFamily="34" charset="-122"/>
                <a:cs typeface="Noto Sans SC" pitchFamily="34" charset="-120"/>
              </a:rPr>
              <a:t>单模态大模型参数量巨大，直接端到端微调显存与训练时间难以承受。</a:t>
            </a:r>
            <a:endParaRPr lang="en-US" sz="1600" dirty="0"/>
          </a:p>
        </p:txBody>
      </p:sp>
      <p:sp>
        <p:nvSpPr>
          <p:cNvPr id="38" name="Text 16">
            <a:extLst>
              <a:ext uri="{FF2B5EF4-FFF2-40B4-BE49-F238E27FC236}">
                <a16:creationId xmlns:a16="http://schemas.microsoft.com/office/drawing/2014/main" id="{1125570F-FEBE-428F-AA48-7D564EDC7645}"/>
              </a:ext>
            </a:extLst>
          </p:cNvPr>
          <p:cNvSpPr/>
          <p:nvPr/>
        </p:nvSpPr>
        <p:spPr>
          <a:xfrm>
            <a:off x="152400" y="5590308"/>
            <a:ext cx="11887200" cy="304800"/>
          </a:xfrm>
          <a:prstGeom prst="rect">
            <a:avLst/>
          </a:prstGeom>
          <a:noFill/>
          <a:ln/>
        </p:spPr>
        <p:txBody>
          <a:bodyPr wrap="square" lIns="0" tIns="0" rIns="0" bIns="0" rtlCol="0" anchor="ctr"/>
          <a:lstStyle/>
          <a:p>
            <a:pPr algn="ctr">
              <a:lnSpc>
                <a:spcPct val="130000"/>
              </a:lnSpc>
            </a:pPr>
            <a:r>
              <a:rPr lang="en-US" sz="1600" b="1" dirty="0" err="1">
                <a:solidFill>
                  <a:srgbClr val="404040"/>
                </a:solidFill>
                <a:latin typeface="Noto Sans SC" pitchFamily="34" charset="0"/>
                <a:ea typeface="Noto Sans SC" pitchFamily="34" charset="-122"/>
                <a:cs typeface="Noto Sans SC" pitchFamily="34" charset="-120"/>
              </a:rPr>
              <a:t>上述障碍导致现有方法</a:t>
            </a:r>
            <a:r>
              <a:rPr lang="zh-CN" altLang="en-US" sz="1600" b="1" dirty="0">
                <a:solidFill>
                  <a:srgbClr val="404040"/>
                </a:solidFill>
                <a:latin typeface="Noto Sans SC" pitchFamily="34" charset="0"/>
                <a:ea typeface="Noto Sans SC" pitchFamily="34" charset="-122"/>
                <a:cs typeface="Noto Sans SC" pitchFamily="34" charset="-120"/>
              </a:rPr>
              <a:t>在精度、鲁棒性和效率</a:t>
            </a:r>
            <a:r>
              <a:rPr lang="en-US" sz="1600" b="1" dirty="0" err="1">
                <a:solidFill>
                  <a:srgbClr val="404040"/>
                </a:solidFill>
                <a:latin typeface="Noto Sans SC" pitchFamily="34" charset="0"/>
                <a:ea typeface="Noto Sans SC" pitchFamily="34" charset="-122"/>
                <a:cs typeface="Noto Sans SC" pitchFamily="34" charset="-120"/>
              </a:rPr>
              <a:t>三角中被迫做出牺牲</a:t>
            </a:r>
            <a:r>
              <a:rPr lang="en-US" sz="1600" b="1" dirty="0">
                <a:solidFill>
                  <a:srgbClr val="404040"/>
                </a:solidFill>
                <a:latin typeface="Noto Sans SC" pitchFamily="34" charset="0"/>
                <a:ea typeface="Noto Sans SC" pitchFamily="34" charset="-122"/>
                <a:cs typeface="Noto Sans SC" pitchFamily="34" charset="-120"/>
              </a:rPr>
              <a:t>。</a:t>
            </a:r>
            <a:endParaRPr lang="en-US" sz="1600" dirty="0"/>
          </a:p>
        </p:txBody>
      </p:sp>
      <p:pic>
        <p:nvPicPr>
          <p:cNvPr id="8" name="图片 7">
            <a:extLst>
              <a:ext uri="{FF2B5EF4-FFF2-40B4-BE49-F238E27FC236}">
                <a16:creationId xmlns:a16="http://schemas.microsoft.com/office/drawing/2014/main" id="{EDA65DFC-2168-4C4C-832E-D54A83B1158B}"/>
              </a:ext>
            </a:extLst>
          </p:cNvPr>
          <p:cNvPicPr>
            <a:picLocks noChangeAspect="1"/>
          </p:cNvPicPr>
          <p:nvPr/>
        </p:nvPicPr>
        <p:blipFill>
          <a:blip r:embed="rId4"/>
          <a:stretch>
            <a:fillRect/>
          </a:stretch>
        </p:blipFill>
        <p:spPr>
          <a:xfrm>
            <a:off x="4146391" y="1826546"/>
            <a:ext cx="3857977" cy="3506067"/>
          </a:xfrm>
          <a:prstGeom prst="rect">
            <a:avLst/>
          </a:prstGeom>
        </p:spPr>
      </p:pic>
    </p:spTree>
  </p:cSld>
  <p:clrMapOvr>
    <a:masterClrMapping/>
  </p:clrMapOvr>
  <p:transition spd="slow" advClick="0" advTm="1000">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1" name="直接连接符 50"/>
          <p:cNvCxnSpPr/>
          <p:nvPr/>
        </p:nvCxnSpPr>
        <p:spPr>
          <a:xfrm>
            <a:off x="660400" y="760413"/>
            <a:ext cx="10858500" cy="0"/>
          </a:xfrm>
          <a:prstGeom prst="line">
            <a:avLst/>
          </a:prstGeom>
          <a:noFill/>
          <a:ln w="22225" cap="flat" cmpd="sng" algn="ctr">
            <a:solidFill>
              <a:srgbClr val="1C6299"/>
            </a:solidFill>
            <a:prstDash val="solid"/>
            <a:miter lim="800000"/>
          </a:ln>
          <a:effectLst/>
        </p:spPr>
      </p:cxnSp>
      <p:sp>
        <p:nvSpPr>
          <p:cNvPr id="52" name="标题占位符 1"/>
          <p:cNvSpPr txBox="1"/>
          <p:nvPr/>
        </p:nvSpPr>
        <p:spPr>
          <a:xfrm>
            <a:off x="965200" y="-100014"/>
            <a:ext cx="5435600" cy="817564"/>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US" altLang="zh-CN" sz="2600" b="1" i="0" u="none" strike="noStrike" kern="1200" cap="none" spc="0" normalizeH="0" baseline="0" noProof="0" dirty="0" err="1">
                <a:ln>
                  <a:noFill/>
                </a:ln>
                <a:solidFill>
                  <a:sysClr val="windowText" lastClr="000000"/>
                </a:solidFill>
                <a:effectLst/>
                <a:uLnTx/>
                <a:uFillTx/>
                <a:latin typeface="Arial" panose="020B0604020202020204"/>
                <a:ea typeface="微软雅黑" panose="020B0503020204020204" pitchFamily="34" charset="-122"/>
                <a:cs typeface="+mj-cs"/>
              </a:rPr>
              <a:t>AdaCoMed</a:t>
            </a:r>
            <a:endParaRPr kumimoji="0" lang="zh-CN" altLang="en-US" sz="2600" b="1" i="0" u="none" strike="noStrike" kern="1200" cap="none" spc="0" normalizeH="0" baseline="0" noProof="0" dirty="0">
              <a:ln>
                <a:noFill/>
              </a:ln>
              <a:solidFill>
                <a:sysClr val="windowText" lastClr="000000"/>
              </a:solidFill>
              <a:effectLst/>
              <a:uLnTx/>
              <a:uFillTx/>
              <a:latin typeface="Arial" panose="020B0604020202020204"/>
              <a:ea typeface="微软雅黑" panose="020B0503020204020204" pitchFamily="34" charset="-122"/>
              <a:cs typeface="+mj-cs"/>
            </a:endParaRPr>
          </a:p>
        </p:txBody>
      </p:sp>
      <p:grpSp>
        <p:nvGrpSpPr>
          <p:cNvPr id="54" name="组合 53"/>
          <p:cNvGrpSpPr/>
          <p:nvPr/>
        </p:nvGrpSpPr>
        <p:grpSpPr>
          <a:xfrm>
            <a:off x="203760" y="159728"/>
            <a:ext cx="725344" cy="619478"/>
            <a:chOff x="178632" y="159728"/>
            <a:chExt cx="725344" cy="619478"/>
          </a:xfrm>
        </p:grpSpPr>
        <p:sp>
          <p:nvSpPr>
            <p:cNvPr id="55" name="椭圆 54"/>
            <p:cNvSpPr/>
            <p:nvPr/>
          </p:nvSpPr>
          <p:spPr>
            <a:xfrm>
              <a:off x="358210" y="159728"/>
              <a:ext cx="468000" cy="468000"/>
            </a:xfrm>
            <a:prstGeom prst="ellipse">
              <a:avLst/>
            </a:prstGeom>
            <a:gradFill>
              <a:gsLst>
                <a:gs pos="0">
                  <a:srgbClr val="1C6299"/>
                </a:gs>
                <a:gs pos="100000">
                  <a:srgbClr val="5C307D">
                    <a:alpha val="9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6" name="文本框 55"/>
            <p:cNvSpPr txBox="1"/>
            <p:nvPr/>
          </p:nvSpPr>
          <p:spPr>
            <a:xfrm>
              <a:off x="230876" y="233483"/>
              <a:ext cx="67310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03</a:t>
              </a:r>
              <a:endParaRPr kumimoji="0" lang="zh-CN" altLang="en-US"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7" name="椭圆 56"/>
            <p:cNvSpPr/>
            <p:nvPr/>
          </p:nvSpPr>
          <p:spPr>
            <a:xfrm>
              <a:off x="178632" y="602993"/>
              <a:ext cx="176213" cy="176213"/>
            </a:xfrm>
            <a:prstGeom prst="ellipse">
              <a:avLst/>
            </a:prstGeom>
            <a:gradFill>
              <a:gsLst>
                <a:gs pos="0">
                  <a:srgbClr val="1C6299"/>
                </a:gs>
                <a:gs pos="100000">
                  <a:srgbClr val="5C307D">
                    <a:alpha val="90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59" name="文本框 58"/>
          <p:cNvSpPr txBox="1"/>
          <p:nvPr/>
        </p:nvSpPr>
        <p:spPr>
          <a:xfrm>
            <a:off x="660400" y="6583649"/>
            <a:ext cx="1941557"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自强不息 厚德载物</a:t>
            </a:r>
          </a:p>
        </p:txBody>
      </p:sp>
      <p:pic>
        <p:nvPicPr>
          <p:cNvPr id="61" name="图片 6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24913" y="176378"/>
            <a:ext cx="1897854" cy="555905"/>
          </a:xfrm>
          <a:prstGeom prst="rect">
            <a:avLst/>
          </a:prstGeom>
        </p:spPr>
      </p:pic>
      <p:sp>
        <p:nvSpPr>
          <p:cNvPr id="62" name="矩形 61"/>
          <p:cNvSpPr/>
          <p:nvPr/>
        </p:nvSpPr>
        <p:spPr>
          <a:xfrm>
            <a:off x="0" y="6570000"/>
            <a:ext cx="12192000" cy="288000"/>
          </a:xfrm>
          <a:prstGeom prst="rect">
            <a:avLst/>
          </a:prstGeom>
          <a:solidFill>
            <a:srgbClr val="1C629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63" name="文本框 62"/>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latin typeface="微软雅黑" panose="020B0503020204020204" pitchFamily="34" charset="-122"/>
                <a:ea typeface="微软雅黑" panose="020B0503020204020204" pitchFamily="34" charset="-122"/>
              </a:rPr>
              <a:t>知行合一、经世致用</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4" name="文本框 63"/>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latin typeface="Arial" panose="020B0604020202020204" pitchFamily="34" charset="0"/>
                <a:ea typeface="微软雅黑" panose="020B0503020204020204" pitchFamily="34" charset="-122"/>
                <a:cs typeface="Arial" panose="020B0604020202020204" pitchFamily="34" charset="0"/>
              </a:rPr>
              <a:t>Central South University</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pic>
        <p:nvPicPr>
          <p:cNvPr id="7" name="图片 6">
            <a:extLst>
              <a:ext uri="{FF2B5EF4-FFF2-40B4-BE49-F238E27FC236}">
                <a16:creationId xmlns:a16="http://schemas.microsoft.com/office/drawing/2014/main" id="{9A81E9D0-E280-47A3-B6F3-4B2AA83C65F8}"/>
              </a:ext>
            </a:extLst>
          </p:cNvPr>
          <p:cNvPicPr>
            <a:picLocks noChangeAspect="1"/>
          </p:cNvPicPr>
          <p:nvPr/>
        </p:nvPicPr>
        <p:blipFill>
          <a:blip r:embed="rId4"/>
          <a:stretch>
            <a:fillRect/>
          </a:stretch>
        </p:blipFill>
        <p:spPr>
          <a:xfrm>
            <a:off x="1474419" y="1152961"/>
            <a:ext cx="8755431" cy="5413820"/>
          </a:xfrm>
          <a:prstGeom prst="rect">
            <a:avLst/>
          </a:prstGeom>
        </p:spPr>
      </p:pic>
      <p:sp>
        <p:nvSpPr>
          <p:cNvPr id="20" name="文本框 19">
            <a:extLst>
              <a:ext uri="{FF2B5EF4-FFF2-40B4-BE49-F238E27FC236}">
                <a16:creationId xmlns:a16="http://schemas.microsoft.com/office/drawing/2014/main" id="{450EC13A-CA4C-4B65-9EEA-06C80A10D86B}"/>
              </a:ext>
            </a:extLst>
          </p:cNvPr>
          <p:cNvSpPr txBox="1"/>
          <p:nvPr/>
        </p:nvSpPr>
        <p:spPr>
          <a:xfrm>
            <a:off x="936625" y="828935"/>
            <a:ext cx="10582275" cy="369332"/>
          </a:xfrm>
          <a:prstGeom prst="rect">
            <a:avLst/>
          </a:prstGeom>
          <a:noFill/>
        </p:spPr>
        <p:txBody>
          <a:bodyPr wrap="square">
            <a:spAutoFit/>
          </a:bodyPr>
          <a:lstStyle/>
          <a:p>
            <a:r>
              <a:rPr lang="zh-CN" altLang="en-US" b="1" dirty="0">
                <a:solidFill>
                  <a:srgbClr val="212121"/>
                </a:solidFill>
                <a:latin typeface="Noto Sans SC" panose="020B0200000000000000" pitchFamily="34" charset="-122"/>
                <a:ea typeface="Noto Sans SC" panose="020B0200000000000000" pitchFamily="34" charset="-122"/>
              </a:rPr>
              <a:t>核心思想</a:t>
            </a:r>
            <a:r>
              <a:rPr lang="zh-CN" altLang="en-US" dirty="0">
                <a:solidFill>
                  <a:srgbClr val="212121"/>
                </a:solidFill>
                <a:latin typeface="Noto Sans SC" panose="020B0200000000000000" pitchFamily="34" charset="-122"/>
                <a:ea typeface="Noto Sans SC" panose="020B0200000000000000" pitchFamily="34" charset="-122"/>
              </a:rPr>
              <a:t>：借助预训练小模型的模态交互信息以及预训练大模型的编码能力，训练一个</a:t>
            </a:r>
            <a:r>
              <a:rPr lang="zh-CN" altLang="en-US" b="1" dirty="0">
                <a:solidFill>
                  <a:srgbClr val="212121"/>
                </a:solidFill>
                <a:latin typeface="Noto Sans SC" panose="020B0200000000000000" pitchFamily="34" charset="-122"/>
                <a:ea typeface="Noto Sans SC" panose="020B0200000000000000" pitchFamily="34" charset="-122"/>
              </a:rPr>
              <a:t>大模型调度器</a:t>
            </a:r>
            <a:endParaRPr lang="zh-CN" altLang="en-US" b="1" dirty="0"/>
          </a:p>
        </p:txBody>
      </p:sp>
    </p:spTree>
    <p:extLst>
      <p:ext uri="{BB962C8B-B14F-4D97-AF65-F5344CB8AC3E}">
        <p14:creationId xmlns:p14="http://schemas.microsoft.com/office/powerpoint/2010/main" val="277480174"/>
      </p:ext>
    </p:extLst>
  </p:cSld>
  <p:clrMapOvr>
    <a:masterClrMapping/>
  </p:clrMapOvr>
  <p:transition spd="slow" advClick="0" advTm="1000">
    <p:randomBar dir="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1" name="直接连接符 50"/>
          <p:cNvCxnSpPr/>
          <p:nvPr/>
        </p:nvCxnSpPr>
        <p:spPr>
          <a:xfrm>
            <a:off x="660400" y="760413"/>
            <a:ext cx="10858500" cy="0"/>
          </a:xfrm>
          <a:prstGeom prst="line">
            <a:avLst/>
          </a:prstGeom>
          <a:noFill/>
          <a:ln w="22225" cap="flat" cmpd="sng" algn="ctr">
            <a:solidFill>
              <a:srgbClr val="1C6299"/>
            </a:solidFill>
            <a:prstDash val="solid"/>
            <a:miter lim="800000"/>
          </a:ln>
          <a:effectLst/>
        </p:spPr>
      </p:cxnSp>
      <p:sp>
        <p:nvSpPr>
          <p:cNvPr id="52" name="标题占位符 1"/>
          <p:cNvSpPr txBox="1"/>
          <p:nvPr/>
        </p:nvSpPr>
        <p:spPr>
          <a:xfrm>
            <a:off x="965200" y="-100014"/>
            <a:ext cx="5435600" cy="817564"/>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lang="en-US" altLang="zh-CN" sz="2600" b="1" dirty="0" err="1">
                <a:solidFill>
                  <a:sysClr val="windowText" lastClr="000000"/>
                </a:solidFill>
                <a:latin typeface="Arial" panose="020B0604020202020204"/>
                <a:ea typeface="微软雅黑" panose="020B0503020204020204" pitchFamily="34" charset="-122"/>
              </a:rPr>
              <a:t>AdaCoMed</a:t>
            </a:r>
            <a:endParaRPr kumimoji="0" lang="zh-CN" altLang="en-US" sz="2600" b="1" i="0" u="none" strike="noStrike" kern="1200" cap="none" spc="0" normalizeH="0" baseline="0" noProof="0" dirty="0">
              <a:ln>
                <a:noFill/>
              </a:ln>
              <a:solidFill>
                <a:sysClr val="windowText" lastClr="000000"/>
              </a:solidFill>
              <a:effectLst/>
              <a:uLnTx/>
              <a:uFillTx/>
              <a:latin typeface="Arial" panose="020B0604020202020204"/>
              <a:ea typeface="微软雅黑" panose="020B0503020204020204" pitchFamily="34" charset="-122"/>
              <a:cs typeface="+mj-cs"/>
            </a:endParaRPr>
          </a:p>
        </p:txBody>
      </p:sp>
      <p:grpSp>
        <p:nvGrpSpPr>
          <p:cNvPr id="54" name="组合 53"/>
          <p:cNvGrpSpPr/>
          <p:nvPr/>
        </p:nvGrpSpPr>
        <p:grpSpPr>
          <a:xfrm>
            <a:off x="203760" y="159728"/>
            <a:ext cx="725344" cy="619478"/>
            <a:chOff x="178632" y="159728"/>
            <a:chExt cx="725344" cy="619478"/>
          </a:xfrm>
        </p:grpSpPr>
        <p:sp>
          <p:nvSpPr>
            <p:cNvPr id="55" name="椭圆 54"/>
            <p:cNvSpPr/>
            <p:nvPr/>
          </p:nvSpPr>
          <p:spPr>
            <a:xfrm>
              <a:off x="358210" y="159728"/>
              <a:ext cx="468000" cy="468000"/>
            </a:xfrm>
            <a:prstGeom prst="ellipse">
              <a:avLst/>
            </a:prstGeom>
            <a:gradFill>
              <a:gsLst>
                <a:gs pos="0">
                  <a:srgbClr val="1C6299"/>
                </a:gs>
                <a:gs pos="100000">
                  <a:srgbClr val="5C307D">
                    <a:alpha val="9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6" name="文本框 55"/>
            <p:cNvSpPr txBox="1"/>
            <p:nvPr/>
          </p:nvSpPr>
          <p:spPr>
            <a:xfrm>
              <a:off x="230876" y="233483"/>
              <a:ext cx="67310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03</a:t>
              </a:r>
              <a:endParaRPr kumimoji="0" lang="zh-CN" altLang="en-US"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7" name="椭圆 56"/>
            <p:cNvSpPr/>
            <p:nvPr/>
          </p:nvSpPr>
          <p:spPr>
            <a:xfrm>
              <a:off x="178632" y="602993"/>
              <a:ext cx="176213" cy="176213"/>
            </a:xfrm>
            <a:prstGeom prst="ellipse">
              <a:avLst/>
            </a:prstGeom>
            <a:gradFill>
              <a:gsLst>
                <a:gs pos="0">
                  <a:srgbClr val="1C6299"/>
                </a:gs>
                <a:gs pos="100000">
                  <a:srgbClr val="5C307D">
                    <a:alpha val="90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59" name="文本框 58"/>
          <p:cNvSpPr txBox="1"/>
          <p:nvPr/>
        </p:nvSpPr>
        <p:spPr>
          <a:xfrm>
            <a:off x="660400" y="6583649"/>
            <a:ext cx="1941557"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自强不息 厚德载物</a:t>
            </a:r>
          </a:p>
        </p:txBody>
      </p:sp>
      <p:pic>
        <p:nvPicPr>
          <p:cNvPr id="61" name="图片 6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24913" y="176378"/>
            <a:ext cx="1897854" cy="555905"/>
          </a:xfrm>
          <a:prstGeom prst="rect">
            <a:avLst/>
          </a:prstGeom>
        </p:spPr>
      </p:pic>
      <p:sp>
        <p:nvSpPr>
          <p:cNvPr id="62" name="矩形 61"/>
          <p:cNvSpPr/>
          <p:nvPr/>
        </p:nvSpPr>
        <p:spPr>
          <a:xfrm>
            <a:off x="0" y="6570000"/>
            <a:ext cx="12192000" cy="288000"/>
          </a:xfrm>
          <a:prstGeom prst="rect">
            <a:avLst/>
          </a:prstGeom>
          <a:solidFill>
            <a:srgbClr val="1C629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63" name="文本框 62"/>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latin typeface="微软雅黑" panose="020B0503020204020204" pitchFamily="34" charset="-122"/>
                <a:ea typeface="微软雅黑" panose="020B0503020204020204" pitchFamily="34" charset="-122"/>
              </a:rPr>
              <a:t>知行合一、经世致用</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4" name="文本框 63"/>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latin typeface="Arial" panose="020B0604020202020204" pitchFamily="34" charset="0"/>
                <a:ea typeface="微软雅黑" panose="020B0503020204020204" pitchFamily="34" charset="-122"/>
                <a:cs typeface="Arial" panose="020B0604020202020204" pitchFamily="34" charset="0"/>
              </a:rPr>
              <a:t>Central South University</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pic>
        <p:nvPicPr>
          <p:cNvPr id="3" name="图片 2">
            <a:extLst>
              <a:ext uri="{FF2B5EF4-FFF2-40B4-BE49-F238E27FC236}">
                <a16:creationId xmlns:a16="http://schemas.microsoft.com/office/drawing/2014/main" id="{370917D5-AC32-47FE-A631-4AE87D0E8EDF}"/>
              </a:ext>
            </a:extLst>
          </p:cNvPr>
          <p:cNvPicPr>
            <a:picLocks noChangeAspect="1"/>
          </p:cNvPicPr>
          <p:nvPr/>
        </p:nvPicPr>
        <p:blipFill>
          <a:blip r:embed="rId4"/>
          <a:stretch>
            <a:fillRect/>
          </a:stretch>
        </p:blipFill>
        <p:spPr>
          <a:xfrm>
            <a:off x="6883731" y="1778080"/>
            <a:ext cx="5259531" cy="3770032"/>
          </a:xfrm>
          <a:prstGeom prst="rect">
            <a:avLst/>
          </a:prstGeom>
        </p:spPr>
      </p:pic>
      <p:sp>
        <p:nvSpPr>
          <p:cNvPr id="18" name="Text 0">
            <a:extLst>
              <a:ext uri="{FF2B5EF4-FFF2-40B4-BE49-F238E27FC236}">
                <a16:creationId xmlns:a16="http://schemas.microsoft.com/office/drawing/2014/main" id="{440A358D-4736-4860-98B3-A2682FA0226A}"/>
              </a:ext>
            </a:extLst>
          </p:cNvPr>
          <p:cNvSpPr/>
          <p:nvPr/>
        </p:nvSpPr>
        <p:spPr>
          <a:xfrm>
            <a:off x="565150" y="905926"/>
            <a:ext cx="3117850" cy="457200"/>
          </a:xfrm>
          <a:prstGeom prst="rect">
            <a:avLst/>
          </a:prstGeom>
          <a:noFill/>
          <a:ln/>
        </p:spPr>
        <p:txBody>
          <a:bodyPr wrap="square" lIns="0" tIns="0" rIns="0" bIns="0" rtlCol="0" anchor="ctr"/>
          <a:lstStyle/>
          <a:p>
            <a:pPr>
              <a:lnSpc>
                <a:spcPct val="100000"/>
              </a:lnSpc>
            </a:pPr>
            <a:r>
              <a:rPr lang="zh-CN" altLang="en-US" sz="2000" b="1" dirty="0">
                <a:solidFill>
                  <a:srgbClr val="404040"/>
                </a:solidFill>
                <a:latin typeface="Noto Sans SC" pitchFamily="34" charset="0"/>
                <a:ea typeface="Noto Sans SC" pitchFamily="34" charset="-122"/>
              </a:rPr>
              <a:t>总体训练流程</a:t>
            </a:r>
            <a:endParaRPr lang="en-US" sz="2000" dirty="0"/>
          </a:p>
        </p:txBody>
      </p:sp>
      <p:sp>
        <p:nvSpPr>
          <p:cNvPr id="19" name="文本框 18">
            <a:extLst>
              <a:ext uri="{FF2B5EF4-FFF2-40B4-BE49-F238E27FC236}">
                <a16:creationId xmlns:a16="http://schemas.microsoft.com/office/drawing/2014/main" id="{FBE9B132-E919-4F05-A338-33B46B5F8850}"/>
              </a:ext>
            </a:extLst>
          </p:cNvPr>
          <p:cNvSpPr txBox="1"/>
          <p:nvPr/>
        </p:nvSpPr>
        <p:spPr>
          <a:xfrm>
            <a:off x="379973" y="1745653"/>
            <a:ext cx="6094378" cy="369332"/>
          </a:xfrm>
          <a:prstGeom prst="rect">
            <a:avLst/>
          </a:prstGeom>
          <a:noFill/>
        </p:spPr>
        <p:txBody>
          <a:bodyPr wrap="square">
            <a:spAutoFit/>
          </a:bodyPr>
          <a:lstStyle/>
          <a:p>
            <a:r>
              <a:rPr lang="zh-CN" altLang="en-US" dirty="0">
                <a:solidFill>
                  <a:srgbClr val="404040"/>
                </a:solidFill>
                <a:latin typeface="Noto Sans SC" panose="020B0200000000000000" pitchFamily="34" charset="-122"/>
                <a:ea typeface="Noto Sans SC" panose="020B0200000000000000" pitchFamily="34" charset="-122"/>
              </a:rPr>
              <a:t>目标：</a:t>
            </a:r>
            <a:r>
              <a:rPr lang="zh-CN" altLang="en-US" dirty="0">
                <a:solidFill>
                  <a:srgbClr val="404040"/>
                </a:solidFill>
                <a:effectLst/>
                <a:latin typeface="Noto Sans SC" panose="020B0200000000000000" pitchFamily="34" charset="-122"/>
                <a:ea typeface="Noto Sans SC" panose="020B0200000000000000" pitchFamily="34" charset="-122"/>
              </a:rPr>
              <a:t>结合</a:t>
            </a:r>
            <a:r>
              <a:rPr lang="zh-CN" altLang="en-US" b="1" dirty="0">
                <a:solidFill>
                  <a:srgbClr val="404040"/>
                </a:solidFill>
                <a:effectLst/>
                <a:latin typeface="Noto Sans SC" panose="020B0200000000000000" pitchFamily="34" charset="-122"/>
                <a:ea typeface="Noto Sans SC" panose="020B0200000000000000" pitchFamily="34" charset="-122"/>
              </a:rPr>
              <a:t>大模型深度表示</a:t>
            </a:r>
            <a:r>
              <a:rPr lang="zh-CN" altLang="en-US" dirty="0">
                <a:solidFill>
                  <a:srgbClr val="404040"/>
                </a:solidFill>
                <a:effectLst/>
                <a:latin typeface="Noto Sans SC" panose="020B0200000000000000" pitchFamily="34" charset="-122"/>
                <a:ea typeface="Noto Sans SC" panose="020B0200000000000000" pitchFamily="34" charset="-122"/>
              </a:rPr>
              <a:t>与</a:t>
            </a:r>
            <a:r>
              <a:rPr lang="zh-CN" altLang="en-US" b="1" dirty="0">
                <a:solidFill>
                  <a:srgbClr val="404040"/>
                </a:solidFill>
                <a:effectLst/>
                <a:latin typeface="Noto Sans SC" panose="020B0200000000000000" pitchFamily="34" charset="-122"/>
                <a:ea typeface="Noto Sans SC" panose="020B0200000000000000" pitchFamily="34" charset="-122"/>
              </a:rPr>
              <a:t>多模态互补信息</a:t>
            </a:r>
            <a:endParaRPr lang="zh-CN" altLang="en-US" b="1" dirty="0"/>
          </a:p>
        </p:txBody>
      </p:sp>
      <p:sp>
        <p:nvSpPr>
          <p:cNvPr id="20" name="文本框 19">
            <a:extLst>
              <a:ext uri="{FF2B5EF4-FFF2-40B4-BE49-F238E27FC236}">
                <a16:creationId xmlns:a16="http://schemas.microsoft.com/office/drawing/2014/main" id="{A9116443-A0FD-4872-AD5C-85B8F33A3500}"/>
              </a:ext>
            </a:extLst>
          </p:cNvPr>
          <p:cNvSpPr txBox="1"/>
          <p:nvPr/>
        </p:nvSpPr>
        <p:spPr>
          <a:xfrm>
            <a:off x="128325" y="2811707"/>
            <a:ext cx="3080569" cy="923330"/>
          </a:xfrm>
          <a:prstGeom prst="rect">
            <a:avLst/>
          </a:prstGeom>
          <a:noFill/>
        </p:spPr>
        <p:txBody>
          <a:bodyPr wrap="square">
            <a:spAutoFit/>
          </a:bodyPr>
          <a:lstStyle/>
          <a:p>
            <a:pPr algn="ctr">
              <a:lnSpc>
                <a:spcPct val="100000"/>
              </a:lnSpc>
            </a:pPr>
            <a:r>
              <a:rPr lang="en-US" altLang="zh-CN" sz="1800" b="1" dirty="0" err="1">
                <a:solidFill>
                  <a:srgbClr val="404040"/>
                </a:solidFill>
                <a:latin typeface="Noto Sans SC" pitchFamily="34" charset="0"/>
                <a:ea typeface="Noto Sans SC" pitchFamily="34" charset="-122"/>
                <a:cs typeface="Noto Sans SC" pitchFamily="34" charset="-120"/>
              </a:rPr>
              <a:t>MoME</a:t>
            </a:r>
            <a:r>
              <a:rPr lang="en-US" altLang="zh-CN" sz="1800" b="1" dirty="0">
                <a:solidFill>
                  <a:srgbClr val="404040"/>
                </a:solidFill>
                <a:latin typeface="Noto Sans SC" pitchFamily="34" charset="0"/>
                <a:ea typeface="Noto Sans SC" pitchFamily="34" charset="-122"/>
                <a:cs typeface="Noto Sans SC" pitchFamily="34" charset="-120"/>
              </a:rPr>
              <a:t> </a:t>
            </a:r>
            <a:r>
              <a:rPr lang="zh-CN" altLang="en-US" sz="1800" b="1" dirty="0">
                <a:solidFill>
                  <a:srgbClr val="404040"/>
                </a:solidFill>
                <a:latin typeface="Noto Sans SC" pitchFamily="34" charset="0"/>
                <a:ea typeface="Noto Sans SC" pitchFamily="34" charset="-122"/>
                <a:cs typeface="Noto Sans SC" pitchFamily="34" charset="-120"/>
              </a:rPr>
              <a:t>大模型特征融合</a:t>
            </a:r>
            <a:endParaRPr lang="en-US" altLang="zh-CN" b="1" dirty="0">
              <a:solidFill>
                <a:srgbClr val="404040"/>
              </a:solidFill>
              <a:latin typeface="Noto Sans SC" pitchFamily="34" charset="0"/>
              <a:ea typeface="Noto Sans SC" pitchFamily="34" charset="-122"/>
              <a:cs typeface="Noto Sans SC" pitchFamily="34" charset="-120"/>
            </a:endParaRPr>
          </a:p>
          <a:p>
            <a:pPr algn="ctr">
              <a:lnSpc>
                <a:spcPct val="100000"/>
              </a:lnSpc>
            </a:pPr>
            <a:r>
              <a:rPr lang="zh-CN" altLang="en-US" sz="1200" dirty="0">
                <a:solidFill>
                  <a:srgbClr val="404040"/>
                </a:solidFill>
                <a:latin typeface="Noto Sans SC" pitchFamily="34" charset="0"/>
                <a:ea typeface="Noto Sans SC" pitchFamily="34" charset="-122"/>
                <a:cs typeface="Noto Sans SC" pitchFamily="34" charset="-120"/>
              </a:rPr>
              <a:t>每一个模态对应一个大模型进行编码，并且利用穷尽的专家组合对孤立的大模型之间进行联合表示</a:t>
            </a:r>
            <a:endParaRPr lang="en-US" altLang="zh-CN" sz="1200" dirty="0">
              <a:solidFill>
                <a:srgbClr val="404040"/>
              </a:solidFill>
              <a:latin typeface="Noto Sans SC" pitchFamily="34" charset="0"/>
              <a:ea typeface="Noto Sans SC" pitchFamily="34" charset="-122"/>
              <a:cs typeface="Noto Sans SC" pitchFamily="34" charset="-120"/>
            </a:endParaRPr>
          </a:p>
        </p:txBody>
      </p:sp>
      <p:sp>
        <p:nvSpPr>
          <p:cNvPr id="4" name="矩形: 圆角 3">
            <a:extLst>
              <a:ext uri="{FF2B5EF4-FFF2-40B4-BE49-F238E27FC236}">
                <a16:creationId xmlns:a16="http://schemas.microsoft.com/office/drawing/2014/main" id="{06961B20-3521-472A-B2D4-9C7B7F50ACBC}"/>
              </a:ext>
            </a:extLst>
          </p:cNvPr>
          <p:cNvSpPr/>
          <p:nvPr/>
        </p:nvSpPr>
        <p:spPr>
          <a:xfrm>
            <a:off x="1631178" y="1687689"/>
            <a:ext cx="1600376" cy="457200"/>
          </a:xfrm>
          <a:prstGeom prst="roundRect">
            <a:avLst/>
          </a:prstGeom>
          <a:noFill/>
          <a:ln w="28575">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箭头连接符 5">
            <a:extLst>
              <a:ext uri="{FF2B5EF4-FFF2-40B4-BE49-F238E27FC236}">
                <a16:creationId xmlns:a16="http://schemas.microsoft.com/office/drawing/2014/main" id="{E11EEDD9-C8F8-4CB1-B2BA-26D2C38EF927}"/>
              </a:ext>
            </a:extLst>
          </p:cNvPr>
          <p:cNvCxnSpPr>
            <a:cxnSpLocks/>
            <a:stCxn id="4" idx="2"/>
            <a:endCxn id="20" idx="0"/>
          </p:cNvCxnSpPr>
          <p:nvPr/>
        </p:nvCxnSpPr>
        <p:spPr>
          <a:xfrm flipH="1">
            <a:off x="1668610" y="2144889"/>
            <a:ext cx="762756" cy="66681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3" name="文本框 22">
            <a:extLst>
              <a:ext uri="{FF2B5EF4-FFF2-40B4-BE49-F238E27FC236}">
                <a16:creationId xmlns:a16="http://schemas.microsoft.com/office/drawing/2014/main" id="{4C421F9B-9686-4BF4-873E-DF02C9054B30}"/>
              </a:ext>
            </a:extLst>
          </p:cNvPr>
          <p:cNvSpPr txBox="1"/>
          <p:nvPr/>
        </p:nvSpPr>
        <p:spPr>
          <a:xfrm>
            <a:off x="2093713" y="2329573"/>
            <a:ext cx="824420" cy="369332"/>
          </a:xfrm>
          <a:prstGeom prst="rect">
            <a:avLst/>
          </a:prstGeom>
          <a:noFill/>
        </p:spPr>
        <p:txBody>
          <a:bodyPr wrap="square">
            <a:spAutoFit/>
          </a:bodyPr>
          <a:lstStyle/>
          <a:p>
            <a:r>
              <a:rPr lang="en-US" altLang="zh-CN" dirty="0">
                <a:solidFill>
                  <a:srgbClr val="404040"/>
                </a:solidFill>
                <a:latin typeface="Noto Sans SC" panose="020B0200000000000000" pitchFamily="34" charset="-122"/>
                <a:ea typeface="Noto Sans SC" panose="020B0200000000000000" pitchFamily="34" charset="-122"/>
              </a:rPr>
              <a:t>How?</a:t>
            </a:r>
            <a:endParaRPr lang="zh-CN" altLang="en-US" dirty="0"/>
          </a:p>
        </p:txBody>
      </p:sp>
      <p:sp>
        <p:nvSpPr>
          <p:cNvPr id="24" name="矩形: 圆角 23">
            <a:extLst>
              <a:ext uri="{FF2B5EF4-FFF2-40B4-BE49-F238E27FC236}">
                <a16:creationId xmlns:a16="http://schemas.microsoft.com/office/drawing/2014/main" id="{7555BBCF-F618-4314-A3F7-8C0F78796EF4}"/>
              </a:ext>
            </a:extLst>
          </p:cNvPr>
          <p:cNvSpPr/>
          <p:nvPr/>
        </p:nvSpPr>
        <p:spPr>
          <a:xfrm>
            <a:off x="3429133" y="1684636"/>
            <a:ext cx="1600376" cy="457200"/>
          </a:xfrm>
          <a:prstGeom prst="roundRect">
            <a:avLst/>
          </a:prstGeom>
          <a:noFill/>
          <a:ln w="28575">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a:extLst>
              <a:ext uri="{FF2B5EF4-FFF2-40B4-BE49-F238E27FC236}">
                <a16:creationId xmlns:a16="http://schemas.microsoft.com/office/drawing/2014/main" id="{E2254C19-3AE4-436A-B550-BBE9F4892ACA}"/>
              </a:ext>
            </a:extLst>
          </p:cNvPr>
          <p:cNvSpPr txBox="1"/>
          <p:nvPr/>
        </p:nvSpPr>
        <p:spPr>
          <a:xfrm>
            <a:off x="3427162" y="2826936"/>
            <a:ext cx="2978653" cy="738664"/>
          </a:xfrm>
          <a:prstGeom prst="rect">
            <a:avLst/>
          </a:prstGeom>
          <a:noFill/>
        </p:spPr>
        <p:txBody>
          <a:bodyPr wrap="square">
            <a:spAutoFit/>
          </a:bodyPr>
          <a:lstStyle/>
          <a:p>
            <a:pPr algn="ctr">
              <a:lnSpc>
                <a:spcPct val="100000"/>
              </a:lnSpc>
            </a:pPr>
            <a:r>
              <a:rPr lang="zh-CN" altLang="en-US" sz="1800" b="1" dirty="0">
                <a:solidFill>
                  <a:srgbClr val="404040"/>
                </a:solidFill>
                <a:latin typeface="Noto Sans SC" pitchFamily="34" charset="0"/>
                <a:ea typeface="Noto Sans SC" pitchFamily="34" charset="-122"/>
                <a:cs typeface="Noto Sans SC" pitchFamily="34" charset="-120"/>
              </a:rPr>
              <a:t>对比学习蒸馏知识</a:t>
            </a:r>
            <a:endParaRPr lang="en-US" altLang="zh-CN" sz="1800" b="1" dirty="0">
              <a:solidFill>
                <a:srgbClr val="404040"/>
              </a:solidFill>
              <a:latin typeface="Noto Sans SC" pitchFamily="34" charset="0"/>
              <a:ea typeface="Noto Sans SC" pitchFamily="34" charset="-122"/>
              <a:cs typeface="Noto Sans SC" pitchFamily="34" charset="-120"/>
            </a:endParaRPr>
          </a:p>
          <a:p>
            <a:pPr algn="ctr">
              <a:lnSpc>
                <a:spcPct val="100000"/>
              </a:lnSpc>
            </a:pPr>
            <a:r>
              <a:rPr lang="zh-CN" altLang="en-US" sz="1200" dirty="0">
                <a:solidFill>
                  <a:srgbClr val="404040"/>
                </a:solidFill>
                <a:latin typeface="Noto Sans SC" pitchFamily="34" charset="0"/>
                <a:ea typeface="Noto Sans SC" pitchFamily="34" charset="-122"/>
                <a:cs typeface="Noto Sans SC" pitchFamily="34" charset="-120"/>
              </a:rPr>
              <a:t>将联合大模型与预训练小模型的特征拉近，从而学习到小模型中的多模态交互信息</a:t>
            </a:r>
            <a:endParaRPr lang="en-US" altLang="zh-CN" sz="1200" dirty="0">
              <a:solidFill>
                <a:srgbClr val="404040"/>
              </a:solidFill>
              <a:latin typeface="Noto Sans SC" pitchFamily="34" charset="0"/>
              <a:ea typeface="Noto Sans SC" pitchFamily="34" charset="-122"/>
              <a:cs typeface="Noto Sans SC" pitchFamily="34" charset="-120"/>
            </a:endParaRPr>
          </a:p>
        </p:txBody>
      </p:sp>
      <p:cxnSp>
        <p:nvCxnSpPr>
          <p:cNvPr id="26" name="直接箭头连接符 25">
            <a:extLst>
              <a:ext uri="{FF2B5EF4-FFF2-40B4-BE49-F238E27FC236}">
                <a16:creationId xmlns:a16="http://schemas.microsoft.com/office/drawing/2014/main" id="{2A0D99D1-D26D-4E84-99FC-C3EEA2B7531D}"/>
              </a:ext>
            </a:extLst>
          </p:cNvPr>
          <p:cNvCxnSpPr>
            <a:cxnSpLocks/>
            <a:stCxn id="24" idx="2"/>
            <a:endCxn id="25" idx="0"/>
          </p:cNvCxnSpPr>
          <p:nvPr/>
        </p:nvCxnSpPr>
        <p:spPr>
          <a:xfrm>
            <a:off x="4229321" y="2141836"/>
            <a:ext cx="687168" cy="6851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9" name="文本框 28">
            <a:extLst>
              <a:ext uri="{FF2B5EF4-FFF2-40B4-BE49-F238E27FC236}">
                <a16:creationId xmlns:a16="http://schemas.microsoft.com/office/drawing/2014/main" id="{937220A9-D9F1-4C96-98AF-AD762F77ED2D}"/>
              </a:ext>
            </a:extLst>
          </p:cNvPr>
          <p:cNvSpPr txBox="1"/>
          <p:nvPr/>
        </p:nvSpPr>
        <p:spPr>
          <a:xfrm>
            <a:off x="4594379" y="2278680"/>
            <a:ext cx="824420" cy="369332"/>
          </a:xfrm>
          <a:prstGeom prst="rect">
            <a:avLst/>
          </a:prstGeom>
          <a:noFill/>
        </p:spPr>
        <p:txBody>
          <a:bodyPr wrap="square">
            <a:spAutoFit/>
          </a:bodyPr>
          <a:lstStyle/>
          <a:p>
            <a:r>
              <a:rPr lang="en-US" altLang="zh-CN" dirty="0">
                <a:solidFill>
                  <a:srgbClr val="404040"/>
                </a:solidFill>
                <a:latin typeface="Noto Sans SC" panose="020B0200000000000000" pitchFamily="34" charset="-122"/>
                <a:ea typeface="Noto Sans SC" panose="020B0200000000000000" pitchFamily="34" charset="-122"/>
              </a:rPr>
              <a:t>How?</a:t>
            </a:r>
            <a:endParaRPr lang="zh-CN" altLang="en-US" dirty="0"/>
          </a:p>
        </p:txBody>
      </p:sp>
      <p:sp>
        <p:nvSpPr>
          <p:cNvPr id="37" name="文本框 36">
            <a:extLst>
              <a:ext uri="{FF2B5EF4-FFF2-40B4-BE49-F238E27FC236}">
                <a16:creationId xmlns:a16="http://schemas.microsoft.com/office/drawing/2014/main" id="{D6615E23-E416-4C71-8FA8-E50B56FA0AB8}"/>
              </a:ext>
            </a:extLst>
          </p:cNvPr>
          <p:cNvSpPr txBox="1"/>
          <p:nvPr/>
        </p:nvSpPr>
        <p:spPr>
          <a:xfrm>
            <a:off x="379973" y="4039633"/>
            <a:ext cx="6094378" cy="369332"/>
          </a:xfrm>
          <a:prstGeom prst="rect">
            <a:avLst/>
          </a:prstGeom>
          <a:noFill/>
        </p:spPr>
        <p:txBody>
          <a:bodyPr wrap="square">
            <a:spAutoFit/>
          </a:bodyPr>
          <a:lstStyle/>
          <a:p>
            <a:r>
              <a:rPr lang="zh-CN" altLang="en-US" dirty="0">
                <a:solidFill>
                  <a:srgbClr val="404040"/>
                </a:solidFill>
                <a:latin typeface="Noto Sans SC" panose="020B0200000000000000" pitchFamily="34" charset="-122"/>
                <a:ea typeface="Noto Sans SC" panose="020B0200000000000000" pitchFamily="34" charset="-122"/>
              </a:rPr>
              <a:t>新问题：单纯拉近只能让</a:t>
            </a:r>
            <a:r>
              <a:rPr lang="zh-CN" altLang="en-US" b="1" dirty="0">
                <a:solidFill>
                  <a:srgbClr val="404040"/>
                </a:solidFill>
                <a:latin typeface="Noto Sans SC" panose="020B0200000000000000" pitchFamily="34" charset="-122"/>
                <a:ea typeface="Noto Sans SC" panose="020B0200000000000000" pitchFamily="34" charset="-122"/>
              </a:rPr>
              <a:t>联合大模型性能逼近小模型</a:t>
            </a:r>
          </a:p>
        </p:txBody>
      </p:sp>
      <p:cxnSp>
        <p:nvCxnSpPr>
          <p:cNvPr id="22" name="直接箭头连接符 21">
            <a:extLst>
              <a:ext uri="{FF2B5EF4-FFF2-40B4-BE49-F238E27FC236}">
                <a16:creationId xmlns:a16="http://schemas.microsoft.com/office/drawing/2014/main" id="{9D80E020-378F-4E65-9DD0-5E9CAFBD0D58}"/>
              </a:ext>
            </a:extLst>
          </p:cNvPr>
          <p:cNvCxnSpPr>
            <a:cxnSpLocks/>
            <a:stCxn id="25" idx="2"/>
            <a:endCxn id="45" idx="0"/>
          </p:cNvCxnSpPr>
          <p:nvPr/>
        </p:nvCxnSpPr>
        <p:spPr>
          <a:xfrm flipH="1">
            <a:off x="4355924" y="3565600"/>
            <a:ext cx="560565" cy="41373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0" name="直接箭头连接符 39">
            <a:extLst>
              <a:ext uri="{FF2B5EF4-FFF2-40B4-BE49-F238E27FC236}">
                <a16:creationId xmlns:a16="http://schemas.microsoft.com/office/drawing/2014/main" id="{AF754BDF-5CA0-4860-9971-9F1F53EF70B2}"/>
              </a:ext>
            </a:extLst>
          </p:cNvPr>
          <p:cNvCxnSpPr>
            <a:cxnSpLocks/>
            <a:stCxn id="37" idx="2"/>
          </p:cNvCxnSpPr>
          <p:nvPr/>
        </p:nvCxnSpPr>
        <p:spPr>
          <a:xfrm>
            <a:off x="3427162" y="4408965"/>
            <a:ext cx="0" cy="54098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3" name="文本框 42">
            <a:extLst>
              <a:ext uri="{FF2B5EF4-FFF2-40B4-BE49-F238E27FC236}">
                <a16:creationId xmlns:a16="http://schemas.microsoft.com/office/drawing/2014/main" id="{F83EDA04-D104-479A-8AC1-55F182015DB4}"/>
              </a:ext>
            </a:extLst>
          </p:cNvPr>
          <p:cNvSpPr txBox="1"/>
          <p:nvPr/>
        </p:nvSpPr>
        <p:spPr>
          <a:xfrm>
            <a:off x="3404901" y="4480327"/>
            <a:ext cx="824420" cy="369332"/>
          </a:xfrm>
          <a:prstGeom prst="rect">
            <a:avLst/>
          </a:prstGeom>
          <a:noFill/>
        </p:spPr>
        <p:txBody>
          <a:bodyPr wrap="square">
            <a:spAutoFit/>
          </a:bodyPr>
          <a:lstStyle/>
          <a:p>
            <a:r>
              <a:rPr lang="en-US" altLang="zh-CN" dirty="0">
                <a:solidFill>
                  <a:srgbClr val="404040"/>
                </a:solidFill>
                <a:latin typeface="Noto Sans SC" panose="020B0200000000000000" pitchFamily="34" charset="-122"/>
                <a:ea typeface="Noto Sans SC" panose="020B0200000000000000" pitchFamily="34" charset="-122"/>
              </a:rPr>
              <a:t>How?</a:t>
            </a:r>
            <a:endParaRPr lang="zh-CN" altLang="en-US" dirty="0"/>
          </a:p>
        </p:txBody>
      </p:sp>
      <p:sp>
        <p:nvSpPr>
          <p:cNvPr id="44" name="文本框 43">
            <a:extLst>
              <a:ext uri="{FF2B5EF4-FFF2-40B4-BE49-F238E27FC236}">
                <a16:creationId xmlns:a16="http://schemas.microsoft.com/office/drawing/2014/main" id="{35D69EA0-EC8E-4927-9356-5A7AE21617A4}"/>
              </a:ext>
            </a:extLst>
          </p:cNvPr>
          <p:cNvSpPr txBox="1"/>
          <p:nvPr/>
        </p:nvSpPr>
        <p:spPr>
          <a:xfrm>
            <a:off x="2027157" y="4945083"/>
            <a:ext cx="2978653" cy="923330"/>
          </a:xfrm>
          <a:prstGeom prst="rect">
            <a:avLst/>
          </a:prstGeom>
          <a:noFill/>
        </p:spPr>
        <p:txBody>
          <a:bodyPr wrap="square">
            <a:spAutoFit/>
          </a:bodyPr>
          <a:lstStyle/>
          <a:p>
            <a:pPr algn="ctr">
              <a:lnSpc>
                <a:spcPct val="100000"/>
              </a:lnSpc>
            </a:pPr>
            <a:r>
              <a:rPr lang="zh-CN" altLang="en-US" sz="1800" b="1" dirty="0">
                <a:solidFill>
                  <a:srgbClr val="404040"/>
                </a:solidFill>
                <a:latin typeface="Noto Sans SC" pitchFamily="34" charset="0"/>
                <a:ea typeface="Noto Sans SC" pitchFamily="34" charset="-122"/>
                <a:cs typeface="Noto Sans SC" pitchFamily="34" charset="-120"/>
              </a:rPr>
              <a:t>贡献动态平衡</a:t>
            </a:r>
            <a:endParaRPr lang="en-US" altLang="zh-CN" sz="1800" b="1" dirty="0">
              <a:solidFill>
                <a:srgbClr val="404040"/>
              </a:solidFill>
              <a:latin typeface="Noto Sans SC" pitchFamily="34" charset="0"/>
              <a:ea typeface="Noto Sans SC" pitchFamily="34" charset="-122"/>
              <a:cs typeface="Noto Sans SC" pitchFamily="34" charset="-120"/>
            </a:endParaRPr>
          </a:p>
          <a:p>
            <a:pPr algn="ctr">
              <a:lnSpc>
                <a:spcPct val="100000"/>
              </a:lnSpc>
            </a:pPr>
            <a:r>
              <a:rPr lang="zh-CN" altLang="en-US" sz="1200" dirty="0">
                <a:solidFill>
                  <a:srgbClr val="404040"/>
                </a:solidFill>
                <a:latin typeface="Noto Sans SC" pitchFamily="34" charset="0"/>
                <a:ea typeface="Noto Sans SC" pitchFamily="34" charset="-122"/>
                <a:cs typeface="Noto Sans SC" pitchFamily="34" charset="-120"/>
              </a:rPr>
              <a:t>基于联合大模型从小模型上的学习程度，调整在最终分类中的大小模型贡献占比，学够了交互就去学任务</a:t>
            </a:r>
            <a:endParaRPr lang="en-US" altLang="zh-CN" sz="1200" dirty="0">
              <a:solidFill>
                <a:srgbClr val="404040"/>
              </a:solidFill>
              <a:latin typeface="Noto Sans SC" pitchFamily="34" charset="0"/>
              <a:ea typeface="Noto Sans SC" pitchFamily="34" charset="-122"/>
              <a:cs typeface="Noto Sans SC" pitchFamily="34" charset="-120"/>
            </a:endParaRPr>
          </a:p>
        </p:txBody>
      </p:sp>
      <p:sp>
        <p:nvSpPr>
          <p:cNvPr id="45" name="矩形: 圆角 44">
            <a:extLst>
              <a:ext uri="{FF2B5EF4-FFF2-40B4-BE49-F238E27FC236}">
                <a16:creationId xmlns:a16="http://schemas.microsoft.com/office/drawing/2014/main" id="{B3033097-D5A0-4133-886E-87F1B1797BFD}"/>
              </a:ext>
            </a:extLst>
          </p:cNvPr>
          <p:cNvSpPr/>
          <p:nvPr/>
        </p:nvSpPr>
        <p:spPr>
          <a:xfrm>
            <a:off x="2972529" y="3979339"/>
            <a:ext cx="2766790" cy="457200"/>
          </a:xfrm>
          <a:prstGeom prst="roundRect">
            <a:avLst/>
          </a:prstGeom>
          <a:noFill/>
          <a:ln w="28575">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0" name="图片 29">
            <a:extLst>
              <a:ext uri="{FF2B5EF4-FFF2-40B4-BE49-F238E27FC236}">
                <a16:creationId xmlns:a16="http://schemas.microsoft.com/office/drawing/2014/main" id="{7C91D612-334E-4EA0-8CB6-63A3A59AD25E}"/>
              </a:ext>
            </a:extLst>
          </p:cNvPr>
          <p:cNvPicPr>
            <a:picLocks noChangeAspect="1"/>
          </p:cNvPicPr>
          <p:nvPr/>
        </p:nvPicPr>
        <p:blipFill>
          <a:blip r:embed="rId5"/>
          <a:stretch>
            <a:fillRect/>
          </a:stretch>
        </p:blipFill>
        <p:spPr>
          <a:xfrm>
            <a:off x="59913" y="1593753"/>
            <a:ext cx="6913139" cy="4274660"/>
          </a:xfrm>
          <a:prstGeom prst="rect">
            <a:avLst/>
          </a:prstGeom>
        </p:spPr>
      </p:pic>
    </p:spTree>
    <p:extLst>
      <p:ext uri="{BB962C8B-B14F-4D97-AF65-F5344CB8AC3E}">
        <p14:creationId xmlns:p14="http://schemas.microsoft.com/office/powerpoint/2010/main" val="1016680832"/>
      </p:ext>
    </p:extLst>
  </p:cSld>
  <p:clrMapOvr>
    <a:masterClrMapping/>
  </p:clrMapOvr>
  <p:transition spd="slow" advClick="0" advTm="1000">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1" name="直接连接符 50"/>
          <p:cNvCxnSpPr/>
          <p:nvPr/>
        </p:nvCxnSpPr>
        <p:spPr>
          <a:xfrm>
            <a:off x="660400" y="760413"/>
            <a:ext cx="10858500" cy="0"/>
          </a:xfrm>
          <a:prstGeom prst="line">
            <a:avLst/>
          </a:prstGeom>
          <a:noFill/>
          <a:ln w="22225" cap="flat" cmpd="sng" algn="ctr">
            <a:solidFill>
              <a:srgbClr val="1C6299"/>
            </a:solidFill>
            <a:prstDash val="solid"/>
            <a:miter lim="800000"/>
          </a:ln>
          <a:effectLst/>
        </p:spPr>
      </p:cxnSp>
      <p:sp>
        <p:nvSpPr>
          <p:cNvPr id="52" name="标题占位符 1"/>
          <p:cNvSpPr txBox="1"/>
          <p:nvPr/>
        </p:nvSpPr>
        <p:spPr>
          <a:xfrm>
            <a:off x="965200" y="-100014"/>
            <a:ext cx="5435600" cy="817564"/>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lang="en-US" altLang="zh-CN" sz="2600" b="1" dirty="0" err="1">
                <a:solidFill>
                  <a:sysClr val="windowText" lastClr="000000"/>
                </a:solidFill>
                <a:latin typeface="Arial" panose="020B0604020202020204"/>
                <a:ea typeface="微软雅黑" panose="020B0503020204020204" pitchFamily="34" charset="-122"/>
              </a:rPr>
              <a:t>AdaCoMed</a:t>
            </a:r>
            <a:endParaRPr kumimoji="0" lang="zh-CN" altLang="en-US" sz="2600" b="1" i="0" u="none" strike="noStrike" kern="1200" cap="none" spc="0" normalizeH="0" baseline="0" noProof="0" dirty="0">
              <a:ln>
                <a:noFill/>
              </a:ln>
              <a:solidFill>
                <a:sysClr val="windowText" lastClr="000000"/>
              </a:solidFill>
              <a:effectLst/>
              <a:uLnTx/>
              <a:uFillTx/>
              <a:latin typeface="Arial" panose="020B0604020202020204"/>
              <a:ea typeface="微软雅黑" panose="020B0503020204020204" pitchFamily="34" charset="-122"/>
              <a:cs typeface="+mj-cs"/>
            </a:endParaRPr>
          </a:p>
        </p:txBody>
      </p:sp>
      <p:grpSp>
        <p:nvGrpSpPr>
          <p:cNvPr id="54" name="组合 53"/>
          <p:cNvGrpSpPr/>
          <p:nvPr/>
        </p:nvGrpSpPr>
        <p:grpSpPr>
          <a:xfrm>
            <a:off x="203760" y="159728"/>
            <a:ext cx="725344" cy="619478"/>
            <a:chOff x="178632" y="159728"/>
            <a:chExt cx="725344" cy="619478"/>
          </a:xfrm>
        </p:grpSpPr>
        <p:sp>
          <p:nvSpPr>
            <p:cNvPr id="55" name="椭圆 54"/>
            <p:cNvSpPr/>
            <p:nvPr/>
          </p:nvSpPr>
          <p:spPr>
            <a:xfrm>
              <a:off x="358210" y="159728"/>
              <a:ext cx="468000" cy="468000"/>
            </a:xfrm>
            <a:prstGeom prst="ellipse">
              <a:avLst/>
            </a:prstGeom>
            <a:gradFill>
              <a:gsLst>
                <a:gs pos="0">
                  <a:srgbClr val="1C6299"/>
                </a:gs>
                <a:gs pos="100000">
                  <a:srgbClr val="5C307D">
                    <a:alpha val="9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6" name="文本框 55"/>
            <p:cNvSpPr txBox="1"/>
            <p:nvPr/>
          </p:nvSpPr>
          <p:spPr>
            <a:xfrm>
              <a:off x="230876" y="233483"/>
              <a:ext cx="67310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03</a:t>
              </a:r>
              <a:endParaRPr kumimoji="0" lang="zh-CN" altLang="en-US"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7" name="椭圆 56"/>
            <p:cNvSpPr/>
            <p:nvPr/>
          </p:nvSpPr>
          <p:spPr>
            <a:xfrm>
              <a:off x="178632" y="602993"/>
              <a:ext cx="176213" cy="176213"/>
            </a:xfrm>
            <a:prstGeom prst="ellipse">
              <a:avLst/>
            </a:prstGeom>
            <a:gradFill>
              <a:gsLst>
                <a:gs pos="0">
                  <a:srgbClr val="1C6299"/>
                </a:gs>
                <a:gs pos="100000">
                  <a:srgbClr val="5C307D">
                    <a:alpha val="90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59" name="文本框 58"/>
          <p:cNvSpPr txBox="1"/>
          <p:nvPr/>
        </p:nvSpPr>
        <p:spPr>
          <a:xfrm>
            <a:off x="660400" y="6583649"/>
            <a:ext cx="1941557"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自强不息 厚德载物</a:t>
            </a:r>
          </a:p>
        </p:txBody>
      </p:sp>
      <p:pic>
        <p:nvPicPr>
          <p:cNvPr id="61" name="图片 6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24913" y="176378"/>
            <a:ext cx="1897854" cy="555905"/>
          </a:xfrm>
          <a:prstGeom prst="rect">
            <a:avLst/>
          </a:prstGeom>
        </p:spPr>
      </p:pic>
      <p:sp>
        <p:nvSpPr>
          <p:cNvPr id="62" name="矩形 61"/>
          <p:cNvSpPr/>
          <p:nvPr/>
        </p:nvSpPr>
        <p:spPr>
          <a:xfrm>
            <a:off x="0" y="6570000"/>
            <a:ext cx="12192000" cy="288000"/>
          </a:xfrm>
          <a:prstGeom prst="rect">
            <a:avLst/>
          </a:prstGeom>
          <a:solidFill>
            <a:srgbClr val="1C629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63" name="文本框 62"/>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latin typeface="微软雅黑" panose="020B0503020204020204" pitchFamily="34" charset="-122"/>
                <a:ea typeface="微软雅黑" panose="020B0503020204020204" pitchFamily="34" charset="-122"/>
              </a:rPr>
              <a:t>知行合一、经世致用</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4" name="文本框 63"/>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latin typeface="Arial" panose="020B0604020202020204" pitchFamily="34" charset="0"/>
                <a:ea typeface="微软雅黑" panose="020B0503020204020204" pitchFamily="34" charset="-122"/>
                <a:cs typeface="Arial" panose="020B0604020202020204" pitchFamily="34" charset="0"/>
              </a:rPr>
              <a:t>Central South University</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pic>
        <p:nvPicPr>
          <p:cNvPr id="3" name="图片 2">
            <a:extLst>
              <a:ext uri="{FF2B5EF4-FFF2-40B4-BE49-F238E27FC236}">
                <a16:creationId xmlns:a16="http://schemas.microsoft.com/office/drawing/2014/main" id="{A4105B07-A587-4A0C-94E6-8FA1D481D877}"/>
              </a:ext>
            </a:extLst>
          </p:cNvPr>
          <p:cNvPicPr>
            <a:picLocks noChangeAspect="1"/>
          </p:cNvPicPr>
          <p:nvPr/>
        </p:nvPicPr>
        <p:blipFill rotWithShape="1">
          <a:blip r:embed="rId4"/>
          <a:srcRect r="916" b="5047"/>
          <a:stretch/>
        </p:blipFill>
        <p:spPr>
          <a:xfrm>
            <a:off x="3991055" y="3011697"/>
            <a:ext cx="6105445" cy="2296958"/>
          </a:xfrm>
          <a:prstGeom prst="rect">
            <a:avLst/>
          </a:prstGeom>
        </p:spPr>
      </p:pic>
      <p:pic>
        <p:nvPicPr>
          <p:cNvPr id="6" name="图片 5">
            <a:extLst>
              <a:ext uri="{FF2B5EF4-FFF2-40B4-BE49-F238E27FC236}">
                <a16:creationId xmlns:a16="http://schemas.microsoft.com/office/drawing/2014/main" id="{306EF915-4F0F-456A-8857-869514ABFD46}"/>
              </a:ext>
            </a:extLst>
          </p:cNvPr>
          <p:cNvPicPr>
            <a:picLocks noChangeAspect="1"/>
          </p:cNvPicPr>
          <p:nvPr/>
        </p:nvPicPr>
        <p:blipFill>
          <a:blip r:embed="rId5"/>
          <a:stretch>
            <a:fillRect/>
          </a:stretch>
        </p:blipFill>
        <p:spPr>
          <a:xfrm>
            <a:off x="4167304" y="5308655"/>
            <a:ext cx="4781129" cy="1242553"/>
          </a:xfrm>
          <a:prstGeom prst="rect">
            <a:avLst/>
          </a:prstGeom>
        </p:spPr>
      </p:pic>
      <p:pic>
        <p:nvPicPr>
          <p:cNvPr id="10" name="图片 9">
            <a:extLst>
              <a:ext uri="{FF2B5EF4-FFF2-40B4-BE49-F238E27FC236}">
                <a16:creationId xmlns:a16="http://schemas.microsoft.com/office/drawing/2014/main" id="{0D0FF634-6893-4359-AC63-424FC2A0ACDB}"/>
              </a:ext>
            </a:extLst>
          </p:cNvPr>
          <p:cNvPicPr>
            <a:picLocks noChangeAspect="1"/>
          </p:cNvPicPr>
          <p:nvPr/>
        </p:nvPicPr>
        <p:blipFill rotWithShape="1">
          <a:blip r:embed="rId6"/>
          <a:srcRect t="-20" r="4833"/>
          <a:stretch/>
        </p:blipFill>
        <p:spPr>
          <a:xfrm>
            <a:off x="1886113" y="3171892"/>
            <a:ext cx="2043861" cy="3317660"/>
          </a:xfrm>
          <a:prstGeom prst="rect">
            <a:avLst/>
          </a:prstGeom>
        </p:spPr>
      </p:pic>
      <p:sp>
        <p:nvSpPr>
          <p:cNvPr id="26" name="Text 1">
            <a:extLst>
              <a:ext uri="{FF2B5EF4-FFF2-40B4-BE49-F238E27FC236}">
                <a16:creationId xmlns:a16="http://schemas.microsoft.com/office/drawing/2014/main" id="{F2E0D610-321F-4C16-9B61-FED767A10D3A}"/>
              </a:ext>
            </a:extLst>
          </p:cNvPr>
          <p:cNvSpPr/>
          <p:nvPr/>
        </p:nvSpPr>
        <p:spPr>
          <a:xfrm>
            <a:off x="1609752" y="990258"/>
            <a:ext cx="8568460" cy="990600"/>
          </a:xfrm>
          <a:prstGeom prst="rect">
            <a:avLst/>
          </a:prstGeom>
          <a:noFill/>
          <a:ln/>
        </p:spPr>
        <p:txBody>
          <a:bodyPr wrap="square" lIns="0" tIns="0" rIns="0" bIns="0" rtlCol="0" anchor="ctr"/>
          <a:lstStyle/>
          <a:p>
            <a:pPr>
              <a:lnSpc>
                <a:spcPct val="140000"/>
              </a:lnSpc>
            </a:pPr>
            <a:r>
              <a:rPr lang="en-US" sz="1600" b="1" dirty="0">
                <a:solidFill>
                  <a:srgbClr val="212121"/>
                </a:solidFill>
                <a:latin typeface="Noto Sans SC" pitchFamily="34" charset="0"/>
                <a:ea typeface="Noto Sans SC" pitchFamily="34" charset="-122"/>
                <a:cs typeface="Noto Sans SC" pitchFamily="34" charset="-120"/>
              </a:rPr>
              <a:t>Mixture-of-Modality-Experts (MoME) </a:t>
            </a:r>
            <a:r>
              <a:rPr lang="en-US" sz="1600" dirty="0">
                <a:solidFill>
                  <a:srgbClr val="212121"/>
                </a:solidFill>
                <a:latin typeface="Noto Sans SC" pitchFamily="34" charset="0"/>
                <a:ea typeface="Noto Sans SC" pitchFamily="34" charset="-122"/>
                <a:cs typeface="Noto Sans SC" pitchFamily="34" charset="-120"/>
              </a:rPr>
              <a:t>模块将各单模态大模型输出的 embedding 先投影至同一维度，再通过自注意力获得全局上下文，最后经路由网络分配给不同专家子网络。</a:t>
            </a:r>
            <a:endParaRPr lang="en-US" sz="1600" dirty="0"/>
          </a:p>
        </p:txBody>
      </p:sp>
      <p:sp>
        <p:nvSpPr>
          <p:cNvPr id="27" name="Shape 2">
            <a:extLst>
              <a:ext uri="{FF2B5EF4-FFF2-40B4-BE49-F238E27FC236}">
                <a16:creationId xmlns:a16="http://schemas.microsoft.com/office/drawing/2014/main" id="{C2BC7FF4-DB40-4170-9F63-398E6D135056}"/>
              </a:ext>
            </a:extLst>
          </p:cNvPr>
          <p:cNvSpPr/>
          <p:nvPr/>
        </p:nvSpPr>
        <p:spPr>
          <a:xfrm>
            <a:off x="3371992" y="1913855"/>
            <a:ext cx="203200" cy="203200"/>
          </a:xfrm>
          <a:custGeom>
            <a:avLst/>
            <a:gdLst/>
            <a:ahLst/>
            <a:cxnLst/>
            <a:rect l="l" t="t" r="r" b="b"/>
            <a:pathLst>
              <a:path w="203200" h="203200">
                <a:moveTo>
                  <a:pt x="101600" y="203200"/>
                </a:moveTo>
                <a:cubicBezTo>
                  <a:pt x="157675" y="203200"/>
                  <a:pt x="203200" y="157675"/>
                  <a:pt x="203200" y="101600"/>
                </a:cubicBezTo>
                <a:cubicBezTo>
                  <a:pt x="203200" y="45525"/>
                  <a:pt x="157675" y="0"/>
                  <a:pt x="101600" y="0"/>
                </a:cubicBezTo>
                <a:cubicBezTo>
                  <a:pt x="45525" y="0"/>
                  <a:pt x="0" y="45525"/>
                  <a:pt x="0" y="101600"/>
                </a:cubicBezTo>
                <a:cubicBezTo>
                  <a:pt x="0" y="157675"/>
                  <a:pt x="45525" y="203200"/>
                  <a:pt x="101600" y="203200"/>
                </a:cubicBezTo>
                <a:close/>
                <a:moveTo>
                  <a:pt x="135096" y="84415"/>
                </a:moveTo>
                <a:lnTo>
                  <a:pt x="103346" y="135215"/>
                </a:lnTo>
                <a:cubicBezTo>
                  <a:pt x="101679" y="137874"/>
                  <a:pt x="98822" y="139541"/>
                  <a:pt x="95687" y="139700"/>
                </a:cubicBezTo>
                <a:cubicBezTo>
                  <a:pt x="92551" y="139859"/>
                  <a:pt x="89535" y="138430"/>
                  <a:pt x="87670" y="135890"/>
                </a:cubicBezTo>
                <a:lnTo>
                  <a:pt x="68620" y="110490"/>
                </a:lnTo>
                <a:cubicBezTo>
                  <a:pt x="65445" y="106283"/>
                  <a:pt x="66318" y="100330"/>
                  <a:pt x="70525" y="97155"/>
                </a:cubicBezTo>
                <a:cubicBezTo>
                  <a:pt x="74732" y="93980"/>
                  <a:pt x="80685" y="94853"/>
                  <a:pt x="83860" y="99060"/>
                </a:cubicBezTo>
                <a:lnTo>
                  <a:pt x="94575" y="113348"/>
                </a:lnTo>
                <a:lnTo>
                  <a:pt x="118943" y="74335"/>
                </a:lnTo>
                <a:cubicBezTo>
                  <a:pt x="121722" y="69890"/>
                  <a:pt x="127595" y="68501"/>
                  <a:pt x="132080" y="71318"/>
                </a:cubicBezTo>
                <a:cubicBezTo>
                  <a:pt x="136565" y="74136"/>
                  <a:pt x="137914" y="79970"/>
                  <a:pt x="135096" y="84455"/>
                </a:cubicBezTo>
                <a:close/>
              </a:path>
            </a:pathLst>
          </a:custGeom>
          <a:solidFill>
            <a:schemeClr val="accent5">
              <a:lumMod val="60000"/>
              <a:lumOff val="40000"/>
            </a:schemeClr>
          </a:solidFill>
          <a:ln/>
        </p:spPr>
      </p:sp>
      <p:sp>
        <p:nvSpPr>
          <p:cNvPr id="28" name="Text 3">
            <a:extLst>
              <a:ext uri="{FF2B5EF4-FFF2-40B4-BE49-F238E27FC236}">
                <a16:creationId xmlns:a16="http://schemas.microsoft.com/office/drawing/2014/main" id="{FA185445-5B18-4393-8A82-36DF1A37DE99}"/>
              </a:ext>
            </a:extLst>
          </p:cNvPr>
          <p:cNvSpPr/>
          <p:nvPr/>
        </p:nvSpPr>
        <p:spPr>
          <a:xfrm>
            <a:off x="3676792" y="1913855"/>
            <a:ext cx="5461000" cy="254000"/>
          </a:xfrm>
          <a:prstGeom prst="rect">
            <a:avLst/>
          </a:prstGeom>
          <a:noFill/>
          <a:ln/>
        </p:spPr>
        <p:txBody>
          <a:bodyPr wrap="square" lIns="0" tIns="0" rIns="0" bIns="0" rtlCol="0" anchor="ctr"/>
          <a:lstStyle/>
          <a:p>
            <a:pPr>
              <a:lnSpc>
                <a:spcPct val="120000"/>
              </a:lnSpc>
            </a:pPr>
            <a:r>
              <a:rPr lang="zh-CN" altLang="en-US" sz="1400" b="1" dirty="0">
                <a:solidFill>
                  <a:srgbClr val="212121"/>
                </a:solidFill>
                <a:latin typeface="Noto Sans SC" pitchFamily="34" charset="0"/>
                <a:ea typeface="Noto Sans SC" pitchFamily="34" charset="-122"/>
                <a:cs typeface="Noto Sans SC" pitchFamily="34" charset="-120"/>
              </a:rPr>
              <a:t>引入模态交互</a:t>
            </a:r>
            <a:r>
              <a:rPr lang="en-US" sz="1400" b="1" dirty="0">
                <a:solidFill>
                  <a:srgbClr val="212121"/>
                </a:solidFill>
                <a:latin typeface="Noto Sans SC" pitchFamily="34" charset="0"/>
                <a:ea typeface="Noto Sans SC" pitchFamily="34" charset="-122"/>
                <a:cs typeface="Noto Sans SC" pitchFamily="34" charset="-120"/>
              </a:rPr>
              <a:t>：</a:t>
            </a:r>
            <a:r>
              <a:rPr lang="zh-CN" altLang="en-US" sz="1400" dirty="0">
                <a:solidFill>
                  <a:srgbClr val="212121"/>
                </a:solidFill>
                <a:latin typeface="Noto Sans SC" pitchFamily="34" charset="0"/>
                <a:ea typeface="Noto Sans SC" pitchFamily="34" charset="-122"/>
                <a:cs typeface="Noto Sans SC" pitchFamily="34" charset="-120"/>
              </a:rPr>
              <a:t>通过搭建“全交互关系”促进模态互补</a:t>
            </a:r>
            <a:endParaRPr lang="en-US" sz="1600" dirty="0"/>
          </a:p>
        </p:txBody>
      </p:sp>
      <p:sp>
        <p:nvSpPr>
          <p:cNvPr id="29" name="Shape 4">
            <a:extLst>
              <a:ext uri="{FF2B5EF4-FFF2-40B4-BE49-F238E27FC236}">
                <a16:creationId xmlns:a16="http://schemas.microsoft.com/office/drawing/2014/main" id="{0D950B99-AA2F-4C58-9D89-9F1F2D08D598}"/>
              </a:ext>
            </a:extLst>
          </p:cNvPr>
          <p:cNvSpPr/>
          <p:nvPr/>
        </p:nvSpPr>
        <p:spPr>
          <a:xfrm>
            <a:off x="3371992" y="2320255"/>
            <a:ext cx="203200" cy="203200"/>
          </a:xfrm>
          <a:custGeom>
            <a:avLst/>
            <a:gdLst/>
            <a:ahLst/>
            <a:cxnLst/>
            <a:rect l="l" t="t" r="r" b="b"/>
            <a:pathLst>
              <a:path w="203200" h="203200">
                <a:moveTo>
                  <a:pt x="101600" y="203200"/>
                </a:moveTo>
                <a:cubicBezTo>
                  <a:pt x="157675" y="203200"/>
                  <a:pt x="203200" y="157675"/>
                  <a:pt x="203200" y="101600"/>
                </a:cubicBezTo>
                <a:cubicBezTo>
                  <a:pt x="203200" y="45525"/>
                  <a:pt x="157675" y="0"/>
                  <a:pt x="101600" y="0"/>
                </a:cubicBezTo>
                <a:cubicBezTo>
                  <a:pt x="45525" y="0"/>
                  <a:pt x="0" y="45525"/>
                  <a:pt x="0" y="101600"/>
                </a:cubicBezTo>
                <a:cubicBezTo>
                  <a:pt x="0" y="157675"/>
                  <a:pt x="45525" y="203200"/>
                  <a:pt x="101600" y="203200"/>
                </a:cubicBezTo>
                <a:close/>
                <a:moveTo>
                  <a:pt x="135096" y="84415"/>
                </a:moveTo>
                <a:lnTo>
                  <a:pt x="103346" y="135215"/>
                </a:lnTo>
                <a:cubicBezTo>
                  <a:pt x="101679" y="137874"/>
                  <a:pt x="98822" y="139541"/>
                  <a:pt x="95687" y="139700"/>
                </a:cubicBezTo>
                <a:cubicBezTo>
                  <a:pt x="92551" y="139859"/>
                  <a:pt x="89535" y="138430"/>
                  <a:pt x="87670" y="135890"/>
                </a:cubicBezTo>
                <a:lnTo>
                  <a:pt x="68620" y="110490"/>
                </a:lnTo>
                <a:cubicBezTo>
                  <a:pt x="65445" y="106283"/>
                  <a:pt x="66318" y="100330"/>
                  <a:pt x="70525" y="97155"/>
                </a:cubicBezTo>
                <a:cubicBezTo>
                  <a:pt x="74732" y="93980"/>
                  <a:pt x="80685" y="94853"/>
                  <a:pt x="83860" y="99060"/>
                </a:cubicBezTo>
                <a:lnTo>
                  <a:pt x="94575" y="113348"/>
                </a:lnTo>
                <a:lnTo>
                  <a:pt x="118943" y="74335"/>
                </a:lnTo>
                <a:cubicBezTo>
                  <a:pt x="121722" y="69890"/>
                  <a:pt x="127595" y="68501"/>
                  <a:pt x="132080" y="71318"/>
                </a:cubicBezTo>
                <a:cubicBezTo>
                  <a:pt x="136565" y="74136"/>
                  <a:pt x="137914" y="79970"/>
                  <a:pt x="135096" y="84455"/>
                </a:cubicBezTo>
                <a:close/>
              </a:path>
            </a:pathLst>
          </a:custGeom>
          <a:solidFill>
            <a:schemeClr val="accent5">
              <a:lumMod val="60000"/>
              <a:lumOff val="40000"/>
            </a:schemeClr>
          </a:solidFill>
          <a:ln/>
        </p:spPr>
      </p:sp>
      <p:sp>
        <p:nvSpPr>
          <p:cNvPr id="30" name="Text 5">
            <a:extLst>
              <a:ext uri="{FF2B5EF4-FFF2-40B4-BE49-F238E27FC236}">
                <a16:creationId xmlns:a16="http://schemas.microsoft.com/office/drawing/2014/main" id="{50876EA9-CCCC-4CC1-92C4-5F464797B3DA}"/>
              </a:ext>
            </a:extLst>
          </p:cNvPr>
          <p:cNvSpPr/>
          <p:nvPr/>
        </p:nvSpPr>
        <p:spPr>
          <a:xfrm>
            <a:off x="3676792" y="2320255"/>
            <a:ext cx="5461000" cy="254000"/>
          </a:xfrm>
          <a:prstGeom prst="rect">
            <a:avLst/>
          </a:prstGeom>
          <a:noFill/>
          <a:ln/>
        </p:spPr>
        <p:txBody>
          <a:bodyPr wrap="square" lIns="0" tIns="0" rIns="0" bIns="0" rtlCol="0" anchor="ctr"/>
          <a:lstStyle/>
          <a:p>
            <a:pPr>
              <a:lnSpc>
                <a:spcPct val="120000"/>
              </a:lnSpc>
            </a:pPr>
            <a:r>
              <a:rPr lang="en-US" sz="1400" b="1" dirty="0" err="1">
                <a:solidFill>
                  <a:srgbClr val="212121"/>
                </a:solidFill>
                <a:latin typeface="Noto Sans SC" pitchFamily="34" charset="0"/>
                <a:ea typeface="Noto Sans SC" pitchFamily="34" charset="-122"/>
                <a:cs typeface="Noto Sans SC" pitchFamily="34" charset="-120"/>
              </a:rPr>
              <a:t>信息密集表示</a:t>
            </a:r>
            <a:r>
              <a:rPr lang="en-US" sz="1400" b="1" dirty="0">
                <a:solidFill>
                  <a:srgbClr val="212121"/>
                </a:solidFill>
                <a:latin typeface="Noto Sans SC" pitchFamily="34" charset="0"/>
                <a:ea typeface="Noto Sans SC" pitchFamily="34" charset="-122"/>
                <a:cs typeface="Noto Sans SC" pitchFamily="34" charset="-120"/>
              </a:rPr>
              <a:t>：</a:t>
            </a:r>
            <a:r>
              <a:rPr lang="zh-CN" altLang="en-US" sz="1400" dirty="0">
                <a:solidFill>
                  <a:srgbClr val="212121"/>
                </a:solidFill>
                <a:latin typeface="Noto Sans SC" pitchFamily="34" charset="0"/>
                <a:ea typeface="Noto Sans SC" pitchFamily="34" charset="-122"/>
                <a:cs typeface="Noto Sans SC" pitchFamily="34" charset="-120"/>
              </a:rPr>
              <a:t>防止模态数量增多时拼接导致的特征维度爆炸</a:t>
            </a:r>
            <a:endParaRPr lang="en-US" sz="1600" dirty="0"/>
          </a:p>
        </p:txBody>
      </p:sp>
      <p:sp>
        <p:nvSpPr>
          <p:cNvPr id="31" name="Shape 6">
            <a:extLst>
              <a:ext uri="{FF2B5EF4-FFF2-40B4-BE49-F238E27FC236}">
                <a16:creationId xmlns:a16="http://schemas.microsoft.com/office/drawing/2014/main" id="{96C5E8AF-5362-4D47-881E-71620538B259}"/>
              </a:ext>
            </a:extLst>
          </p:cNvPr>
          <p:cNvSpPr/>
          <p:nvPr/>
        </p:nvSpPr>
        <p:spPr>
          <a:xfrm>
            <a:off x="3371992" y="2726655"/>
            <a:ext cx="203200" cy="203200"/>
          </a:xfrm>
          <a:custGeom>
            <a:avLst/>
            <a:gdLst/>
            <a:ahLst/>
            <a:cxnLst/>
            <a:rect l="l" t="t" r="r" b="b"/>
            <a:pathLst>
              <a:path w="203200" h="203200">
                <a:moveTo>
                  <a:pt x="101600" y="203200"/>
                </a:moveTo>
                <a:cubicBezTo>
                  <a:pt x="157675" y="203200"/>
                  <a:pt x="203200" y="157675"/>
                  <a:pt x="203200" y="101600"/>
                </a:cubicBezTo>
                <a:cubicBezTo>
                  <a:pt x="203200" y="45525"/>
                  <a:pt x="157675" y="0"/>
                  <a:pt x="101600" y="0"/>
                </a:cubicBezTo>
                <a:cubicBezTo>
                  <a:pt x="45525" y="0"/>
                  <a:pt x="0" y="45525"/>
                  <a:pt x="0" y="101600"/>
                </a:cubicBezTo>
                <a:cubicBezTo>
                  <a:pt x="0" y="157675"/>
                  <a:pt x="45525" y="203200"/>
                  <a:pt x="101600" y="203200"/>
                </a:cubicBezTo>
                <a:close/>
                <a:moveTo>
                  <a:pt x="135096" y="84415"/>
                </a:moveTo>
                <a:lnTo>
                  <a:pt x="103346" y="135215"/>
                </a:lnTo>
                <a:cubicBezTo>
                  <a:pt x="101679" y="137874"/>
                  <a:pt x="98822" y="139541"/>
                  <a:pt x="95687" y="139700"/>
                </a:cubicBezTo>
                <a:cubicBezTo>
                  <a:pt x="92551" y="139859"/>
                  <a:pt x="89535" y="138430"/>
                  <a:pt x="87670" y="135890"/>
                </a:cubicBezTo>
                <a:lnTo>
                  <a:pt x="68620" y="110490"/>
                </a:lnTo>
                <a:cubicBezTo>
                  <a:pt x="65445" y="106283"/>
                  <a:pt x="66318" y="100330"/>
                  <a:pt x="70525" y="97155"/>
                </a:cubicBezTo>
                <a:cubicBezTo>
                  <a:pt x="74732" y="93980"/>
                  <a:pt x="80685" y="94853"/>
                  <a:pt x="83860" y="99060"/>
                </a:cubicBezTo>
                <a:lnTo>
                  <a:pt x="94575" y="113348"/>
                </a:lnTo>
                <a:lnTo>
                  <a:pt x="118943" y="74335"/>
                </a:lnTo>
                <a:cubicBezTo>
                  <a:pt x="121722" y="69890"/>
                  <a:pt x="127595" y="68501"/>
                  <a:pt x="132080" y="71318"/>
                </a:cubicBezTo>
                <a:cubicBezTo>
                  <a:pt x="136565" y="74136"/>
                  <a:pt x="137914" y="79970"/>
                  <a:pt x="135096" y="84455"/>
                </a:cubicBezTo>
                <a:close/>
              </a:path>
            </a:pathLst>
          </a:custGeom>
          <a:solidFill>
            <a:schemeClr val="accent5">
              <a:lumMod val="60000"/>
              <a:lumOff val="40000"/>
            </a:schemeClr>
          </a:solidFill>
          <a:ln/>
        </p:spPr>
      </p:sp>
      <p:sp>
        <p:nvSpPr>
          <p:cNvPr id="32" name="Text 7">
            <a:extLst>
              <a:ext uri="{FF2B5EF4-FFF2-40B4-BE49-F238E27FC236}">
                <a16:creationId xmlns:a16="http://schemas.microsoft.com/office/drawing/2014/main" id="{351A628B-2381-45D6-9B25-50242C90920B}"/>
              </a:ext>
            </a:extLst>
          </p:cNvPr>
          <p:cNvSpPr/>
          <p:nvPr/>
        </p:nvSpPr>
        <p:spPr>
          <a:xfrm>
            <a:off x="3667267" y="2707605"/>
            <a:ext cx="5461000" cy="254000"/>
          </a:xfrm>
          <a:prstGeom prst="rect">
            <a:avLst/>
          </a:prstGeom>
          <a:noFill/>
          <a:ln/>
        </p:spPr>
        <p:txBody>
          <a:bodyPr wrap="square" lIns="0" tIns="0" rIns="0" bIns="0" rtlCol="0" anchor="ctr"/>
          <a:lstStyle/>
          <a:p>
            <a:pPr>
              <a:lnSpc>
                <a:spcPct val="120000"/>
              </a:lnSpc>
            </a:pPr>
            <a:r>
              <a:rPr lang="en-US" sz="1400" b="1" dirty="0" err="1">
                <a:solidFill>
                  <a:srgbClr val="212121"/>
                </a:solidFill>
                <a:latin typeface="Noto Sans SC" pitchFamily="34" charset="0"/>
                <a:ea typeface="Noto Sans SC" pitchFamily="34" charset="-122"/>
                <a:cs typeface="Noto Sans SC" pitchFamily="34" charset="-120"/>
              </a:rPr>
              <a:t>柔性特征转换</a:t>
            </a:r>
            <a:r>
              <a:rPr lang="en-US" sz="1400" b="1" dirty="0">
                <a:solidFill>
                  <a:srgbClr val="212121"/>
                </a:solidFill>
                <a:latin typeface="Noto Sans SC" pitchFamily="34" charset="0"/>
                <a:ea typeface="Noto Sans SC" pitchFamily="34" charset="-122"/>
                <a:cs typeface="Noto Sans SC" pitchFamily="34" charset="-120"/>
              </a:rPr>
              <a:t>：</a:t>
            </a:r>
            <a:r>
              <a:rPr lang="en-US" altLang="zh-CN" sz="1600" dirty="0">
                <a:solidFill>
                  <a:srgbClr val="212121"/>
                </a:solidFill>
                <a:latin typeface="Noto Sans SC" pitchFamily="34" charset="0"/>
                <a:ea typeface="Noto Sans SC" pitchFamily="34" charset="-122"/>
                <a:cs typeface="Noto Sans SC" pitchFamily="34" charset="-120"/>
              </a:rPr>
              <a:t> </a:t>
            </a:r>
            <a:r>
              <a:rPr lang="en-US" altLang="zh-CN" sz="1400" dirty="0" err="1">
                <a:solidFill>
                  <a:srgbClr val="212121"/>
                </a:solidFill>
                <a:latin typeface="Noto Sans SC" pitchFamily="34" charset="0"/>
                <a:ea typeface="Noto Sans SC" pitchFamily="34" charset="-122"/>
                <a:cs typeface="Noto Sans SC" pitchFamily="34" charset="-120"/>
              </a:rPr>
              <a:t>避免</a:t>
            </a:r>
            <a:r>
              <a:rPr lang="zh-CN" altLang="en-US" sz="1400" dirty="0">
                <a:solidFill>
                  <a:srgbClr val="212121"/>
                </a:solidFill>
                <a:latin typeface="Noto Sans SC" pitchFamily="34" charset="0"/>
                <a:ea typeface="Noto Sans SC" pitchFamily="34" charset="-122"/>
                <a:cs typeface="Noto Sans SC" pitchFamily="34" charset="-120"/>
              </a:rPr>
              <a:t>直接拼接带来的模态霸凌</a:t>
            </a:r>
            <a:endParaRPr lang="en-US" sz="1400" dirty="0"/>
          </a:p>
        </p:txBody>
      </p:sp>
      <p:sp>
        <p:nvSpPr>
          <p:cNvPr id="41" name="文本框 40">
            <a:extLst>
              <a:ext uri="{FF2B5EF4-FFF2-40B4-BE49-F238E27FC236}">
                <a16:creationId xmlns:a16="http://schemas.microsoft.com/office/drawing/2014/main" id="{08DF5354-1889-438A-9154-0681ADB5D968}"/>
              </a:ext>
            </a:extLst>
          </p:cNvPr>
          <p:cNvSpPr txBox="1"/>
          <p:nvPr/>
        </p:nvSpPr>
        <p:spPr>
          <a:xfrm>
            <a:off x="311292" y="750824"/>
            <a:ext cx="6096000" cy="369332"/>
          </a:xfrm>
          <a:prstGeom prst="rect">
            <a:avLst/>
          </a:prstGeom>
          <a:noFill/>
        </p:spPr>
        <p:txBody>
          <a:bodyPr wrap="square">
            <a:spAutoFit/>
          </a:bodyPr>
          <a:lstStyle/>
          <a:p>
            <a:pPr>
              <a:lnSpc>
                <a:spcPct val="100000"/>
              </a:lnSpc>
            </a:pPr>
            <a:r>
              <a:rPr lang="en-US" altLang="zh-CN" sz="1800" b="1" dirty="0" err="1">
                <a:solidFill>
                  <a:srgbClr val="404040"/>
                </a:solidFill>
                <a:latin typeface="Noto Sans SC" pitchFamily="34" charset="0"/>
                <a:ea typeface="Noto Sans SC" pitchFamily="34" charset="-122"/>
                <a:cs typeface="Noto Sans SC" pitchFamily="34" charset="-120"/>
              </a:rPr>
              <a:t>MoME</a:t>
            </a:r>
            <a:r>
              <a:rPr lang="en-US" altLang="zh-CN" sz="1800" b="1" dirty="0">
                <a:solidFill>
                  <a:srgbClr val="404040"/>
                </a:solidFill>
                <a:latin typeface="Noto Sans SC" pitchFamily="34" charset="0"/>
                <a:ea typeface="Noto Sans SC" pitchFamily="34" charset="-122"/>
                <a:cs typeface="Noto Sans SC" pitchFamily="34" charset="-120"/>
              </a:rPr>
              <a:t> </a:t>
            </a:r>
            <a:r>
              <a:rPr lang="zh-CN" altLang="en-US" sz="1800" b="1" dirty="0">
                <a:solidFill>
                  <a:srgbClr val="404040"/>
                </a:solidFill>
                <a:latin typeface="Noto Sans SC" pitchFamily="34" charset="0"/>
                <a:ea typeface="Noto Sans SC" pitchFamily="34" charset="-122"/>
                <a:cs typeface="Noto Sans SC" pitchFamily="34" charset="-120"/>
              </a:rPr>
              <a:t>大模型特征融合</a:t>
            </a:r>
            <a:endParaRPr lang="en-US" altLang="zh-CN" sz="1050" dirty="0"/>
          </a:p>
        </p:txBody>
      </p:sp>
    </p:spTree>
    <p:extLst>
      <p:ext uri="{BB962C8B-B14F-4D97-AF65-F5344CB8AC3E}">
        <p14:creationId xmlns:p14="http://schemas.microsoft.com/office/powerpoint/2010/main" val="4184377316"/>
      </p:ext>
    </p:extLst>
  </p:cSld>
  <p:clrMapOvr>
    <a:masterClrMapping/>
  </p:clrMapOvr>
  <p:transition spd="slow" advClick="0" advTm="1000">
    <p:randomBar dir="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1" name="直接连接符 50"/>
          <p:cNvCxnSpPr/>
          <p:nvPr/>
        </p:nvCxnSpPr>
        <p:spPr>
          <a:xfrm>
            <a:off x="660400" y="760413"/>
            <a:ext cx="10858500" cy="0"/>
          </a:xfrm>
          <a:prstGeom prst="line">
            <a:avLst/>
          </a:prstGeom>
          <a:noFill/>
          <a:ln w="22225" cap="flat" cmpd="sng" algn="ctr">
            <a:solidFill>
              <a:srgbClr val="1C6299"/>
            </a:solidFill>
            <a:prstDash val="solid"/>
            <a:miter lim="800000"/>
          </a:ln>
          <a:effectLst/>
        </p:spPr>
      </p:cxnSp>
      <p:sp>
        <p:nvSpPr>
          <p:cNvPr id="52" name="标题占位符 1"/>
          <p:cNvSpPr txBox="1"/>
          <p:nvPr/>
        </p:nvSpPr>
        <p:spPr>
          <a:xfrm>
            <a:off x="965200" y="-100014"/>
            <a:ext cx="5435600" cy="817564"/>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lang="en-US" altLang="zh-CN" sz="2600" b="1" dirty="0" err="1">
                <a:solidFill>
                  <a:sysClr val="windowText" lastClr="000000"/>
                </a:solidFill>
                <a:latin typeface="Arial" panose="020B0604020202020204"/>
                <a:ea typeface="微软雅黑" panose="020B0503020204020204" pitchFamily="34" charset="-122"/>
              </a:rPr>
              <a:t>AdaCoMed</a:t>
            </a:r>
            <a:endParaRPr kumimoji="0" lang="zh-CN" altLang="en-US" sz="2600" b="1" i="0" u="none" strike="noStrike" kern="1200" cap="none" spc="0" normalizeH="0" baseline="0" noProof="0" dirty="0">
              <a:ln>
                <a:noFill/>
              </a:ln>
              <a:solidFill>
                <a:sysClr val="windowText" lastClr="000000"/>
              </a:solidFill>
              <a:effectLst/>
              <a:uLnTx/>
              <a:uFillTx/>
              <a:latin typeface="Arial" panose="020B0604020202020204"/>
              <a:ea typeface="微软雅黑" panose="020B0503020204020204" pitchFamily="34" charset="-122"/>
              <a:cs typeface="+mj-cs"/>
            </a:endParaRPr>
          </a:p>
        </p:txBody>
      </p:sp>
      <p:grpSp>
        <p:nvGrpSpPr>
          <p:cNvPr id="54" name="组合 53"/>
          <p:cNvGrpSpPr/>
          <p:nvPr/>
        </p:nvGrpSpPr>
        <p:grpSpPr>
          <a:xfrm>
            <a:off x="203760" y="159728"/>
            <a:ext cx="725344" cy="619478"/>
            <a:chOff x="178632" y="159728"/>
            <a:chExt cx="725344" cy="619478"/>
          </a:xfrm>
        </p:grpSpPr>
        <p:sp>
          <p:nvSpPr>
            <p:cNvPr id="55" name="椭圆 54"/>
            <p:cNvSpPr/>
            <p:nvPr/>
          </p:nvSpPr>
          <p:spPr>
            <a:xfrm>
              <a:off x="358210" y="159728"/>
              <a:ext cx="468000" cy="468000"/>
            </a:xfrm>
            <a:prstGeom prst="ellipse">
              <a:avLst/>
            </a:prstGeom>
            <a:gradFill>
              <a:gsLst>
                <a:gs pos="0">
                  <a:srgbClr val="1C6299"/>
                </a:gs>
                <a:gs pos="100000">
                  <a:srgbClr val="5C307D">
                    <a:alpha val="9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6" name="文本框 55"/>
            <p:cNvSpPr txBox="1"/>
            <p:nvPr/>
          </p:nvSpPr>
          <p:spPr>
            <a:xfrm>
              <a:off x="230876" y="233483"/>
              <a:ext cx="67310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03</a:t>
              </a:r>
              <a:endParaRPr kumimoji="0" lang="zh-CN" altLang="en-US"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7" name="椭圆 56"/>
            <p:cNvSpPr/>
            <p:nvPr/>
          </p:nvSpPr>
          <p:spPr>
            <a:xfrm>
              <a:off x="178632" y="602993"/>
              <a:ext cx="176213" cy="176213"/>
            </a:xfrm>
            <a:prstGeom prst="ellipse">
              <a:avLst/>
            </a:prstGeom>
            <a:gradFill>
              <a:gsLst>
                <a:gs pos="0">
                  <a:srgbClr val="1C6299"/>
                </a:gs>
                <a:gs pos="100000">
                  <a:srgbClr val="5C307D">
                    <a:alpha val="90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59" name="文本框 58"/>
          <p:cNvSpPr txBox="1"/>
          <p:nvPr/>
        </p:nvSpPr>
        <p:spPr>
          <a:xfrm>
            <a:off x="660400" y="6583649"/>
            <a:ext cx="1941557"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自强不息 厚德载物</a:t>
            </a:r>
          </a:p>
        </p:txBody>
      </p:sp>
      <p:pic>
        <p:nvPicPr>
          <p:cNvPr id="61" name="图片 6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24913" y="176378"/>
            <a:ext cx="1897854" cy="555905"/>
          </a:xfrm>
          <a:prstGeom prst="rect">
            <a:avLst/>
          </a:prstGeom>
        </p:spPr>
      </p:pic>
      <p:sp>
        <p:nvSpPr>
          <p:cNvPr id="62" name="矩形 61"/>
          <p:cNvSpPr/>
          <p:nvPr/>
        </p:nvSpPr>
        <p:spPr>
          <a:xfrm>
            <a:off x="0" y="6570000"/>
            <a:ext cx="12192000" cy="288000"/>
          </a:xfrm>
          <a:prstGeom prst="rect">
            <a:avLst/>
          </a:prstGeom>
          <a:solidFill>
            <a:srgbClr val="1C629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63" name="文本框 62"/>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latin typeface="微软雅黑" panose="020B0503020204020204" pitchFamily="34" charset="-122"/>
                <a:ea typeface="微软雅黑" panose="020B0503020204020204" pitchFamily="34" charset="-122"/>
              </a:rPr>
              <a:t>知行合一、经世致用</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4" name="文本框 63"/>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latin typeface="Arial" panose="020B0604020202020204" pitchFamily="34" charset="0"/>
                <a:ea typeface="微软雅黑" panose="020B0503020204020204" pitchFamily="34" charset="-122"/>
                <a:cs typeface="Arial" panose="020B0604020202020204" pitchFamily="34" charset="0"/>
              </a:rPr>
              <a:t>Central South University</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pic>
        <p:nvPicPr>
          <p:cNvPr id="6" name="图片 5">
            <a:extLst>
              <a:ext uri="{FF2B5EF4-FFF2-40B4-BE49-F238E27FC236}">
                <a16:creationId xmlns:a16="http://schemas.microsoft.com/office/drawing/2014/main" id="{BED023C3-AED7-4C5F-B943-B9D35CE58D43}"/>
              </a:ext>
            </a:extLst>
          </p:cNvPr>
          <p:cNvPicPr>
            <a:picLocks noChangeAspect="1"/>
          </p:cNvPicPr>
          <p:nvPr/>
        </p:nvPicPr>
        <p:blipFill>
          <a:blip r:embed="rId4"/>
          <a:stretch>
            <a:fillRect/>
          </a:stretch>
        </p:blipFill>
        <p:spPr>
          <a:xfrm>
            <a:off x="5763429" y="1593351"/>
            <a:ext cx="6428571" cy="4666667"/>
          </a:xfrm>
          <a:prstGeom prst="rect">
            <a:avLst/>
          </a:prstGeom>
        </p:spPr>
      </p:pic>
      <p:pic>
        <p:nvPicPr>
          <p:cNvPr id="8" name="图片 7">
            <a:extLst>
              <a:ext uri="{FF2B5EF4-FFF2-40B4-BE49-F238E27FC236}">
                <a16:creationId xmlns:a16="http://schemas.microsoft.com/office/drawing/2014/main" id="{A2C91D73-A5BB-4F04-9E3D-458209227B9D}"/>
              </a:ext>
            </a:extLst>
          </p:cNvPr>
          <p:cNvPicPr>
            <a:picLocks noChangeAspect="1"/>
          </p:cNvPicPr>
          <p:nvPr/>
        </p:nvPicPr>
        <p:blipFill>
          <a:blip r:embed="rId5"/>
          <a:stretch>
            <a:fillRect/>
          </a:stretch>
        </p:blipFill>
        <p:spPr>
          <a:xfrm>
            <a:off x="851338" y="3414222"/>
            <a:ext cx="4752381" cy="485714"/>
          </a:xfrm>
          <a:prstGeom prst="rect">
            <a:avLst/>
          </a:prstGeom>
        </p:spPr>
      </p:pic>
      <p:pic>
        <p:nvPicPr>
          <p:cNvPr id="10" name="图片 9">
            <a:extLst>
              <a:ext uri="{FF2B5EF4-FFF2-40B4-BE49-F238E27FC236}">
                <a16:creationId xmlns:a16="http://schemas.microsoft.com/office/drawing/2014/main" id="{647D5386-CCA5-486D-BB5E-F76E9F7C9076}"/>
              </a:ext>
            </a:extLst>
          </p:cNvPr>
          <p:cNvPicPr>
            <a:picLocks noChangeAspect="1"/>
          </p:cNvPicPr>
          <p:nvPr/>
        </p:nvPicPr>
        <p:blipFill rotWithShape="1">
          <a:blip r:embed="rId6"/>
          <a:srcRect l="4521"/>
          <a:stretch/>
        </p:blipFill>
        <p:spPr>
          <a:xfrm>
            <a:off x="171093" y="3810114"/>
            <a:ext cx="5587729" cy="893845"/>
          </a:xfrm>
          <a:prstGeom prst="rect">
            <a:avLst/>
          </a:prstGeom>
        </p:spPr>
      </p:pic>
      <p:pic>
        <p:nvPicPr>
          <p:cNvPr id="12" name="图片 11">
            <a:extLst>
              <a:ext uri="{FF2B5EF4-FFF2-40B4-BE49-F238E27FC236}">
                <a16:creationId xmlns:a16="http://schemas.microsoft.com/office/drawing/2014/main" id="{DC3CC7FF-7F27-4CC7-B7EC-302360CD15C3}"/>
              </a:ext>
            </a:extLst>
          </p:cNvPr>
          <p:cNvPicPr>
            <a:picLocks noChangeAspect="1"/>
          </p:cNvPicPr>
          <p:nvPr/>
        </p:nvPicPr>
        <p:blipFill>
          <a:blip r:embed="rId7"/>
          <a:stretch>
            <a:fillRect/>
          </a:stretch>
        </p:blipFill>
        <p:spPr>
          <a:xfrm>
            <a:off x="491951" y="4602311"/>
            <a:ext cx="5257143" cy="561905"/>
          </a:xfrm>
          <a:prstGeom prst="rect">
            <a:avLst/>
          </a:prstGeom>
        </p:spPr>
      </p:pic>
      <p:pic>
        <p:nvPicPr>
          <p:cNvPr id="14" name="图片 13">
            <a:extLst>
              <a:ext uri="{FF2B5EF4-FFF2-40B4-BE49-F238E27FC236}">
                <a16:creationId xmlns:a16="http://schemas.microsoft.com/office/drawing/2014/main" id="{DC902B98-B357-4A8F-A313-12D8689B6E5F}"/>
              </a:ext>
            </a:extLst>
          </p:cNvPr>
          <p:cNvPicPr>
            <a:picLocks noChangeAspect="1"/>
          </p:cNvPicPr>
          <p:nvPr/>
        </p:nvPicPr>
        <p:blipFill>
          <a:blip r:embed="rId8"/>
          <a:stretch>
            <a:fillRect/>
          </a:stretch>
        </p:blipFill>
        <p:spPr>
          <a:xfrm>
            <a:off x="584671" y="5148182"/>
            <a:ext cx="5019048" cy="552381"/>
          </a:xfrm>
          <a:prstGeom prst="rect">
            <a:avLst/>
          </a:prstGeom>
        </p:spPr>
      </p:pic>
      <p:sp>
        <p:nvSpPr>
          <p:cNvPr id="40" name="Text 4">
            <a:extLst>
              <a:ext uri="{FF2B5EF4-FFF2-40B4-BE49-F238E27FC236}">
                <a16:creationId xmlns:a16="http://schemas.microsoft.com/office/drawing/2014/main" id="{71AF0E2D-47BC-444D-8ECD-625A1DA01FD4}"/>
              </a:ext>
            </a:extLst>
          </p:cNvPr>
          <p:cNvSpPr/>
          <p:nvPr/>
        </p:nvSpPr>
        <p:spPr>
          <a:xfrm>
            <a:off x="379973" y="1032543"/>
            <a:ext cx="1778000" cy="355600"/>
          </a:xfrm>
          <a:prstGeom prst="rect">
            <a:avLst/>
          </a:prstGeom>
          <a:noFill/>
          <a:ln/>
        </p:spPr>
        <p:txBody>
          <a:bodyPr wrap="square" lIns="0" tIns="0" rIns="0" bIns="0" rtlCol="0" anchor="ctr"/>
          <a:lstStyle/>
          <a:p>
            <a:pPr algn="ctr">
              <a:lnSpc>
                <a:spcPct val="120000"/>
              </a:lnSpc>
            </a:pPr>
            <a:r>
              <a:rPr lang="en-US" sz="2000" b="1" dirty="0" err="1">
                <a:solidFill>
                  <a:srgbClr val="404040"/>
                </a:solidFill>
                <a:latin typeface="Noto Sans SC" pitchFamily="34" charset="0"/>
                <a:ea typeface="Noto Sans SC" pitchFamily="34" charset="-122"/>
                <a:cs typeface="Noto Sans SC" pitchFamily="34" charset="-120"/>
              </a:rPr>
              <a:t>对比学习对齐</a:t>
            </a:r>
            <a:endParaRPr lang="en-US" sz="1600" dirty="0"/>
          </a:p>
        </p:txBody>
      </p:sp>
      <p:sp>
        <p:nvSpPr>
          <p:cNvPr id="41" name="Text 5">
            <a:extLst>
              <a:ext uri="{FF2B5EF4-FFF2-40B4-BE49-F238E27FC236}">
                <a16:creationId xmlns:a16="http://schemas.microsoft.com/office/drawing/2014/main" id="{4CA65D2B-AA8F-45BB-9FCB-9A447AF337AF}"/>
              </a:ext>
            </a:extLst>
          </p:cNvPr>
          <p:cNvSpPr/>
          <p:nvPr/>
        </p:nvSpPr>
        <p:spPr>
          <a:xfrm>
            <a:off x="660400" y="2017468"/>
            <a:ext cx="4650951" cy="863600"/>
          </a:xfrm>
          <a:prstGeom prst="rect">
            <a:avLst/>
          </a:prstGeom>
          <a:noFill/>
          <a:ln/>
        </p:spPr>
        <p:txBody>
          <a:bodyPr wrap="square" lIns="0" tIns="0" rIns="0" bIns="0" rtlCol="0" anchor="ctr"/>
          <a:lstStyle/>
          <a:p>
            <a:pPr>
              <a:lnSpc>
                <a:spcPct val="140000"/>
              </a:lnSpc>
            </a:pPr>
            <a:r>
              <a:rPr lang="en-US" sz="1400" dirty="0">
                <a:solidFill>
                  <a:srgbClr val="212121"/>
                </a:solidFill>
                <a:latin typeface="Noto Sans SC" pitchFamily="34" charset="0"/>
                <a:ea typeface="Noto Sans SC" pitchFamily="34" charset="-122"/>
                <a:cs typeface="Noto Sans SC" pitchFamily="34" charset="-120"/>
              </a:rPr>
              <a:t>         </a:t>
            </a:r>
            <a:r>
              <a:rPr lang="en-US" sz="1400" dirty="0" err="1">
                <a:solidFill>
                  <a:srgbClr val="212121"/>
                </a:solidFill>
                <a:latin typeface="Noto Sans SC" pitchFamily="34" charset="0"/>
                <a:ea typeface="Noto Sans SC" pitchFamily="34" charset="-122"/>
                <a:cs typeface="Noto Sans SC" pitchFamily="34" charset="-120"/>
              </a:rPr>
              <a:t>通过对比损失将大模型特征拉向小模型特征，</a:t>
            </a:r>
            <a:r>
              <a:rPr lang="en-US" sz="1400" b="1" dirty="0" err="1">
                <a:solidFill>
                  <a:srgbClr val="212121"/>
                </a:solidFill>
                <a:latin typeface="Noto Sans SC" pitchFamily="34" charset="0"/>
                <a:ea typeface="Noto Sans SC" pitchFamily="34" charset="-122"/>
                <a:cs typeface="Noto Sans SC" pitchFamily="34" charset="-120"/>
              </a:rPr>
              <a:t>使前者隐含</a:t>
            </a:r>
            <a:r>
              <a:rPr lang="zh-CN" altLang="en-US" sz="1400" b="1" dirty="0">
                <a:solidFill>
                  <a:srgbClr val="212121"/>
                </a:solidFill>
                <a:latin typeface="Noto Sans SC" pitchFamily="34" charset="0"/>
                <a:ea typeface="Noto Sans SC" pitchFamily="34" charset="-122"/>
                <a:cs typeface="Noto Sans SC" pitchFamily="34" charset="-120"/>
              </a:rPr>
              <a:t>多</a:t>
            </a:r>
            <a:r>
              <a:rPr lang="en-US" sz="1400" b="1" dirty="0" err="1">
                <a:solidFill>
                  <a:srgbClr val="212121"/>
                </a:solidFill>
                <a:latin typeface="Noto Sans SC" pitchFamily="34" charset="0"/>
                <a:ea typeface="Noto Sans SC" pitchFamily="34" charset="-122"/>
                <a:cs typeface="Noto Sans SC" pitchFamily="34" charset="-120"/>
              </a:rPr>
              <a:t>模态</a:t>
            </a:r>
            <a:r>
              <a:rPr lang="zh-CN" altLang="en-US" sz="1400" b="1" dirty="0">
                <a:solidFill>
                  <a:srgbClr val="212121"/>
                </a:solidFill>
                <a:latin typeface="Noto Sans SC" pitchFamily="34" charset="0"/>
                <a:ea typeface="Noto Sans SC" pitchFamily="34" charset="-122"/>
                <a:cs typeface="Noto Sans SC" pitchFamily="34" charset="-120"/>
              </a:rPr>
              <a:t>交互信息</a:t>
            </a:r>
            <a:r>
              <a:rPr lang="en-US" sz="1400" dirty="0">
                <a:solidFill>
                  <a:srgbClr val="212121"/>
                </a:solidFill>
                <a:latin typeface="Noto Sans SC" pitchFamily="34" charset="0"/>
                <a:ea typeface="Noto Sans SC" pitchFamily="34" charset="-122"/>
                <a:cs typeface="Noto Sans SC" pitchFamily="34" charset="-120"/>
              </a:rPr>
              <a:t>。</a:t>
            </a:r>
            <a:r>
              <a:rPr lang="zh-CN" altLang="en-US" sz="1400" dirty="0">
                <a:solidFill>
                  <a:srgbClr val="212121"/>
                </a:solidFill>
                <a:latin typeface="Noto Sans SC" pitchFamily="34" charset="0"/>
                <a:ea typeface="Noto Sans SC" pitchFamily="34" charset="-122"/>
                <a:cs typeface="Noto Sans SC" pitchFamily="34" charset="-120"/>
              </a:rPr>
              <a:t>技术上具体采用</a:t>
            </a:r>
            <a:r>
              <a:rPr lang="en-US" altLang="zh-CN" sz="1400" dirty="0">
                <a:solidFill>
                  <a:srgbClr val="212121"/>
                </a:solidFill>
                <a:latin typeface="Noto Sans SC" pitchFamily="34" charset="0"/>
                <a:ea typeface="Noto Sans SC" pitchFamily="34" charset="-122"/>
                <a:cs typeface="Noto Sans SC" pitchFamily="34" charset="-120"/>
              </a:rPr>
              <a:t>mini-batch</a:t>
            </a:r>
            <a:r>
              <a:rPr lang="zh-CN" altLang="en-US" sz="1400" dirty="0">
                <a:solidFill>
                  <a:srgbClr val="212121"/>
                </a:solidFill>
                <a:latin typeface="Noto Sans SC" pitchFamily="34" charset="0"/>
                <a:ea typeface="Noto Sans SC" pitchFamily="34" charset="-122"/>
                <a:cs typeface="Noto Sans SC" pitchFamily="34" charset="-120"/>
              </a:rPr>
              <a:t>内的正负样本余弦相似度进行对比学习。</a:t>
            </a:r>
            <a:endParaRPr lang="en-US" sz="1600" dirty="0"/>
          </a:p>
        </p:txBody>
      </p:sp>
    </p:spTree>
    <p:extLst>
      <p:ext uri="{BB962C8B-B14F-4D97-AF65-F5344CB8AC3E}">
        <p14:creationId xmlns:p14="http://schemas.microsoft.com/office/powerpoint/2010/main" val="2728105955"/>
      </p:ext>
    </p:extLst>
  </p:cSld>
  <p:clrMapOvr>
    <a:masterClrMapping/>
  </p:clrMapOvr>
  <p:transition spd="slow" advClick="0" advTm="1000">
    <p:randomBar dir="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1" name="直接连接符 50"/>
          <p:cNvCxnSpPr/>
          <p:nvPr/>
        </p:nvCxnSpPr>
        <p:spPr>
          <a:xfrm>
            <a:off x="660400" y="760413"/>
            <a:ext cx="10858500" cy="0"/>
          </a:xfrm>
          <a:prstGeom prst="line">
            <a:avLst/>
          </a:prstGeom>
          <a:noFill/>
          <a:ln w="22225" cap="flat" cmpd="sng" algn="ctr">
            <a:solidFill>
              <a:srgbClr val="1C6299"/>
            </a:solidFill>
            <a:prstDash val="solid"/>
            <a:miter lim="800000"/>
          </a:ln>
          <a:effectLst/>
        </p:spPr>
      </p:cxnSp>
      <p:sp>
        <p:nvSpPr>
          <p:cNvPr id="52" name="标题占位符 1"/>
          <p:cNvSpPr txBox="1"/>
          <p:nvPr/>
        </p:nvSpPr>
        <p:spPr>
          <a:xfrm>
            <a:off x="965200" y="-100014"/>
            <a:ext cx="5435600" cy="817564"/>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lang="en-US" altLang="zh-CN" sz="2600" b="1" dirty="0" err="1">
                <a:solidFill>
                  <a:sysClr val="windowText" lastClr="000000"/>
                </a:solidFill>
                <a:latin typeface="Arial" panose="020B0604020202020204"/>
                <a:ea typeface="微软雅黑" panose="020B0503020204020204" pitchFamily="34" charset="-122"/>
              </a:rPr>
              <a:t>AdaCoMed</a:t>
            </a:r>
            <a:endParaRPr kumimoji="0" lang="zh-CN" altLang="en-US" sz="2600" b="1" i="0" u="none" strike="noStrike" kern="1200" cap="none" spc="0" normalizeH="0" baseline="0" noProof="0" dirty="0">
              <a:ln>
                <a:noFill/>
              </a:ln>
              <a:solidFill>
                <a:sysClr val="windowText" lastClr="000000"/>
              </a:solidFill>
              <a:effectLst/>
              <a:uLnTx/>
              <a:uFillTx/>
              <a:latin typeface="Arial" panose="020B0604020202020204"/>
              <a:ea typeface="微软雅黑" panose="020B0503020204020204" pitchFamily="34" charset="-122"/>
              <a:cs typeface="+mj-cs"/>
            </a:endParaRPr>
          </a:p>
        </p:txBody>
      </p:sp>
      <p:grpSp>
        <p:nvGrpSpPr>
          <p:cNvPr id="54" name="组合 53"/>
          <p:cNvGrpSpPr/>
          <p:nvPr/>
        </p:nvGrpSpPr>
        <p:grpSpPr>
          <a:xfrm>
            <a:off x="203760" y="159728"/>
            <a:ext cx="725344" cy="619478"/>
            <a:chOff x="178632" y="159728"/>
            <a:chExt cx="725344" cy="619478"/>
          </a:xfrm>
        </p:grpSpPr>
        <p:sp>
          <p:nvSpPr>
            <p:cNvPr id="55" name="椭圆 54"/>
            <p:cNvSpPr/>
            <p:nvPr/>
          </p:nvSpPr>
          <p:spPr>
            <a:xfrm>
              <a:off x="358210" y="159728"/>
              <a:ext cx="468000" cy="468000"/>
            </a:xfrm>
            <a:prstGeom prst="ellipse">
              <a:avLst/>
            </a:prstGeom>
            <a:gradFill>
              <a:gsLst>
                <a:gs pos="0">
                  <a:srgbClr val="1C6299"/>
                </a:gs>
                <a:gs pos="100000">
                  <a:srgbClr val="5C307D">
                    <a:alpha val="9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6" name="文本框 55"/>
            <p:cNvSpPr txBox="1"/>
            <p:nvPr/>
          </p:nvSpPr>
          <p:spPr>
            <a:xfrm>
              <a:off x="230876" y="233483"/>
              <a:ext cx="67310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03</a:t>
              </a:r>
              <a:endParaRPr kumimoji="0" lang="zh-CN" altLang="en-US"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7" name="椭圆 56"/>
            <p:cNvSpPr/>
            <p:nvPr/>
          </p:nvSpPr>
          <p:spPr>
            <a:xfrm>
              <a:off x="178632" y="602993"/>
              <a:ext cx="176213" cy="176213"/>
            </a:xfrm>
            <a:prstGeom prst="ellipse">
              <a:avLst/>
            </a:prstGeom>
            <a:gradFill>
              <a:gsLst>
                <a:gs pos="0">
                  <a:srgbClr val="1C6299"/>
                </a:gs>
                <a:gs pos="100000">
                  <a:srgbClr val="5C307D">
                    <a:alpha val="90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59" name="文本框 58"/>
          <p:cNvSpPr txBox="1"/>
          <p:nvPr/>
        </p:nvSpPr>
        <p:spPr>
          <a:xfrm>
            <a:off x="660400" y="6583649"/>
            <a:ext cx="1941557"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自强不息 厚德载物</a:t>
            </a:r>
          </a:p>
        </p:txBody>
      </p:sp>
      <p:pic>
        <p:nvPicPr>
          <p:cNvPr id="61" name="图片 6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24913" y="176378"/>
            <a:ext cx="1897854" cy="555905"/>
          </a:xfrm>
          <a:prstGeom prst="rect">
            <a:avLst/>
          </a:prstGeom>
        </p:spPr>
      </p:pic>
      <p:sp>
        <p:nvSpPr>
          <p:cNvPr id="62" name="矩形 61"/>
          <p:cNvSpPr/>
          <p:nvPr/>
        </p:nvSpPr>
        <p:spPr>
          <a:xfrm>
            <a:off x="0" y="6570000"/>
            <a:ext cx="12192000" cy="288000"/>
          </a:xfrm>
          <a:prstGeom prst="rect">
            <a:avLst/>
          </a:prstGeom>
          <a:solidFill>
            <a:srgbClr val="1C629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63" name="文本框 62"/>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latin typeface="微软雅黑" panose="020B0503020204020204" pitchFamily="34" charset="-122"/>
                <a:ea typeface="微软雅黑" panose="020B0503020204020204" pitchFamily="34" charset="-122"/>
              </a:rPr>
              <a:t>知行合一、经世致用</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4" name="文本框 63"/>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latin typeface="Arial" panose="020B0604020202020204" pitchFamily="34" charset="0"/>
                <a:ea typeface="微软雅黑" panose="020B0503020204020204" pitchFamily="34" charset="-122"/>
                <a:cs typeface="Arial" panose="020B0604020202020204" pitchFamily="34" charset="0"/>
              </a:rPr>
              <a:t>Central South University</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pic>
        <p:nvPicPr>
          <p:cNvPr id="8" name="图片 7">
            <a:extLst>
              <a:ext uri="{FF2B5EF4-FFF2-40B4-BE49-F238E27FC236}">
                <a16:creationId xmlns:a16="http://schemas.microsoft.com/office/drawing/2014/main" id="{06CEA2B8-C116-4643-997C-F07283D7B3E9}"/>
              </a:ext>
            </a:extLst>
          </p:cNvPr>
          <p:cNvPicPr>
            <a:picLocks noChangeAspect="1"/>
          </p:cNvPicPr>
          <p:nvPr/>
        </p:nvPicPr>
        <p:blipFill>
          <a:blip r:embed="rId4"/>
          <a:stretch>
            <a:fillRect/>
          </a:stretch>
        </p:blipFill>
        <p:spPr>
          <a:xfrm>
            <a:off x="281441" y="3394785"/>
            <a:ext cx="11629117" cy="3121971"/>
          </a:xfrm>
          <a:prstGeom prst="rect">
            <a:avLst/>
          </a:prstGeom>
        </p:spPr>
      </p:pic>
      <p:pic>
        <p:nvPicPr>
          <p:cNvPr id="10" name="图片 9">
            <a:extLst>
              <a:ext uri="{FF2B5EF4-FFF2-40B4-BE49-F238E27FC236}">
                <a16:creationId xmlns:a16="http://schemas.microsoft.com/office/drawing/2014/main" id="{423FB651-5E58-4667-9C28-9EF7FFB6021C}"/>
              </a:ext>
            </a:extLst>
          </p:cNvPr>
          <p:cNvPicPr>
            <a:picLocks noChangeAspect="1"/>
          </p:cNvPicPr>
          <p:nvPr/>
        </p:nvPicPr>
        <p:blipFill>
          <a:blip r:embed="rId5"/>
          <a:stretch>
            <a:fillRect/>
          </a:stretch>
        </p:blipFill>
        <p:spPr>
          <a:xfrm>
            <a:off x="6649050" y="816532"/>
            <a:ext cx="4800000" cy="1714286"/>
          </a:xfrm>
          <a:prstGeom prst="rect">
            <a:avLst/>
          </a:prstGeom>
        </p:spPr>
      </p:pic>
      <p:pic>
        <p:nvPicPr>
          <p:cNvPr id="24" name="图片 23">
            <a:extLst>
              <a:ext uri="{FF2B5EF4-FFF2-40B4-BE49-F238E27FC236}">
                <a16:creationId xmlns:a16="http://schemas.microsoft.com/office/drawing/2014/main" id="{ADE66F5A-DD0C-4022-89E5-7A972B4C821A}"/>
              </a:ext>
            </a:extLst>
          </p:cNvPr>
          <p:cNvPicPr>
            <a:picLocks noChangeAspect="1"/>
          </p:cNvPicPr>
          <p:nvPr/>
        </p:nvPicPr>
        <p:blipFill>
          <a:blip r:embed="rId6"/>
          <a:stretch>
            <a:fillRect/>
          </a:stretch>
        </p:blipFill>
        <p:spPr>
          <a:xfrm>
            <a:off x="6514073" y="2542014"/>
            <a:ext cx="4934977" cy="954325"/>
          </a:xfrm>
          <a:prstGeom prst="rect">
            <a:avLst/>
          </a:prstGeom>
        </p:spPr>
      </p:pic>
      <p:sp>
        <p:nvSpPr>
          <p:cNvPr id="53" name="Text 0">
            <a:extLst>
              <a:ext uri="{FF2B5EF4-FFF2-40B4-BE49-F238E27FC236}">
                <a16:creationId xmlns:a16="http://schemas.microsoft.com/office/drawing/2014/main" id="{8DAC7FE4-EA25-4FE7-A98F-B4668961BA94}"/>
              </a:ext>
            </a:extLst>
          </p:cNvPr>
          <p:cNvSpPr/>
          <p:nvPr/>
        </p:nvSpPr>
        <p:spPr>
          <a:xfrm>
            <a:off x="565150" y="905926"/>
            <a:ext cx="3117850" cy="457200"/>
          </a:xfrm>
          <a:prstGeom prst="rect">
            <a:avLst/>
          </a:prstGeom>
          <a:noFill/>
          <a:ln/>
        </p:spPr>
        <p:txBody>
          <a:bodyPr wrap="square" lIns="0" tIns="0" rIns="0" bIns="0" rtlCol="0" anchor="ctr"/>
          <a:lstStyle/>
          <a:p>
            <a:pPr>
              <a:lnSpc>
                <a:spcPct val="100000"/>
              </a:lnSpc>
            </a:pPr>
            <a:r>
              <a:rPr lang="zh-CN" altLang="en-US" sz="2000" b="1" dirty="0">
                <a:solidFill>
                  <a:srgbClr val="404040"/>
                </a:solidFill>
                <a:latin typeface="Noto Sans SC" pitchFamily="34" charset="0"/>
                <a:ea typeface="Noto Sans SC" pitchFamily="34" charset="-122"/>
                <a:cs typeface="Noto Sans SC" pitchFamily="34" charset="-120"/>
              </a:rPr>
              <a:t>共训练策略</a:t>
            </a:r>
            <a:r>
              <a:rPr lang="en-US" sz="2000" b="1" dirty="0">
                <a:solidFill>
                  <a:srgbClr val="404040"/>
                </a:solidFill>
                <a:latin typeface="Noto Sans SC" pitchFamily="34" charset="0"/>
                <a:ea typeface="Noto Sans SC" pitchFamily="34" charset="-122"/>
                <a:cs typeface="Noto Sans SC" pitchFamily="34" charset="-120"/>
              </a:rPr>
              <a:t>：</a:t>
            </a:r>
            <a:r>
              <a:rPr lang="zh-CN" altLang="en-US" sz="2000" b="1" dirty="0">
                <a:solidFill>
                  <a:srgbClr val="404040"/>
                </a:solidFill>
                <a:latin typeface="Noto Sans SC" pitchFamily="34" charset="0"/>
                <a:ea typeface="Noto Sans SC" pitchFamily="34" charset="-122"/>
                <a:cs typeface="Noto Sans SC" pitchFamily="34" charset="-120"/>
              </a:rPr>
              <a:t>贡献</a:t>
            </a:r>
            <a:r>
              <a:rPr lang="en-US" sz="2000" b="1" dirty="0" err="1">
                <a:solidFill>
                  <a:srgbClr val="404040"/>
                </a:solidFill>
                <a:latin typeface="Noto Sans SC" pitchFamily="34" charset="0"/>
                <a:ea typeface="Noto Sans SC" pitchFamily="34" charset="-122"/>
                <a:cs typeface="Noto Sans SC" pitchFamily="34" charset="-120"/>
              </a:rPr>
              <a:t>动态平衡</a:t>
            </a:r>
            <a:endParaRPr lang="en-US" sz="2000" dirty="0"/>
          </a:p>
        </p:txBody>
      </p:sp>
      <p:sp>
        <p:nvSpPr>
          <p:cNvPr id="58" name="Text 5">
            <a:extLst>
              <a:ext uri="{FF2B5EF4-FFF2-40B4-BE49-F238E27FC236}">
                <a16:creationId xmlns:a16="http://schemas.microsoft.com/office/drawing/2014/main" id="{FC1A850E-431C-421F-934F-40EB8CE45BE4}"/>
              </a:ext>
            </a:extLst>
          </p:cNvPr>
          <p:cNvSpPr/>
          <p:nvPr/>
        </p:nvSpPr>
        <p:spPr>
          <a:xfrm>
            <a:off x="795845" y="1492122"/>
            <a:ext cx="5121275" cy="1714286"/>
          </a:xfrm>
          <a:prstGeom prst="rect">
            <a:avLst/>
          </a:prstGeom>
          <a:noFill/>
          <a:ln/>
        </p:spPr>
        <p:txBody>
          <a:bodyPr wrap="square" lIns="0" tIns="0" rIns="0" bIns="0" rtlCol="0" anchor="ctr"/>
          <a:lstStyle/>
          <a:p>
            <a:pPr>
              <a:lnSpc>
                <a:spcPct val="140000"/>
              </a:lnSpc>
            </a:pPr>
            <a:r>
              <a:rPr lang="en-US" sz="1400" dirty="0">
                <a:solidFill>
                  <a:srgbClr val="212121"/>
                </a:solidFill>
                <a:latin typeface="Noto Sans SC" pitchFamily="34" charset="0"/>
                <a:ea typeface="Noto Sans SC" pitchFamily="34" charset="-122"/>
                <a:cs typeface="Noto Sans SC" pitchFamily="34" charset="-120"/>
              </a:rPr>
              <a:t>         </a:t>
            </a:r>
            <a:r>
              <a:rPr lang="zh-CN" altLang="en-US" sz="1400" dirty="0">
                <a:solidFill>
                  <a:srgbClr val="212121"/>
                </a:solidFill>
                <a:latin typeface="Noto Sans SC" pitchFamily="34" charset="0"/>
                <a:ea typeface="Noto Sans SC" pitchFamily="34" charset="-122"/>
                <a:cs typeface="Noto Sans SC" pitchFamily="34" charset="-120"/>
              </a:rPr>
              <a:t>单纯的对比学习拉近会</a:t>
            </a:r>
            <a:r>
              <a:rPr lang="zh-CN" altLang="en-US" sz="1400" b="1" dirty="0">
                <a:solidFill>
                  <a:srgbClr val="212121"/>
                </a:solidFill>
                <a:latin typeface="Noto Sans SC" pitchFamily="34" charset="0"/>
                <a:ea typeface="Noto Sans SC" pitchFamily="34" charset="-122"/>
                <a:cs typeface="Noto Sans SC" pitchFamily="34" charset="-120"/>
              </a:rPr>
              <a:t>压制</a:t>
            </a:r>
            <a:r>
              <a:rPr lang="en-US" altLang="zh-CN" sz="1400" b="1" dirty="0">
                <a:solidFill>
                  <a:srgbClr val="212121"/>
                </a:solidFill>
                <a:latin typeface="Noto Sans SC" pitchFamily="34" charset="0"/>
                <a:ea typeface="Noto Sans SC" pitchFamily="34" charset="-122"/>
                <a:cs typeface="Noto Sans SC" pitchFamily="34" charset="-120"/>
              </a:rPr>
              <a:t>LM-</a:t>
            </a:r>
            <a:r>
              <a:rPr lang="zh-CN" altLang="en-US" sz="1400" b="1" dirty="0">
                <a:solidFill>
                  <a:srgbClr val="212121"/>
                </a:solidFill>
                <a:latin typeface="Noto Sans SC" pitchFamily="34" charset="0"/>
                <a:ea typeface="Noto Sans SC" pitchFamily="34" charset="-122"/>
                <a:cs typeface="Noto Sans SC" pitchFamily="34" charset="-120"/>
              </a:rPr>
              <a:t>联合模型的性能上限</a:t>
            </a:r>
            <a:r>
              <a:rPr lang="zh-CN" altLang="en-US" sz="1400" dirty="0">
                <a:solidFill>
                  <a:srgbClr val="212121"/>
                </a:solidFill>
                <a:latin typeface="Noto Sans SC" pitchFamily="34" charset="0"/>
                <a:ea typeface="Noto Sans SC" pitchFamily="34" charset="-122"/>
                <a:cs typeface="Noto Sans SC" pitchFamily="34" charset="-120"/>
              </a:rPr>
              <a:t>，最多只能逼近多模态小模型的效果。</a:t>
            </a:r>
            <a:endParaRPr lang="en-US" altLang="zh-CN" sz="1400" dirty="0">
              <a:solidFill>
                <a:srgbClr val="212121"/>
              </a:solidFill>
              <a:latin typeface="Noto Sans SC" pitchFamily="34" charset="0"/>
              <a:ea typeface="Noto Sans SC" pitchFamily="34" charset="-122"/>
              <a:cs typeface="Noto Sans SC" pitchFamily="34" charset="-120"/>
            </a:endParaRPr>
          </a:p>
          <a:p>
            <a:pPr>
              <a:lnSpc>
                <a:spcPct val="140000"/>
              </a:lnSpc>
            </a:pPr>
            <a:r>
              <a:rPr lang="en-US" sz="1400" dirty="0">
                <a:solidFill>
                  <a:srgbClr val="212121"/>
                </a:solidFill>
                <a:latin typeface="Noto Sans SC" pitchFamily="34" charset="0"/>
                <a:ea typeface="Noto Sans SC" pitchFamily="34" charset="-122"/>
              </a:rPr>
              <a:t>         </a:t>
            </a:r>
            <a:r>
              <a:rPr lang="zh-CN" altLang="en-US" sz="1400" dirty="0">
                <a:solidFill>
                  <a:srgbClr val="212121"/>
                </a:solidFill>
                <a:latin typeface="Noto Sans SC" pitchFamily="34" charset="0"/>
                <a:ea typeface="Noto Sans SC" pitchFamily="34" charset="-122"/>
              </a:rPr>
              <a:t>提出四种对大</a:t>
            </a:r>
            <a:r>
              <a:rPr lang="en-US" altLang="zh-CN" sz="1400" dirty="0">
                <a:solidFill>
                  <a:srgbClr val="212121"/>
                </a:solidFill>
                <a:latin typeface="Noto Sans SC" pitchFamily="34" charset="0"/>
                <a:ea typeface="Noto Sans SC" pitchFamily="34" charset="-122"/>
              </a:rPr>
              <a:t>-</a:t>
            </a:r>
            <a:r>
              <a:rPr lang="zh-CN" altLang="en-US" sz="1400" dirty="0">
                <a:solidFill>
                  <a:srgbClr val="212121"/>
                </a:solidFill>
                <a:latin typeface="Noto Sans SC" pitchFamily="34" charset="0"/>
                <a:ea typeface="Noto Sans SC" pitchFamily="34" charset="-122"/>
              </a:rPr>
              <a:t>小模型任务贡献的动态调整策略，其核心思想为：在任务损失中，</a:t>
            </a:r>
            <a:r>
              <a:rPr lang="zh-CN" altLang="en-US" sz="1400" b="1" dirty="0">
                <a:solidFill>
                  <a:srgbClr val="212121"/>
                </a:solidFill>
                <a:latin typeface="Noto Sans SC" pitchFamily="34" charset="0"/>
                <a:ea typeface="Noto Sans SC" pitchFamily="34" charset="-122"/>
              </a:rPr>
              <a:t>初期放大小模型权重借助其稳定</a:t>
            </a:r>
            <a:r>
              <a:rPr lang="en-US" altLang="zh-CN" sz="1400" b="1" dirty="0">
                <a:solidFill>
                  <a:srgbClr val="212121"/>
                </a:solidFill>
                <a:latin typeface="Noto Sans SC" pitchFamily="34" charset="0"/>
                <a:ea typeface="Noto Sans SC" pitchFamily="34" charset="-122"/>
              </a:rPr>
              <a:t>LM-</a:t>
            </a:r>
            <a:r>
              <a:rPr lang="zh-CN" altLang="en-US" sz="1400" b="1" dirty="0">
                <a:solidFill>
                  <a:srgbClr val="212121"/>
                </a:solidFill>
                <a:latin typeface="Noto Sans SC" pitchFamily="34" charset="0"/>
                <a:ea typeface="Noto Sans SC" pitchFamily="34" charset="-122"/>
              </a:rPr>
              <a:t>联合模型训练，后期放大</a:t>
            </a:r>
            <a:r>
              <a:rPr lang="en-US" altLang="zh-CN" sz="1400" b="1" dirty="0">
                <a:solidFill>
                  <a:srgbClr val="212121"/>
                </a:solidFill>
                <a:latin typeface="Noto Sans SC" pitchFamily="34" charset="0"/>
                <a:ea typeface="Noto Sans SC" pitchFamily="34" charset="-122"/>
              </a:rPr>
              <a:t>LM-</a:t>
            </a:r>
            <a:r>
              <a:rPr lang="zh-CN" altLang="en-US" sz="1400" b="1" dirty="0">
                <a:solidFill>
                  <a:srgbClr val="212121"/>
                </a:solidFill>
                <a:latin typeface="Noto Sans SC" pitchFamily="34" charset="0"/>
                <a:ea typeface="Noto Sans SC" pitchFamily="34" charset="-122"/>
              </a:rPr>
              <a:t>联合模型权重从而提升其分类性能。</a:t>
            </a:r>
            <a:endParaRPr lang="en-US" sz="1600" b="1" dirty="0"/>
          </a:p>
        </p:txBody>
      </p:sp>
    </p:spTree>
    <p:extLst>
      <p:ext uri="{BB962C8B-B14F-4D97-AF65-F5344CB8AC3E}">
        <p14:creationId xmlns:p14="http://schemas.microsoft.com/office/powerpoint/2010/main" val="1081827025"/>
      </p:ext>
    </p:extLst>
  </p:cSld>
  <p:clrMapOvr>
    <a:masterClrMapping/>
  </p:clrMapOvr>
  <p:transition spd="slow" advClick="0" advTm="1000">
    <p:randomBar dir="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1" name="直接连接符 50"/>
          <p:cNvCxnSpPr/>
          <p:nvPr/>
        </p:nvCxnSpPr>
        <p:spPr>
          <a:xfrm>
            <a:off x="660400" y="760413"/>
            <a:ext cx="10858500" cy="0"/>
          </a:xfrm>
          <a:prstGeom prst="line">
            <a:avLst/>
          </a:prstGeom>
          <a:noFill/>
          <a:ln w="22225" cap="flat" cmpd="sng" algn="ctr">
            <a:solidFill>
              <a:srgbClr val="1C6299"/>
            </a:solidFill>
            <a:prstDash val="solid"/>
            <a:miter lim="800000"/>
          </a:ln>
          <a:effectLst/>
        </p:spPr>
      </p:cxnSp>
      <p:sp>
        <p:nvSpPr>
          <p:cNvPr id="52" name="标题占位符 1"/>
          <p:cNvSpPr txBox="1"/>
          <p:nvPr/>
        </p:nvSpPr>
        <p:spPr>
          <a:xfrm>
            <a:off x="965200" y="-100014"/>
            <a:ext cx="5435600" cy="817564"/>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lang="en-US" altLang="zh-CN" sz="2600" b="1" dirty="0">
                <a:solidFill>
                  <a:sysClr val="windowText" lastClr="000000"/>
                </a:solidFill>
                <a:latin typeface="Arial" panose="020B0604020202020204"/>
                <a:ea typeface="微软雅黑" panose="020B0503020204020204" pitchFamily="34" charset="-122"/>
              </a:rPr>
              <a:t>Experiment</a:t>
            </a:r>
            <a:endParaRPr kumimoji="0" lang="zh-CN" altLang="en-US" sz="2600" b="1" i="0" u="none" strike="noStrike" kern="1200" cap="none" spc="0" normalizeH="0" baseline="0" noProof="0" dirty="0">
              <a:ln>
                <a:noFill/>
              </a:ln>
              <a:solidFill>
                <a:sysClr val="windowText" lastClr="000000"/>
              </a:solidFill>
              <a:effectLst/>
              <a:uLnTx/>
              <a:uFillTx/>
              <a:latin typeface="Arial" panose="020B0604020202020204"/>
              <a:ea typeface="微软雅黑" panose="020B0503020204020204" pitchFamily="34" charset="-122"/>
              <a:cs typeface="+mj-cs"/>
            </a:endParaRPr>
          </a:p>
        </p:txBody>
      </p:sp>
      <p:grpSp>
        <p:nvGrpSpPr>
          <p:cNvPr id="54" name="组合 53"/>
          <p:cNvGrpSpPr/>
          <p:nvPr/>
        </p:nvGrpSpPr>
        <p:grpSpPr>
          <a:xfrm>
            <a:off x="203760" y="159728"/>
            <a:ext cx="725344" cy="619478"/>
            <a:chOff x="178632" y="159728"/>
            <a:chExt cx="725344" cy="619478"/>
          </a:xfrm>
        </p:grpSpPr>
        <p:sp>
          <p:nvSpPr>
            <p:cNvPr id="55" name="椭圆 54"/>
            <p:cNvSpPr/>
            <p:nvPr/>
          </p:nvSpPr>
          <p:spPr>
            <a:xfrm>
              <a:off x="358210" y="159728"/>
              <a:ext cx="468000" cy="468000"/>
            </a:xfrm>
            <a:prstGeom prst="ellipse">
              <a:avLst/>
            </a:prstGeom>
            <a:gradFill>
              <a:gsLst>
                <a:gs pos="0">
                  <a:srgbClr val="1C6299"/>
                </a:gs>
                <a:gs pos="100000">
                  <a:srgbClr val="5C307D">
                    <a:alpha val="9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6" name="文本框 55"/>
            <p:cNvSpPr txBox="1"/>
            <p:nvPr/>
          </p:nvSpPr>
          <p:spPr>
            <a:xfrm>
              <a:off x="230876" y="233483"/>
              <a:ext cx="67310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04</a:t>
              </a:r>
              <a:endParaRPr kumimoji="0" lang="zh-CN" altLang="en-US"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7" name="椭圆 56"/>
            <p:cNvSpPr/>
            <p:nvPr/>
          </p:nvSpPr>
          <p:spPr>
            <a:xfrm>
              <a:off x="178632" y="602993"/>
              <a:ext cx="176213" cy="176213"/>
            </a:xfrm>
            <a:prstGeom prst="ellipse">
              <a:avLst/>
            </a:prstGeom>
            <a:gradFill>
              <a:gsLst>
                <a:gs pos="0">
                  <a:srgbClr val="1C6299"/>
                </a:gs>
                <a:gs pos="100000">
                  <a:srgbClr val="5C307D">
                    <a:alpha val="90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59" name="文本框 58"/>
          <p:cNvSpPr txBox="1"/>
          <p:nvPr/>
        </p:nvSpPr>
        <p:spPr>
          <a:xfrm>
            <a:off x="660400" y="6583649"/>
            <a:ext cx="1941557"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自强不息 厚德载物</a:t>
            </a:r>
          </a:p>
        </p:txBody>
      </p:sp>
      <p:pic>
        <p:nvPicPr>
          <p:cNvPr id="61" name="图片 6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24913" y="176378"/>
            <a:ext cx="1897854" cy="555905"/>
          </a:xfrm>
          <a:prstGeom prst="rect">
            <a:avLst/>
          </a:prstGeom>
        </p:spPr>
      </p:pic>
      <p:sp>
        <p:nvSpPr>
          <p:cNvPr id="62" name="矩形 61"/>
          <p:cNvSpPr/>
          <p:nvPr/>
        </p:nvSpPr>
        <p:spPr>
          <a:xfrm>
            <a:off x="0" y="6570000"/>
            <a:ext cx="12192000" cy="288000"/>
          </a:xfrm>
          <a:prstGeom prst="rect">
            <a:avLst/>
          </a:prstGeom>
          <a:solidFill>
            <a:srgbClr val="1C629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63" name="文本框 62"/>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latin typeface="微软雅黑" panose="020B0503020204020204" pitchFamily="34" charset="-122"/>
                <a:ea typeface="微软雅黑" panose="020B0503020204020204" pitchFamily="34" charset="-122"/>
              </a:rPr>
              <a:t>知行合一、经世致用</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4" name="文本框 63"/>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latin typeface="Arial" panose="020B0604020202020204" pitchFamily="34" charset="0"/>
                <a:ea typeface="微软雅黑" panose="020B0503020204020204" pitchFamily="34" charset="-122"/>
                <a:cs typeface="Arial" panose="020B0604020202020204" pitchFamily="34" charset="0"/>
              </a:rPr>
              <a:t>Central South University</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pic>
        <p:nvPicPr>
          <p:cNvPr id="3" name="图片 2">
            <a:extLst>
              <a:ext uri="{FF2B5EF4-FFF2-40B4-BE49-F238E27FC236}">
                <a16:creationId xmlns:a16="http://schemas.microsoft.com/office/drawing/2014/main" id="{DF38CF33-FB11-4C0A-B7EA-42FF0BB9B5D1}"/>
              </a:ext>
            </a:extLst>
          </p:cNvPr>
          <p:cNvPicPr>
            <a:picLocks noChangeAspect="1"/>
          </p:cNvPicPr>
          <p:nvPr/>
        </p:nvPicPr>
        <p:blipFill>
          <a:blip r:embed="rId4"/>
          <a:stretch>
            <a:fillRect/>
          </a:stretch>
        </p:blipFill>
        <p:spPr>
          <a:xfrm>
            <a:off x="5433186" y="1307111"/>
            <a:ext cx="6085714" cy="4790476"/>
          </a:xfrm>
          <a:prstGeom prst="rect">
            <a:avLst/>
          </a:prstGeom>
        </p:spPr>
      </p:pic>
      <p:graphicFrame>
        <p:nvGraphicFramePr>
          <p:cNvPr id="7" name="表格 7">
            <a:extLst>
              <a:ext uri="{FF2B5EF4-FFF2-40B4-BE49-F238E27FC236}">
                <a16:creationId xmlns:a16="http://schemas.microsoft.com/office/drawing/2014/main" id="{89BE75BD-EC86-4D58-B1B0-5E582701BA4C}"/>
              </a:ext>
            </a:extLst>
          </p:cNvPr>
          <p:cNvGraphicFramePr>
            <a:graphicFrameLocks noGrp="1"/>
          </p:cNvGraphicFramePr>
          <p:nvPr>
            <p:extLst>
              <p:ext uri="{D42A27DB-BD31-4B8C-83A1-F6EECF244321}">
                <p14:modId xmlns:p14="http://schemas.microsoft.com/office/powerpoint/2010/main" val="751286077"/>
              </p:ext>
            </p:extLst>
          </p:nvPr>
        </p:nvGraphicFramePr>
        <p:xfrm>
          <a:off x="131252" y="2592374"/>
          <a:ext cx="5418666" cy="2494280"/>
        </p:xfrm>
        <a:graphic>
          <a:graphicData uri="http://schemas.openxmlformats.org/drawingml/2006/table">
            <a:tbl>
              <a:tblPr firstRow="1" bandRow="1">
                <a:tableStyleId>{74C1A8A3-306A-4EB7-A6B1-4F7E0EB9C5D6}</a:tableStyleId>
              </a:tblPr>
              <a:tblGrid>
                <a:gridCol w="2709333">
                  <a:extLst>
                    <a:ext uri="{9D8B030D-6E8A-4147-A177-3AD203B41FA5}">
                      <a16:colId xmlns:a16="http://schemas.microsoft.com/office/drawing/2014/main" val="898087537"/>
                    </a:ext>
                  </a:extLst>
                </a:gridCol>
                <a:gridCol w="2709333">
                  <a:extLst>
                    <a:ext uri="{9D8B030D-6E8A-4147-A177-3AD203B41FA5}">
                      <a16:colId xmlns:a16="http://schemas.microsoft.com/office/drawing/2014/main" val="54082960"/>
                    </a:ext>
                  </a:extLst>
                </a:gridCol>
              </a:tblGrid>
              <a:tr h="370840">
                <a:tc>
                  <a:txBody>
                    <a:bodyPr/>
                    <a:lstStyle/>
                    <a:p>
                      <a:pPr algn="ctr"/>
                      <a:r>
                        <a:rPr lang="en-US" altLang="zh-CN" dirty="0"/>
                        <a:t>Modality</a:t>
                      </a:r>
                      <a:endParaRPr lang="zh-CN" altLang="en-US" dirty="0"/>
                    </a:p>
                  </a:txBody>
                  <a:tcPr/>
                </a:tc>
                <a:tc>
                  <a:txBody>
                    <a:bodyPr/>
                    <a:lstStyle/>
                    <a:p>
                      <a:pPr algn="ctr"/>
                      <a:r>
                        <a:rPr lang="en-US" altLang="zh-CN" dirty="0"/>
                        <a:t>Large Modal</a:t>
                      </a:r>
                      <a:endParaRPr lang="zh-CN" altLang="en-US" dirty="0"/>
                    </a:p>
                  </a:txBody>
                  <a:tcPr/>
                </a:tc>
                <a:extLst>
                  <a:ext uri="{0D108BD9-81ED-4DB2-BD59-A6C34878D82A}">
                    <a16:rowId xmlns:a16="http://schemas.microsoft.com/office/drawing/2014/main" val="1613133967"/>
                  </a:ext>
                </a:extLst>
              </a:tr>
              <a:tr h="370840">
                <a:tc>
                  <a:txBody>
                    <a:bodyPr/>
                    <a:lstStyle/>
                    <a:p>
                      <a:pPr algn="ctr"/>
                      <a:r>
                        <a:rPr lang="en-US" altLang="zh-CN" dirty="0"/>
                        <a:t>X-Ray</a:t>
                      </a:r>
                    </a:p>
                  </a:txBody>
                  <a:tcPr/>
                </a:tc>
                <a:tc>
                  <a:txBody>
                    <a:bodyPr/>
                    <a:lstStyle/>
                    <a:p>
                      <a:pPr algn="ctr"/>
                      <a:r>
                        <a:rPr lang="en-US" altLang="zh-CN" dirty="0"/>
                        <a:t>DinoV2</a:t>
                      </a:r>
                      <a:endParaRPr lang="zh-CN" altLang="en-US" dirty="0"/>
                    </a:p>
                  </a:txBody>
                  <a:tcPr/>
                </a:tc>
                <a:extLst>
                  <a:ext uri="{0D108BD9-81ED-4DB2-BD59-A6C34878D82A}">
                    <a16:rowId xmlns:a16="http://schemas.microsoft.com/office/drawing/2014/main" val="1744161549"/>
                  </a:ext>
                </a:extLst>
              </a:tr>
              <a:tr h="370840">
                <a:tc>
                  <a:txBody>
                    <a:bodyPr/>
                    <a:lstStyle/>
                    <a:p>
                      <a:pPr algn="ctr"/>
                      <a:r>
                        <a:rPr lang="en-US" altLang="zh-CN" dirty="0"/>
                        <a:t>CT</a:t>
                      </a:r>
                      <a:endParaRPr lang="zh-CN" altLang="en-US" dirty="0"/>
                    </a:p>
                  </a:txBody>
                  <a:tcPr/>
                </a:tc>
                <a:tc>
                  <a:txBody>
                    <a:bodyPr/>
                    <a:lstStyle/>
                    <a:p>
                      <a:pPr algn="ctr"/>
                      <a:r>
                        <a:rPr lang="en-US" altLang="zh-CN" dirty="0"/>
                        <a:t>Merlin</a:t>
                      </a:r>
                      <a:endParaRPr lang="zh-CN" altLang="en-US" dirty="0"/>
                    </a:p>
                  </a:txBody>
                  <a:tcPr/>
                </a:tc>
                <a:extLst>
                  <a:ext uri="{0D108BD9-81ED-4DB2-BD59-A6C34878D82A}">
                    <a16:rowId xmlns:a16="http://schemas.microsoft.com/office/drawing/2014/main" val="2613056827"/>
                  </a:ext>
                </a:extLst>
              </a:tr>
              <a:tr h="370840">
                <a:tc>
                  <a:txBody>
                    <a:bodyPr/>
                    <a:lstStyle/>
                    <a:p>
                      <a:pPr algn="ctr"/>
                      <a:r>
                        <a:rPr lang="en-US" altLang="zh-CN" dirty="0"/>
                        <a:t>WSI</a:t>
                      </a:r>
                      <a:endParaRPr lang="zh-CN" altLang="en-US" dirty="0"/>
                    </a:p>
                  </a:txBody>
                  <a:tcPr/>
                </a:tc>
                <a:tc>
                  <a:txBody>
                    <a:bodyPr/>
                    <a:lstStyle/>
                    <a:p>
                      <a:pPr algn="ctr"/>
                      <a:r>
                        <a:rPr lang="en-US" altLang="zh-CN" dirty="0"/>
                        <a:t>CLAM-preprocessed </a:t>
                      </a:r>
                    </a:p>
                    <a:p>
                      <a:pPr algn="ctr"/>
                      <a:r>
                        <a:rPr lang="en-US" altLang="zh-CN" dirty="0"/>
                        <a:t>UNI-extracted</a:t>
                      </a:r>
                      <a:endParaRPr lang="zh-CN" altLang="en-US" dirty="0"/>
                    </a:p>
                  </a:txBody>
                  <a:tcPr/>
                </a:tc>
                <a:extLst>
                  <a:ext uri="{0D108BD9-81ED-4DB2-BD59-A6C34878D82A}">
                    <a16:rowId xmlns:a16="http://schemas.microsoft.com/office/drawing/2014/main" val="2584474761"/>
                  </a:ext>
                </a:extLst>
              </a:tr>
              <a:tr h="370840">
                <a:tc>
                  <a:txBody>
                    <a:bodyPr/>
                    <a:lstStyle/>
                    <a:p>
                      <a:pPr algn="ctr"/>
                      <a:r>
                        <a:rPr lang="en-US" altLang="zh-CN" dirty="0"/>
                        <a:t>Time Series</a:t>
                      </a:r>
                      <a:endParaRPr lang="zh-CN" altLang="en-US" dirty="0"/>
                    </a:p>
                  </a:txBody>
                  <a:tcPr/>
                </a:tc>
                <a:tc>
                  <a:txBody>
                    <a:bodyPr/>
                    <a:lstStyle/>
                    <a:p>
                      <a:pPr algn="ctr"/>
                      <a:r>
                        <a:rPr lang="en-US" altLang="zh-CN" dirty="0"/>
                        <a:t>MOIRAI</a:t>
                      </a:r>
                      <a:endParaRPr lang="zh-CN" altLang="en-US" dirty="0"/>
                    </a:p>
                  </a:txBody>
                  <a:tcPr/>
                </a:tc>
                <a:extLst>
                  <a:ext uri="{0D108BD9-81ED-4DB2-BD59-A6C34878D82A}">
                    <a16:rowId xmlns:a16="http://schemas.microsoft.com/office/drawing/2014/main" val="4261857879"/>
                  </a:ext>
                </a:extLst>
              </a:tr>
              <a:tr h="370840">
                <a:tc>
                  <a:txBody>
                    <a:bodyPr/>
                    <a:lstStyle/>
                    <a:p>
                      <a:pPr algn="ctr"/>
                      <a:r>
                        <a:rPr lang="en-US" altLang="zh-CN" dirty="0"/>
                        <a:t>Text/Table</a:t>
                      </a:r>
                      <a:endParaRPr lang="zh-CN" altLang="en-US" dirty="0"/>
                    </a:p>
                  </a:txBody>
                  <a:tcPr/>
                </a:tc>
                <a:tc>
                  <a:txBody>
                    <a:bodyPr/>
                    <a:lstStyle/>
                    <a:p>
                      <a:pPr algn="ctr"/>
                      <a:r>
                        <a:rPr lang="en-US" altLang="zh-CN" dirty="0"/>
                        <a:t>MeLlama-13B</a:t>
                      </a:r>
                      <a:endParaRPr lang="zh-CN" altLang="en-US" dirty="0"/>
                    </a:p>
                  </a:txBody>
                  <a:tcPr/>
                </a:tc>
                <a:extLst>
                  <a:ext uri="{0D108BD9-81ED-4DB2-BD59-A6C34878D82A}">
                    <a16:rowId xmlns:a16="http://schemas.microsoft.com/office/drawing/2014/main" val="2499903819"/>
                  </a:ext>
                </a:extLst>
              </a:tr>
            </a:tbl>
          </a:graphicData>
        </a:graphic>
      </p:graphicFrame>
    </p:spTree>
    <p:extLst>
      <p:ext uri="{BB962C8B-B14F-4D97-AF65-F5344CB8AC3E}">
        <p14:creationId xmlns:p14="http://schemas.microsoft.com/office/powerpoint/2010/main" val="3389779421"/>
      </p:ext>
    </p:extLst>
  </p:cSld>
  <p:clrMapOvr>
    <a:masterClrMapping/>
  </p:clrMapOvr>
  <p:transition spd="slow" advClick="0" advTm="1000">
    <p:randomBar dir="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1" name="直接连接符 50"/>
          <p:cNvCxnSpPr/>
          <p:nvPr/>
        </p:nvCxnSpPr>
        <p:spPr>
          <a:xfrm>
            <a:off x="660400" y="760413"/>
            <a:ext cx="10858500" cy="0"/>
          </a:xfrm>
          <a:prstGeom prst="line">
            <a:avLst/>
          </a:prstGeom>
          <a:noFill/>
          <a:ln w="22225" cap="flat" cmpd="sng" algn="ctr">
            <a:solidFill>
              <a:srgbClr val="1C6299"/>
            </a:solidFill>
            <a:prstDash val="solid"/>
            <a:miter lim="800000"/>
          </a:ln>
          <a:effectLst/>
        </p:spPr>
      </p:cxnSp>
      <p:sp>
        <p:nvSpPr>
          <p:cNvPr id="52" name="标题占位符 1"/>
          <p:cNvSpPr txBox="1"/>
          <p:nvPr/>
        </p:nvSpPr>
        <p:spPr>
          <a:xfrm>
            <a:off x="965200" y="-100014"/>
            <a:ext cx="5435600" cy="817564"/>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lang="en-US" altLang="zh-CN" sz="2600" b="1" dirty="0">
                <a:solidFill>
                  <a:sysClr val="windowText" lastClr="000000"/>
                </a:solidFill>
                <a:latin typeface="Arial" panose="020B0604020202020204"/>
                <a:ea typeface="微软雅黑" panose="020B0503020204020204" pitchFamily="34" charset="-122"/>
              </a:rPr>
              <a:t>Experiment</a:t>
            </a:r>
            <a:endParaRPr kumimoji="0" lang="zh-CN" altLang="en-US" sz="2600" b="1" i="0" u="none" strike="noStrike" kern="1200" cap="none" spc="0" normalizeH="0" baseline="0" noProof="0" dirty="0">
              <a:ln>
                <a:noFill/>
              </a:ln>
              <a:solidFill>
                <a:sysClr val="windowText" lastClr="000000"/>
              </a:solidFill>
              <a:effectLst/>
              <a:uLnTx/>
              <a:uFillTx/>
              <a:latin typeface="Arial" panose="020B0604020202020204"/>
              <a:ea typeface="微软雅黑" panose="020B0503020204020204" pitchFamily="34" charset="-122"/>
              <a:cs typeface="+mj-cs"/>
            </a:endParaRPr>
          </a:p>
        </p:txBody>
      </p:sp>
      <p:grpSp>
        <p:nvGrpSpPr>
          <p:cNvPr id="54" name="组合 53"/>
          <p:cNvGrpSpPr/>
          <p:nvPr/>
        </p:nvGrpSpPr>
        <p:grpSpPr>
          <a:xfrm>
            <a:off x="203760" y="159728"/>
            <a:ext cx="725344" cy="619478"/>
            <a:chOff x="178632" y="159728"/>
            <a:chExt cx="725344" cy="619478"/>
          </a:xfrm>
        </p:grpSpPr>
        <p:sp>
          <p:nvSpPr>
            <p:cNvPr id="55" name="椭圆 54"/>
            <p:cNvSpPr/>
            <p:nvPr/>
          </p:nvSpPr>
          <p:spPr>
            <a:xfrm>
              <a:off x="358210" y="159728"/>
              <a:ext cx="468000" cy="468000"/>
            </a:xfrm>
            <a:prstGeom prst="ellipse">
              <a:avLst/>
            </a:prstGeom>
            <a:gradFill>
              <a:gsLst>
                <a:gs pos="0">
                  <a:srgbClr val="1C6299"/>
                </a:gs>
                <a:gs pos="100000">
                  <a:srgbClr val="5C307D">
                    <a:alpha val="9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6" name="文本框 55"/>
            <p:cNvSpPr txBox="1"/>
            <p:nvPr/>
          </p:nvSpPr>
          <p:spPr>
            <a:xfrm>
              <a:off x="230876" y="233483"/>
              <a:ext cx="67310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04</a:t>
              </a:r>
              <a:endParaRPr kumimoji="0" lang="zh-CN" altLang="en-US"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7" name="椭圆 56"/>
            <p:cNvSpPr/>
            <p:nvPr/>
          </p:nvSpPr>
          <p:spPr>
            <a:xfrm>
              <a:off x="178632" y="602993"/>
              <a:ext cx="176213" cy="176213"/>
            </a:xfrm>
            <a:prstGeom prst="ellipse">
              <a:avLst/>
            </a:prstGeom>
            <a:gradFill>
              <a:gsLst>
                <a:gs pos="0">
                  <a:srgbClr val="1C6299"/>
                </a:gs>
                <a:gs pos="100000">
                  <a:srgbClr val="5C307D">
                    <a:alpha val="90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59" name="文本框 58"/>
          <p:cNvSpPr txBox="1"/>
          <p:nvPr/>
        </p:nvSpPr>
        <p:spPr>
          <a:xfrm>
            <a:off x="660400" y="6583649"/>
            <a:ext cx="1941557"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自强不息 厚德载物</a:t>
            </a:r>
          </a:p>
        </p:txBody>
      </p:sp>
      <p:pic>
        <p:nvPicPr>
          <p:cNvPr id="61" name="图片 6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24913" y="176378"/>
            <a:ext cx="1897854" cy="555905"/>
          </a:xfrm>
          <a:prstGeom prst="rect">
            <a:avLst/>
          </a:prstGeom>
        </p:spPr>
      </p:pic>
      <p:sp>
        <p:nvSpPr>
          <p:cNvPr id="62" name="矩形 61"/>
          <p:cNvSpPr/>
          <p:nvPr/>
        </p:nvSpPr>
        <p:spPr>
          <a:xfrm>
            <a:off x="0" y="6570000"/>
            <a:ext cx="12192000" cy="288000"/>
          </a:xfrm>
          <a:prstGeom prst="rect">
            <a:avLst/>
          </a:prstGeom>
          <a:solidFill>
            <a:srgbClr val="1C629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63" name="文本框 62"/>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latin typeface="微软雅黑" panose="020B0503020204020204" pitchFamily="34" charset="-122"/>
                <a:ea typeface="微软雅黑" panose="020B0503020204020204" pitchFamily="34" charset="-122"/>
              </a:rPr>
              <a:t>知行合一、经世致用</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4" name="文本框 63"/>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latin typeface="Arial" panose="020B0604020202020204" pitchFamily="34" charset="0"/>
                <a:ea typeface="微软雅黑" panose="020B0503020204020204" pitchFamily="34" charset="-122"/>
                <a:cs typeface="Arial" panose="020B0604020202020204" pitchFamily="34" charset="0"/>
              </a:rPr>
              <a:t>Central South University</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pic>
        <p:nvPicPr>
          <p:cNvPr id="4" name="图片 3">
            <a:extLst>
              <a:ext uri="{FF2B5EF4-FFF2-40B4-BE49-F238E27FC236}">
                <a16:creationId xmlns:a16="http://schemas.microsoft.com/office/drawing/2014/main" id="{F8DD00EA-3B8D-4C5E-A7B5-3B41312C2604}"/>
              </a:ext>
            </a:extLst>
          </p:cNvPr>
          <p:cNvPicPr>
            <a:picLocks noChangeAspect="1"/>
          </p:cNvPicPr>
          <p:nvPr/>
        </p:nvPicPr>
        <p:blipFill>
          <a:blip r:embed="rId4"/>
          <a:stretch>
            <a:fillRect/>
          </a:stretch>
        </p:blipFill>
        <p:spPr>
          <a:xfrm>
            <a:off x="486419" y="969084"/>
            <a:ext cx="10951116" cy="5411039"/>
          </a:xfrm>
          <a:prstGeom prst="rect">
            <a:avLst/>
          </a:prstGeom>
        </p:spPr>
      </p:pic>
    </p:spTree>
    <p:extLst>
      <p:ext uri="{BB962C8B-B14F-4D97-AF65-F5344CB8AC3E}">
        <p14:creationId xmlns:p14="http://schemas.microsoft.com/office/powerpoint/2010/main" val="3737080394"/>
      </p:ext>
    </p:extLst>
  </p:cSld>
  <p:clrMapOvr>
    <a:masterClrMapping/>
  </p:clrMapOvr>
  <p:transition spd="slow" advClick="0" advTm="1000">
    <p:randomBar dir="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1" name="直接连接符 50"/>
          <p:cNvCxnSpPr/>
          <p:nvPr/>
        </p:nvCxnSpPr>
        <p:spPr>
          <a:xfrm>
            <a:off x="660400" y="760413"/>
            <a:ext cx="10858500" cy="0"/>
          </a:xfrm>
          <a:prstGeom prst="line">
            <a:avLst/>
          </a:prstGeom>
          <a:noFill/>
          <a:ln w="22225" cap="flat" cmpd="sng" algn="ctr">
            <a:solidFill>
              <a:srgbClr val="1C6299"/>
            </a:solidFill>
            <a:prstDash val="solid"/>
            <a:miter lim="800000"/>
          </a:ln>
          <a:effectLst/>
        </p:spPr>
      </p:cxnSp>
      <p:sp>
        <p:nvSpPr>
          <p:cNvPr id="52" name="标题占位符 1"/>
          <p:cNvSpPr txBox="1"/>
          <p:nvPr/>
        </p:nvSpPr>
        <p:spPr>
          <a:xfrm>
            <a:off x="965200" y="-100014"/>
            <a:ext cx="5435600" cy="817564"/>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lang="en-US" altLang="zh-CN" sz="2600" b="1" dirty="0">
                <a:solidFill>
                  <a:sysClr val="windowText" lastClr="000000"/>
                </a:solidFill>
                <a:latin typeface="Arial" panose="020B0604020202020204"/>
                <a:ea typeface="微软雅黑" panose="020B0503020204020204" pitchFamily="34" charset="-122"/>
              </a:rPr>
              <a:t>Experiment</a:t>
            </a:r>
            <a:endParaRPr kumimoji="0" lang="zh-CN" altLang="en-US" sz="2600" b="1" i="0" u="none" strike="noStrike" kern="1200" cap="none" spc="0" normalizeH="0" baseline="0" noProof="0" dirty="0">
              <a:ln>
                <a:noFill/>
              </a:ln>
              <a:solidFill>
                <a:sysClr val="windowText" lastClr="000000"/>
              </a:solidFill>
              <a:effectLst/>
              <a:uLnTx/>
              <a:uFillTx/>
              <a:latin typeface="Arial" panose="020B0604020202020204"/>
              <a:ea typeface="微软雅黑" panose="020B0503020204020204" pitchFamily="34" charset="-122"/>
              <a:cs typeface="+mj-cs"/>
            </a:endParaRPr>
          </a:p>
        </p:txBody>
      </p:sp>
      <p:grpSp>
        <p:nvGrpSpPr>
          <p:cNvPr id="54" name="组合 53"/>
          <p:cNvGrpSpPr/>
          <p:nvPr/>
        </p:nvGrpSpPr>
        <p:grpSpPr>
          <a:xfrm>
            <a:off x="203760" y="159728"/>
            <a:ext cx="725344" cy="619478"/>
            <a:chOff x="178632" y="159728"/>
            <a:chExt cx="725344" cy="619478"/>
          </a:xfrm>
        </p:grpSpPr>
        <p:sp>
          <p:nvSpPr>
            <p:cNvPr id="55" name="椭圆 54"/>
            <p:cNvSpPr/>
            <p:nvPr/>
          </p:nvSpPr>
          <p:spPr>
            <a:xfrm>
              <a:off x="358210" y="159728"/>
              <a:ext cx="468000" cy="468000"/>
            </a:xfrm>
            <a:prstGeom prst="ellipse">
              <a:avLst/>
            </a:prstGeom>
            <a:gradFill>
              <a:gsLst>
                <a:gs pos="0">
                  <a:srgbClr val="1C6299"/>
                </a:gs>
                <a:gs pos="100000">
                  <a:srgbClr val="5C307D">
                    <a:alpha val="9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6" name="文本框 55"/>
            <p:cNvSpPr txBox="1"/>
            <p:nvPr/>
          </p:nvSpPr>
          <p:spPr>
            <a:xfrm>
              <a:off x="230876" y="233483"/>
              <a:ext cx="67310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04</a:t>
              </a:r>
              <a:endParaRPr kumimoji="0" lang="zh-CN" altLang="en-US"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7" name="椭圆 56"/>
            <p:cNvSpPr/>
            <p:nvPr/>
          </p:nvSpPr>
          <p:spPr>
            <a:xfrm>
              <a:off x="178632" y="602993"/>
              <a:ext cx="176213" cy="176213"/>
            </a:xfrm>
            <a:prstGeom prst="ellipse">
              <a:avLst/>
            </a:prstGeom>
            <a:gradFill>
              <a:gsLst>
                <a:gs pos="0">
                  <a:srgbClr val="1C6299"/>
                </a:gs>
                <a:gs pos="100000">
                  <a:srgbClr val="5C307D">
                    <a:alpha val="90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59" name="文本框 58"/>
          <p:cNvSpPr txBox="1"/>
          <p:nvPr/>
        </p:nvSpPr>
        <p:spPr>
          <a:xfrm>
            <a:off x="660400" y="6583649"/>
            <a:ext cx="1941557"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自强不息 厚德载物</a:t>
            </a:r>
          </a:p>
        </p:txBody>
      </p:sp>
      <p:pic>
        <p:nvPicPr>
          <p:cNvPr id="61" name="图片 6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24913" y="176378"/>
            <a:ext cx="1897854" cy="555905"/>
          </a:xfrm>
          <a:prstGeom prst="rect">
            <a:avLst/>
          </a:prstGeom>
        </p:spPr>
      </p:pic>
      <p:sp>
        <p:nvSpPr>
          <p:cNvPr id="62" name="矩形 61"/>
          <p:cNvSpPr/>
          <p:nvPr/>
        </p:nvSpPr>
        <p:spPr>
          <a:xfrm>
            <a:off x="0" y="6570000"/>
            <a:ext cx="12192000" cy="288000"/>
          </a:xfrm>
          <a:prstGeom prst="rect">
            <a:avLst/>
          </a:prstGeom>
          <a:solidFill>
            <a:srgbClr val="1C629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63" name="文本框 62"/>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latin typeface="微软雅黑" panose="020B0503020204020204" pitchFamily="34" charset="-122"/>
                <a:ea typeface="微软雅黑" panose="020B0503020204020204" pitchFamily="34" charset="-122"/>
              </a:rPr>
              <a:t>知行合一、经世致用</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4" name="文本框 63"/>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latin typeface="Arial" panose="020B0604020202020204" pitchFamily="34" charset="0"/>
                <a:ea typeface="微软雅黑" panose="020B0503020204020204" pitchFamily="34" charset="-122"/>
                <a:cs typeface="Arial" panose="020B0604020202020204" pitchFamily="34" charset="0"/>
              </a:rPr>
              <a:t>Central South University</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pic>
        <p:nvPicPr>
          <p:cNvPr id="3" name="图片 2">
            <a:extLst>
              <a:ext uri="{FF2B5EF4-FFF2-40B4-BE49-F238E27FC236}">
                <a16:creationId xmlns:a16="http://schemas.microsoft.com/office/drawing/2014/main" id="{E99DA8F8-B38B-483D-93B0-10C2301DCE91}"/>
              </a:ext>
            </a:extLst>
          </p:cNvPr>
          <p:cNvPicPr>
            <a:picLocks noChangeAspect="1"/>
          </p:cNvPicPr>
          <p:nvPr/>
        </p:nvPicPr>
        <p:blipFill>
          <a:blip r:embed="rId4"/>
          <a:stretch>
            <a:fillRect/>
          </a:stretch>
        </p:blipFill>
        <p:spPr>
          <a:xfrm>
            <a:off x="1230259" y="920659"/>
            <a:ext cx="9150020" cy="5612859"/>
          </a:xfrm>
          <a:prstGeom prst="rect">
            <a:avLst/>
          </a:prstGeom>
        </p:spPr>
      </p:pic>
    </p:spTree>
    <p:extLst>
      <p:ext uri="{BB962C8B-B14F-4D97-AF65-F5344CB8AC3E}">
        <p14:creationId xmlns:p14="http://schemas.microsoft.com/office/powerpoint/2010/main" val="3392830525"/>
      </p:ext>
    </p:extLst>
  </p:cSld>
  <p:clrMapOvr>
    <a:masterClrMapping/>
  </p:clrMapOvr>
  <p:transition spd="slow" advClick="0" advTm="1000">
    <p:randomBar dir="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1" name="直接连接符 50"/>
          <p:cNvCxnSpPr/>
          <p:nvPr/>
        </p:nvCxnSpPr>
        <p:spPr>
          <a:xfrm>
            <a:off x="660400" y="760413"/>
            <a:ext cx="10858500" cy="0"/>
          </a:xfrm>
          <a:prstGeom prst="line">
            <a:avLst/>
          </a:prstGeom>
          <a:noFill/>
          <a:ln w="22225" cap="flat" cmpd="sng" algn="ctr">
            <a:solidFill>
              <a:srgbClr val="1C6299"/>
            </a:solidFill>
            <a:prstDash val="solid"/>
            <a:miter lim="800000"/>
          </a:ln>
          <a:effectLst/>
        </p:spPr>
      </p:cxnSp>
      <p:sp>
        <p:nvSpPr>
          <p:cNvPr id="52" name="标题占位符 1"/>
          <p:cNvSpPr txBox="1"/>
          <p:nvPr/>
        </p:nvSpPr>
        <p:spPr>
          <a:xfrm>
            <a:off x="965200" y="-100014"/>
            <a:ext cx="5435600" cy="817564"/>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lang="en-US" altLang="zh-CN" sz="2600" b="1" dirty="0">
                <a:solidFill>
                  <a:sysClr val="windowText" lastClr="000000"/>
                </a:solidFill>
                <a:latin typeface="Arial" panose="020B0604020202020204"/>
                <a:ea typeface="微软雅黑" panose="020B0503020204020204" pitchFamily="34" charset="-122"/>
              </a:rPr>
              <a:t>Experiment</a:t>
            </a:r>
            <a:endParaRPr kumimoji="0" lang="zh-CN" altLang="en-US" sz="2600" b="1" i="0" u="none" strike="noStrike" kern="1200" cap="none" spc="0" normalizeH="0" baseline="0" noProof="0" dirty="0">
              <a:ln>
                <a:noFill/>
              </a:ln>
              <a:solidFill>
                <a:sysClr val="windowText" lastClr="000000"/>
              </a:solidFill>
              <a:effectLst/>
              <a:uLnTx/>
              <a:uFillTx/>
              <a:latin typeface="Arial" panose="020B0604020202020204"/>
              <a:ea typeface="微软雅黑" panose="020B0503020204020204" pitchFamily="34" charset="-122"/>
              <a:cs typeface="+mj-cs"/>
            </a:endParaRPr>
          </a:p>
        </p:txBody>
      </p:sp>
      <p:grpSp>
        <p:nvGrpSpPr>
          <p:cNvPr id="54" name="组合 53"/>
          <p:cNvGrpSpPr/>
          <p:nvPr/>
        </p:nvGrpSpPr>
        <p:grpSpPr>
          <a:xfrm>
            <a:off x="203760" y="159728"/>
            <a:ext cx="725344" cy="619478"/>
            <a:chOff x="178632" y="159728"/>
            <a:chExt cx="725344" cy="619478"/>
          </a:xfrm>
        </p:grpSpPr>
        <p:sp>
          <p:nvSpPr>
            <p:cNvPr id="55" name="椭圆 54"/>
            <p:cNvSpPr/>
            <p:nvPr/>
          </p:nvSpPr>
          <p:spPr>
            <a:xfrm>
              <a:off x="358210" y="159728"/>
              <a:ext cx="468000" cy="468000"/>
            </a:xfrm>
            <a:prstGeom prst="ellipse">
              <a:avLst/>
            </a:prstGeom>
            <a:gradFill>
              <a:gsLst>
                <a:gs pos="0">
                  <a:srgbClr val="1C6299"/>
                </a:gs>
                <a:gs pos="100000">
                  <a:srgbClr val="5C307D">
                    <a:alpha val="9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6" name="文本框 55"/>
            <p:cNvSpPr txBox="1"/>
            <p:nvPr/>
          </p:nvSpPr>
          <p:spPr>
            <a:xfrm>
              <a:off x="230876" y="233483"/>
              <a:ext cx="67310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04</a:t>
              </a:r>
              <a:endParaRPr kumimoji="0" lang="zh-CN" altLang="en-US"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7" name="椭圆 56"/>
            <p:cNvSpPr/>
            <p:nvPr/>
          </p:nvSpPr>
          <p:spPr>
            <a:xfrm>
              <a:off x="178632" y="602993"/>
              <a:ext cx="176213" cy="176213"/>
            </a:xfrm>
            <a:prstGeom prst="ellipse">
              <a:avLst/>
            </a:prstGeom>
            <a:gradFill>
              <a:gsLst>
                <a:gs pos="0">
                  <a:srgbClr val="1C6299"/>
                </a:gs>
                <a:gs pos="100000">
                  <a:srgbClr val="5C307D">
                    <a:alpha val="90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59" name="文本框 58"/>
          <p:cNvSpPr txBox="1"/>
          <p:nvPr/>
        </p:nvSpPr>
        <p:spPr>
          <a:xfrm>
            <a:off x="660400" y="6583649"/>
            <a:ext cx="1941557"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自强不息 厚德载物</a:t>
            </a:r>
          </a:p>
        </p:txBody>
      </p:sp>
      <p:pic>
        <p:nvPicPr>
          <p:cNvPr id="61" name="图片 6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24913" y="176378"/>
            <a:ext cx="1897854" cy="555905"/>
          </a:xfrm>
          <a:prstGeom prst="rect">
            <a:avLst/>
          </a:prstGeom>
        </p:spPr>
      </p:pic>
      <p:sp>
        <p:nvSpPr>
          <p:cNvPr id="62" name="矩形 61"/>
          <p:cNvSpPr/>
          <p:nvPr/>
        </p:nvSpPr>
        <p:spPr>
          <a:xfrm>
            <a:off x="0" y="6570000"/>
            <a:ext cx="12192000" cy="288000"/>
          </a:xfrm>
          <a:prstGeom prst="rect">
            <a:avLst/>
          </a:prstGeom>
          <a:solidFill>
            <a:srgbClr val="1C629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63" name="文本框 62"/>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latin typeface="微软雅黑" panose="020B0503020204020204" pitchFamily="34" charset="-122"/>
                <a:ea typeface="微软雅黑" panose="020B0503020204020204" pitchFamily="34" charset="-122"/>
              </a:rPr>
              <a:t>知行合一、经世致用</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4" name="文本框 63"/>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latin typeface="Arial" panose="020B0604020202020204" pitchFamily="34" charset="0"/>
                <a:ea typeface="微软雅黑" panose="020B0503020204020204" pitchFamily="34" charset="-122"/>
                <a:cs typeface="Arial" panose="020B0604020202020204" pitchFamily="34" charset="0"/>
              </a:rPr>
              <a:t>Central South University</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pic>
        <p:nvPicPr>
          <p:cNvPr id="4" name="图片 3">
            <a:extLst>
              <a:ext uri="{FF2B5EF4-FFF2-40B4-BE49-F238E27FC236}">
                <a16:creationId xmlns:a16="http://schemas.microsoft.com/office/drawing/2014/main" id="{3D5F3291-1069-4E98-8874-C18251F8AF5B}"/>
              </a:ext>
            </a:extLst>
          </p:cNvPr>
          <p:cNvPicPr>
            <a:picLocks noChangeAspect="1"/>
          </p:cNvPicPr>
          <p:nvPr/>
        </p:nvPicPr>
        <p:blipFill>
          <a:blip r:embed="rId4"/>
          <a:stretch>
            <a:fillRect/>
          </a:stretch>
        </p:blipFill>
        <p:spPr>
          <a:xfrm>
            <a:off x="1122983" y="1065079"/>
            <a:ext cx="9933333" cy="5219048"/>
          </a:xfrm>
          <a:prstGeom prst="rect">
            <a:avLst/>
          </a:prstGeom>
        </p:spPr>
      </p:pic>
    </p:spTree>
    <p:extLst>
      <p:ext uri="{BB962C8B-B14F-4D97-AF65-F5344CB8AC3E}">
        <p14:creationId xmlns:p14="http://schemas.microsoft.com/office/powerpoint/2010/main" val="2157600301"/>
      </p:ext>
    </p:extLst>
  </p:cSld>
  <p:clrMapOvr>
    <a:masterClrMapping/>
  </p:clrMapOvr>
  <p:transition spd="slow" advClick="0" advTm="1000">
    <p:randomBar dir="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hape 7">
            <a:extLst>
              <a:ext uri="{FF2B5EF4-FFF2-40B4-BE49-F238E27FC236}">
                <a16:creationId xmlns:a16="http://schemas.microsoft.com/office/drawing/2014/main" id="{95C50565-68EC-4FE9-9047-2BAD31EDD484}"/>
              </a:ext>
            </a:extLst>
          </p:cNvPr>
          <p:cNvSpPr/>
          <p:nvPr/>
        </p:nvSpPr>
        <p:spPr>
          <a:xfrm>
            <a:off x="6433645" y="2232800"/>
            <a:ext cx="4854316" cy="3507432"/>
          </a:xfrm>
          <a:custGeom>
            <a:avLst/>
            <a:gdLst/>
            <a:ahLst/>
            <a:cxnLst/>
            <a:rect l="l" t="t" r="r" b="b"/>
            <a:pathLst>
              <a:path w="5689600" h="2336800">
                <a:moveTo>
                  <a:pt x="101604" y="0"/>
                </a:moveTo>
                <a:lnTo>
                  <a:pt x="5587996" y="0"/>
                </a:lnTo>
                <a:cubicBezTo>
                  <a:pt x="5644110" y="0"/>
                  <a:pt x="5689600" y="45490"/>
                  <a:pt x="5689600" y="101604"/>
                </a:cubicBezTo>
                <a:lnTo>
                  <a:pt x="5689600" y="2235196"/>
                </a:lnTo>
                <a:cubicBezTo>
                  <a:pt x="5689600" y="2291310"/>
                  <a:pt x="5644110" y="2336800"/>
                  <a:pt x="5587996" y="2336800"/>
                </a:cubicBezTo>
                <a:lnTo>
                  <a:pt x="101604" y="2336800"/>
                </a:lnTo>
                <a:cubicBezTo>
                  <a:pt x="45490" y="2336800"/>
                  <a:pt x="0" y="2291310"/>
                  <a:pt x="0" y="2235196"/>
                </a:cubicBezTo>
                <a:lnTo>
                  <a:pt x="0" y="101604"/>
                </a:lnTo>
                <a:cubicBezTo>
                  <a:pt x="0" y="45527"/>
                  <a:pt x="45527" y="0"/>
                  <a:pt x="101604" y="0"/>
                </a:cubicBezTo>
                <a:close/>
              </a:path>
            </a:pathLst>
          </a:custGeom>
          <a:solidFill>
            <a:schemeClr val="accent5">
              <a:lumMod val="60000"/>
              <a:lumOff val="40000"/>
              <a:alpha val="20000"/>
            </a:schemeClr>
          </a:solidFill>
          <a:ln/>
        </p:spPr>
        <p:txBody>
          <a:bodyPr/>
          <a:lstStyle/>
          <a:p>
            <a:endParaRPr lang="zh-CN" altLang="en-US" dirty="0"/>
          </a:p>
        </p:txBody>
      </p:sp>
      <p:sp>
        <p:nvSpPr>
          <p:cNvPr id="18" name="Shape 1">
            <a:extLst>
              <a:ext uri="{FF2B5EF4-FFF2-40B4-BE49-F238E27FC236}">
                <a16:creationId xmlns:a16="http://schemas.microsoft.com/office/drawing/2014/main" id="{CF17DD60-625E-4A1E-9E81-5034B544B225}"/>
              </a:ext>
            </a:extLst>
          </p:cNvPr>
          <p:cNvSpPr/>
          <p:nvPr/>
        </p:nvSpPr>
        <p:spPr>
          <a:xfrm>
            <a:off x="521804" y="2232798"/>
            <a:ext cx="4854316" cy="3507421"/>
          </a:xfrm>
          <a:custGeom>
            <a:avLst/>
            <a:gdLst/>
            <a:ahLst/>
            <a:cxnLst/>
            <a:rect l="l" t="t" r="r" b="b"/>
            <a:pathLst>
              <a:path w="5689600" h="2336800">
                <a:moveTo>
                  <a:pt x="101604" y="0"/>
                </a:moveTo>
                <a:lnTo>
                  <a:pt x="5587996" y="0"/>
                </a:lnTo>
                <a:cubicBezTo>
                  <a:pt x="5644110" y="0"/>
                  <a:pt x="5689600" y="45490"/>
                  <a:pt x="5689600" y="101604"/>
                </a:cubicBezTo>
                <a:lnTo>
                  <a:pt x="5689600" y="2235196"/>
                </a:lnTo>
                <a:cubicBezTo>
                  <a:pt x="5689600" y="2291310"/>
                  <a:pt x="5644110" y="2336800"/>
                  <a:pt x="5587996" y="2336800"/>
                </a:cubicBezTo>
                <a:lnTo>
                  <a:pt x="101604" y="2336800"/>
                </a:lnTo>
                <a:cubicBezTo>
                  <a:pt x="45490" y="2336800"/>
                  <a:pt x="0" y="2291310"/>
                  <a:pt x="0" y="2235196"/>
                </a:cubicBezTo>
                <a:lnTo>
                  <a:pt x="0" y="101604"/>
                </a:lnTo>
                <a:cubicBezTo>
                  <a:pt x="0" y="45527"/>
                  <a:pt x="45527" y="0"/>
                  <a:pt x="101604" y="0"/>
                </a:cubicBezTo>
                <a:close/>
              </a:path>
            </a:pathLst>
          </a:custGeom>
          <a:solidFill>
            <a:schemeClr val="accent5">
              <a:lumMod val="60000"/>
              <a:lumOff val="40000"/>
              <a:alpha val="20000"/>
            </a:schemeClr>
          </a:solidFill>
          <a:ln/>
        </p:spPr>
        <p:txBody>
          <a:bodyPr/>
          <a:lstStyle/>
          <a:p>
            <a:endParaRPr lang="zh-CN" altLang="en-US" dirty="0"/>
          </a:p>
        </p:txBody>
      </p:sp>
      <p:cxnSp>
        <p:nvCxnSpPr>
          <p:cNvPr id="51" name="直接连接符 50"/>
          <p:cNvCxnSpPr/>
          <p:nvPr/>
        </p:nvCxnSpPr>
        <p:spPr>
          <a:xfrm>
            <a:off x="660400" y="760413"/>
            <a:ext cx="10858500" cy="0"/>
          </a:xfrm>
          <a:prstGeom prst="line">
            <a:avLst/>
          </a:prstGeom>
          <a:noFill/>
          <a:ln w="22225" cap="flat" cmpd="sng" algn="ctr">
            <a:solidFill>
              <a:srgbClr val="1C6299"/>
            </a:solidFill>
            <a:prstDash val="solid"/>
            <a:miter lim="800000"/>
          </a:ln>
          <a:effectLst/>
        </p:spPr>
      </p:cxnSp>
      <p:sp>
        <p:nvSpPr>
          <p:cNvPr id="52" name="标题占位符 1"/>
          <p:cNvSpPr txBox="1"/>
          <p:nvPr/>
        </p:nvSpPr>
        <p:spPr>
          <a:xfrm>
            <a:off x="965200" y="-100014"/>
            <a:ext cx="5435600" cy="817564"/>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US" altLang="zh-CN" sz="2600" b="1" i="0" u="none" strike="noStrike" kern="1200" cap="none" spc="0" normalizeH="0" baseline="0" noProof="0" dirty="0">
                <a:ln>
                  <a:noFill/>
                </a:ln>
                <a:solidFill>
                  <a:sysClr val="windowText" lastClr="000000"/>
                </a:solidFill>
                <a:effectLst/>
                <a:uLnTx/>
                <a:uFillTx/>
                <a:latin typeface="Arial" panose="020B0604020202020204"/>
                <a:ea typeface="微软雅黑" panose="020B0503020204020204" pitchFamily="34" charset="-122"/>
                <a:cs typeface="+mj-cs"/>
              </a:rPr>
              <a:t>Conclusion</a:t>
            </a:r>
            <a:endParaRPr kumimoji="0" lang="zh-CN" altLang="en-US" sz="2600" b="1" i="0" u="none" strike="noStrike" kern="1200" cap="none" spc="0" normalizeH="0" baseline="0" noProof="0" dirty="0">
              <a:ln>
                <a:noFill/>
              </a:ln>
              <a:solidFill>
                <a:sysClr val="windowText" lastClr="000000"/>
              </a:solidFill>
              <a:effectLst/>
              <a:uLnTx/>
              <a:uFillTx/>
              <a:latin typeface="Arial" panose="020B0604020202020204"/>
              <a:ea typeface="微软雅黑" panose="020B0503020204020204" pitchFamily="34" charset="-122"/>
              <a:cs typeface="+mj-cs"/>
            </a:endParaRPr>
          </a:p>
        </p:txBody>
      </p:sp>
      <p:grpSp>
        <p:nvGrpSpPr>
          <p:cNvPr id="54" name="组合 53"/>
          <p:cNvGrpSpPr/>
          <p:nvPr/>
        </p:nvGrpSpPr>
        <p:grpSpPr>
          <a:xfrm>
            <a:off x="203760" y="159728"/>
            <a:ext cx="725344" cy="619478"/>
            <a:chOff x="178632" y="159728"/>
            <a:chExt cx="725344" cy="619478"/>
          </a:xfrm>
        </p:grpSpPr>
        <p:sp>
          <p:nvSpPr>
            <p:cNvPr id="55" name="椭圆 54"/>
            <p:cNvSpPr/>
            <p:nvPr/>
          </p:nvSpPr>
          <p:spPr>
            <a:xfrm>
              <a:off x="358210" y="159728"/>
              <a:ext cx="468000" cy="468000"/>
            </a:xfrm>
            <a:prstGeom prst="ellipse">
              <a:avLst/>
            </a:prstGeom>
            <a:gradFill>
              <a:gsLst>
                <a:gs pos="0">
                  <a:srgbClr val="1C6299"/>
                </a:gs>
                <a:gs pos="100000">
                  <a:srgbClr val="5C307D">
                    <a:alpha val="9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6" name="文本框 55"/>
            <p:cNvSpPr txBox="1"/>
            <p:nvPr/>
          </p:nvSpPr>
          <p:spPr>
            <a:xfrm>
              <a:off x="230876" y="233483"/>
              <a:ext cx="67310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05</a:t>
              </a:r>
              <a:endParaRPr kumimoji="0" lang="zh-CN" altLang="en-US"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7" name="椭圆 56"/>
            <p:cNvSpPr/>
            <p:nvPr/>
          </p:nvSpPr>
          <p:spPr>
            <a:xfrm>
              <a:off x="178632" y="602993"/>
              <a:ext cx="176213" cy="176213"/>
            </a:xfrm>
            <a:prstGeom prst="ellipse">
              <a:avLst/>
            </a:prstGeom>
            <a:gradFill>
              <a:gsLst>
                <a:gs pos="0">
                  <a:srgbClr val="1C6299"/>
                </a:gs>
                <a:gs pos="100000">
                  <a:srgbClr val="5C307D">
                    <a:alpha val="90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59" name="文本框 58"/>
          <p:cNvSpPr txBox="1"/>
          <p:nvPr/>
        </p:nvSpPr>
        <p:spPr>
          <a:xfrm>
            <a:off x="660400" y="6583649"/>
            <a:ext cx="1941557"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自强不息 厚德载物</a:t>
            </a:r>
          </a:p>
        </p:txBody>
      </p:sp>
      <p:pic>
        <p:nvPicPr>
          <p:cNvPr id="61" name="图片 6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24913" y="176378"/>
            <a:ext cx="1897854" cy="555905"/>
          </a:xfrm>
          <a:prstGeom prst="rect">
            <a:avLst/>
          </a:prstGeom>
        </p:spPr>
      </p:pic>
      <p:sp>
        <p:nvSpPr>
          <p:cNvPr id="62" name="矩形 61"/>
          <p:cNvSpPr/>
          <p:nvPr/>
        </p:nvSpPr>
        <p:spPr>
          <a:xfrm>
            <a:off x="0" y="6570000"/>
            <a:ext cx="12192000" cy="288000"/>
          </a:xfrm>
          <a:prstGeom prst="rect">
            <a:avLst/>
          </a:prstGeom>
          <a:solidFill>
            <a:srgbClr val="1C629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63" name="文本框 62"/>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latin typeface="微软雅黑" panose="020B0503020204020204" pitchFamily="34" charset="-122"/>
                <a:ea typeface="微软雅黑" panose="020B0503020204020204" pitchFamily="34" charset="-122"/>
              </a:rPr>
              <a:t>知行合一、经世致用</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4" name="文本框 63"/>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latin typeface="Arial" panose="020B0604020202020204" pitchFamily="34" charset="0"/>
                <a:ea typeface="微软雅黑" panose="020B0503020204020204" pitchFamily="34" charset="-122"/>
                <a:cs typeface="Arial" panose="020B0604020202020204" pitchFamily="34" charset="0"/>
              </a:rPr>
              <a:t>Central South University</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15" name="文本框 14">
            <a:extLst>
              <a:ext uri="{FF2B5EF4-FFF2-40B4-BE49-F238E27FC236}">
                <a16:creationId xmlns:a16="http://schemas.microsoft.com/office/drawing/2014/main" id="{320026C1-FB3C-4C8A-8114-BC1A3179E184}"/>
              </a:ext>
            </a:extLst>
          </p:cNvPr>
          <p:cNvSpPr txBox="1"/>
          <p:nvPr/>
        </p:nvSpPr>
        <p:spPr>
          <a:xfrm>
            <a:off x="725821" y="1323925"/>
            <a:ext cx="10423019" cy="369332"/>
          </a:xfrm>
          <a:prstGeom prst="rect">
            <a:avLst/>
          </a:prstGeom>
          <a:noFill/>
        </p:spPr>
        <p:txBody>
          <a:bodyPr wrap="square">
            <a:spAutoFit/>
          </a:bodyPr>
          <a:lstStyle/>
          <a:p>
            <a:r>
              <a:rPr lang="zh-CN" altLang="en-US" b="1" dirty="0">
                <a:solidFill>
                  <a:srgbClr val="212121"/>
                </a:solidFill>
                <a:latin typeface="Noto Sans SC" panose="020B0200000000000000" pitchFamily="34" charset="-122"/>
                <a:ea typeface="Noto Sans SC" panose="020B0200000000000000" pitchFamily="34" charset="-122"/>
              </a:rPr>
              <a:t>本文创新</a:t>
            </a:r>
            <a:r>
              <a:rPr lang="zh-CN" altLang="en-US" dirty="0">
                <a:solidFill>
                  <a:srgbClr val="212121"/>
                </a:solidFill>
                <a:latin typeface="Noto Sans SC" panose="020B0200000000000000" pitchFamily="34" charset="-122"/>
                <a:ea typeface="Noto Sans SC" panose="020B0200000000000000" pitchFamily="34" charset="-122"/>
              </a:rPr>
              <a:t>：借助预训练小模型的模态交互信息以及预训练大模型的编码能力，训练一个</a:t>
            </a:r>
            <a:r>
              <a:rPr lang="zh-CN" altLang="en-US" b="1" dirty="0">
                <a:solidFill>
                  <a:srgbClr val="212121"/>
                </a:solidFill>
                <a:latin typeface="Noto Sans SC" panose="020B0200000000000000" pitchFamily="34" charset="-122"/>
                <a:ea typeface="Noto Sans SC" panose="020B0200000000000000" pitchFamily="34" charset="-122"/>
              </a:rPr>
              <a:t>大模型调度器</a:t>
            </a:r>
            <a:endParaRPr lang="zh-CN" altLang="en-US" b="1" dirty="0"/>
          </a:p>
        </p:txBody>
      </p:sp>
      <p:sp>
        <p:nvSpPr>
          <p:cNvPr id="21" name="Shape 18">
            <a:extLst>
              <a:ext uri="{FF2B5EF4-FFF2-40B4-BE49-F238E27FC236}">
                <a16:creationId xmlns:a16="http://schemas.microsoft.com/office/drawing/2014/main" id="{EF06A44C-24AD-4D08-B8EB-77B88ACFA9B8}"/>
              </a:ext>
            </a:extLst>
          </p:cNvPr>
          <p:cNvSpPr/>
          <p:nvPr/>
        </p:nvSpPr>
        <p:spPr>
          <a:xfrm>
            <a:off x="649708" y="2345166"/>
            <a:ext cx="4446279" cy="904874"/>
          </a:xfrm>
          <a:custGeom>
            <a:avLst/>
            <a:gdLst/>
            <a:ahLst/>
            <a:cxnLst/>
            <a:rect l="l" t="t" r="r" b="b"/>
            <a:pathLst>
              <a:path w="1689100" h="660400">
                <a:moveTo>
                  <a:pt x="50798" y="0"/>
                </a:moveTo>
                <a:lnTo>
                  <a:pt x="1638302" y="0"/>
                </a:lnTo>
                <a:cubicBezTo>
                  <a:pt x="1666357" y="0"/>
                  <a:pt x="1689100" y="22743"/>
                  <a:pt x="1689100" y="50798"/>
                </a:cubicBezTo>
                <a:lnTo>
                  <a:pt x="1689100" y="609602"/>
                </a:lnTo>
                <a:cubicBezTo>
                  <a:pt x="1689100" y="637657"/>
                  <a:pt x="1666357" y="660400"/>
                  <a:pt x="1638302" y="660400"/>
                </a:cubicBezTo>
                <a:lnTo>
                  <a:pt x="50798" y="660400"/>
                </a:lnTo>
                <a:cubicBezTo>
                  <a:pt x="22743" y="660400"/>
                  <a:pt x="0" y="637657"/>
                  <a:pt x="0" y="609602"/>
                </a:cubicBezTo>
                <a:lnTo>
                  <a:pt x="0" y="50798"/>
                </a:lnTo>
                <a:cubicBezTo>
                  <a:pt x="0" y="22743"/>
                  <a:pt x="22743" y="0"/>
                  <a:pt x="50798" y="0"/>
                </a:cubicBezTo>
                <a:close/>
              </a:path>
            </a:pathLst>
          </a:custGeom>
          <a:solidFill>
            <a:srgbClr val="FFFFFF">
              <a:alpha val="50196"/>
            </a:srgbClr>
          </a:solidFill>
          <a:ln/>
        </p:spPr>
      </p:sp>
      <p:sp>
        <p:nvSpPr>
          <p:cNvPr id="22" name="文本框 21">
            <a:extLst>
              <a:ext uri="{FF2B5EF4-FFF2-40B4-BE49-F238E27FC236}">
                <a16:creationId xmlns:a16="http://schemas.microsoft.com/office/drawing/2014/main" id="{E3C81999-D8E3-449D-BCCC-E0BFD1423B6B}"/>
              </a:ext>
            </a:extLst>
          </p:cNvPr>
          <p:cNvSpPr txBox="1"/>
          <p:nvPr/>
        </p:nvSpPr>
        <p:spPr>
          <a:xfrm>
            <a:off x="2359232" y="1759841"/>
            <a:ext cx="1232981" cy="369332"/>
          </a:xfrm>
          <a:prstGeom prst="rect">
            <a:avLst/>
          </a:prstGeom>
          <a:noFill/>
        </p:spPr>
        <p:txBody>
          <a:bodyPr wrap="square">
            <a:spAutoFit/>
          </a:bodyPr>
          <a:lstStyle/>
          <a:p>
            <a:pPr algn="ctr"/>
            <a:r>
              <a:rPr lang="zh-CN" altLang="en-US" b="1" dirty="0">
                <a:solidFill>
                  <a:srgbClr val="212121"/>
                </a:solidFill>
                <a:latin typeface="Noto Sans SC" panose="020B0200000000000000" pitchFamily="34" charset="-122"/>
                <a:ea typeface="Noto Sans SC" panose="020B0200000000000000" pitchFamily="34" charset="-122"/>
              </a:rPr>
              <a:t>本文优点</a:t>
            </a:r>
            <a:endParaRPr lang="en-US" altLang="zh-CN" dirty="0">
              <a:solidFill>
                <a:srgbClr val="212121"/>
              </a:solidFill>
              <a:latin typeface="Noto Sans SC" panose="020B0200000000000000" pitchFamily="34" charset="-122"/>
              <a:ea typeface="Noto Sans SC" panose="020B0200000000000000" pitchFamily="34" charset="-122"/>
            </a:endParaRPr>
          </a:p>
        </p:txBody>
      </p:sp>
      <p:sp>
        <p:nvSpPr>
          <p:cNvPr id="16" name="文本框 15">
            <a:extLst>
              <a:ext uri="{FF2B5EF4-FFF2-40B4-BE49-F238E27FC236}">
                <a16:creationId xmlns:a16="http://schemas.microsoft.com/office/drawing/2014/main" id="{0C7D35E3-0B1E-42ED-9024-F03A3E629E08}"/>
              </a:ext>
            </a:extLst>
          </p:cNvPr>
          <p:cNvSpPr txBox="1"/>
          <p:nvPr/>
        </p:nvSpPr>
        <p:spPr>
          <a:xfrm>
            <a:off x="904039" y="2502283"/>
            <a:ext cx="3883678" cy="646331"/>
          </a:xfrm>
          <a:prstGeom prst="rect">
            <a:avLst/>
          </a:prstGeom>
          <a:noFill/>
        </p:spPr>
        <p:txBody>
          <a:bodyPr wrap="square">
            <a:spAutoFit/>
          </a:bodyPr>
          <a:lstStyle/>
          <a:p>
            <a:r>
              <a:rPr lang="zh-CN" altLang="en-US" b="1" dirty="0">
                <a:solidFill>
                  <a:srgbClr val="212121"/>
                </a:solidFill>
                <a:latin typeface="Noto Sans SC" panose="020B0200000000000000" pitchFamily="34" charset="-122"/>
                <a:ea typeface="Noto Sans SC" panose="020B0200000000000000" pitchFamily="34" charset="-122"/>
              </a:rPr>
              <a:t>算力消耗极低</a:t>
            </a:r>
            <a:r>
              <a:rPr lang="zh-CN" altLang="en-US" dirty="0">
                <a:solidFill>
                  <a:srgbClr val="212121"/>
                </a:solidFill>
                <a:latin typeface="Noto Sans SC" panose="020B0200000000000000" pitchFamily="34" charset="-122"/>
                <a:ea typeface="Noto Sans SC" panose="020B0200000000000000" pitchFamily="34" charset="-122"/>
              </a:rPr>
              <a:t>：不涉及任何大模型预训练乃至微调，对硬件要求低</a:t>
            </a:r>
            <a:endParaRPr lang="en-US" altLang="zh-CN" dirty="0">
              <a:solidFill>
                <a:srgbClr val="212121"/>
              </a:solidFill>
              <a:latin typeface="Noto Sans SC" panose="020B0200000000000000" pitchFamily="34" charset="-122"/>
              <a:ea typeface="Noto Sans SC" panose="020B0200000000000000" pitchFamily="34" charset="-122"/>
            </a:endParaRPr>
          </a:p>
        </p:txBody>
      </p:sp>
      <p:sp>
        <p:nvSpPr>
          <p:cNvPr id="24" name="Shape 18">
            <a:extLst>
              <a:ext uri="{FF2B5EF4-FFF2-40B4-BE49-F238E27FC236}">
                <a16:creationId xmlns:a16="http://schemas.microsoft.com/office/drawing/2014/main" id="{5886FCB1-C234-47A2-9E1F-3A0CADE4B45B}"/>
              </a:ext>
            </a:extLst>
          </p:cNvPr>
          <p:cNvSpPr/>
          <p:nvPr/>
        </p:nvSpPr>
        <p:spPr>
          <a:xfrm>
            <a:off x="6850277" y="2345166"/>
            <a:ext cx="4021049" cy="991979"/>
          </a:xfrm>
          <a:custGeom>
            <a:avLst/>
            <a:gdLst/>
            <a:ahLst/>
            <a:cxnLst/>
            <a:rect l="l" t="t" r="r" b="b"/>
            <a:pathLst>
              <a:path w="1689100" h="660400">
                <a:moveTo>
                  <a:pt x="50798" y="0"/>
                </a:moveTo>
                <a:lnTo>
                  <a:pt x="1638302" y="0"/>
                </a:lnTo>
                <a:cubicBezTo>
                  <a:pt x="1666357" y="0"/>
                  <a:pt x="1689100" y="22743"/>
                  <a:pt x="1689100" y="50798"/>
                </a:cubicBezTo>
                <a:lnTo>
                  <a:pt x="1689100" y="609602"/>
                </a:lnTo>
                <a:cubicBezTo>
                  <a:pt x="1689100" y="637657"/>
                  <a:pt x="1666357" y="660400"/>
                  <a:pt x="1638302" y="660400"/>
                </a:cubicBezTo>
                <a:lnTo>
                  <a:pt x="50798" y="660400"/>
                </a:lnTo>
                <a:cubicBezTo>
                  <a:pt x="22743" y="660400"/>
                  <a:pt x="0" y="637657"/>
                  <a:pt x="0" y="609602"/>
                </a:cubicBezTo>
                <a:lnTo>
                  <a:pt x="0" y="50798"/>
                </a:lnTo>
                <a:cubicBezTo>
                  <a:pt x="0" y="22743"/>
                  <a:pt x="22743" y="0"/>
                  <a:pt x="50798" y="0"/>
                </a:cubicBezTo>
                <a:close/>
              </a:path>
            </a:pathLst>
          </a:custGeom>
          <a:solidFill>
            <a:srgbClr val="FFFFFF">
              <a:alpha val="50196"/>
            </a:srgbClr>
          </a:solidFill>
          <a:ln/>
        </p:spPr>
      </p:sp>
      <p:sp>
        <p:nvSpPr>
          <p:cNvPr id="17" name="文本框 16">
            <a:extLst>
              <a:ext uri="{FF2B5EF4-FFF2-40B4-BE49-F238E27FC236}">
                <a16:creationId xmlns:a16="http://schemas.microsoft.com/office/drawing/2014/main" id="{9D99CCCF-EDF6-4107-AEE1-2E2A2DDD8BE1}"/>
              </a:ext>
            </a:extLst>
          </p:cNvPr>
          <p:cNvSpPr txBox="1"/>
          <p:nvPr/>
        </p:nvSpPr>
        <p:spPr>
          <a:xfrm>
            <a:off x="6901097" y="2379207"/>
            <a:ext cx="3876242" cy="1200329"/>
          </a:xfrm>
          <a:prstGeom prst="rect">
            <a:avLst/>
          </a:prstGeom>
          <a:noFill/>
        </p:spPr>
        <p:txBody>
          <a:bodyPr wrap="square">
            <a:spAutoFit/>
          </a:bodyPr>
          <a:lstStyle/>
          <a:p>
            <a:r>
              <a:rPr lang="zh-CN" altLang="en-US" b="1" dirty="0">
                <a:solidFill>
                  <a:srgbClr val="212121"/>
                </a:solidFill>
                <a:latin typeface="Noto Sans SC" panose="020B0200000000000000" pitchFamily="34" charset="-122"/>
                <a:ea typeface="Noto Sans SC" panose="020B0200000000000000" pitchFamily="34" charset="-122"/>
              </a:rPr>
              <a:t>模型细节设计粗糙</a:t>
            </a:r>
            <a:r>
              <a:rPr lang="zh-CN" altLang="en-US" dirty="0">
                <a:solidFill>
                  <a:srgbClr val="212121"/>
                </a:solidFill>
                <a:latin typeface="Noto Sans SC" panose="020B0200000000000000" pitchFamily="34" charset="-122"/>
                <a:ea typeface="Noto Sans SC" panose="020B0200000000000000" pitchFamily="34" charset="-122"/>
              </a:rPr>
              <a:t>：</a:t>
            </a:r>
            <a:r>
              <a:rPr lang="en-US" altLang="zh-CN" dirty="0" err="1">
                <a:solidFill>
                  <a:srgbClr val="212121"/>
                </a:solidFill>
                <a:latin typeface="Noto Sans SC" panose="020B0200000000000000" pitchFamily="34" charset="-122"/>
                <a:ea typeface="Noto Sans SC" panose="020B0200000000000000" pitchFamily="34" charset="-122"/>
              </a:rPr>
              <a:t>MoME</a:t>
            </a:r>
            <a:r>
              <a:rPr lang="zh-CN" altLang="en-US" dirty="0">
                <a:solidFill>
                  <a:srgbClr val="212121"/>
                </a:solidFill>
                <a:latin typeface="Noto Sans SC" panose="020B0200000000000000" pitchFamily="34" charset="-122"/>
                <a:ea typeface="Noto Sans SC" panose="020B0200000000000000" pitchFamily="34" charset="-122"/>
              </a:rPr>
              <a:t>部分在具体实现在实现与推理效果上存疑，大小模型推理仍需都存在，臃肿</a:t>
            </a:r>
            <a:endParaRPr lang="en-US" altLang="zh-CN" dirty="0">
              <a:solidFill>
                <a:srgbClr val="212121"/>
              </a:solidFill>
              <a:latin typeface="Noto Sans SC" panose="020B0200000000000000" pitchFamily="34" charset="-122"/>
              <a:ea typeface="Noto Sans SC" panose="020B0200000000000000" pitchFamily="34" charset="-122"/>
            </a:endParaRPr>
          </a:p>
          <a:p>
            <a:endParaRPr lang="zh-CN" altLang="en-US" b="1" dirty="0"/>
          </a:p>
        </p:txBody>
      </p:sp>
      <p:sp>
        <p:nvSpPr>
          <p:cNvPr id="26" name="文本框 25">
            <a:extLst>
              <a:ext uri="{FF2B5EF4-FFF2-40B4-BE49-F238E27FC236}">
                <a16:creationId xmlns:a16="http://schemas.microsoft.com/office/drawing/2014/main" id="{70D45CED-5F37-4167-BDC0-F77858154E7B}"/>
              </a:ext>
            </a:extLst>
          </p:cNvPr>
          <p:cNvSpPr txBox="1"/>
          <p:nvPr/>
        </p:nvSpPr>
        <p:spPr>
          <a:xfrm>
            <a:off x="8249049" y="1863467"/>
            <a:ext cx="1399600" cy="369332"/>
          </a:xfrm>
          <a:prstGeom prst="rect">
            <a:avLst/>
          </a:prstGeom>
          <a:noFill/>
        </p:spPr>
        <p:txBody>
          <a:bodyPr wrap="square">
            <a:spAutoFit/>
          </a:bodyPr>
          <a:lstStyle/>
          <a:p>
            <a:pPr algn="ctr"/>
            <a:r>
              <a:rPr lang="zh-CN" altLang="en-US" b="1" dirty="0">
                <a:solidFill>
                  <a:srgbClr val="212121"/>
                </a:solidFill>
                <a:latin typeface="Noto Sans SC" panose="020B0200000000000000" pitchFamily="34" charset="-122"/>
                <a:ea typeface="Noto Sans SC" panose="020B0200000000000000" pitchFamily="34" charset="-122"/>
              </a:rPr>
              <a:t>本文缺点</a:t>
            </a:r>
            <a:endParaRPr lang="en-US" altLang="zh-CN" dirty="0">
              <a:solidFill>
                <a:srgbClr val="212121"/>
              </a:solidFill>
              <a:latin typeface="Noto Sans SC" panose="020B0200000000000000" pitchFamily="34" charset="-122"/>
              <a:ea typeface="Noto Sans SC" panose="020B0200000000000000" pitchFamily="34" charset="-122"/>
            </a:endParaRPr>
          </a:p>
        </p:txBody>
      </p:sp>
      <p:sp>
        <p:nvSpPr>
          <p:cNvPr id="31" name="Shape 18">
            <a:extLst>
              <a:ext uri="{FF2B5EF4-FFF2-40B4-BE49-F238E27FC236}">
                <a16:creationId xmlns:a16="http://schemas.microsoft.com/office/drawing/2014/main" id="{9FD6FCDE-6FDB-4C48-A5C3-4188984B70E8}"/>
              </a:ext>
            </a:extLst>
          </p:cNvPr>
          <p:cNvSpPr/>
          <p:nvPr/>
        </p:nvSpPr>
        <p:spPr>
          <a:xfrm>
            <a:off x="649708" y="3387375"/>
            <a:ext cx="4446280" cy="990689"/>
          </a:xfrm>
          <a:custGeom>
            <a:avLst/>
            <a:gdLst/>
            <a:ahLst/>
            <a:cxnLst/>
            <a:rect l="l" t="t" r="r" b="b"/>
            <a:pathLst>
              <a:path w="1689100" h="660400">
                <a:moveTo>
                  <a:pt x="50798" y="0"/>
                </a:moveTo>
                <a:lnTo>
                  <a:pt x="1638302" y="0"/>
                </a:lnTo>
                <a:cubicBezTo>
                  <a:pt x="1666357" y="0"/>
                  <a:pt x="1689100" y="22743"/>
                  <a:pt x="1689100" y="50798"/>
                </a:cubicBezTo>
                <a:lnTo>
                  <a:pt x="1689100" y="609602"/>
                </a:lnTo>
                <a:cubicBezTo>
                  <a:pt x="1689100" y="637657"/>
                  <a:pt x="1666357" y="660400"/>
                  <a:pt x="1638302" y="660400"/>
                </a:cubicBezTo>
                <a:lnTo>
                  <a:pt x="50798" y="660400"/>
                </a:lnTo>
                <a:cubicBezTo>
                  <a:pt x="22743" y="660400"/>
                  <a:pt x="0" y="637657"/>
                  <a:pt x="0" y="609602"/>
                </a:cubicBezTo>
                <a:lnTo>
                  <a:pt x="0" y="50798"/>
                </a:lnTo>
                <a:cubicBezTo>
                  <a:pt x="0" y="22743"/>
                  <a:pt x="22743" y="0"/>
                  <a:pt x="50798" y="0"/>
                </a:cubicBezTo>
                <a:close/>
              </a:path>
            </a:pathLst>
          </a:custGeom>
          <a:solidFill>
            <a:srgbClr val="FFFFFF">
              <a:alpha val="50196"/>
            </a:srgbClr>
          </a:solidFill>
          <a:ln/>
        </p:spPr>
        <p:txBody>
          <a:bodyPr/>
          <a:lstStyle/>
          <a:p>
            <a:endParaRPr lang="zh-CN" altLang="en-US" dirty="0"/>
          </a:p>
        </p:txBody>
      </p:sp>
      <p:sp>
        <p:nvSpPr>
          <p:cNvPr id="32" name="Shape 18">
            <a:extLst>
              <a:ext uri="{FF2B5EF4-FFF2-40B4-BE49-F238E27FC236}">
                <a16:creationId xmlns:a16="http://schemas.microsoft.com/office/drawing/2014/main" id="{67AB05AC-98E9-4E37-B44A-FC711AF5A123}"/>
              </a:ext>
            </a:extLst>
          </p:cNvPr>
          <p:cNvSpPr/>
          <p:nvPr/>
        </p:nvSpPr>
        <p:spPr>
          <a:xfrm>
            <a:off x="6850277" y="4529685"/>
            <a:ext cx="4021049" cy="904874"/>
          </a:xfrm>
          <a:custGeom>
            <a:avLst/>
            <a:gdLst/>
            <a:ahLst/>
            <a:cxnLst/>
            <a:rect l="l" t="t" r="r" b="b"/>
            <a:pathLst>
              <a:path w="1689100" h="660400">
                <a:moveTo>
                  <a:pt x="50798" y="0"/>
                </a:moveTo>
                <a:lnTo>
                  <a:pt x="1638302" y="0"/>
                </a:lnTo>
                <a:cubicBezTo>
                  <a:pt x="1666357" y="0"/>
                  <a:pt x="1689100" y="22743"/>
                  <a:pt x="1689100" y="50798"/>
                </a:cubicBezTo>
                <a:lnTo>
                  <a:pt x="1689100" y="609602"/>
                </a:lnTo>
                <a:cubicBezTo>
                  <a:pt x="1689100" y="637657"/>
                  <a:pt x="1666357" y="660400"/>
                  <a:pt x="1638302" y="660400"/>
                </a:cubicBezTo>
                <a:lnTo>
                  <a:pt x="50798" y="660400"/>
                </a:lnTo>
                <a:cubicBezTo>
                  <a:pt x="22743" y="660400"/>
                  <a:pt x="0" y="637657"/>
                  <a:pt x="0" y="609602"/>
                </a:cubicBezTo>
                <a:lnTo>
                  <a:pt x="0" y="50798"/>
                </a:lnTo>
                <a:cubicBezTo>
                  <a:pt x="0" y="22743"/>
                  <a:pt x="22743" y="0"/>
                  <a:pt x="50798" y="0"/>
                </a:cubicBezTo>
                <a:close/>
              </a:path>
            </a:pathLst>
          </a:custGeom>
          <a:solidFill>
            <a:srgbClr val="FFFFFF">
              <a:alpha val="50196"/>
            </a:srgbClr>
          </a:solidFill>
          <a:ln/>
        </p:spPr>
      </p:sp>
      <p:sp>
        <p:nvSpPr>
          <p:cNvPr id="30" name="文本框 29">
            <a:extLst>
              <a:ext uri="{FF2B5EF4-FFF2-40B4-BE49-F238E27FC236}">
                <a16:creationId xmlns:a16="http://schemas.microsoft.com/office/drawing/2014/main" id="{E7C32479-964A-452C-823D-D5E962447F61}"/>
              </a:ext>
            </a:extLst>
          </p:cNvPr>
          <p:cNvSpPr txBox="1"/>
          <p:nvPr/>
        </p:nvSpPr>
        <p:spPr>
          <a:xfrm>
            <a:off x="904039" y="3453959"/>
            <a:ext cx="3991143" cy="923330"/>
          </a:xfrm>
          <a:prstGeom prst="rect">
            <a:avLst/>
          </a:prstGeom>
          <a:noFill/>
        </p:spPr>
        <p:txBody>
          <a:bodyPr wrap="square">
            <a:spAutoFit/>
          </a:bodyPr>
          <a:lstStyle/>
          <a:p>
            <a:r>
              <a:rPr lang="zh-CN" altLang="en-US" b="1" dirty="0">
                <a:solidFill>
                  <a:srgbClr val="212121"/>
                </a:solidFill>
                <a:latin typeface="Noto Sans SC" panose="020B0200000000000000" pitchFamily="34" charset="-122"/>
                <a:ea typeface="Noto Sans SC" panose="020B0200000000000000" pitchFamily="34" charset="-122"/>
              </a:rPr>
              <a:t>题材新颖</a:t>
            </a:r>
            <a:r>
              <a:rPr lang="zh-CN" altLang="en-US" dirty="0">
                <a:solidFill>
                  <a:srgbClr val="212121"/>
                </a:solidFill>
                <a:latin typeface="Noto Sans SC" panose="020B0200000000000000" pitchFamily="34" charset="-122"/>
                <a:ea typeface="Noto Sans SC" panose="020B0200000000000000" pitchFamily="34" charset="-122"/>
              </a:rPr>
              <a:t>：以小博大，通过调度器的形式在热门的大模型和多模态领域解决了一个有意义的问题</a:t>
            </a:r>
            <a:endParaRPr lang="en-US" altLang="zh-CN" dirty="0">
              <a:solidFill>
                <a:srgbClr val="212121"/>
              </a:solidFill>
              <a:latin typeface="Noto Sans SC" panose="020B0200000000000000" pitchFamily="34" charset="-122"/>
              <a:ea typeface="Noto Sans SC" panose="020B0200000000000000" pitchFamily="34" charset="-122"/>
            </a:endParaRPr>
          </a:p>
        </p:txBody>
      </p:sp>
      <p:sp>
        <p:nvSpPr>
          <p:cNvPr id="28" name="文本框 27">
            <a:extLst>
              <a:ext uri="{FF2B5EF4-FFF2-40B4-BE49-F238E27FC236}">
                <a16:creationId xmlns:a16="http://schemas.microsoft.com/office/drawing/2014/main" id="{AE744FE1-C553-404B-AA2F-5E367B1A58E0}"/>
              </a:ext>
            </a:extLst>
          </p:cNvPr>
          <p:cNvSpPr txBox="1"/>
          <p:nvPr/>
        </p:nvSpPr>
        <p:spPr>
          <a:xfrm>
            <a:off x="6977780" y="4658956"/>
            <a:ext cx="3642822" cy="646331"/>
          </a:xfrm>
          <a:prstGeom prst="rect">
            <a:avLst/>
          </a:prstGeom>
          <a:noFill/>
        </p:spPr>
        <p:txBody>
          <a:bodyPr wrap="square">
            <a:spAutoFit/>
          </a:bodyPr>
          <a:lstStyle/>
          <a:p>
            <a:r>
              <a:rPr lang="zh-CN" altLang="en-US" b="1" dirty="0">
                <a:solidFill>
                  <a:srgbClr val="212121"/>
                </a:solidFill>
                <a:latin typeface="Noto Sans SC" panose="020B0200000000000000" pitchFamily="34" charset="-122"/>
                <a:ea typeface="Noto Sans SC" panose="020B0200000000000000" pitchFamily="34" charset="-122"/>
              </a:rPr>
              <a:t>解决问题有待拓展</a:t>
            </a:r>
            <a:r>
              <a:rPr lang="zh-CN" altLang="en-US" dirty="0">
                <a:solidFill>
                  <a:srgbClr val="212121"/>
                </a:solidFill>
                <a:latin typeface="Noto Sans SC" panose="020B0200000000000000" pitchFamily="34" charset="-122"/>
                <a:ea typeface="Noto Sans SC" panose="020B0200000000000000" pitchFamily="34" charset="-122"/>
              </a:rPr>
              <a:t>：仅解决最基本的普通多模态场景下的分类问题</a:t>
            </a:r>
          </a:p>
        </p:txBody>
      </p:sp>
      <p:sp>
        <p:nvSpPr>
          <p:cNvPr id="35" name="Shape 18">
            <a:extLst>
              <a:ext uri="{FF2B5EF4-FFF2-40B4-BE49-F238E27FC236}">
                <a16:creationId xmlns:a16="http://schemas.microsoft.com/office/drawing/2014/main" id="{79F9495D-CD4C-4CF7-98EB-FAFC3A011461}"/>
              </a:ext>
            </a:extLst>
          </p:cNvPr>
          <p:cNvSpPr/>
          <p:nvPr/>
        </p:nvSpPr>
        <p:spPr>
          <a:xfrm>
            <a:off x="6828694" y="3487368"/>
            <a:ext cx="4021049" cy="904874"/>
          </a:xfrm>
          <a:custGeom>
            <a:avLst/>
            <a:gdLst/>
            <a:ahLst/>
            <a:cxnLst/>
            <a:rect l="l" t="t" r="r" b="b"/>
            <a:pathLst>
              <a:path w="1689100" h="660400">
                <a:moveTo>
                  <a:pt x="50798" y="0"/>
                </a:moveTo>
                <a:lnTo>
                  <a:pt x="1638302" y="0"/>
                </a:lnTo>
                <a:cubicBezTo>
                  <a:pt x="1666357" y="0"/>
                  <a:pt x="1689100" y="22743"/>
                  <a:pt x="1689100" y="50798"/>
                </a:cubicBezTo>
                <a:lnTo>
                  <a:pt x="1689100" y="609602"/>
                </a:lnTo>
                <a:cubicBezTo>
                  <a:pt x="1689100" y="637657"/>
                  <a:pt x="1666357" y="660400"/>
                  <a:pt x="1638302" y="660400"/>
                </a:cubicBezTo>
                <a:lnTo>
                  <a:pt x="50798" y="660400"/>
                </a:lnTo>
                <a:cubicBezTo>
                  <a:pt x="22743" y="660400"/>
                  <a:pt x="0" y="637657"/>
                  <a:pt x="0" y="609602"/>
                </a:cubicBezTo>
                <a:lnTo>
                  <a:pt x="0" y="50798"/>
                </a:lnTo>
                <a:cubicBezTo>
                  <a:pt x="0" y="22743"/>
                  <a:pt x="22743" y="0"/>
                  <a:pt x="50798" y="0"/>
                </a:cubicBezTo>
                <a:close/>
              </a:path>
            </a:pathLst>
          </a:custGeom>
          <a:solidFill>
            <a:srgbClr val="FFFFFF">
              <a:alpha val="50196"/>
            </a:srgbClr>
          </a:solidFill>
          <a:ln/>
        </p:spPr>
      </p:sp>
      <p:sp>
        <p:nvSpPr>
          <p:cNvPr id="36" name="文本框 35">
            <a:extLst>
              <a:ext uri="{FF2B5EF4-FFF2-40B4-BE49-F238E27FC236}">
                <a16:creationId xmlns:a16="http://schemas.microsoft.com/office/drawing/2014/main" id="{AF7DA0EA-A0C3-4EF8-90C8-A8E65C124952}"/>
              </a:ext>
            </a:extLst>
          </p:cNvPr>
          <p:cNvSpPr txBox="1"/>
          <p:nvPr/>
        </p:nvSpPr>
        <p:spPr>
          <a:xfrm>
            <a:off x="6930336" y="3654057"/>
            <a:ext cx="3897825" cy="646331"/>
          </a:xfrm>
          <a:prstGeom prst="rect">
            <a:avLst/>
          </a:prstGeom>
          <a:noFill/>
        </p:spPr>
        <p:txBody>
          <a:bodyPr wrap="square">
            <a:spAutoFit/>
          </a:bodyPr>
          <a:lstStyle/>
          <a:p>
            <a:r>
              <a:rPr lang="zh-CN" altLang="en-US" b="1" dirty="0">
                <a:solidFill>
                  <a:srgbClr val="212121"/>
                </a:solidFill>
                <a:latin typeface="Noto Sans SC" panose="020B0200000000000000" pitchFamily="34" charset="-122"/>
                <a:ea typeface="Noto Sans SC" panose="020B0200000000000000" pitchFamily="34" charset="-122"/>
              </a:rPr>
              <a:t>文章</a:t>
            </a:r>
            <a:r>
              <a:rPr lang="en-US" altLang="zh-CN" b="1" dirty="0">
                <a:solidFill>
                  <a:srgbClr val="212121"/>
                </a:solidFill>
                <a:latin typeface="Noto Sans SC" panose="020B0200000000000000" pitchFamily="34" charset="-122"/>
                <a:ea typeface="Noto Sans SC" panose="020B0200000000000000" pitchFamily="34" charset="-122"/>
              </a:rPr>
              <a:t>Challenge</a:t>
            </a:r>
            <a:r>
              <a:rPr lang="zh-CN" altLang="en-US" b="1" dirty="0">
                <a:solidFill>
                  <a:srgbClr val="212121"/>
                </a:solidFill>
                <a:latin typeface="Noto Sans SC" panose="020B0200000000000000" pitchFamily="34" charset="-122"/>
                <a:ea typeface="Noto Sans SC" panose="020B0200000000000000" pitchFamily="34" charset="-122"/>
              </a:rPr>
              <a:t>对应模糊</a:t>
            </a:r>
            <a:r>
              <a:rPr lang="zh-CN" altLang="en-US" dirty="0">
                <a:solidFill>
                  <a:srgbClr val="212121"/>
                </a:solidFill>
                <a:latin typeface="Noto Sans SC" panose="020B0200000000000000" pitchFamily="34" charset="-122"/>
                <a:ea typeface="Noto Sans SC" panose="020B0200000000000000" pitchFamily="34" charset="-122"/>
              </a:rPr>
              <a:t>：模态霸凌并未显示给出解决方案，更像是补票</a:t>
            </a:r>
          </a:p>
        </p:txBody>
      </p:sp>
      <p:sp>
        <p:nvSpPr>
          <p:cNvPr id="37" name="Shape 18">
            <a:extLst>
              <a:ext uri="{FF2B5EF4-FFF2-40B4-BE49-F238E27FC236}">
                <a16:creationId xmlns:a16="http://schemas.microsoft.com/office/drawing/2014/main" id="{C6B87316-3EA1-468C-B561-0392BA1D1E87}"/>
              </a:ext>
            </a:extLst>
          </p:cNvPr>
          <p:cNvSpPr/>
          <p:nvPr/>
        </p:nvSpPr>
        <p:spPr>
          <a:xfrm>
            <a:off x="649707" y="4563797"/>
            <a:ext cx="4446280" cy="990689"/>
          </a:xfrm>
          <a:custGeom>
            <a:avLst/>
            <a:gdLst/>
            <a:ahLst/>
            <a:cxnLst/>
            <a:rect l="l" t="t" r="r" b="b"/>
            <a:pathLst>
              <a:path w="1689100" h="660400">
                <a:moveTo>
                  <a:pt x="50798" y="0"/>
                </a:moveTo>
                <a:lnTo>
                  <a:pt x="1638302" y="0"/>
                </a:lnTo>
                <a:cubicBezTo>
                  <a:pt x="1666357" y="0"/>
                  <a:pt x="1689100" y="22743"/>
                  <a:pt x="1689100" y="50798"/>
                </a:cubicBezTo>
                <a:lnTo>
                  <a:pt x="1689100" y="609602"/>
                </a:lnTo>
                <a:cubicBezTo>
                  <a:pt x="1689100" y="637657"/>
                  <a:pt x="1666357" y="660400"/>
                  <a:pt x="1638302" y="660400"/>
                </a:cubicBezTo>
                <a:lnTo>
                  <a:pt x="50798" y="660400"/>
                </a:lnTo>
                <a:cubicBezTo>
                  <a:pt x="22743" y="660400"/>
                  <a:pt x="0" y="637657"/>
                  <a:pt x="0" y="609602"/>
                </a:cubicBezTo>
                <a:lnTo>
                  <a:pt x="0" y="50798"/>
                </a:lnTo>
                <a:cubicBezTo>
                  <a:pt x="0" y="22743"/>
                  <a:pt x="22743" y="0"/>
                  <a:pt x="50798" y="0"/>
                </a:cubicBezTo>
                <a:close/>
              </a:path>
            </a:pathLst>
          </a:custGeom>
          <a:solidFill>
            <a:srgbClr val="FFFFFF">
              <a:alpha val="50196"/>
            </a:srgbClr>
          </a:solidFill>
          <a:ln/>
        </p:spPr>
        <p:txBody>
          <a:bodyPr/>
          <a:lstStyle/>
          <a:p>
            <a:endParaRPr lang="zh-CN" altLang="en-US" dirty="0"/>
          </a:p>
        </p:txBody>
      </p:sp>
      <p:sp>
        <p:nvSpPr>
          <p:cNvPr id="38" name="文本框 37">
            <a:extLst>
              <a:ext uri="{FF2B5EF4-FFF2-40B4-BE49-F238E27FC236}">
                <a16:creationId xmlns:a16="http://schemas.microsoft.com/office/drawing/2014/main" id="{232F751D-B85E-46DF-A82B-4653E7519876}"/>
              </a:ext>
            </a:extLst>
          </p:cNvPr>
          <p:cNvSpPr txBox="1"/>
          <p:nvPr/>
        </p:nvSpPr>
        <p:spPr>
          <a:xfrm>
            <a:off x="932014" y="4771110"/>
            <a:ext cx="3991143" cy="646331"/>
          </a:xfrm>
          <a:prstGeom prst="rect">
            <a:avLst/>
          </a:prstGeom>
          <a:noFill/>
        </p:spPr>
        <p:txBody>
          <a:bodyPr wrap="square">
            <a:spAutoFit/>
          </a:bodyPr>
          <a:lstStyle/>
          <a:p>
            <a:r>
              <a:rPr lang="zh-CN" altLang="en-US" b="1" dirty="0">
                <a:solidFill>
                  <a:srgbClr val="212121"/>
                </a:solidFill>
                <a:latin typeface="Noto Sans SC" panose="020B0200000000000000" pitchFamily="34" charset="-122"/>
                <a:ea typeface="Noto Sans SC" panose="020B0200000000000000" pitchFamily="34" charset="-122"/>
              </a:rPr>
              <a:t>大小模型配合思路：</a:t>
            </a:r>
            <a:r>
              <a:rPr lang="zh-CN" altLang="en-US" dirty="0">
                <a:solidFill>
                  <a:srgbClr val="212121"/>
                </a:solidFill>
                <a:latin typeface="Noto Sans SC" panose="020B0200000000000000" pitchFamily="34" charset="-122"/>
                <a:ea typeface="Noto Sans SC" panose="020B0200000000000000" pitchFamily="34" charset="-122"/>
              </a:rPr>
              <a:t>随着学习程度的动态任务贡献权重有效且符合逻辑</a:t>
            </a:r>
            <a:endParaRPr lang="en-US" altLang="zh-CN" dirty="0">
              <a:solidFill>
                <a:srgbClr val="212121"/>
              </a:solidFill>
              <a:latin typeface="Noto Sans SC" panose="020B0200000000000000" pitchFamily="34" charset="-122"/>
              <a:ea typeface="Noto Sans SC" panose="020B0200000000000000" pitchFamily="34" charset="-122"/>
            </a:endParaRPr>
          </a:p>
        </p:txBody>
      </p:sp>
    </p:spTree>
    <p:extLst>
      <p:ext uri="{BB962C8B-B14F-4D97-AF65-F5344CB8AC3E}">
        <p14:creationId xmlns:p14="http://schemas.microsoft.com/office/powerpoint/2010/main" val="3350964793"/>
      </p:ext>
    </p:extLst>
  </p:cSld>
  <p:clrMapOvr>
    <a:masterClrMapping/>
  </p:clrMapOvr>
  <p:transition spd="slow" advClick="0" advTm="1000">
    <p:randomBar dir="vert"/>
  </p:transition>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TFiMjRlYjRkODg2ZDk0OTllN2NiNzAxMTIyNjEzMmYifQ=="/>
</p:tagLst>
</file>

<file path=ppt/theme/theme1.xml><?xml version="1.0" encoding="utf-8"?>
<a:theme xmlns:a="http://schemas.openxmlformats.org/drawingml/2006/main" name="2_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自定义设计方案">
  <a:themeElements>
    <a:clrScheme name="自定义 100">
      <a:dk1>
        <a:sysClr val="windowText" lastClr="000000"/>
      </a:dk1>
      <a:lt1>
        <a:sysClr val="window" lastClr="FFFFFF"/>
      </a:lt1>
      <a:dk2>
        <a:srgbClr val="44546A"/>
      </a:dk2>
      <a:lt2>
        <a:srgbClr val="E7E6E6"/>
      </a:lt2>
      <a:accent1>
        <a:srgbClr val="591B89"/>
      </a:accent1>
      <a:accent2>
        <a:srgbClr val="EEB51A"/>
      </a:accent2>
      <a:accent3>
        <a:srgbClr val="591B89"/>
      </a:accent3>
      <a:accent4>
        <a:srgbClr val="EEB51A"/>
      </a:accent4>
      <a:accent5>
        <a:srgbClr val="591B89"/>
      </a:accent5>
      <a:accent6>
        <a:srgbClr val="EEB51A"/>
      </a:accent6>
      <a:hlink>
        <a:srgbClr val="591B89"/>
      </a:hlink>
      <a:folHlink>
        <a:srgbClr val="EEB51A"/>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33731</TotalTime>
  <Words>1201</Words>
  <Application>Microsoft Office PowerPoint</Application>
  <PresentationFormat>宽屏</PresentationFormat>
  <Paragraphs>158</Paragraphs>
  <Slides>14</Slides>
  <Notes>14</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14</vt:i4>
      </vt:variant>
    </vt:vector>
  </HeadingPairs>
  <TitlesOfParts>
    <vt:vector size="24" baseType="lpstr">
      <vt:lpstr>__Noto_Sans_086c6e</vt:lpstr>
      <vt:lpstr>-apple-system</vt:lpstr>
      <vt:lpstr>Noto Sans SC</vt:lpstr>
      <vt:lpstr>等线</vt:lpstr>
      <vt:lpstr>微软雅黑</vt:lpstr>
      <vt:lpstr>Arial</vt:lpstr>
      <vt:lpstr>Calibri</vt:lpstr>
      <vt:lpstr>Calibri Light</vt:lpstr>
      <vt:lpstr>2_Office 主题​​</vt:lpstr>
      <vt:lpstr>1_自定义设计方案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紫色沉稳简约毕业答辩毕业论文答辩PPT</dc:title>
  <dc:creator>lenovo</dc:creator>
  <cp:lastModifiedBy>Wotan Aldafodur</cp:lastModifiedBy>
  <cp:revision>356</cp:revision>
  <dcterms:created xsi:type="dcterms:W3CDTF">2019-03-09T08:01:00Z</dcterms:created>
  <dcterms:modified xsi:type="dcterms:W3CDTF">2025-11-15T10:10:36Z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2052-12.1.0.16729</vt:lpwstr>
  </property>
  <property fmtid="{D5CDD505-2E9C-101B-9397-08002B2CF9AE}" pid="3" name="ICV">
    <vt:lpwstr>3E6360C6DCCC423D98F5DA1985ABB2C1_12</vt:lpwstr>
  </property>
</Properties>
</file>