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9" r:id="rId4"/>
    <p:sldId id="260" r:id="rId5"/>
    <p:sldId id="361" r:id="rId6"/>
    <p:sldId id="306" r:id="rId8"/>
    <p:sldId id="365" r:id="rId9"/>
    <p:sldId id="308" r:id="rId10"/>
    <p:sldId id="359" r:id="rId11"/>
    <p:sldId id="307" r:id="rId12"/>
    <p:sldId id="362" r:id="rId13"/>
    <p:sldId id="366" r:id="rId14"/>
    <p:sldId id="367" r:id="rId15"/>
    <p:sldId id="310" r:id="rId16"/>
    <p:sldId id="368" r:id="rId17"/>
    <p:sldId id="369" r:id="rId18"/>
    <p:sldId id="370" r:id="rId19"/>
    <p:sldId id="372" r:id="rId20"/>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4" userDrawn="1">
          <p15:clr>
            <a:srgbClr val="A4A3A4"/>
          </p15:clr>
        </p15:guide>
        <p15:guide id="2" pos="3895" userDrawn="1">
          <p15:clr>
            <a:srgbClr val="A4A3A4"/>
          </p15:clr>
        </p15:guide>
        <p15:guide id="3" pos="404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127499155" name="272km" initials="2"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3864"/>
    <a:srgbClr val="D91515"/>
    <a:srgbClr val="EE0000"/>
    <a:srgbClr val="18B0FC"/>
    <a:srgbClr val="F0F4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showGuides="1">
      <p:cViewPr varScale="1">
        <p:scale>
          <a:sx n="110" d="100"/>
          <a:sy n="110" d="100"/>
        </p:scale>
        <p:origin x="82" y="245"/>
      </p:cViewPr>
      <p:guideLst>
        <p:guide orient="horz" pos="2284"/>
        <p:guide pos="3895"/>
        <p:guide pos="404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13.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nSpc>
                <a:spcPct val="150000"/>
              </a:lnSpc>
              <a:spcBef>
                <a:spcPts val="0"/>
              </a:spcBef>
              <a:spcAft>
                <a:spcPts val="0"/>
              </a:spcAft>
              <a:buFont typeface="Wingdings" panose="05000000000000000000" charset="0"/>
              <a:buNone/>
            </a:pPr>
            <a:endParaRPr lang="zh-CN" altLang="en-US" b="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15B73C-FE37-48BC-8A31-84F8B5A93988}" type="slidenum">
              <a:rPr lang="zh-CN" altLang="en-US" smtClean="0"/>
            </a:fld>
            <a:endParaRPr lang="zh-CN" altLang="en-US"/>
          </a:p>
        </p:txBody>
      </p:sp>
      <p:sp>
        <p:nvSpPr>
          <p:cNvPr id="7" name="矩形 6"/>
          <p:cNvSpPr/>
          <p:nvPr userDrawn="1"/>
        </p:nvSpPr>
        <p:spPr>
          <a:xfrm>
            <a:off x="181583" y="162128"/>
            <a:ext cx="11815864" cy="6533744"/>
          </a:xfrm>
          <a:prstGeom prst="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5304817" y="1"/>
            <a:ext cx="1569396" cy="173152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5304817" y="6634265"/>
            <a:ext cx="1569396" cy="22373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userDrawn="1"/>
        </p:nvGrpSpPr>
        <p:grpSpPr>
          <a:xfrm>
            <a:off x="10798227" y="5070856"/>
            <a:ext cx="1197659" cy="1389113"/>
            <a:chOff x="-1356283" y="1212273"/>
            <a:chExt cx="1599245" cy="1854896"/>
          </a:xfrm>
        </p:grpSpPr>
        <p:sp>
          <p:nvSpPr>
            <p:cNvPr id="28" name="等腰三角形 27"/>
            <p:cNvSpPr/>
            <p:nvPr/>
          </p:nvSpPr>
          <p:spPr>
            <a:xfrm rot="5400000">
              <a:off x="-865849" y="2182484"/>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nvSpPr>
          <p:spPr>
            <a:xfrm rot="16200000" flipH="1">
              <a:off x="-865848" y="1873296"/>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nvSpPr>
          <p:spPr>
            <a:xfrm rot="16200000" flipH="1">
              <a:off x="-336771" y="2182254"/>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nvSpPr>
          <p:spPr>
            <a:xfrm rot="16200000" flipH="1">
              <a:off x="-332767" y="1564109"/>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rot="16200000" flipH="1">
              <a:off x="-1398930" y="1564108"/>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rot="5400000">
              <a:off x="-334769" y="2491441"/>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rot="16200000" flipH="1">
              <a:off x="-861591" y="1254920"/>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userDrawn="1"/>
        </p:nvGrpSpPr>
        <p:grpSpPr>
          <a:xfrm>
            <a:off x="194553" y="193560"/>
            <a:ext cx="2019597" cy="1884355"/>
            <a:chOff x="214742" y="270164"/>
            <a:chExt cx="2661150" cy="2482947"/>
          </a:xfrm>
        </p:grpSpPr>
        <p:grpSp>
          <p:nvGrpSpPr>
            <p:cNvPr id="38" name="组合 37"/>
            <p:cNvGrpSpPr/>
            <p:nvPr/>
          </p:nvGrpSpPr>
          <p:grpSpPr>
            <a:xfrm>
              <a:off x="214745" y="270164"/>
              <a:ext cx="2661147" cy="1854896"/>
              <a:chOff x="-531648" y="-111394"/>
              <a:chExt cx="4186764" cy="2918295"/>
            </a:xfrm>
          </p:grpSpPr>
          <p:sp>
            <p:nvSpPr>
              <p:cNvPr id="42" name="等腰三角形 41"/>
              <p:cNvSpPr/>
              <p:nvPr/>
            </p:nvSpPr>
            <p:spPr>
              <a:xfrm rot="5400000">
                <a:off x="239949" y="1415033"/>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nvSpPr>
            <p:spPr>
              <a:xfrm rot="16200000" flipH="1">
                <a:off x="239950" y="928589"/>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rot="5400000">
                <a:off x="1078643" y="92859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rot="5400000">
                <a:off x="1078643" y="928591"/>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等腰三角形 45"/>
              <p:cNvSpPr/>
              <p:nvPr/>
            </p:nvSpPr>
            <p:spPr>
              <a:xfrm rot="16200000" flipH="1">
                <a:off x="1072343" y="1414670"/>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等腰三角形 46"/>
              <p:cNvSpPr/>
              <p:nvPr/>
            </p:nvSpPr>
            <p:spPr>
              <a:xfrm rot="16200000" flipH="1">
                <a:off x="1078643" y="442147"/>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等腰三角形 47"/>
              <p:cNvSpPr/>
              <p:nvPr/>
            </p:nvSpPr>
            <p:spPr>
              <a:xfrm rot="5400000">
                <a:off x="1910636" y="141467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nvSpPr>
            <p:spPr>
              <a:xfrm rot="16200000" flipH="1">
                <a:off x="-598744" y="442146"/>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nvSpPr>
            <p:spPr>
              <a:xfrm rot="5400000">
                <a:off x="1917335" y="435695"/>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nvSpPr>
            <p:spPr>
              <a:xfrm rot="5400000">
                <a:off x="1075493" y="1901112"/>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rot="5400000">
                <a:off x="2749326" y="909958"/>
                <a:ext cx="972885" cy="838694"/>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p:nvSpPr>
            <p:spPr>
              <a:xfrm rot="16200000" flipH="1">
                <a:off x="246647" y="-44298"/>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等腰三角形 38"/>
            <p:cNvSpPr/>
            <p:nvPr/>
          </p:nvSpPr>
          <p:spPr>
            <a:xfrm rot="5400000">
              <a:off x="172095" y="2177383"/>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nvSpPr>
          <p:spPr>
            <a:xfrm rot="5400000">
              <a:off x="175400" y="1549099"/>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等腰三角形 40"/>
            <p:cNvSpPr/>
            <p:nvPr/>
          </p:nvSpPr>
          <p:spPr>
            <a:xfrm rot="5400000">
              <a:off x="705178" y="1858288"/>
              <a:ext cx="618375" cy="533082"/>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 name="图片 9"/>
          <p:cNvPicPr/>
          <p:nvPr/>
        </p:nvPicPr>
        <p:blipFill>
          <a:blip r:embed="rId2">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grpSp>
        <p:nvGrpSpPr>
          <p:cNvPr id="24" name="组合 23"/>
          <p:cNvGrpSpPr/>
          <p:nvPr userDrawn="1"/>
        </p:nvGrpSpPr>
        <p:grpSpPr>
          <a:xfrm>
            <a:off x="10994341" y="5268976"/>
            <a:ext cx="1197659" cy="1389113"/>
            <a:chOff x="-1356283" y="1212273"/>
            <a:chExt cx="1599245" cy="1854896"/>
          </a:xfrm>
        </p:grpSpPr>
        <p:sp>
          <p:nvSpPr>
            <p:cNvPr id="25" name="等腰三角形 24"/>
            <p:cNvSpPr/>
            <p:nvPr/>
          </p:nvSpPr>
          <p:spPr>
            <a:xfrm rot="5400000">
              <a:off x="-865849" y="2182484"/>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p:nvSpPr>
          <p:spPr>
            <a:xfrm rot="16200000" flipH="1">
              <a:off x="-865848" y="1873296"/>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nvSpPr>
          <p:spPr>
            <a:xfrm rot="16200000" flipH="1">
              <a:off x="-336771" y="2182254"/>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16200000" flipH="1">
              <a:off x="-332767" y="1564109"/>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16200000" flipH="1">
              <a:off x="-1398930" y="1564108"/>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nvSpPr>
          <p:spPr>
            <a:xfrm rot="5400000">
              <a:off x="-334769" y="2491441"/>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nvSpPr>
          <p:spPr>
            <a:xfrm rot="16200000" flipH="1">
              <a:off x="-861591" y="1254920"/>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4" name="直接连接符 33"/>
          <p:cNvCxnSpPr/>
          <p:nvPr userDrawn="1"/>
        </p:nvCxnSpPr>
        <p:spPr>
          <a:xfrm flipH="1">
            <a:off x="533400" y="6507480"/>
            <a:ext cx="10637520"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5" name="灯片编号占位符 5"/>
          <p:cNvSpPr txBox="1"/>
          <p:nvPr userDrawn="1"/>
        </p:nvSpPr>
        <p:spPr>
          <a:xfrm>
            <a:off x="11217390" y="6324917"/>
            <a:ext cx="524423"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15B73C-FE37-48BC-8A31-84F8B5A93988}" type="slidenum">
              <a:rPr lang="zh-CN" altLang="en-US" sz="1600" smtClean="0">
                <a:solidFill>
                  <a:schemeClr val="accent1">
                    <a:lumMod val="50000"/>
                  </a:schemeClr>
                </a:solidFill>
              </a:rPr>
            </a:fld>
            <a:endParaRPr lang="zh-CN" altLang="en-US" sz="1600" dirty="0">
              <a:solidFill>
                <a:schemeClr val="accent1">
                  <a:lumMod val="50000"/>
                </a:schemeClr>
              </a:solidFill>
            </a:endParaRPr>
          </a:p>
        </p:txBody>
      </p:sp>
      <p:grpSp>
        <p:nvGrpSpPr>
          <p:cNvPr id="36" name="组合 35"/>
          <p:cNvGrpSpPr/>
          <p:nvPr userDrawn="1"/>
        </p:nvGrpSpPr>
        <p:grpSpPr>
          <a:xfrm>
            <a:off x="-14298" y="155435"/>
            <a:ext cx="2957239" cy="2759208"/>
            <a:chOff x="214742" y="270164"/>
            <a:chExt cx="2661150" cy="2482947"/>
          </a:xfrm>
        </p:grpSpPr>
        <p:grpSp>
          <p:nvGrpSpPr>
            <p:cNvPr id="37" name="组合 36"/>
            <p:cNvGrpSpPr/>
            <p:nvPr/>
          </p:nvGrpSpPr>
          <p:grpSpPr>
            <a:xfrm>
              <a:off x="214745" y="270164"/>
              <a:ext cx="2661147" cy="1854896"/>
              <a:chOff x="-531648" y="-111394"/>
              <a:chExt cx="4186764" cy="2918295"/>
            </a:xfrm>
          </p:grpSpPr>
          <p:sp>
            <p:nvSpPr>
              <p:cNvPr id="41" name="等腰三角形 40"/>
              <p:cNvSpPr/>
              <p:nvPr/>
            </p:nvSpPr>
            <p:spPr>
              <a:xfrm rot="5400000">
                <a:off x="239949" y="1415033"/>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nvSpPr>
            <p:spPr>
              <a:xfrm rot="16200000" flipH="1">
                <a:off x="239950" y="928589"/>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nvSpPr>
            <p:spPr>
              <a:xfrm rot="5400000">
                <a:off x="1078643" y="92859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rot="5400000">
                <a:off x="1078643" y="928591"/>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rot="16200000" flipH="1">
                <a:off x="1072343" y="1414670"/>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等腰三角形 45"/>
              <p:cNvSpPr/>
              <p:nvPr/>
            </p:nvSpPr>
            <p:spPr>
              <a:xfrm rot="16200000" flipH="1">
                <a:off x="1078643" y="442147"/>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等腰三角形 46"/>
              <p:cNvSpPr/>
              <p:nvPr/>
            </p:nvSpPr>
            <p:spPr>
              <a:xfrm rot="5400000">
                <a:off x="1910636" y="141467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等腰三角形 47"/>
              <p:cNvSpPr/>
              <p:nvPr/>
            </p:nvSpPr>
            <p:spPr>
              <a:xfrm rot="16200000" flipH="1">
                <a:off x="-598744" y="442146"/>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nvSpPr>
            <p:spPr>
              <a:xfrm rot="5400000">
                <a:off x="1917335" y="435695"/>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nvSpPr>
            <p:spPr>
              <a:xfrm rot="5400000">
                <a:off x="1075493" y="1901112"/>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nvSpPr>
            <p:spPr>
              <a:xfrm rot="5400000">
                <a:off x="2749326" y="909958"/>
                <a:ext cx="972885" cy="838694"/>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rot="16200000" flipH="1">
                <a:off x="246647" y="-44298"/>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等腰三角形 37"/>
            <p:cNvSpPr/>
            <p:nvPr/>
          </p:nvSpPr>
          <p:spPr>
            <a:xfrm rot="5400000">
              <a:off x="172095" y="2177383"/>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rot="5400000">
              <a:off x="175400" y="1549099"/>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等腰三角形 39"/>
            <p:cNvSpPr/>
            <p:nvPr/>
          </p:nvSpPr>
          <p:spPr>
            <a:xfrm rot="5400000">
              <a:off x="705178" y="1858288"/>
              <a:ext cx="618375" cy="533082"/>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 name="图片 9"/>
          <p:cNvPicPr/>
          <p:nvPr userDrawn="1"/>
        </p:nvPicPr>
        <p:blipFill>
          <a:blip r:embed="rId2">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15B73C-FE37-48BC-8A31-84F8B5A939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15B73C-FE37-48BC-8A31-84F8B5A939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015B73C-FE37-48BC-8A31-84F8B5A939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015B73C-FE37-48BC-8A31-84F8B5A93988}" type="slidenum">
              <a:rPr lang="zh-CN" altLang="en-US" smtClean="0"/>
            </a:fld>
            <a:endParaRPr lang="zh-CN" altLang="en-US"/>
          </a:p>
        </p:txBody>
      </p:sp>
      <p:cxnSp>
        <p:nvCxnSpPr>
          <p:cNvPr id="6" name="直接连接符 5"/>
          <p:cNvCxnSpPr/>
          <p:nvPr userDrawn="1"/>
        </p:nvCxnSpPr>
        <p:spPr>
          <a:xfrm flipH="1">
            <a:off x="464127" y="6507480"/>
            <a:ext cx="10706793"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灯片编号占位符 5"/>
          <p:cNvSpPr txBox="1"/>
          <p:nvPr userDrawn="1"/>
        </p:nvSpPr>
        <p:spPr>
          <a:xfrm>
            <a:off x="11217390" y="6324917"/>
            <a:ext cx="524423"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15B73C-FE37-48BC-8A31-84F8B5A93988}" type="slidenum">
              <a:rPr lang="zh-CN" altLang="en-US" sz="1600" smtClean="0">
                <a:solidFill>
                  <a:schemeClr val="accent1">
                    <a:lumMod val="50000"/>
                  </a:schemeClr>
                </a:solidFill>
              </a:rPr>
            </a:fld>
            <a:endParaRPr lang="zh-CN" altLang="en-US" sz="1600" dirty="0">
              <a:solidFill>
                <a:schemeClr val="accent1">
                  <a:lumMod val="50000"/>
                </a:schemeClr>
              </a:solidFill>
            </a:endParaRPr>
          </a:p>
        </p:txBody>
      </p:sp>
      <p:grpSp>
        <p:nvGrpSpPr>
          <p:cNvPr id="8" name="组合 7"/>
          <p:cNvGrpSpPr/>
          <p:nvPr userDrawn="1"/>
        </p:nvGrpSpPr>
        <p:grpSpPr>
          <a:xfrm>
            <a:off x="11452916" y="5846548"/>
            <a:ext cx="739084" cy="971841"/>
            <a:chOff x="-1164737" y="1521462"/>
            <a:chExt cx="1407699" cy="1851021"/>
          </a:xfrm>
        </p:grpSpPr>
        <p:sp>
          <p:nvSpPr>
            <p:cNvPr id="9" name="等腰三角形 8"/>
            <p:cNvSpPr/>
            <p:nvPr/>
          </p:nvSpPr>
          <p:spPr>
            <a:xfrm rot="5400000">
              <a:off x="-865849" y="2182484"/>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6200000" flipH="1">
              <a:off x="-865848" y="1873296"/>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rot="16200000" flipH="1">
              <a:off x="-336771" y="2182254"/>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16200000" flipH="1">
              <a:off x="-332767" y="1564109"/>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rot="16200000" flipH="1">
              <a:off x="-340775" y="2796755"/>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34769" y="2491441"/>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a:off x="-1192059" y="2894582"/>
              <a:ext cx="396178" cy="341533"/>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015B73C-FE37-48BC-8A31-84F8B5A93988}" type="slidenum">
              <a:rPr lang="zh-CN" altLang="en-US" smtClean="0"/>
            </a:fld>
            <a:endParaRPr lang="zh-CN" altLang="en-US"/>
          </a:p>
        </p:txBody>
      </p:sp>
      <p:grpSp>
        <p:nvGrpSpPr>
          <p:cNvPr id="5" name="组合 4"/>
          <p:cNvGrpSpPr/>
          <p:nvPr userDrawn="1"/>
        </p:nvGrpSpPr>
        <p:grpSpPr>
          <a:xfrm>
            <a:off x="0" y="0"/>
            <a:ext cx="3581400" cy="3341572"/>
            <a:chOff x="214742" y="270164"/>
            <a:chExt cx="2661150" cy="2482947"/>
          </a:xfrm>
        </p:grpSpPr>
        <p:grpSp>
          <p:nvGrpSpPr>
            <p:cNvPr id="6" name="组合 5"/>
            <p:cNvGrpSpPr/>
            <p:nvPr/>
          </p:nvGrpSpPr>
          <p:grpSpPr>
            <a:xfrm>
              <a:off x="214745" y="270164"/>
              <a:ext cx="2661147" cy="1854896"/>
              <a:chOff x="-531648" y="-111394"/>
              <a:chExt cx="4186764" cy="2918295"/>
            </a:xfrm>
          </p:grpSpPr>
          <p:sp>
            <p:nvSpPr>
              <p:cNvPr id="10" name="等腰三角形 9"/>
              <p:cNvSpPr/>
              <p:nvPr/>
            </p:nvSpPr>
            <p:spPr>
              <a:xfrm rot="5400000">
                <a:off x="239949" y="1415033"/>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flipH="1">
                <a:off x="239950" y="928589"/>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5400000">
                <a:off x="1078643" y="92859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rot="5400000">
                <a:off x="1078643" y="928591"/>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16200000" flipH="1">
                <a:off x="1072343" y="1414670"/>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rot="16200000" flipH="1">
                <a:off x="1078643" y="442147"/>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1910636" y="141467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a:off x="-598744" y="442146"/>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rot="5400000">
                <a:off x="1917335" y="435695"/>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5400000">
                <a:off x="1075493" y="1901112"/>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5400000">
                <a:off x="2749326" y="909958"/>
                <a:ext cx="972885" cy="838694"/>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p:nvSpPr>
            <p:spPr>
              <a:xfrm rot="16200000" flipH="1">
                <a:off x="246647" y="-44298"/>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userDrawn="1"/>
            </p:nvSpPr>
            <p:spPr>
              <a:xfrm rot="5400000">
                <a:off x="2749326" y="-43017"/>
                <a:ext cx="972885" cy="838693"/>
              </a:xfrm>
              <a:prstGeom prst="triangle">
                <a:avLst/>
              </a:prstGeom>
              <a:solidFill>
                <a:schemeClr val="accent1">
                  <a:lumMod val="20000"/>
                  <a:lumOff val="80000"/>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等腰三角形 6"/>
            <p:cNvSpPr/>
            <p:nvPr/>
          </p:nvSpPr>
          <p:spPr>
            <a:xfrm rot="5400000">
              <a:off x="172095" y="2177383"/>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5400000">
              <a:off x="175400" y="1549099"/>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等腰三角形 8"/>
            <p:cNvSpPr/>
            <p:nvPr/>
          </p:nvSpPr>
          <p:spPr>
            <a:xfrm rot="5400000">
              <a:off x="705178" y="1858288"/>
              <a:ext cx="618375" cy="533082"/>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userDrawn="1"/>
        </p:nvGrpSpPr>
        <p:grpSpPr>
          <a:xfrm>
            <a:off x="11352349" y="5684214"/>
            <a:ext cx="839651" cy="973875"/>
            <a:chOff x="-1356283" y="1212273"/>
            <a:chExt cx="1599245" cy="1854896"/>
          </a:xfrm>
        </p:grpSpPr>
        <p:sp>
          <p:nvSpPr>
            <p:cNvPr id="23" name="等腰三角形 22"/>
            <p:cNvSpPr/>
            <p:nvPr/>
          </p:nvSpPr>
          <p:spPr>
            <a:xfrm rot="5400000">
              <a:off x="-865849" y="2182484"/>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16200000" flipH="1">
              <a:off x="-865848" y="1873296"/>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16200000" flipH="1">
              <a:off x="-336771" y="2182254"/>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nvSpPr>
          <p:spPr>
            <a:xfrm rot="16200000" flipH="1">
              <a:off x="-332767" y="1564109"/>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nvSpPr>
          <p:spPr>
            <a:xfrm rot="16200000" flipH="1">
              <a:off x="-1398930" y="1564108"/>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5400000">
              <a:off x="-334769" y="2491441"/>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16200000" flipH="1">
              <a:off x="-861591" y="1254920"/>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3" name="图片 32"/>
          <p:cNvPicPr/>
          <p:nvPr userDrawn="1"/>
        </p:nvPicPr>
        <p:blipFill>
          <a:blip r:embed="rId2">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15B73C-FE37-48BC-8A31-84F8B5A939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15B73C-FE37-48BC-8A31-84F8B5A939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15B73C-FE37-48BC-8A31-84F8B5A939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6F8E6D3-EC10-435A-83A8-4CF3748666B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15B73C-FE37-48BC-8A31-84F8B5A9398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F8E6D3-EC10-435A-83A8-4CF3748666BF}"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15B73C-FE37-48BC-8A31-84F8B5A9398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1.jpeg"/><Relationship Id="rId12" Type="http://schemas.openxmlformats.org/officeDocument/2006/relationships/slideLayout" Target="../slideLayouts/slideLayout6.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6.xml"/><Relationship Id="rId3" Type="http://schemas.openxmlformats.org/officeDocument/2006/relationships/tags" Target="../tags/tag12.xml"/><Relationship Id="rId2" Type="http://schemas.openxmlformats.org/officeDocument/2006/relationships/image" Target="../media/image1.jpeg"/><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6.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6.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18.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image" Target="../media/image19.pn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6.xml"/><Relationship Id="rId2" Type="http://schemas.openxmlformats.org/officeDocument/2006/relationships/image" Target="../media/image20.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1.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直接连接符 15"/>
          <p:cNvCxnSpPr/>
          <p:nvPr/>
        </p:nvCxnSpPr>
        <p:spPr>
          <a:xfrm>
            <a:off x="5640421" y="3947364"/>
            <a:ext cx="911157"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0" name="Freeform 5"/>
          <p:cNvSpPr>
            <a:spLocks noEditPoints="1"/>
          </p:cNvSpPr>
          <p:nvPr/>
        </p:nvSpPr>
        <p:spPr bwMode="auto">
          <a:xfrm>
            <a:off x="5760018" y="520406"/>
            <a:ext cx="671963" cy="769033"/>
          </a:xfrm>
          <a:custGeom>
            <a:avLst/>
            <a:gdLst>
              <a:gd name="T0" fmla="*/ 1898 w 2872"/>
              <a:gd name="T1" fmla="*/ 1941 h 3284"/>
              <a:gd name="T2" fmla="*/ 2681 w 2872"/>
              <a:gd name="T3" fmla="*/ 328 h 3284"/>
              <a:gd name="T4" fmla="*/ 332 w 2872"/>
              <a:gd name="T5" fmla="*/ 0 h 3284"/>
              <a:gd name="T6" fmla="*/ 4 w 2872"/>
              <a:gd name="T7" fmla="*/ 3014 h 3284"/>
              <a:gd name="T8" fmla="*/ 378 w 2872"/>
              <a:gd name="T9" fmla="*/ 3234 h 3284"/>
              <a:gd name="T10" fmla="*/ 1491 w 2872"/>
              <a:gd name="T11" fmla="*/ 2781 h 3284"/>
              <a:gd name="T12" fmla="*/ 987 w 2872"/>
              <a:gd name="T13" fmla="*/ 1006 h 3284"/>
              <a:gd name="T14" fmla="*/ 1069 w 2872"/>
              <a:gd name="T15" fmla="*/ 924 h 3284"/>
              <a:gd name="T16" fmla="*/ 2073 w 2872"/>
              <a:gd name="T17" fmla="*/ 948 h 3284"/>
              <a:gd name="T18" fmla="*/ 2097 w 2872"/>
              <a:gd name="T19" fmla="*/ 1114 h 3284"/>
              <a:gd name="T20" fmla="*/ 2015 w 2872"/>
              <a:gd name="T21" fmla="*/ 1196 h 3284"/>
              <a:gd name="T22" fmla="*/ 1011 w 2872"/>
              <a:gd name="T23" fmla="*/ 1172 h 3284"/>
              <a:gd name="T24" fmla="*/ 987 w 2872"/>
              <a:gd name="T25" fmla="*/ 1006 h 3284"/>
              <a:gd name="T26" fmla="*/ 672 w 2872"/>
              <a:gd name="T27" fmla="*/ 1885 h 3284"/>
              <a:gd name="T28" fmla="*/ 590 w 2872"/>
              <a:gd name="T29" fmla="*/ 1803 h 3284"/>
              <a:gd name="T30" fmla="*/ 614 w 2872"/>
              <a:gd name="T31" fmla="*/ 1641 h 3284"/>
              <a:gd name="T32" fmla="*/ 778 w 2872"/>
              <a:gd name="T33" fmla="*/ 1617 h 3284"/>
              <a:gd name="T34" fmla="*/ 860 w 2872"/>
              <a:gd name="T35" fmla="*/ 1699 h 3284"/>
              <a:gd name="T36" fmla="*/ 836 w 2872"/>
              <a:gd name="T37" fmla="*/ 1861 h 3284"/>
              <a:gd name="T38" fmla="*/ 778 w 2872"/>
              <a:gd name="T39" fmla="*/ 1192 h 3284"/>
              <a:gd name="T40" fmla="*/ 614 w 2872"/>
              <a:gd name="T41" fmla="*/ 1168 h 3284"/>
              <a:gd name="T42" fmla="*/ 590 w 2872"/>
              <a:gd name="T43" fmla="*/ 1006 h 3284"/>
              <a:gd name="T44" fmla="*/ 672 w 2872"/>
              <a:gd name="T45" fmla="*/ 924 h 3284"/>
              <a:gd name="T46" fmla="*/ 836 w 2872"/>
              <a:gd name="T47" fmla="*/ 948 h 3284"/>
              <a:gd name="T48" fmla="*/ 860 w 2872"/>
              <a:gd name="T49" fmla="*/ 1113 h 3284"/>
              <a:gd name="T50" fmla="*/ 778 w 2872"/>
              <a:gd name="T51" fmla="*/ 1195 h 3284"/>
              <a:gd name="T52" fmla="*/ 1069 w 2872"/>
              <a:gd name="T53" fmla="*/ 1885 h 3284"/>
              <a:gd name="T54" fmla="*/ 987 w 2872"/>
              <a:gd name="T55" fmla="*/ 1803 h 3284"/>
              <a:gd name="T56" fmla="*/ 1011 w 2872"/>
              <a:gd name="T57" fmla="*/ 1641 h 3284"/>
              <a:gd name="T58" fmla="*/ 2015 w 2872"/>
              <a:gd name="T59" fmla="*/ 1617 h 3284"/>
              <a:gd name="T60" fmla="*/ 2097 w 2872"/>
              <a:gd name="T61" fmla="*/ 1699 h 3284"/>
              <a:gd name="T62" fmla="*/ 2073 w 2872"/>
              <a:gd name="T63" fmla="*/ 1861 h 3284"/>
              <a:gd name="T64" fmla="*/ 1069 w 2872"/>
              <a:gd name="T65" fmla="*/ 1885 h 3284"/>
              <a:gd name="T66" fmla="*/ 1579 w 2872"/>
              <a:gd name="T67" fmla="*/ 2633 h 3284"/>
              <a:gd name="T68" fmla="*/ 2872 w 2872"/>
              <a:gd name="T69" fmla="*/ 2627 h 3284"/>
              <a:gd name="T70" fmla="*/ 2216 w 2872"/>
              <a:gd name="T71" fmla="*/ 1980 h 3284"/>
              <a:gd name="T72" fmla="*/ 1770 w 2872"/>
              <a:gd name="T73" fmla="*/ 2622 h 3284"/>
              <a:gd name="T74" fmla="*/ 2131 w 2872"/>
              <a:gd name="T75" fmla="*/ 2655 h 3284"/>
              <a:gd name="T76" fmla="*/ 2671 w 2872"/>
              <a:gd name="T77" fmla="*/ 2460 h 3284"/>
              <a:gd name="T78" fmla="*/ 2128 w 2872"/>
              <a:gd name="T79" fmla="*/ 2950 h 3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872" h="3284">
                <a:moveTo>
                  <a:pt x="1468" y="2605"/>
                </a:moveTo>
                <a:cubicBezTo>
                  <a:pt x="1471" y="2320"/>
                  <a:pt x="1638" y="2061"/>
                  <a:pt x="1898" y="1941"/>
                </a:cubicBezTo>
                <a:cubicBezTo>
                  <a:pt x="2158" y="1822"/>
                  <a:pt x="2463" y="1864"/>
                  <a:pt x="2681" y="2048"/>
                </a:cubicBezTo>
                <a:cubicBezTo>
                  <a:pt x="2681" y="328"/>
                  <a:pt x="2681" y="328"/>
                  <a:pt x="2681" y="328"/>
                </a:cubicBezTo>
                <a:cubicBezTo>
                  <a:pt x="2681" y="147"/>
                  <a:pt x="2535" y="0"/>
                  <a:pt x="2354" y="0"/>
                </a:cubicBezTo>
                <a:cubicBezTo>
                  <a:pt x="332" y="0"/>
                  <a:pt x="332" y="0"/>
                  <a:pt x="332" y="0"/>
                </a:cubicBezTo>
                <a:cubicBezTo>
                  <a:pt x="151" y="0"/>
                  <a:pt x="4" y="147"/>
                  <a:pt x="4" y="328"/>
                </a:cubicBezTo>
                <a:cubicBezTo>
                  <a:pt x="4" y="3014"/>
                  <a:pt x="4" y="3014"/>
                  <a:pt x="4" y="3014"/>
                </a:cubicBezTo>
                <a:cubicBezTo>
                  <a:pt x="0" y="3105"/>
                  <a:pt x="44" y="3191"/>
                  <a:pt x="121" y="3240"/>
                </a:cubicBezTo>
                <a:cubicBezTo>
                  <a:pt x="201" y="3284"/>
                  <a:pt x="299" y="3282"/>
                  <a:pt x="378" y="3234"/>
                </a:cubicBezTo>
                <a:cubicBezTo>
                  <a:pt x="1350" y="2704"/>
                  <a:pt x="1350" y="2704"/>
                  <a:pt x="1350" y="2704"/>
                </a:cubicBezTo>
                <a:cubicBezTo>
                  <a:pt x="1491" y="2781"/>
                  <a:pt x="1491" y="2781"/>
                  <a:pt x="1491" y="2781"/>
                </a:cubicBezTo>
                <a:cubicBezTo>
                  <a:pt x="1476" y="2723"/>
                  <a:pt x="1469" y="2665"/>
                  <a:pt x="1468" y="2605"/>
                </a:cubicBezTo>
                <a:close/>
                <a:moveTo>
                  <a:pt x="987" y="1006"/>
                </a:moveTo>
                <a:cubicBezTo>
                  <a:pt x="987" y="985"/>
                  <a:pt x="996" y="964"/>
                  <a:pt x="1011" y="948"/>
                </a:cubicBezTo>
                <a:cubicBezTo>
                  <a:pt x="1027" y="933"/>
                  <a:pt x="1048" y="924"/>
                  <a:pt x="1069" y="924"/>
                </a:cubicBezTo>
                <a:cubicBezTo>
                  <a:pt x="2015" y="924"/>
                  <a:pt x="2015" y="924"/>
                  <a:pt x="2015" y="924"/>
                </a:cubicBezTo>
                <a:cubicBezTo>
                  <a:pt x="2036" y="924"/>
                  <a:pt x="2057" y="933"/>
                  <a:pt x="2073" y="948"/>
                </a:cubicBezTo>
                <a:cubicBezTo>
                  <a:pt x="2088" y="964"/>
                  <a:pt x="2097" y="985"/>
                  <a:pt x="2097" y="1006"/>
                </a:cubicBezTo>
                <a:cubicBezTo>
                  <a:pt x="2097" y="1114"/>
                  <a:pt x="2097" y="1114"/>
                  <a:pt x="2097" y="1114"/>
                </a:cubicBezTo>
                <a:cubicBezTo>
                  <a:pt x="2097" y="1135"/>
                  <a:pt x="2088" y="1156"/>
                  <a:pt x="2073" y="1172"/>
                </a:cubicBezTo>
                <a:cubicBezTo>
                  <a:pt x="2057" y="1187"/>
                  <a:pt x="2036" y="1196"/>
                  <a:pt x="2015" y="1196"/>
                </a:cubicBezTo>
                <a:cubicBezTo>
                  <a:pt x="1069" y="1196"/>
                  <a:pt x="1069" y="1196"/>
                  <a:pt x="1069" y="1196"/>
                </a:cubicBezTo>
                <a:cubicBezTo>
                  <a:pt x="1048" y="1196"/>
                  <a:pt x="1027" y="1187"/>
                  <a:pt x="1011" y="1172"/>
                </a:cubicBezTo>
                <a:cubicBezTo>
                  <a:pt x="996" y="1156"/>
                  <a:pt x="987" y="1135"/>
                  <a:pt x="987" y="1114"/>
                </a:cubicBezTo>
                <a:lnTo>
                  <a:pt x="987" y="1006"/>
                </a:lnTo>
                <a:close/>
                <a:moveTo>
                  <a:pt x="778" y="1885"/>
                </a:moveTo>
                <a:cubicBezTo>
                  <a:pt x="672" y="1885"/>
                  <a:pt x="672" y="1885"/>
                  <a:pt x="672" y="1885"/>
                </a:cubicBezTo>
                <a:cubicBezTo>
                  <a:pt x="650" y="1885"/>
                  <a:pt x="629" y="1876"/>
                  <a:pt x="614" y="1861"/>
                </a:cubicBezTo>
                <a:cubicBezTo>
                  <a:pt x="599" y="1845"/>
                  <a:pt x="590" y="1824"/>
                  <a:pt x="590" y="1803"/>
                </a:cubicBezTo>
                <a:cubicBezTo>
                  <a:pt x="590" y="1699"/>
                  <a:pt x="590" y="1699"/>
                  <a:pt x="590" y="1699"/>
                </a:cubicBezTo>
                <a:cubicBezTo>
                  <a:pt x="590" y="1678"/>
                  <a:pt x="599" y="1657"/>
                  <a:pt x="614" y="1641"/>
                </a:cubicBezTo>
                <a:cubicBezTo>
                  <a:pt x="629" y="1626"/>
                  <a:pt x="650" y="1617"/>
                  <a:pt x="672" y="1617"/>
                </a:cubicBezTo>
                <a:cubicBezTo>
                  <a:pt x="778" y="1617"/>
                  <a:pt x="778" y="1617"/>
                  <a:pt x="778" y="1617"/>
                </a:cubicBezTo>
                <a:cubicBezTo>
                  <a:pt x="799" y="1617"/>
                  <a:pt x="820" y="1626"/>
                  <a:pt x="836" y="1641"/>
                </a:cubicBezTo>
                <a:cubicBezTo>
                  <a:pt x="851" y="1657"/>
                  <a:pt x="860" y="1678"/>
                  <a:pt x="860" y="1699"/>
                </a:cubicBezTo>
                <a:cubicBezTo>
                  <a:pt x="860" y="1803"/>
                  <a:pt x="860" y="1803"/>
                  <a:pt x="860" y="1803"/>
                </a:cubicBezTo>
                <a:cubicBezTo>
                  <a:pt x="860" y="1824"/>
                  <a:pt x="851" y="1845"/>
                  <a:pt x="836" y="1861"/>
                </a:cubicBezTo>
                <a:cubicBezTo>
                  <a:pt x="820" y="1876"/>
                  <a:pt x="799" y="1885"/>
                  <a:pt x="778" y="1885"/>
                </a:cubicBezTo>
                <a:close/>
                <a:moveTo>
                  <a:pt x="778" y="1192"/>
                </a:moveTo>
                <a:cubicBezTo>
                  <a:pt x="672" y="1192"/>
                  <a:pt x="672" y="1192"/>
                  <a:pt x="672" y="1192"/>
                </a:cubicBezTo>
                <a:cubicBezTo>
                  <a:pt x="650" y="1192"/>
                  <a:pt x="629" y="1183"/>
                  <a:pt x="614" y="1168"/>
                </a:cubicBezTo>
                <a:cubicBezTo>
                  <a:pt x="599" y="1152"/>
                  <a:pt x="590" y="1131"/>
                  <a:pt x="590" y="1110"/>
                </a:cubicBezTo>
                <a:cubicBezTo>
                  <a:pt x="590" y="1006"/>
                  <a:pt x="590" y="1006"/>
                  <a:pt x="590" y="1006"/>
                </a:cubicBezTo>
                <a:cubicBezTo>
                  <a:pt x="590" y="984"/>
                  <a:pt x="599" y="963"/>
                  <a:pt x="614" y="948"/>
                </a:cubicBezTo>
                <a:cubicBezTo>
                  <a:pt x="629" y="932"/>
                  <a:pt x="650" y="924"/>
                  <a:pt x="672" y="924"/>
                </a:cubicBezTo>
                <a:cubicBezTo>
                  <a:pt x="778" y="924"/>
                  <a:pt x="778" y="924"/>
                  <a:pt x="778" y="924"/>
                </a:cubicBezTo>
                <a:cubicBezTo>
                  <a:pt x="800" y="924"/>
                  <a:pt x="821" y="932"/>
                  <a:pt x="836" y="948"/>
                </a:cubicBezTo>
                <a:cubicBezTo>
                  <a:pt x="852" y="963"/>
                  <a:pt x="860" y="984"/>
                  <a:pt x="860" y="1006"/>
                </a:cubicBezTo>
                <a:cubicBezTo>
                  <a:pt x="860" y="1113"/>
                  <a:pt x="860" y="1113"/>
                  <a:pt x="860" y="1113"/>
                </a:cubicBezTo>
                <a:cubicBezTo>
                  <a:pt x="860" y="1135"/>
                  <a:pt x="852" y="1155"/>
                  <a:pt x="836" y="1171"/>
                </a:cubicBezTo>
                <a:cubicBezTo>
                  <a:pt x="821" y="1186"/>
                  <a:pt x="800" y="1195"/>
                  <a:pt x="778" y="1195"/>
                </a:cubicBezTo>
                <a:lnTo>
                  <a:pt x="778" y="1192"/>
                </a:lnTo>
                <a:close/>
                <a:moveTo>
                  <a:pt x="1069" y="1885"/>
                </a:moveTo>
                <a:cubicBezTo>
                  <a:pt x="1048" y="1885"/>
                  <a:pt x="1027" y="1876"/>
                  <a:pt x="1011" y="1861"/>
                </a:cubicBezTo>
                <a:cubicBezTo>
                  <a:pt x="996" y="1845"/>
                  <a:pt x="987" y="1824"/>
                  <a:pt x="987" y="1803"/>
                </a:cubicBezTo>
                <a:cubicBezTo>
                  <a:pt x="987" y="1699"/>
                  <a:pt x="987" y="1699"/>
                  <a:pt x="987" y="1699"/>
                </a:cubicBezTo>
                <a:cubicBezTo>
                  <a:pt x="987" y="1678"/>
                  <a:pt x="996" y="1657"/>
                  <a:pt x="1011" y="1641"/>
                </a:cubicBezTo>
                <a:cubicBezTo>
                  <a:pt x="1027" y="1626"/>
                  <a:pt x="1048" y="1617"/>
                  <a:pt x="1069" y="1617"/>
                </a:cubicBezTo>
                <a:cubicBezTo>
                  <a:pt x="2015" y="1617"/>
                  <a:pt x="2015" y="1617"/>
                  <a:pt x="2015" y="1617"/>
                </a:cubicBezTo>
                <a:cubicBezTo>
                  <a:pt x="2036" y="1617"/>
                  <a:pt x="2057" y="1626"/>
                  <a:pt x="2073" y="1641"/>
                </a:cubicBezTo>
                <a:cubicBezTo>
                  <a:pt x="2088" y="1657"/>
                  <a:pt x="2097" y="1678"/>
                  <a:pt x="2097" y="1699"/>
                </a:cubicBezTo>
                <a:cubicBezTo>
                  <a:pt x="2097" y="1803"/>
                  <a:pt x="2097" y="1803"/>
                  <a:pt x="2097" y="1803"/>
                </a:cubicBezTo>
                <a:cubicBezTo>
                  <a:pt x="2097" y="1824"/>
                  <a:pt x="2088" y="1845"/>
                  <a:pt x="2073" y="1861"/>
                </a:cubicBezTo>
                <a:cubicBezTo>
                  <a:pt x="2057" y="1876"/>
                  <a:pt x="2036" y="1885"/>
                  <a:pt x="2015" y="1885"/>
                </a:cubicBezTo>
                <a:lnTo>
                  <a:pt x="1069" y="1885"/>
                </a:lnTo>
                <a:close/>
                <a:moveTo>
                  <a:pt x="2216" y="1980"/>
                </a:moveTo>
                <a:cubicBezTo>
                  <a:pt x="1860" y="1985"/>
                  <a:pt x="1576" y="2277"/>
                  <a:pt x="1579" y="2633"/>
                </a:cubicBezTo>
                <a:cubicBezTo>
                  <a:pt x="1582" y="2988"/>
                  <a:pt x="1872" y="3275"/>
                  <a:pt x="2228" y="3273"/>
                </a:cubicBezTo>
                <a:cubicBezTo>
                  <a:pt x="2584" y="3271"/>
                  <a:pt x="2872" y="2983"/>
                  <a:pt x="2872" y="2627"/>
                </a:cubicBezTo>
                <a:cubicBezTo>
                  <a:pt x="2872" y="2454"/>
                  <a:pt x="2802" y="2288"/>
                  <a:pt x="2679" y="2167"/>
                </a:cubicBezTo>
                <a:cubicBezTo>
                  <a:pt x="2556" y="2045"/>
                  <a:pt x="2389" y="1978"/>
                  <a:pt x="2216" y="1980"/>
                </a:cubicBezTo>
                <a:close/>
                <a:moveTo>
                  <a:pt x="2128" y="2950"/>
                </a:moveTo>
                <a:cubicBezTo>
                  <a:pt x="1770" y="2622"/>
                  <a:pt x="1770" y="2622"/>
                  <a:pt x="1770" y="2622"/>
                </a:cubicBezTo>
                <a:cubicBezTo>
                  <a:pt x="1934" y="2476"/>
                  <a:pt x="1934" y="2476"/>
                  <a:pt x="1934" y="2476"/>
                </a:cubicBezTo>
                <a:cubicBezTo>
                  <a:pt x="2131" y="2655"/>
                  <a:pt x="2131" y="2655"/>
                  <a:pt x="2131" y="2655"/>
                </a:cubicBezTo>
                <a:cubicBezTo>
                  <a:pt x="2507" y="2314"/>
                  <a:pt x="2507" y="2314"/>
                  <a:pt x="2507" y="2314"/>
                </a:cubicBezTo>
                <a:cubicBezTo>
                  <a:pt x="2671" y="2460"/>
                  <a:pt x="2671" y="2460"/>
                  <a:pt x="2671" y="2460"/>
                </a:cubicBezTo>
                <a:lnTo>
                  <a:pt x="2128" y="2950"/>
                </a:lnTo>
                <a:close/>
                <a:moveTo>
                  <a:pt x="2128" y="2950"/>
                </a:moveTo>
                <a:cubicBezTo>
                  <a:pt x="2128" y="2950"/>
                  <a:pt x="2128" y="2950"/>
                  <a:pt x="2128" y="2950"/>
                </a:cubicBezTo>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 name="文本框 2"/>
          <p:cNvSpPr txBox="1"/>
          <p:nvPr/>
        </p:nvSpPr>
        <p:spPr>
          <a:xfrm>
            <a:off x="785495" y="2424430"/>
            <a:ext cx="10621010" cy="1282700"/>
          </a:xfrm>
          <a:prstGeom prst="rect">
            <a:avLst/>
          </a:prstGeom>
          <a:noFill/>
        </p:spPr>
        <p:txBody>
          <a:bodyPr wrap="square" rtlCol="0">
            <a:noAutofit/>
          </a:bodyPr>
          <a:p>
            <a:pPr algn="l">
              <a:buClrTx/>
              <a:buSzTx/>
              <a:buFont typeface="Wingdings" panose="05000000000000000000" charset="0"/>
            </a:pPr>
            <a:r>
              <a:rPr lang="en-US" altLang="zh-CN" sz="3200" b="1" dirty="0">
                <a:solidFill>
                  <a:schemeClr val="accent5">
                    <a:lumMod val="50000"/>
                  </a:schemeClr>
                </a:solidFill>
                <a:cs typeface="+mn-ea"/>
              </a:rPr>
              <a:t>SegR-Net: A deep learning framework with multi-scale feature fusion for robust retinal vessel segmentation</a:t>
            </a:r>
            <a:endParaRPr lang="en-US" altLang="zh-CN" sz="3200" b="1" dirty="0">
              <a:solidFill>
                <a:schemeClr val="accent5">
                  <a:lumMod val="50000"/>
                </a:schemeClr>
              </a:solidFill>
              <a:cs typeface="+mn-ea"/>
            </a:endParaRPr>
          </a:p>
        </p:txBody>
      </p:sp>
      <p:sp>
        <p:nvSpPr>
          <p:cNvPr id="2" name="文本框 1"/>
          <p:cNvSpPr txBox="1"/>
          <p:nvPr/>
        </p:nvSpPr>
        <p:spPr>
          <a:xfrm>
            <a:off x="2516505" y="4187190"/>
            <a:ext cx="7897495" cy="638175"/>
          </a:xfrm>
          <a:prstGeom prst="rect">
            <a:avLst/>
          </a:prstGeom>
          <a:noFill/>
        </p:spPr>
        <p:txBody>
          <a:bodyPr wrap="square" rtlCol="0">
            <a:noAutofit/>
          </a:bodyPr>
          <a:p>
            <a:pPr algn="ctr"/>
            <a:r>
              <a:rPr lang="zh-CN" altLang="en-US" sz="2400" dirty="0">
                <a:solidFill>
                  <a:schemeClr val="accent5">
                    <a:lumMod val="50000"/>
                  </a:schemeClr>
                </a:solidFill>
                <a:cs typeface="+mn-ea"/>
              </a:rPr>
              <a:t>Computers in Biology and Medicine, 2023•Elsevier</a:t>
            </a:r>
            <a:endParaRPr lang="zh-CN" altLang="en-US" sz="2400" dirty="0">
              <a:solidFill>
                <a:schemeClr val="accent5">
                  <a:lumMod val="50000"/>
                </a:schemeClr>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1216025" cy="460375"/>
          </a:xfrm>
          <a:prstGeom prst="rect">
            <a:avLst/>
          </a:prstGeom>
        </p:spPr>
        <p:txBody>
          <a:bodyPr wrap="none">
            <a:spAutoFit/>
          </a:bodyPr>
          <a:lstStyle/>
          <a:p>
            <a:pPr algn="l"/>
            <a:r>
              <a:rPr lang="en-US" altLang="zh-CN" sz="2400" b="1" dirty="0">
                <a:solidFill>
                  <a:schemeClr val="accent1">
                    <a:lumMod val="50000"/>
                  </a:schemeClr>
                </a:solidFill>
              </a:rPr>
              <a:t>01 </a:t>
            </a:r>
            <a:r>
              <a:rPr lang="zh-CN" altLang="en-US" sz="2400" b="1" dirty="0">
                <a:solidFill>
                  <a:schemeClr val="accent1">
                    <a:lumMod val="50000"/>
                  </a:schemeClr>
                </a:solidFill>
              </a:rPr>
              <a:t>作者</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2" name="图片 1"/>
          <p:cNvPicPr>
            <a:picLocks noChangeAspect="1"/>
          </p:cNvPicPr>
          <p:nvPr/>
        </p:nvPicPr>
        <p:blipFill>
          <a:blip r:embed="rId2"/>
          <a:stretch>
            <a:fillRect/>
          </a:stretch>
        </p:blipFill>
        <p:spPr>
          <a:xfrm>
            <a:off x="1752600" y="870585"/>
            <a:ext cx="8126730" cy="5511165"/>
          </a:xfrm>
          <a:prstGeom prst="rect">
            <a:avLst/>
          </a:prstGeom>
        </p:spPr>
      </p:pic>
      <p:sp>
        <p:nvSpPr>
          <p:cNvPr id="3" name="矩形 2"/>
          <p:cNvSpPr/>
          <p:nvPr/>
        </p:nvSpPr>
        <p:spPr>
          <a:xfrm>
            <a:off x="4700270" y="1838960"/>
            <a:ext cx="1236980" cy="29019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 name="矩形 3"/>
          <p:cNvSpPr/>
          <p:nvPr/>
        </p:nvSpPr>
        <p:spPr>
          <a:xfrm>
            <a:off x="6007100" y="1838960"/>
            <a:ext cx="989330" cy="29019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custDataLst>
              <p:tags r:id="rId1"/>
            </p:custDataLst>
          </p:nvPr>
        </p:nvSpPr>
        <p:spPr>
          <a:xfrm>
            <a:off x="1006955" y="331594"/>
            <a:ext cx="1825625" cy="460375"/>
          </a:xfrm>
          <a:prstGeom prst="rect">
            <a:avLst/>
          </a:prstGeom>
        </p:spPr>
        <p:txBody>
          <a:bodyPr wrap="none">
            <a:spAutoFit/>
          </a:bodyPr>
          <a:lstStyle/>
          <a:p>
            <a:r>
              <a:rPr lang="en-US" altLang="zh-CN" sz="2400" b="1" dirty="0">
                <a:solidFill>
                  <a:schemeClr val="accent1">
                    <a:lumMod val="50000"/>
                  </a:schemeClr>
                </a:solidFill>
              </a:rPr>
              <a:t>02 </a:t>
            </a:r>
            <a:r>
              <a:rPr lang="zh-CN" altLang="en-US" sz="2400" b="1" dirty="0">
                <a:solidFill>
                  <a:schemeClr val="accent1">
                    <a:lumMod val="50000"/>
                  </a:schemeClr>
                </a:solidFill>
              </a:rPr>
              <a:t>问题导入</a:t>
            </a:r>
            <a:endParaRPr lang="zh-CN" altLang="en-US" sz="2400" b="1" dirty="0">
              <a:solidFill>
                <a:schemeClr val="accent1">
                  <a:lumMod val="50000"/>
                </a:schemeClr>
              </a:solidFill>
            </a:endParaRPr>
          </a:p>
        </p:txBody>
      </p:sp>
      <p:pic>
        <p:nvPicPr>
          <p:cNvPr id="6" name="图片 5"/>
          <p:cNvPicPr/>
          <p:nvPr/>
        </p:nvPicPr>
        <p:blipFill>
          <a:blip r:embed="rId2">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grpSp>
        <p:nvGrpSpPr>
          <p:cNvPr id="12" name="组合 11"/>
          <p:cNvGrpSpPr/>
          <p:nvPr>
            <p:custDataLst>
              <p:tags r:id="rId3"/>
            </p:custDataLst>
          </p:nvPr>
        </p:nvGrpSpPr>
        <p:grpSpPr>
          <a:xfrm>
            <a:off x="1005840" y="857250"/>
            <a:ext cx="9357995" cy="1568450"/>
            <a:chOff x="9600" y="1712"/>
            <a:chExt cx="7649" cy="2470"/>
          </a:xfrm>
        </p:grpSpPr>
        <p:sp>
          <p:nvSpPr>
            <p:cNvPr id="11" name="矩形 10"/>
            <p:cNvSpPr/>
            <p:nvPr>
              <p:custDataLst>
                <p:tags r:id="rId4"/>
              </p:custDataLst>
            </p:nvPr>
          </p:nvSpPr>
          <p:spPr>
            <a:xfrm>
              <a:off x="9600" y="1712"/>
              <a:ext cx="7649" cy="628"/>
            </a:xfrm>
            <a:prstGeom prst="rect">
              <a:avLst/>
            </a:prstGeom>
          </p:spPr>
          <p:txBody>
            <a:bodyPr wrap="square">
              <a:spAutoFit/>
            </a:bodyPr>
            <a:p>
              <a:pPr indent="0" algn="l">
                <a:buFont typeface="Wingdings" panose="05000000000000000000" charset="0"/>
                <a:buNone/>
              </a:pPr>
              <a:r>
                <a:rPr lang="en-US" altLang="zh-CN" sz="2000" b="1" dirty="0">
                  <a:solidFill>
                    <a:schemeClr val="accent5">
                      <a:lumMod val="50000"/>
                    </a:schemeClr>
                  </a:solidFill>
                  <a:cs typeface="+mn-ea"/>
                  <a:sym typeface="+mn-lt"/>
                </a:rPr>
                <a:t>1.</a:t>
              </a:r>
              <a:r>
                <a:rPr lang="zh-CN" altLang="en-US" sz="2000" b="1" dirty="0">
                  <a:solidFill>
                    <a:schemeClr val="accent5">
                      <a:lumMod val="50000"/>
                    </a:schemeClr>
                  </a:solidFill>
                  <a:cs typeface="+mn-ea"/>
                  <a:sym typeface="+mn-lt"/>
                </a:rPr>
                <a:t>手动分割的主观性与低效性</a:t>
              </a:r>
              <a:endParaRPr lang="zh-CN" altLang="en-US" sz="2000" b="1" dirty="0">
                <a:solidFill>
                  <a:schemeClr val="accent5">
                    <a:lumMod val="50000"/>
                  </a:schemeClr>
                </a:solidFill>
                <a:cs typeface="+mn-ea"/>
                <a:sym typeface="+mn-lt"/>
              </a:endParaRPr>
            </a:p>
          </p:txBody>
        </p:sp>
        <p:sp>
          <p:nvSpPr>
            <p:cNvPr id="35" name="矩形 34"/>
            <p:cNvSpPr/>
            <p:nvPr>
              <p:custDataLst>
                <p:tags r:id="rId5"/>
              </p:custDataLst>
            </p:nvPr>
          </p:nvSpPr>
          <p:spPr>
            <a:xfrm>
              <a:off x="9650" y="2339"/>
              <a:ext cx="7449" cy="1843"/>
            </a:xfrm>
            <a:prstGeom prst="rect">
              <a:avLst/>
            </a:prstGeom>
          </p:spPr>
          <p:txBody>
            <a:bodyPr wrap="square">
              <a:spAutoFit/>
            </a:bodyPr>
            <a:p>
              <a:pPr>
                <a:lnSpc>
                  <a:spcPct val="130000"/>
                </a:lnSpc>
              </a:pPr>
              <a:r>
                <a:rPr lang="zh-CN" altLang="en-US" dirty="0">
                  <a:solidFill>
                    <a:schemeClr val="accent5">
                      <a:lumMod val="50000"/>
                    </a:schemeClr>
                  </a:solidFill>
                  <a:cs typeface="+mn-ea"/>
                  <a:sym typeface="+mn-lt"/>
                </a:rPr>
                <a:t>手动分割依赖眼科医生经验，过程繁琐、耗时且成本高。由于血管结构复杂，不同医生或同一医生在不同时间点的标注可能存在差异，导致结果缺乏一致性和可重复性，影响分割的精确度和可靠性。</a:t>
              </a:r>
              <a:endParaRPr lang="zh-CN" altLang="en-US" dirty="0">
                <a:solidFill>
                  <a:schemeClr val="accent5">
                    <a:lumMod val="50000"/>
                  </a:schemeClr>
                </a:solidFill>
                <a:cs typeface="+mn-ea"/>
                <a:sym typeface="+mn-lt"/>
              </a:endParaRPr>
            </a:p>
          </p:txBody>
        </p:sp>
      </p:grpSp>
      <p:grpSp>
        <p:nvGrpSpPr>
          <p:cNvPr id="13" name="组合 12"/>
          <p:cNvGrpSpPr/>
          <p:nvPr>
            <p:custDataLst>
              <p:tags r:id="rId6"/>
            </p:custDataLst>
          </p:nvPr>
        </p:nvGrpSpPr>
        <p:grpSpPr>
          <a:xfrm>
            <a:off x="1005801" y="2522220"/>
            <a:ext cx="9174375" cy="1261745"/>
            <a:chOff x="9599" y="1399"/>
            <a:chExt cx="7008" cy="1987"/>
          </a:xfrm>
        </p:grpSpPr>
        <p:sp>
          <p:nvSpPr>
            <p:cNvPr id="14" name="矩形 13"/>
            <p:cNvSpPr/>
            <p:nvPr>
              <p:custDataLst>
                <p:tags r:id="rId7"/>
              </p:custDataLst>
            </p:nvPr>
          </p:nvSpPr>
          <p:spPr>
            <a:xfrm>
              <a:off x="9599" y="1399"/>
              <a:ext cx="6961" cy="628"/>
            </a:xfrm>
            <a:prstGeom prst="rect">
              <a:avLst/>
            </a:prstGeom>
          </p:spPr>
          <p:txBody>
            <a:bodyPr wrap="square">
              <a:spAutoFit/>
            </a:bodyPr>
            <a:p>
              <a:pPr algn="l"/>
              <a:r>
                <a:rPr lang="en-US" altLang="zh-CN" sz="2000" b="1" dirty="0">
                  <a:solidFill>
                    <a:schemeClr val="accent5">
                      <a:lumMod val="50000"/>
                    </a:schemeClr>
                  </a:solidFill>
                  <a:cs typeface="+mn-ea"/>
                  <a:sym typeface="+mn-lt"/>
                </a:rPr>
                <a:t>2.</a:t>
              </a:r>
              <a:r>
                <a:rPr lang="zh-CN" altLang="en-US" sz="2000" b="1" dirty="0">
                  <a:solidFill>
                    <a:schemeClr val="accent5">
                      <a:lumMod val="50000"/>
                    </a:schemeClr>
                  </a:solidFill>
                  <a:cs typeface="+mn-ea"/>
                  <a:sym typeface="+mn-lt"/>
                </a:rPr>
                <a:t>眼底图像质量与血管复杂形态对分割构成双重挑战。</a:t>
              </a:r>
              <a:endParaRPr lang="zh-CN" altLang="en-US" sz="2000" b="1" dirty="0">
                <a:solidFill>
                  <a:schemeClr val="accent5">
                    <a:lumMod val="50000"/>
                  </a:schemeClr>
                </a:solidFill>
                <a:cs typeface="+mn-ea"/>
                <a:sym typeface="+mn-lt"/>
              </a:endParaRPr>
            </a:p>
          </p:txBody>
        </p:sp>
        <p:sp>
          <p:nvSpPr>
            <p:cNvPr id="15" name="矩形 14"/>
            <p:cNvSpPr/>
            <p:nvPr>
              <p:custDataLst>
                <p:tags r:id="rId8"/>
              </p:custDataLst>
            </p:nvPr>
          </p:nvSpPr>
          <p:spPr>
            <a:xfrm>
              <a:off x="9645" y="1977"/>
              <a:ext cx="6962" cy="1409"/>
            </a:xfrm>
            <a:prstGeom prst="rect">
              <a:avLst/>
            </a:prstGeom>
          </p:spPr>
          <p:txBody>
            <a:bodyPr wrap="square">
              <a:noAutofit/>
            </a:bodyPr>
            <a:p>
              <a:pPr>
                <a:lnSpc>
                  <a:spcPct val="130000"/>
                </a:lnSpc>
              </a:pPr>
              <a:r>
                <a:rPr lang="zh-CN" altLang="en-US" dirty="0">
                  <a:solidFill>
                    <a:schemeClr val="accent5">
                      <a:lumMod val="50000"/>
                    </a:schemeClr>
                  </a:solidFill>
                  <a:cs typeface="+mn-ea"/>
                  <a:sym typeface="+mn-lt"/>
                </a:rPr>
                <a:t>一方面，眼底图像常存在低对比度、光照不均等质量问题，使得细小血管与背景难以区分。另一方面，视网膜血管本身具有动态变化的复杂形态，现有方法难以在此类低质量图像中完整且准确地捕捉从粗到细的多尺度血管结构，尤其容易丢失细小血管或导致血管断裂。</a:t>
              </a:r>
              <a:endParaRPr lang="zh-CN" altLang="en-US" dirty="0">
                <a:solidFill>
                  <a:schemeClr val="accent5">
                    <a:lumMod val="50000"/>
                  </a:schemeClr>
                </a:solidFill>
                <a:cs typeface="+mn-ea"/>
                <a:sym typeface="+mn-lt"/>
              </a:endParaRPr>
            </a:p>
            <a:p>
              <a:pPr>
                <a:lnSpc>
                  <a:spcPct val="130000"/>
                </a:lnSpc>
              </a:pPr>
              <a:endParaRPr lang="en-US" altLang="zh-CN" dirty="0">
                <a:solidFill>
                  <a:schemeClr val="accent5">
                    <a:lumMod val="50000"/>
                  </a:schemeClr>
                </a:solidFill>
                <a:cs typeface="+mn-ea"/>
                <a:sym typeface="+mn-lt"/>
              </a:endParaRPr>
            </a:p>
            <a:p>
              <a:pPr>
                <a:lnSpc>
                  <a:spcPct val="130000"/>
                </a:lnSpc>
              </a:pPr>
              <a:endParaRPr lang="en-US" altLang="zh-CN" dirty="0">
                <a:solidFill>
                  <a:schemeClr val="accent5">
                    <a:lumMod val="50000"/>
                  </a:schemeClr>
                </a:solidFill>
                <a:cs typeface="+mn-ea"/>
                <a:sym typeface="+mn-lt"/>
              </a:endParaRPr>
            </a:p>
          </p:txBody>
        </p:sp>
      </p:grpSp>
      <p:grpSp>
        <p:nvGrpSpPr>
          <p:cNvPr id="20" name="组合 19"/>
          <p:cNvGrpSpPr/>
          <p:nvPr>
            <p:custDataLst>
              <p:tags r:id="rId9"/>
            </p:custDataLst>
          </p:nvPr>
        </p:nvGrpSpPr>
        <p:grpSpPr>
          <a:xfrm>
            <a:off x="1004474" y="4187190"/>
            <a:ext cx="9236377" cy="1242060"/>
            <a:chOff x="9598" y="1349"/>
            <a:chExt cx="7008" cy="1956"/>
          </a:xfrm>
        </p:grpSpPr>
        <p:sp>
          <p:nvSpPr>
            <p:cNvPr id="21" name="矩形 20"/>
            <p:cNvSpPr/>
            <p:nvPr>
              <p:custDataLst>
                <p:tags r:id="rId10"/>
              </p:custDataLst>
            </p:nvPr>
          </p:nvSpPr>
          <p:spPr>
            <a:xfrm>
              <a:off x="9645" y="1349"/>
              <a:ext cx="6961" cy="628"/>
            </a:xfrm>
            <a:prstGeom prst="rect">
              <a:avLst/>
            </a:prstGeom>
          </p:spPr>
          <p:txBody>
            <a:bodyPr wrap="square">
              <a:spAutoFit/>
            </a:bodyPr>
            <a:p>
              <a:pPr algn="l"/>
              <a:r>
                <a:rPr lang="en-US" altLang="zh-CN" sz="2000" b="1" dirty="0">
                  <a:solidFill>
                    <a:schemeClr val="accent5">
                      <a:lumMod val="50000"/>
                    </a:schemeClr>
                  </a:solidFill>
                  <a:cs typeface="+mn-ea"/>
                  <a:sym typeface="+mn-lt"/>
                </a:rPr>
                <a:t>3.</a:t>
              </a:r>
              <a:r>
                <a:rPr lang="zh-CN" altLang="en-US" sz="2000" b="1" dirty="0">
                  <a:solidFill>
                    <a:schemeClr val="accent5">
                      <a:lumMod val="50000"/>
                    </a:schemeClr>
                  </a:solidFill>
                  <a:cs typeface="+mn-ea"/>
                  <a:sym typeface="+mn-lt"/>
                </a:rPr>
                <a:t>现有自动分割模型在准确性、鲁棒性与效率上存在不足。</a:t>
              </a:r>
              <a:endParaRPr lang="zh-CN" altLang="en-US" sz="2000" b="1" dirty="0">
                <a:solidFill>
                  <a:schemeClr val="accent5">
                    <a:lumMod val="50000"/>
                  </a:schemeClr>
                </a:solidFill>
                <a:cs typeface="+mn-ea"/>
                <a:sym typeface="+mn-lt"/>
              </a:endParaRPr>
            </a:p>
          </p:txBody>
        </p:sp>
        <p:sp>
          <p:nvSpPr>
            <p:cNvPr id="22" name="矩形 21"/>
            <p:cNvSpPr/>
            <p:nvPr>
              <p:custDataLst>
                <p:tags r:id="rId11"/>
              </p:custDataLst>
            </p:nvPr>
          </p:nvSpPr>
          <p:spPr>
            <a:xfrm>
              <a:off x="9598" y="1887"/>
              <a:ext cx="6962" cy="1418"/>
            </a:xfrm>
            <a:prstGeom prst="rect">
              <a:avLst/>
            </a:prstGeom>
          </p:spPr>
          <p:txBody>
            <a:bodyPr wrap="square">
              <a:noAutofit/>
            </a:bodyPr>
            <a:p>
              <a:pPr>
                <a:lnSpc>
                  <a:spcPct val="130000"/>
                </a:lnSpc>
              </a:pPr>
              <a:r>
                <a:rPr lang="zh-CN" altLang="en-US" dirty="0">
                  <a:solidFill>
                    <a:schemeClr val="accent5">
                      <a:lumMod val="50000"/>
                    </a:schemeClr>
                  </a:solidFill>
                  <a:cs typeface="+mn-ea"/>
                  <a:sym typeface="+mn-lt"/>
                </a:rPr>
                <a:t>尽管深度学习模型（如</a:t>
              </a:r>
              <a:r>
                <a:rPr lang="en-US" altLang="zh-CN" dirty="0">
                  <a:solidFill>
                    <a:schemeClr val="accent5">
                      <a:lumMod val="50000"/>
                    </a:schemeClr>
                  </a:solidFill>
                  <a:cs typeface="+mn-ea"/>
                  <a:sym typeface="+mn-lt"/>
                </a:rPr>
                <a:t>U-Net, DeepLab</a:t>
              </a:r>
              <a:r>
                <a:rPr lang="zh-CN" altLang="en-US" dirty="0">
                  <a:solidFill>
                    <a:schemeClr val="accent5">
                      <a:lumMod val="50000"/>
                    </a:schemeClr>
                  </a:solidFill>
                  <a:cs typeface="+mn-ea"/>
                  <a:sym typeface="+mn-lt"/>
                </a:rPr>
                <a:t>）已被广泛应用，但它们往往难以在敏感性与特异性之间取得最佳平衡，易出现边界模糊或误将非血管区域识别为血管等问题。同时，许多先进模型参数量大，计算效率低，且对复杂案例的泛化能力不强，限制了其在临床实时诊断系统中的可靠部署。</a:t>
              </a:r>
              <a:endParaRPr lang="zh-CN" altLang="en-US" dirty="0">
                <a:solidFill>
                  <a:schemeClr val="accent5">
                    <a:lumMod val="50000"/>
                  </a:schemeClr>
                </a:solidFill>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custDataLst>
              <p:tags r:id="rId1"/>
            </p:custDataLst>
          </p:nvPr>
        </p:nvSpPr>
        <p:spPr>
          <a:xfrm>
            <a:off x="1006955" y="331594"/>
            <a:ext cx="1825625" cy="460375"/>
          </a:xfrm>
          <a:prstGeom prst="rect">
            <a:avLst/>
          </a:prstGeom>
        </p:spPr>
        <p:txBody>
          <a:bodyPr wrap="none">
            <a:spAutoFit/>
          </a:bodyPr>
          <a:lstStyle/>
          <a:p>
            <a:r>
              <a:rPr lang="en-US" altLang="zh-CN" sz="2400" b="1" dirty="0">
                <a:solidFill>
                  <a:schemeClr val="accent1">
                    <a:lumMod val="50000"/>
                  </a:schemeClr>
                </a:solidFill>
              </a:rPr>
              <a:t>02 </a:t>
            </a:r>
            <a:r>
              <a:rPr lang="zh-CN" altLang="en-US" sz="2400" b="1" dirty="0">
                <a:solidFill>
                  <a:schemeClr val="accent1">
                    <a:lumMod val="50000"/>
                  </a:schemeClr>
                </a:solidFill>
              </a:rPr>
              <a:t>问题导入</a:t>
            </a:r>
            <a:endParaRPr lang="zh-CN" altLang="en-US" sz="2400" b="1" dirty="0">
              <a:solidFill>
                <a:schemeClr val="accent1">
                  <a:lumMod val="50000"/>
                </a:schemeClr>
              </a:solidFill>
            </a:endParaRPr>
          </a:p>
        </p:txBody>
      </p:sp>
      <p:pic>
        <p:nvPicPr>
          <p:cNvPr id="6" name="图片 5"/>
          <p:cNvPicPr/>
          <p:nvPr/>
        </p:nvPicPr>
        <p:blipFill>
          <a:blip r:embed="rId2">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
        <p:nvSpPr>
          <p:cNvPr id="11" name="矩形 10"/>
          <p:cNvSpPr/>
          <p:nvPr>
            <p:custDataLst>
              <p:tags r:id="rId3"/>
            </p:custDataLst>
          </p:nvPr>
        </p:nvSpPr>
        <p:spPr>
          <a:xfrm>
            <a:off x="3201035" y="1322070"/>
            <a:ext cx="5538470" cy="535305"/>
          </a:xfrm>
          <a:prstGeom prst="rect">
            <a:avLst/>
          </a:prstGeom>
        </p:spPr>
        <p:txBody>
          <a:bodyPr wrap="square">
            <a:noAutofit/>
          </a:bodyPr>
          <a:p>
            <a:pPr indent="0" algn="ctr">
              <a:lnSpc>
                <a:spcPct val="150000"/>
              </a:lnSpc>
              <a:buFont typeface="Wingdings" panose="05000000000000000000" charset="0"/>
              <a:buNone/>
            </a:pPr>
            <a:r>
              <a:rPr lang="zh-CN" altLang="en-US" sz="2000" b="1" dirty="0">
                <a:solidFill>
                  <a:schemeClr val="accent5">
                    <a:lumMod val="50000"/>
                  </a:schemeClr>
                </a:solidFill>
                <a:cs typeface="+mn-ea"/>
                <a:sym typeface="+mn-lt"/>
              </a:rPr>
              <a:t>针对以上问题给出本文解决方案</a:t>
            </a:r>
            <a:endParaRPr lang="zh-CN" altLang="en-US" sz="2000" b="1" dirty="0">
              <a:solidFill>
                <a:schemeClr val="accent5">
                  <a:lumMod val="50000"/>
                </a:schemeClr>
              </a:solidFill>
              <a:cs typeface="+mn-ea"/>
              <a:sym typeface="+mn-lt"/>
            </a:endParaRPr>
          </a:p>
        </p:txBody>
      </p:sp>
      <p:sp>
        <p:nvSpPr>
          <p:cNvPr id="10" name="流程图: 可选过程 9"/>
          <p:cNvSpPr/>
          <p:nvPr/>
        </p:nvSpPr>
        <p:spPr>
          <a:xfrm>
            <a:off x="6260465" y="3084195"/>
            <a:ext cx="5499100" cy="1751965"/>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文本框 11"/>
          <p:cNvSpPr txBox="1"/>
          <p:nvPr/>
        </p:nvSpPr>
        <p:spPr>
          <a:xfrm>
            <a:off x="481330" y="3235325"/>
            <a:ext cx="5028565" cy="1450340"/>
          </a:xfrm>
          <a:prstGeom prst="rect">
            <a:avLst/>
          </a:prstGeom>
          <a:noFill/>
        </p:spPr>
        <p:txBody>
          <a:bodyPr wrap="square" rtlCol="0">
            <a:noAutofit/>
          </a:bodyPr>
          <a:p>
            <a:r>
              <a:rPr lang="en-US" altLang="zh-CN" dirty="0">
                <a:solidFill>
                  <a:schemeClr val="accent5">
                    <a:lumMod val="50000"/>
                  </a:schemeClr>
                </a:solidFill>
                <a:cs typeface="+mn-ea"/>
              </a:rPr>
              <a:t>       </a:t>
            </a:r>
            <a:r>
              <a:rPr lang="zh-CN" altLang="en-US" dirty="0">
                <a:solidFill>
                  <a:schemeClr val="accent5">
                    <a:lumMod val="50000"/>
                  </a:schemeClr>
                </a:solidFill>
                <a:cs typeface="+mn-ea"/>
              </a:rPr>
              <a:t>本文提出</a:t>
            </a:r>
            <a:r>
              <a:rPr lang="zh-CN" altLang="en-US" b="1" dirty="0">
                <a:solidFill>
                  <a:schemeClr val="accent5">
                    <a:lumMod val="50000"/>
                  </a:schemeClr>
                </a:solidFill>
                <a:cs typeface="+mn-ea"/>
              </a:rPr>
              <a:t>SegR-Net</a:t>
            </a:r>
            <a:r>
              <a:rPr lang="zh-CN" altLang="en-US" dirty="0">
                <a:solidFill>
                  <a:schemeClr val="accent5">
                    <a:lumMod val="50000"/>
                  </a:schemeClr>
                </a:solidFill>
                <a:cs typeface="+mn-ea"/>
              </a:rPr>
              <a:t>算法，采用了一种深度学习框架，其中包含多项创新性技术，如特征提取与嵌入、深层特征增强、特征精炼与干扰抑制，以及密集的多尺度特征融合。</a:t>
            </a:r>
            <a:endParaRPr lang="zh-CN" altLang="en-US" dirty="0">
              <a:solidFill>
                <a:schemeClr val="accent5">
                  <a:lumMod val="50000"/>
                </a:schemeClr>
              </a:solidFill>
              <a:cs typeface="+mn-ea"/>
            </a:endParaRPr>
          </a:p>
        </p:txBody>
      </p:sp>
      <p:sp>
        <p:nvSpPr>
          <p:cNvPr id="13" name="流程图: 可选过程 12"/>
          <p:cNvSpPr/>
          <p:nvPr/>
        </p:nvSpPr>
        <p:spPr>
          <a:xfrm>
            <a:off x="309245" y="3084195"/>
            <a:ext cx="5499100" cy="1751965"/>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文本框 13"/>
          <p:cNvSpPr txBox="1"/>
          <p:nvPr/>
        </p:nvSpPr>
        <p:spPr>
          <a:xfrm>
            <a:off x="6727825" y="3235325"/>
            <a:ext cx="4699635" cy="1256030"/>
          </a:xfrm>
          <a:prstGeom prst="rect">
            <a:avLst/>
          </a:prstGeom>
          <a:noFill/>
        </p:spPr>
        <p:txBody>
          <a:bodyPr wrap="square" rtlCol="0">
            <a:noAutofit/>
          </a:bodyPr>
          <a:p>
            <a:r>
              <a:rPr lang="en-US" altLang="zh-CN" dirty="0">
                <a:solidFill>
                  <a:schemeClr val="accent5">
                    <a:lumMod val="50000"/>
                  </a:schemeClr>
                </a:solidFill>
                <a:cs typeface="+mn-ea"/>
              </a:rPr>
              <a:t>       </a:t>
            </a:r>
            <a:r>
              <a:rPr lang="zh-CN" altLang="en-US" dirty="0">
                <a:solidFill>
                  <a:schemeClr val="accent5">
                    <a:lumMod val="50000"/>
                  </a:schemeClr>
                </a:solidFill>
                <a:cs typeface="+mn-ea"/>
              </a:rPr>
              <a:t>为了提升模型的泛化能力，SegR-Net还结合了数据增强和预处理方法。旨在提升眼底图像的视觉质量，获得高对比度的眼底图像。</a:t>
            </a:r>
            <a:endParaRPr lang="zh-CN" altLang="en-US" dirty="0">
              <a:solidFill>
                <a:schemeClr val="accent5">
                  <a:lumMod val="50000"/>
                </a:schemeClr>
              </a:solidFill>
              <a:cs typeface="+mn-ea"/>
            </a:endParaRPr>
          </a:p>
        </p:txBody>
      </p:sp>
      <p:sp>
        <p:nvSpPr>
          <p:cNvPr id="20" name="上箭头 1"/>
          <p:cNvSpPr/>
          <p:nvPr/>
        </p:nvSpPr>
        <p:spPr>
          <a:xfrm flipV="1">
            <a:off x="5743574" y="2073548"/>
            <a:ext cx="516890" cy="795020"/>
          </a:xfrm>
          <a:prstGeom prst="upArrow">
            <a:avLst/>
          </a:prstGeom>
          <a:solidFill>
            <a:srgbClr val="C00000"/>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1910080" cy="460375"/>
          </a:xfrm>
          <a:prstGeom prst="rect">
            <a:avLst/>
          </a:prstGeom>
        </p:spPr>
        <p:txBody>
          <a:bodyPr wrap="none">
            <a:spAutoFit/>
          </a:bodyPr>
          <a:lstStyle/>
          <a:p>
            <a:r>
              <a:rPr lang="en-US" altLang="zh-CN" sz="2400" b="1" dirty="0">
                <a:solidFill>
                  <a:schemeClr val="accent1">
                    <a:lumMod val="50000"/>
                  </a:schemeClr>
                </a:solidFill>
              </a:rPr>
              <a:t>03 </a:t>
            </a:r>
            <a:r>
              <a:rPr lang="zh-CN" altLang="en-US" sz="2400" b="1" dirty="0">
                <a:solidFill>
                  <a:schemeClr val="accent1">
                    <a:lumMod val="50000"/>
                  </a:schemeClr>
                </a:solidFill>
              </a:rPr>
              <a:t>拟议方法</a:t>
            </a:r>
            <a:r>
              <a:rPr lang="en-US" altLang="zh-CN" sz="2400" b="1" dirty="0">
                <a:solidFill>
                  <a:schemeClr val="accent1">
                    <a:lumMod val="50000"/>
                  </a:schemeClr>
                </a:solidFill>
              </a:rPr>
              <a:t> </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2" name="图片 1"/>
          <p:cNvPicPr>
            <a:picLocks noChangeAspect="1"/>
          </p:cNvPicPr>
          <p:nvPr/>
        </p:nvPicPr>
        <p:blipFill>
          <a:blip r:embed="rId2"/>
          <a:stretch>
            <a:fillRect/>
          </a:stretch>
        </p:blipFill>
        <p:spPr>
          <a:xfrm>
            <a:off x="609600" y="1628140"/>
            <a:ext cx="11070590" cy="31248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1825625" cy="460375"/>
          </a:xfrm>
          <a:prstGeom prst="rect">
            <a:avLst/>
          </a:prstGeom>
        </p:spPr>
        <p:txBody>
          <a:bodyPr wrap="none">
            <a:spAutoFit/>
          </a:bodyPr>
          <a:lstStyle/>
          <a:p>
            <a:pPr algn="l"/>
            <a:r>
              <a:rPr lang="en-US" altLang="zh-CN" sz="2400" b="1" dirty="0">
                <a:solidFill>
                  <a:schemeClr val="accent1">
                    <a:lumMod val="50000"/>
                  </a:schemeClr>
                </a:solidFill>
              </a:rPr>
              <a:t>03 </a:t>
            </a:r>
            <a:r>
              <a:rPr lang="zh-CN" altLang="en-US" sz="2400" b="1" dirty="0">
                <a:solidFill>
                  <a:schemeClr val="accent1">
                    <a:lumMod val="50000"/>
                  </a:schemeClr>
                </a:solidFill>
              </a:rPr>
              <a:t>拟议</a:t>
            </a:r>
            <a:r>
              <a:rPr lang="zh-CN" altLang="en-US" sz="2400" b="1" dirty="0">
                <a:solidFill>
                  <a:schemeClr val="accent1">
                    <a:lumMod val="50000"/>
                  </a:schemeClr>
                </a:solidFill>
                <a:sym typeface="+mn-ea"/>
              </a:rPr>
              <a:t>方法</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2" name="图片 1"/>
          <p:cNvPicPr>
            <a:picLocks noChangeAspect="1"/>
          </p:cNvPicPr>
          <p:nvPr/>
        </p:nvPicPr>
        <p:blipFill>
          <a:blip r:embed="rId2"/>
          <a:stretch>
            <a:fillRect/>
          </a:stretch>
        </p:blipFill>
        <p:spPr>
          <a:xfrm>
            <a:off x="1256665" y="1208405"/>
            <a:ext cx="10373995" cy="3648710"/>
          </a:xfrm>
          <a:prstGeom prst="rect">
            <a:avLst/>
          </a:prstGeom>
        </p:spPr>
      </p:pic>
      <p:sp>
        <p:nvSpPr>
          <p:cNvPr id="3" name="文本框 2"/>
          <p:cNvSpPr txBox="1"/>
          <p:nvPr/>
        </p:nvSpPr>
        <p:spPr>
          <a:xfrm>
            <a:off x="1751330" y="4879975"/>
            <a:ext cx="1779270" cy="368300"/>
          </a:xfrm>
          <a:prstGeom prst="rect">
            <a:avLst/>
          </a:prstGeom>
          <a:noFill/>
        </p:spPr>
        <p:txBody>
          <a:bodyPr wrap="square" rtlCol="0">
            <a:spAutoFit/>
          </a:bodyPr>
          <a:p>
            <a:r>
              <a:rPr lang="zh-CN" altLang="en-US">
                <a:solidFill>
                  <a:srgbClr val="FF0000"/>
                </a:solidFill>
              </a:rPr>
              <a:t>图像预处理</a:t>
            </a:r>
            <a:endParaRPr lang="zh-CN" altLang="en-US">
              <a:solidFill>
                <a:srgbClr val="FF0000"/>
              </a:solidFill>
            </a:endParaRPr>
          </a:p>
        </p:txBody>
      </p:sp>
      <p:sp>
        <p:nvSpPr>
          <p:cNvPr id="4" name="文本框 3"/>
          <p:cNvSpPr txBox="1"/>
          <p:nvPr/>
        </p:nvSpPr>
        <p:spPr>
          <a:xfrm>
            <a:off x="5389245" y="4879975"/>
            <a:ext cx="2108835" cy="368300"/>
          </a:xfrm>
          <a:prstGeom prst="rect">
            <a:avLst/>
          </a:prstGeom>
          <a:noFill/>
        </p:spPr>
        <p:txBody>
          <a:bodyPr wrap="square" rtlCol="0">
            <a:spAutoFit/>
          </a:bodyPr>
          <a:p>
            <a:r>
              <a:rPr lang="zh-CN" altLang="en-US">
                <a:solidFill>
                  <a:srgbClr val="FF0000"/>
                </a:solidFill>
              </a:rPr>
              <a:t>数据增强</a:t>
            </a:r>
            <a:endParaRPr lang="zh-CN" altLang="en-US">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1825625" cy="460375"/>
          </a:xfrm>
          <a:prstGeom prst="rect">
            <a:avLst/>
          </a:prstGeom>
        </p:spPr>
        <p:txBody>
          <a:bodyPr wrap="none">
            <a:spAutoFit/>
          </a:bodyPr>
          <a:lstStyle/>
          <a:p>
            <a:r>
              <a:rPr lang="en-US" altLang="zh-CN" sz="2400" b="1" dirty="0">
                <a:solidFill>
                  <a:schemeClr val="accent1">
                    <a:lumMod val="50000"/>
                  </a:schemeClr>
                </a:solidFill>
              </a:rPr>
              <a:t>03 </a:t>
            </a:r>
            <a:r>
              <a:rPr lang="zh-CN" altLang="en-US" sz="2400" b="1" dirty="0">
                <a:solidFill>
                  <a:schemeClr val="accent1">
                    <a:lumMod val="50000"/>
                  </a:schemeClr>
                </a:solidFill>
              </a:rPr>
              <a:t>拟议方法</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2" name="图片 1"/>
          <p:cNvPicPr>
            <a:picLocks noChangeAspect="1"/>
          </p:cNvPicPr>
          <p:nvPr/>
        </p:nvPicPr>
        <p:blipFill>
          <a:blip r:embed="rId2"/>
          <a:stretch>
            <a:fillRect/>
          </a:stretch>
        </p:blipFill>
        <p:spPr>
          <a:xfrm>
            <a:off x="609600" y="1163320"/>
            <a:ext cx="10758805" cy="31299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1825625" cy="460375"/>
          </a:xfrm>
          <a:prstGeom prst="rect">
            <a:avLst/>
          </a:prstGeom>
        </p:spPr>
        <p:txBody>
          <a:bodyPr wrap="none">
            <a:spAutoFit/>
          </a:bodyPr>
          <a:lstStyle/>
          <a:p>
            <a:r>
              <a:rPr lang="en-US" altLang="zh-CN" sz="2400" b="1" dirty="0">
                <a:solidFill>
                  <a:schemeClr val="accent1">
                    <a:lumMod val="50000"/>
                  </a:schemeClr>
                </a:solidFill>
              </a:rPr>
              <a:t>03 </a:t>
            </a:r>
            <a:r>
              <a:rPr lang="zh-CN" altLang="en-US" sz="2400" b="1" dirty="0">
                <a:solidFill>
                  <a:schemeClr val="accent1">
                    <a:lumMod val="50000"/>
                  </a:schemeClr>
                </a:solidFill>
              </a:rPr>
              <a:t>拟议方法</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2" name="图片 1"/>
          <p:cNvPicPr>
            <a:picLocks noChangeAspect="1"/>
          </p:cNvPicPr>
          <p:nvPr/>
        </p:nvPicPr>
        <p:blipFill>
          <a:blip r:embed="rId2"/>
          <a:stretch>
            <a:fillRect/>
          </a:stretch>
        </p:blipFill>
        <p:spPr>
          <a:xfrm>
            <a:off x="878840" y="1304290"/>
            <a:ext cx="5192395" cy="3557270"/>
          </a:xfrm>
          <a:prstGeom prst="rect">
            <a:avLst/>
          </a:prstGeom>
        </p:spPr>
      </p:pic>
      <p:pic>
        <p:nvPicPr>
          <p:cNvPr id="6" name="图片 5"/>
          <p:cNvPicPr>
            <a:picLocks noChangeAspect="1"/>
          </p:cNvPicPr>
          <p:nvPr/>
        </p:nvPicPr>
        <p:blipFill>
          <a:blip r:embed="rId3"/>
          <a:stretch>
            <a:fillRect/>
          </a:stretch>
        </p:blipFill>
        <p:spPr>
          <a:xfrm>
            <a:off x="6347460" y="1939290"/>
            <a:ext cx="4906010" cy="26149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1825625" cy="460375"/>
          </a:xfrm>
          <a:prstGeom prst="rect">
            <a:avLst/>
          </a:prstGeom>
        </p:spPr>
        <p:txBody>
          <a:bodyPr wrap="none">
            <a:spAutoFit/>
          </a:bodyPr>
          <a:lstStyle/>
          <a:p>
            <a:r>
              <a:rPr lang="en-US" altLang="zh-CN" sz="2400" b="1" dirty="0">
                <a:solidFill>
                  <a:schemeClr val="accent1">
                    <a:lumMod val="50000"/>
                  </a:schemeClr>
                </a:solidFill>
              </a:rPr>
              <a:t>04 </a:t>
            </a:r>
            <a:r>
              <a:rPr lang="zh-CN" altLang="en-US" sz="2400" b="1" dirty="0">
                <a:solidFill>
                  <a:schemeClr val="accent1">
                    <a:lumMod val="50000"/>
                  </a:schemeClr>
                </a:solidFill>
              </a:rPr>
              <a:t>总体架构</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3" name="图片 2"/>
          <p:cNvPicPr>
            <a:picLocks noChangeAspect="1"/>
          </p:cNvPicPr>
          <p:nvPr/>
        </p:nvPicPr>
        <p:blipFill>
          <a:blip r:embed="rId2"/>
          <a:stretch>
            <a:fillRect/>
          </a:stretch>
        </p:blipFill>
        <p:spPr>
          <a:xfrm>
            <a:off x="119380" y="751840"/>
            <a:ext cx="9533255" cy="4425950"/>
          </a:xfrm>
          <a:prstGeom prst="rect">
            <a:avLst/>
          </a:prstGeom>
        </p:spPr>
      </p:pic>
      <p:pic>
        <p:nvPicPr>
          <p:cNvPr id="4" name="图片 3"/>
          <p:cNvPicPr>
            <a:picLocks noChangeAspect="1"/>
          </p:cNvPicPr>
          <p:nvPr/>
        </p:nvPicPr>
        <p:blipFill>
          <a:blip r:embed="rId3"/>
          <a:stretch>
            <a:fillRect/>
          </a:stretch>
        </p:blipFill>
        <p:spPr>
          <a:xfrm>
            <a:off x="8167370" y="4802505"/>
            <a:ext cx="3841750" cy="15335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1825625" cy="460375"/>
          </a:xfrm>
          <a:prstGeom prst="rect">
            <a:avLst/>
          </a:prstGeom>
        </p:spPr>
        <p:txBody>
          <a:bodyPr wrap="none">
            <a:spAutoFit/>
          </a:bodyPr>
          <a:lstStyle/>
          <a:p>
            <a:pPr algn="l"/>
            <a:r>
              <a:rPr lang="en-US" altLang="zh-CN" sz="2400" b="1" dirty="0">
                <a:solidFill>
                  <a:schemeClr val="accent1">
                    <a:lumMod val="50000"/>
                  </a:schemeClr>
                </a:solidFill>
                <a:sym typeface="+mn-ea"/>
              </a:rPr>
              <a:t>04 </a:t>
            </a:r>
            <a:r>
              <a:rPr lang="zh-CN" altLang="en-US" sz="2400" b="1" dirty="0">
                <a:solidFill>
                  <a:schemeClr val="accent1">
                    <a:lumMod val="50000"/>
                  </a:schemeClr>
                </a:solidFill>
                <a:sym typeface="+mn-ea"/>
              </a:rPr>
              <a:t>总体架构</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11" name="图片 10"/>
          <p:cNvPicPr>
            <a:picLocks noChangeAspect="1"/>
          </p:cNvPicPr>
          <p:nvPr/>
        </p:nvPicPr>
        <p:blipFill>
          <a:blip r:embed="rId2"/>
          <a:stretch>
            <a:fillRect/>
          </a:stretch>
        </p:blipFill>
        <p:spPr>
          <a:xfrm>
            <a:off x="1274445" y="938530"/>
            <a:ext cx="3963670" cy="2688590"/>
          </a:xfrm>
          <a:prstGeom prst="rect">
            <a:avLst/>
          </a:prstGeom>
        </p:spPr>
      </p:pic>
      <p:pic>
        <p:nvPicPr>
          <p:cNvPr id="12" name="图片 11"/>
          <p:cNvPicPr>
            <a:picLocks noChangeAspect="1"/>
          </p:cNvPicPr>
          <p:nvPr/>
        </p:nvPicPr>
        <p:blipFill>
          <a:blip r:embed="rId3"/>
          <a:stretch>
            <a:fillRect/>
          </a:stretch>
        </p:blipFill>
        <p:spPr>
          <a:xfrm>
            <a:off x="5697220" y="938530"/>
            <a:ext cx="5092700" cy="2649855"/>
          </a:xfrm>
          <a:prstGeom prst="rect">
            <a:avLst/>
          </a:prstGeom>
        </p:spPr>
      </p:pic>
      <p:pic>
        <p:nvPicPr>
          <p:cNvPr id="13" name="图片 12"/>
          <p:cNvPicPr>
            <a:picLocks noChangeAspect="1"/>
          </p:cNvPicPr>
          <p:nvPr/>
        </p:nvPicPr>
        <p:blipFill>
          <a:blip r:embed="rId4"/>
          <a:stretch>
            <a:fillRect/>
          </a:stretch>
        </p:blipFill>
        <p:spPr>
          <a:xfrm>
            <a:off x="1332865" y="3777615"/>
            <a:ext cx="4031615" cy="2687955"/>
          </a:xfrm>
          <a:prstGeom prst="rect">
            <a:avLst/>
          </a:prstGeom>
        </p:spPr>
      </p:pic>
      <p:pic>
        <p:nvPicPr>
          <p:cNvPr id="14" name="图片 13"/>
          <p:cNvPicPr>
            <a:picLocks noChangeAspect="1"/>
          </p:cNvPicPr>
          <p:nvPr/>
        </p:nvPicPr>
        <p:blipFill>
          <a:blip r:embed="rId5"/>
          <a:stretch>
            <a:fillRect/>
          </a:stretch>
        </p:blipFill>
        <p:spPr>
          <a:xfrm>
            <a:off x="5782945" y="3739515"/>
            <a:ext cx="4337050" cy="27260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1825625" cy="460375"/>
          </a:xfrm>
          <a:prstGeom prst="rect">
            <a:avLst/>
          </a:prstGeom>
        </p:spPr>
        <p:txBody>
          <a:bodyPr wrap="none">
            <a:spAutoFit/>
          </a:bodyPr>
          <a:lstStyle/>
          <a:p>
            <a:pPr algn="l"/>
            <a:r>
              <a:rPr lang="en-US" altLang="zh-CN" sz="2400" b="1" dirty="0">
                <a:solidFill>
                  <a:schemeClr val="accent1">
                    <a:lumMod val="50000"/>
                  </a:schemeClr>
                </a:solidFill>
                <a:sym typeface="+mn-ea"/>
              </a:rPr>
              <a:t>05 </a:t>
            </a:r>
            <a:r>
              <a:rPr lang="zh-CN" altLang="en-US" sz="2400" b="1" dirty="0">
                <a:solidFill>
                  <a:schemeClr val="accent1">
                    <a:lumMod val="50000"/>
                  </a:schemeClr>
                </a:solidFill>
                <a:sym typeface="+mn-ea"/>
              </a:rPr>
              <a:t>实验方法</a:t>
            </a:r>
            <a:endParaRPr lang="zh-CN" altLang="en-US" sz="2400" b="1" dirty="0">
              <a:solidFill>
                <a:schemeClr val="accent1">
                  <a:lumMod val="50000"/>
                </a:schemeClr>
              </a:solidFill>
              <a:sym typeface="+mn-ea"/>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2" name="图片 1"/>
          <p:cNvPicPr>
            <a:picLocks noChangeAspect="1"/>
          </p:cNvPicPr>
          <p:nvPr/>
        </p:nvPicPr>
        <p:blipFill>
          <a:blip r:embed="rId2"/>
          <a:stretch>
            <a:fillRect/>
          </a:stretch>
        </p:blipFill>
        <p:spPr>
          <a:xfrm>
            <a:off x="878840" y="1105535"/>
            <a:ext cx="10495915" cy="2324100"/>
          </a:xfrm>
          <a:prstGeom prst="rect">
            <a:avLst/>
          </a:prstGeom>
        </p:spPr>
      </p:pic>
      <p:pic>
        <p:nvPicPr>
          <p:cNvPr id="3" name="图片 2"/>
          <p:cNvPicPr>
            <a:picLocks noChangeAspect="1"/>
          </p:cNvPicPr>
          <p:nvPr/>
        </p:nvPicPr>
        <p:blipFill>
          <a:blip r:embed="rId3"/>
          <a:stretch>
            <a:fillRect/>
          </a:stretch>
        </p:blipFill>
        <p:spPr>
          <a:xfrm>
            <a:off x="1007110" y="3811270"/>
            <a:ext cx="3551555" cy="2153285"/>
          </a:xfrm>
          <a:prstGeom prst="rect">
            <a:avLst/>
          </a:prstGeom>
        </p:spPr>
      </p:pic>
      <p:pic>
        <p:nvPicPr>
          <p:cNvPr id="4" name="图片 3"/>
          <p:cNvPicPr>
            <a:picLocks noChangeAspect="1"/>
          </p:cNvPicPr>
          <p:nvPr/>
        </p:nvPicPr>
        <p:blipFill>
          <a:blip r:embed="rId4"/>
          <a:stretch>
            <a:fillRect/>
          </a:stretch>
        </p:blipFill>
        <p:spPr>
          <a:xfrm>
            <a:off x="4839970" y="3811270"/>
            <a:ext cx="3813175" cy="1983105"/>
          </a:xfrm>
          <a:prstGeom prst="rect">
            <a:avLst/>
          </a:prstGeom>
        </p:spPr>
      </p:pic>
      <p:sp>
        <p:nvSpPr>
          <p:cNvPr id="5" name="文本框 4"/>
          <p:cNvSpPr txBox="1"/>
          <p:nvPr/>
        </p:nvSpPr>
        <p:spPr>
          <a:xfrm>
            <a:off x="8199755" y="3811270"/>
            <a:ext cx="3675380" cy="1814830"/>
          </a:xfrm>
          <a:prstGeom prst="rect">
            <a:avLst/>
          </a:prstGeom>
          <a:noFill/>
        </p:spPr>
        <p:txBody>
          <a:bodyPr wrap="square" rtlCol="0">
            <a:spAutoFit/>
          </a:bodyPr>
          <a:p>
            <a:r>
              <a:rPr lang="zh-CN" altLang="en-US" sz="1600" dirty="0">
                <a:solidFill>
                  <a:schemeClr val="accent5">
                    <a:lumMod val="50000"/>
                  </a:schemeClr>
                </a:solidFill>
                <a:cs typeface="+mn-ea"/>
              </a:rPr>
              <a:t>真正例（tp）：正确预测为血管的像素</a:t>
            </a:r>
            <a:endParaRPr lang="zh-CN" altLang="en-US" sz="1600" dirty="0">
              <a:solidFill>
                <a:schemeClr val="accent5">
                  <a:lumMod val="50000"/>
                </a:schemeClr>
              </a:solidFill>
              <a:cs typeface="+mn-ea"/>
            </a:endParaRPr>
          </a:p>
          <a:p>
            <a:endParaRPr lang="zh-CN" altLang="en-US" sz="1600" dirty="0">
              <a:solidFill>
                <a:schemeClr val="accent5">
                  <a:lumMod val="50000"/>
                </a:schemeClr>
              </a:solidFill>
              <a:cs typeface="+mn-ea"/>
            </a:endParaRPr>
          </a:p>
          <a:p>
            <a:r>
              <a:rPr lang="zh-CN" altLang="en-US" sz="1600" dirty="0">
                <a:solidFill>
                  <a:schemeClr val="accent5">
                    <a:lumMod val="50000"/>
                  </a:schemeClr>
                </a:solidFill>
                <a:cs typeface="+mn-ea"/>
              </a:rPr>
              <a:t>真负例（tn）：正确预测为背景的像素</a:t>
            </a:r>
            <a:endParaRPr lang="zh-CN" altLang="en-US" sz="1600" dirty="0">
              <a:solidFill>
                <a:schemeClr val="accent5">
                  <a:lumMod val="50000"/>
                </a:schemeClr>
              </a:solidFill>
              <a:cs typeface="+mn-ea"/>
            </a:endParaRPr>
          </a:p>
          <a:p>
            <a:endParaRPr lang="zh-CN" altLang="en-US" sz="1600" dirty="0">
              <a:solidFill>
                <a:schemeClr val="accent5">
                  <a:lumMod val="50000"/>
                </a:schemeClr>
              </a:solidFill>
              <a:cs typeface="+mn-ea"/>
            </a:endParaRPr>
          </a:p>
          <a:p>
            <a:r>
              <a:rPr lang="zh-CN" altLang="en-US" sz="1600" dirty="0">
                <a:solidFill>
                  <a:schemeClr val="accent5">
                    <a:lumMod val="50000"/>
                  </a:schemeClr>
                </a:solidFill>
                <a:cs typeface="+mn-ea"/>
              </a:rPr>
              <a:t>假正例（fp）：错误预测为血管的像素</a:t>
            </a:r>
            <a:endParaRPr lang="zh-CN" altLang="en-US" sz="1600" dirty="0">
              <a:solidFill>
                <a:schemeClr val="accent5">
                  <a:lumMod val="50000"/>
                </a:schemeClr>
              </a:solidFill>
              <a:cs typeface="+mn-ea"/>
            </a:endParaRPr>
          </a:p>
          <a:p>
            <a:endParaRPr lang="zh-CN" altLang="en-US" sz="1600" dirty="0">
              <a:solidFill>
                <a:schemeClr val="accent5">
                  <a:lumMod val="50000"/>
                </a:schemeClr>
              </a:solidFill>
              <a:cs typeface="+mn-ea"/>
            </a:endParaRPr>
          </a:p>
          <a:p>
            <a:r>
              <a:rPr lang="zh-CN" altLang="en-US" sz="1600" dirty="0">
                <a:solidFill>
                  <a:schemeClr val="accent5">
                    <a:lumMod val="50000"/>
                  </a:schemeClr>
                </a:solidFill>
                <a:cs typeface="+mn-ea"/>
              </a:rPr>
              <a:t>假负例（fn）：错误预测为背景的像素</a:t>
            </a:r>
            <a:endParaRPr lang="zh-CN" altLang="en-US" sz="1600">
              <a:gradFill>
                <a:gsLst>
                  <a:gs pos="50000">
                    <a:schemeClr val="accent1"/>
                  </a:gs>
                  <a:gs pos="0">
                    <a:schemeClr val="accent1">
                      <a:lumMod val="25000"/>
                      <a:lumOff val="75000"/>
                    </a:schemeClr>
                  </a:gs>
                  <a:gs pos="100000">
                    <a:schemeClr val="accent1">
                      <a:lumMod val="85000"/>
                    </a:schemeClr>
                  </a:gs>
                </a:gsLst>
                <a:lin ang="5400000" scaled="1"/>
              </a:gradFill>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2740025" cy="460375"/>
          </a:xfrm>
          <a:prstGeom prst="rect">
            <a:avLst/>
          </a:prstGeom>
        </p:spPr>
        <p:txBody>
          <a:bodyPr wrap="none">
            <a:spAutoFit/>
          </a:bodyPr>
          <a:lstStyle/>
          <a:p>
            <a:pPr algn="l"/>
            <a:r>
              <a:rPr lang="en-US" altLang="zh-CN" sz="2400" b="1" dirty="0">
                <a:solidFill>
                  <a:schemeClr val="accent1">
                    <a:lumMod val="50000"/>
                  </a:schemeClr>
                </a:solidFill>
                <a:sym typeface="+mn-ea"/>
              </a:rPr>
              <a:t>06 </a:t>
            </a:r>
            <a:r>
              <a:rPr lang="zh-CN" altLang="en-US" sz="2400" b="1" dirty="0">
                <a:solidFill>
                  <a:schemeClr val="accent1">
                    <a:lumMod val="50000"/>
                  </a:schemeClr>
                </a:solidFill>
                <a:sym typeface="+mn-ea"/>
              </a:rPr>
              <a:t>实验结果与分析</a:t>
            </a:r>
            <a:endParaRPr lang="zh-CN" altLang="en-US" sz="2400" b="1" dirty="0">
              <a:solidFill>
                <a:schemeClr val="accent1">
                  <a:lumMod val="50000"/>
                </a:schemeClr>
              </a:solidFill>
              <a:sym typeface="+mn-ea"/>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2" name="图片 1"/>
          <p:cNvPicPr>
            <a:picLocks noChangeAspect="1"/>
          </p:cNvPicPr>
          <p:nvPr/>
        </p:nvPicPr>
        <p:blipFill>
          <a:blip r:embed="rId2"/>
          <a:stretch>
            <a:fillRect/>
          </a:stretch>
        </p:blipFill>
        <p:spPr>
          <a:xfrm>
            <a:off x="728345" y="1223645"/>
            <a:ext cx="10734675" cy="4410075"/>
          </a:xfrm>
          <a:prstGeom prst="rect">
            <a:avLst/>
          </a:prstGeom>
        </p:spPr>
      </p:pic>
      <p:sp>
        <p:nvSpPr>
          <p:cNvPr id="3" name="文本框 2"/>
          <p:cNvSpPr txBox="1"/>
          <p:nvPr/>
        </p:nvSpPr>
        <p:spPr>
          <a:xfrm>
            <a:off x="1097915" y="5859145"/>
            <a:ext cx="5086350" cy="408940"/>
          </a:xfrm>
          <a:prstGeom prst="rect">
            <a:avLst/>
          </a:prstGeom>
          <a:noFill/>
        </p:spPr>
        <p:txBody>
          <a:bodyPr wrap="square" rtlCol="0">
            <a:noAutofit/>
          </a:bodyPr>
          <a:p>
            <a:r>
              <a:rPr lang="zh-CN" altLang="en-US" sz="1600" dirty="0">
                <a:solidFill>
                  <a:schemeClr val="accent5">
                    <a:lumMod val="50000"/>
                  </a:schemeClr>
                </a:solidFill>
                <a:cs typeface="+mn-ea"/>
              </a:rPr>
              <a:t>注：表中加粗数据代表最优技术</a:t>
            </a:r>
            <a:endParaRPr lang="zh-CN" altLang="en-US" sz="1600" dirty="0">
              <a:solidFill>
                <a:schemeClr val="accent5">
                  <a:lumMod val="50000"/>
                </a:schemeClr>
              </a:solidFill>
              <a:cs typeface="+mn-ea"/>
            </a:endParaRPr>
          </a:p>
        </p:txBody>
      </p:sp>
      <p:sp>
        <p:nvSpPr>
          <p:cNvPr id="8" name="圆角矩形 7"/>
          <p:cNvSpPr/>
          <p:nvPr/>
        </p:nvSpPr>
        <p:spPr>
          <a:xfrm>
            <a:off x="10713085" y="2884805"/>
            <a:ext cx="601980" cy="25146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圆角矩形 8"/>
          <p:cNvSpPr/>
          <p:nvPr/>
        </p:nvSpPr>
        <p:spPr>
          <a:xfrm>
            <a:off x="10713085" y="4053840"/>
            <a:ext cx="601980" cy="25146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圆角矩形 10"/>
          <p:cNvSpPr/>
          <p:nvPr/>
        </p:nvSpPr>
        <p:spPr>
          <a:xfrm>
            <a:off x="10713085" y="5222875"/>
            <a:ext cx="601980" cy="25146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2740025" cy="460375"/>
          </a:xfrm>
          <a:prstGeom prst="rect">
            <a:avLst/>
          </a:prstGeom>
        </p:spPr>
        <p:txBody>
          <a:bodyPr wrap="none">
            <a:spAutoFit/>
          </a:bodyPr>
          <a:lstStyle/>
          <a:p>
            <a:r>
              <a:rPr lang="en-US" altLang="zh-CN" sz="2400" b="1" dirty="0">
                <a:solidFill>
                  <a:schemeClr val="accent1">
                    <a:lumMod val="50000"/>
                  </a:schemeClr>
                </a:solidFill>
              </a:rPr>
              <a:t>06 </a:t>
            </a:r>
            <a:r>
              <a:rPr lang="zh-CN" altLang="en-US" sz="2400" b="1" dirty="0">
                <a:solidFill>
                  <a:schemeClr val="accent1">
                    <a:lumMod val="50000"/>
                  </a:schemeClr>
                </a:solidFill>
              </a:rPr>
              <a:t>实验结果与</a:t>
            </a:r>
            <a:r>
              <a:rPr lang="zh-CN" altLang="en-US" sz="2400" b="1" dirty="0">
                <a:solidFill>
                  <a:schemeClr val="accent1">
                    <a:lumMod val="50000"/>
                  </a:schemeClr>
                </a:solidFill>
              </a:rPr>
              <a:t>分析</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3" name="图片 2"/>
          <p:cNvPicPr>
            <a:picLocks noChangeAspect="1"/>
          </p:cNvPicPr>
          <p:nvPr/>
        </p:nvPicPr>
        <p:blipFill>
          <a:blip r:embed="rId2"/>
          <a:stretch>
            <a:fillRect/>
          </a:stretch>
        </p:blipFill>
        <p:spPr>
          <a:xfrm>
            <a:off x="116840" y="855980"/>
            <a:ext cx="11958320" cy="5046980"/>
          </a:xfrm>
          <a:prstGeom prst="rect">
            <a:avLst/>
          </a:prstGeom>
        </p:spPr>
      </p:pic>
      <p:sp>
        <p:nvSpPr>
          <p:cNvPr id="5" name="椭圆 4"/>
          <p:cNvSpPr/>
          <p:nvPr/>
        </p:nvSpPr>
        <p:spPr>
          <a:xfrm>
            <a:off x="6814185" y="1510030"/>
            <a:ext cx="206375" cy="224790"/>
          </a:xfrm>
          <a:prstGeom prst="ellipse">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椭圆 5"/>
          <p:cNvSpPr/>
          <p:nvPr/>
        </p:nvSpPr>
        <p:spPr>
          <a:xfrm>
            <a:off x="6814185" y="4342130"/>
            <a:ext cx="206375" cy="224790"/>
          </a:xfrm>
          <a:prstGeom prst="ellipse">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椭圆 7"/>
          <p:cNvSpPr/>
          <p:nvPr/>
        </p:nvSpPr>
        <p:spPr>
          <a:xfrm>
            <a:off x="7660005" y="2751455"/>
            <a:ext cx="206375" cy="224790"/>
          </a:xfrm>
          <a:prstGeom prst="ellipse">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2740025" cy="460375"/>
          </a:xfrm>
          <a:prstGeom prst="rect">
            <a:avLst/>
          </a:prstGeom>
        </p:spPr>
        <p:txBody>
          <a:bodyPr wrap="none">
            <a:spAutoFit/>
          </a:bodyPr>
          <a:lstStyle/>
          <a:p>
            <a:pPr algn="l"/>
            <a:r>
              <a:rPr lang="en-US" altLang="zh-CN" sz="2400" b="1" dirty="0">
                <a:solidFill>
                  <a:schemeClr val="accent1">
                    <a:lumMod val="50000"/>
                  </a:schemeClr>
                </a:solidFill>
                <a:sym typeface="+mn-ea"/>
              </a:rPr>
              <a:t>06 </a:t>
            </a:r>
            <a:r>
              <a:rPr lang="zh-CN" altLang="en-US" sz="2400" b="1" dirty="0">
                <a:solidFill>
                  <a:schemeClr val="accent1">
                    <a:lumMod val="50000"/>
                  </a:schemeClr>
                </a:solidFill>
                <a:sym typeface="+mn-ea"/>
              </a:rPr>
              <a:t>实验结果与分析</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4" name="图片 3"/>
          <p:cNvPicPr>
            <a:picLocks noChangeAspect="1"/>
          </p:cNvPicPr>
          <p:nvPr/>
        </p:nvPicPr>
        <p:blipFill>
          <a:blip r:embed="rId2"/>
          <a:stretch>
            <a:fillRect/>
          </a:stretch>
        </p:blipFill>
        <p:spPr>
          <a:xfrm>
            <a:off x="2580005" y="1104900"/>
            <a:ext cx="5859780" cy="4071620"/>
          </a:xfrm>
          <a:prstGeom prst="rect">
            <a:avLst/>
          </a:prstGeom>
        </p:spPr>
      </p:pic>
      <p:sp>
        <p:nvSpPr>
          <p:cNvPr id="8" name="圆角矩形 7"/>
          <p:cNvSpPr/>
          <p:nvPr/>
        </p:nvSpPr>
        <p:spPr>
          <a:xfrm>
            <a:off x="5608955" y="4349750"/>
            <a:ext cx="1149350" cy="29591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2740025" cy="460375"/>
          </a:xfrm>
          <a:prstGeom prst="rect">
            <a:avLst/>
          </a:prstGeom>
        </p:spPr>
        <p:txBody>
          <a:bodyPr wrap="none">
            <a:spAutoFit/>
          </a:bodyPr>
          <a:lstStyle/>
          <a:p>
            <a:r>
              <a:rPr lang="en-US" altLang="zh-CN" sz="2400" b="1" dirty="0">
                <a:solidFill>
                  <a:schemeClr val="accent1">
                    <a:lumMod val="50000"/>
                  </a:schemeClr>
                </a:solidFill>
              </a:rPr>
              <a:t>06 </a:t>
            </a:r>
            <a:r>
              <a:rPr lang="zh-CN" altLang="en-US" sz="2400" b="1" dirty="0">
                <a:solidFill>
                  <a:schemeClr val="accent1">
                    <a:lumMod val="50000"/>
                  </a:schemeClr>
                </a:solidFill>
              </a:rPr>
              <a:t>实验结果与</a:t>
            </a:r>
            <a:r>
              <a:rPr lang="zh-CN" altLang="en-US" sz="2400" b="1" dirty="0">
                <a:solidFill>
                  <a:schemeClr val="accent1">
                    <a:lumMod val="50000"/>
                  </a:schemeClr>
                </a:solidFill>
              </a:rPr>
              <a:t>分析</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
        <p:nvSpPr>
          <p:cNvPr id="7" name="文本框 6"/>
          <p:cNvSpPr txBox="1"/>
          <p:nvPr/>
        </p:nvSpPr>
        <p:spPr>
          <a:xfrm>
            <a:off x="1467485" y="825500"/>
            <a:ext cx="3712210" cy="556895"/>
          </a:xfrm>
          <a:prstGeom prst="rect">
            <a:avLst/>
          </a:prstGeom>
          <a:noFill/>
          <a:ln w="9525">
            <a:noFill/>
          </a:ln>
        </p:spPr>
        <p:txBody>
          <a:bodyPr wrap="square" anchor="ctr" anchorCtr="0">
            <a:noAutofit/>
          </a:bodyPr>
          <a:p>
            <a:pPr marL="342900" indent="-342900" fontAlgn="auto">
              <a:lnSpc>
                <a:spcPct val="150000"/>
              </a:lnSpc>
              <a:spcBef>
                <a:spcPts val="0"/>
              </a:spcBef>
              <a:spcAft>
                <a:spcPts val="0"/>
              </a:spcAft>
              <a:buFont typeface="Arial" panose="020B0604020202020204" pitchFamily="34" charset="0"/>
              <a:buChar char="•"/>
            </a:pPr>
            <a:r>
              <a:rPr lang="zh-CN" altLang="en-US" sz="2000" b="1">
                <a:solidFill>
                  <a:schemeClr val="accent1">
                    <a:lumMod val="50000"/>
                  </a:schemeClr>
                </a:solidFill>
                <a:latin typeface="微软雅黑" panose="020B0503020204020204" charset="-122"/>
                <a:ea typeface="微软雅黑" panose="020B0503020204020204" charset="-122"/>
                <a:cs typeface="微软雅黑" panose="020B0503020204020204" charset="-122"/>
              </a:rPr>
              <a:t>消融实验</a:t>
            </a:r>
            <a:endParaRPr lang="zh-CN" altLang="en-US" sz="2000" b="1">
              <a:solidFill>
                <a:schemeClr val="accent1">
                  <a:lumMod val="50000"/>
                </a:schemeClr>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2"/>
          <a:stretch>
            <a:fillRect/>
          </a:stretch>
        </p:blipFill>
        <p:spPr>
          <a:xfrm>
            <a:off x="609600" y="1807845"/>
            <a:ext cx="10996295" cy="30353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2740025" cy="460375"/>
          </a:xfrm>
          <a:prstGeom prst="rect">
            <a:avLst/>
          </a:prstGeom>
        </p:spPr>
        <p:txBody>
          <a:bodyPr wrap="none">
            <a:spAutoFit/>
          </a:bodyPr>
          <a:lstStyle/>
          <a:p>
            <a:r>
              <a:rPr lang="en-US" altLang="zh-CN" sz="2400" b="1" dirty="0">
                <a:solidFill>
                  <a:schemeClr val="accent1">
                    <a:lumMod val="50000"/>
                  </a:schemeClr>
                </a:solidFill>
              </a:rPr>
              <a:t>06 </a:t>
            </a:r>
            <a:r>
              <a:rPr lang="zh-CN" altLang="en-US" sz="2400" b="1" dirty="0">
                <a:solidFill>
                  <a:schemeClr val="accent1">
                    <a:lumMod val="50000"/>
                  </a:schemeClr>
                </a:solidFill>
              </a:rPr>
              <a:t>实验结果与</a:t>
            </a:r>
            <a:r>
              <a:rPr lang="zh-CN" altLang="en-US" sz="2400" b="1" dirty="0">
                <a:solidFill>
                  <a:schemeClr val="accent1">
                    <a:lumMod val="50000"/>
                  </a:schemeClr>
                </a:solidFill>
              </a:rPr>
              <a:t>分析</a:t>
            </a:r>
            <a:endParaRPr lang="zh-CN" altLang="en-US" sz="2400" b="1" dirty="0">
              <a:solidFill>
                <a:schemeClr val="accent1">
                  <a:lumMod val="50000"/>
                </a:schemeClr>
              </a:solidFill>
            </a:endParaRPr>
          </a:p>
        </p:txBody>
      </p:sp>
      <p:pic>
        <p:nvPicPr>
          <p:cNvPr id="10" name="图片 9"/>
          <p:cNvPicPr/>
          <p:nvPr/>
        </p:nvPicPr>
        <p:blipFill>
          <a:blip r:embed="rId1">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3" name="图片 2"/>
          <p:cNvPicPr>
            <a:picLocks noChangeAspect="1"/>
          </p:cNvPicPr>
          <p:nvPr/>
        </p:nvPicPr>
        <p:blipFill>
          <a:blip r:embed="rId2"/>
          <a:stretch>
            <a:fillRect/>
          </a:stretch>
        </p:blipFill>
        <p:spPr>
          <a:xfrm>
            <a:off x="878840" y="1286510"/>
            <a:ext cx="10424795" cy="4051935"/>
          </a:xfrm>
          <a:prstGeom prst="rect">
            <a:avLst/>
          </a:prstGeom>
        </p:spPr>
      </p:pic>
      <p:sp>
        <p:nvSpPr>
          <p:cNvPr id="8" name="圆角矩形 7"/>
          <p:cNvSpPr/>
          <p:nvPr/>
        </p:nvSpPr>
        <p:spPr>
          <a:xfrm>
            <a:off x="10209530" y="4224020"/>
            <a:ext cx="655955" cy="25146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 name="圆角矩形 3"/>
          <p:cNvSpPr/>
          <p:nvPr/>
        </p:nvSpPr>
        <p:spPr>
          <a:xfrm>
            <a:off x="8953500" y="4934585"/>
            <a:ext cx="673735" cy="251460"/>
          </a:xfrm>
          <a:prstGeom prst="roundRect">
            <a:avLst/>
          </a:prstGeom>
          <a:ln>
            <a:solidFill>
              <a:srgbClr val="0070C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 name="圆角矩形 1"/>
          <p:cNvSpPr/>
          <p:nvPr/>
        </p:nvSpPr>
        <p:spPr>
          <a:xfrm>
            <a:off x="1007110" y="4224020"/>
            <a:ext cx="1518285" cy="251460"/>
          </a:xfrm>
          <a:prstGeom prst="round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圆角矩形 5"/>
          <p:cNvSpPr/>
          <p:nvPr/>
        </p:nvSpPr>
        <p:spPr>
          <a:xfrm>
            <a:off x="8953500" y="4224020"/>
            <a:ext cx="673735" cy="251460"/>
          </a:xfrm>
          <a:prstGeom prst="roundRect">
            <a:avLst/>
          </a:prstGeom>
          <a:ln>
            <a:solidFill>
              <a:srgbClr val="0070C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直接连接符 15"/>
          <p:cNvCxnSpPr/>
          <p:nvPr/>
        </p:nvCxnSpPr>
        <p:spPr>
          <a:xfrm>
            <a:off x="5640421" y="3947364"/>
            <a:ext cx="911157"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0" name="Freeform 5"/>
          <p:cNvSpPr>
            <a:spLocks noEditPoints="1"/>
          </p:cNvSpPr>
          <p:nvPr/>
        </p:nvSpPr>
        <p:spPr bwMode="auto">
          <a:xfrm>
            <a:off x="5760018" y="520406"/>
            <a:ext cx="671963" cy="769033"/>
          </a:xfrm>
          <a:custGeom>
            <a:avLst/>
            <a:gdLst>
              <a:gd name="T0" fmla="*/ 1898 w 2872"/>
              <a:gd name="T1" fmla="*/ 1941 h 3284"/>
              <a:gd name="T2" fmla="*/ 2681 w 2872"/>
              <a:gd name="T3" fmla="*/ 328 h 3284"/>
              <a:gd name="T4" fmla="*/ 332 w 2872"/>
              <a:gd name="T5" fmla="*/ 0 h 3284"/>
              <a:gd name="T6" fmla="*/ 4 w 2872"/>
              <a:gd name="T7" fmla="*/ 3014 h 3284"/>
              <a:gd name="T8" fmla="*/ 378 w 2872"/>
              <a:gd name="T9" fmla="*/ 3234 h 3284"/>
              <a:gd name="T10" fmla="*/ 1491 w 2872"/>
              <a:gd name="T11" fmla="*/ 2781 h 3284"/>
              <a:gd name="T12" fmla="*/ 987 w 2872"/>
              <a:gd name="T13" fmla="*/ 1006 h 3284"/>
              <a:gd name="T14" fmla="*/ 1069 w 2872"/>
              <a:gd name="T15" fmla="*/ 924 h 3284"/>
              <a:gd name="T16" fmla="*/ 2073 w 2872"/>
              <a:gd name="T17" fmla="*/ 948 h 3284"/>
              <a:gd name="T18" fmla="*/ 2097 w 2872"/>
              <a:gd name="T19" fmla="*/ 1114 h 3284"/>
              <a:gd name="T20" fmla="*/ 2015 w 2872"/>
              <a:gd name="T21" fmla="*/ 1196 h 3284"/>
              <a:gd name="T22" fmla="*/ 1011 w 2872"/>
              <a:gd name="T23" fmla="*/ 1172 h 3284"/>
              <a:gd name="T24" fmla="*/ 987 w 2872"/>
              <a:gd name="T25" fmla="*/ 1006 h 3284"/>
              <a:gd name="T26" fmla="*/ 672 w 2872"/>
              <a:gd name="T27" fmla="*/ 1885 h 3284"/>
              <a:gd name="T28" fmla="*/ 590 w 2872"/>
              <a:gd name="T29" fmla="*/ 1803 h 3284"/>
              <a:gd name="T30" fmla="*/ 614 w 2872"/>
              <a:gd name="T31" fmla="*/ 1641 h 3284"/>
              <a:gd name="T32" fmla="*/ 778 w 2872"/>
              <a:gd name="T33" fmla="*/ 1617 h 3284"/>
              <a:gd name="T34" fmla="*/ 860 w 2872"/>
              <a:gd name="T35" fmla="*/ 1699 h 3284"/>
              <a:gd name="T36" fmla="*/ 836 w 2872"/>
              <a:gd name="T37" fmla="*/ 1861 h 3284"/>
              <a:gd name="T38" fmla="*/ 778 w 2872"/>
              <a:gd name="T39" fmla="*/ 1192 h 3284"/>
              <a:gd name="T40" fmla="*/ 614 w 2872"/>
              <a:gd name="T41" fmla="*/ 1168 h 3284"/>
              <a:gd name="T42" fmla="*/ 590 w 2872"/>
              <a:gd name="T43" fmla="*/ 1006 h 3284"/>
              <a:gd name="T44" fmla="*/ 672 w 2872"/>
              <a:gd name="T45" fmla="*/ 924 h 3284"/>
              <a:gd name="T46" fmla="*/ 836 w 2872"/>
              <a:gd name="T47" fmla="*/ 948 h 3284"/>
              <a:gd name="T48" fmla="*/ 860 w 2872"/>
              <a:gd name="T49" fmla="*/ 1113 h 3284"/>
              <a:gd name="T50" fmla="*/ 778 w 2872"/>
              <a:gd name="T51" fmla="*/ 1195 h 3284"/>
              <a:gd name="T52" fmla="*/ 1069 w 2872"/>
              <a:gd name="T53" fmla="*/ 1885 h 3284"/>
              <a:gd name="T54" fmla="*/ 987 w 2872"/>
              <a:gd name="T55" fmla="*/ 1803 h 3284"/>
              <a:gd name="T56" fmla="*/ 1011 w 2872"/>
              <a:gd name="T57" fmla="*/ 1641 h 3284"/>
              <a:gd name="T58" fmla="*/ 2015 w 2872"/>
              <a:gd name="T59" fmla="*/ 1617 h 3284"/>
              <a:gd name="T60" fmla="*/ 2097 w 2872"/>
              <a:gd name="T61" fmla="*/ 1699 h 3284"/>
              <a:gd name="T62" fmla="*/ 2073 w 2872"/>
              <a:gd name="T63" fmla="*/ 1861 h 3284"/>
              <a:gd name="T64" fmla="*/ 1069 w 2872"/>
              <a:gd name="T65" fmla="*/ 1885 h 3284"/>
              <a:gd name="T66" fmla="*/ 1579 w 2872"/>
              <a:gd name="T67" fmla="*/ 2633 h 3284"/>
              <a:gd name="T68" fmla="*/ 2872 w 2872"/>
              <a:gd name="T69" fmla="*/ 2627 h 3284"/>
              <a:gd name="T70" fmla="*/ 2216 w 2872"/>
              <a:gd name="T71" fmla="*/ 1980 h 3284"/>
              <a:gd name="T72" fmla="*/ 1770 w 2872"/>
              <a:gd name="T73" fmla="*/ 2622 h 3284"/>
              <a:gd name="T74" fmla="*/ 2131 w 2872"/>
              <a:gd name="T75" fmla="*/ 2655 h 3284"/>
              <a:gd name="T76" fmla="*/ 2671 w 2872"/>
              <a:gd name="T77" fmla="*/ 2460 h 3284"/>
              <a:gd name="T78" fmla="*/ 2128 w 2872"/>
              <a:gd name="T79" fmla="*/ 2950 h 3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872" h="3284">
                <a:moveTo>
                  <a:pt x="1468" y="2605"/>
                </a:moveTo>
                <a:cubicBezTo>
                  <a:pt x="1471" y="2320"/>
                  <a:pt x="1638" y="2061"/>
                  <a:pt x="1898" y="1941"/>
                </a:cubicBezTo>
                <a:cubicBezTo>
                  <a:pt x="2158" y="1822"/>
                  <a:pt x="2463" y="1864"/>
                  <a:pt x="2681" y="2048"/>
                </a:cubicBezTo>
                <a:cubicBezTo>
                  <a:pt x="2681" y="328"/>
                  <a:pt x="2681" y="328"/>
                  <a:pt x="2681" y="328"/>
                </a:cubicBezTo>
                <a:cubicBezTo>
                  <a:pt x="2681" y="147"/>
                  <a:pt x="2535" y="0"/>
                  <a:pt x="2354" y="0"/>
                </a:cubicBezTo>
                <a:cubicBezTo>
                  <a:pt x="332" y="0"/>
                  <a:pt x="332" y="0"/>
                  <a:pt x="332" y="0"/>
                </a:cubicBezTo>
                <a:cubicBezTo>
                  <a:pt x="151" y="0"/>
                  <a:pt x="4" y="147"/>
                  <a:pt x="4" y="328"/>
                </a:cubicBezTo>
                <a:cubicBezTo>
                  <a:pt x="4" y="3014"/>
                  <a:pt x="4" y="3014"/>
                  <a:pt x="4" y="3014"/>
                </a:cubicBezTo>
                <a:cubicBezTo>
                  <a:pt x="0" y="3105"/>
                  <a:pt x="44" y="3191"/>
                  <a:pt x="121" y="3240"/>
                </a:cubicBezTo>
                <a:cubicBezTo>
                  <a:pt x="201" y="3284"/>
                  <a:pt x="299" y="3282"/>
                  <a:pt x="378" y="3234"/>
                </a:cubicBezTo>
                <a:cubicBezTo>
                  <a:pt x="1350" y="2704"/>
                  <a:pt x="1350" y="2704"/>
                  <a:pt x="1350" y="2704"/>
                </a:cubicBezTo>
                <a:cubicBezTo>
                  <a:pt x="1491" y="2781"/>
                  <a:pt x="1491" y="2781"/>
                  <a:pt x="1491" y="2781"/>
                </a:cubicBezTo>
                <a:cubicBezTo>
                  <a:pt x="1476" y="2723"/>
                  <a:pt x="1469" y="2665"/>
                  <a:pt x="1468" y="2605"/>
                </a:cubicBezTo>
                <a:close/>
                <a:moveTo>
                  <a:pt x="987" y="1006"/>
                </a:moveTo>
                <a:cubicBezTo>
                  <a:pt x="987" y="985"/>
                  <a:pt x="996" y="964"/>
                  <a:pt x="1011" y="948"/>
                </a:cubicBezTo>
                <a:cubicBezTo>
                  <a:pt x="1027" y="933"/>
                  <a:pt x="1048" y="924"/>
                  <a:pt x="1069" y="924"/>
                </a:cubicBezTo>
                <a:cubicBezTo>
                  <a:pt x="2015" y="924"/>
                  <a:pt x="2015" y="924"/>
                  <a:pt x="2015" y="924"/>
                </a:cubicBezTo>
                <a:cubicBezTo>
                  <a:pt x="2036" y="924"/>
                  <a:pt x="2057" y="933"/>
                  <a:pt x="2073" y="948"/>
                </a:cubicBezTo>
                <a:cubicBezTo>
                  <a:pt x="2088" y="964"/>
                  <a:pt x="2097" y="985"/>
                  <a:pt x="2097" y="1006"/>
                </a:cubicBezTo>
                <a:cubicBezTo>
                  <a:pt x="2097" y="1114"/>
                  <a:pt x="2097" y="1114"/>
                  <a:pt x="2097" y="1114"/>
                </a:cubicBezTo>
                <a:cubicBezTo>
                  <a:pt x="2097" y="1135"/>
                  <a:pt x="2088" y="1156"/>
                  <a:pt x="2073" y="1172"/>
                </a:cubicBezTo>
                <a:cubicBezTo>
                  <a:pt x="2057" y="1187"/>
                  <a:pt x="2036" y="1196"/>
                  <a:pt x="2015" y="1196"/>
                </a:cubicBezTo>
                <a:cubicBezTo>
                  <a:pt x="1069" y="1196"/>
                  <a:pt x="1069" y="1196"/>
                  <a:pt x="1069" y="1196"/>
                </a:cubicBezTo>
                <a:cubicBezTo>
                  <a:pt x="1048" y="1196"/>
                  <a:pt x="1027" y="1187"/>
                  <a:pt x="1011" y="1172"/>
                </a:cubicBezTo>
                <a:cubicBezTo>
                  <a:pt x="996" y="1156"/>
                  <a:pt x="987" y="1135"/>
                  <a:pt x="987" y="1114"/>
                </a:cubicBezTo>
                <a:lnTo>
                  <a:pt x="987" y="1006"/>
                </a:lnTo>
                <a:close/>
                <a:moveTo>
                  <a:pt x="778" y="1885"/>
                </a:moveTo>
                <a:cubicBezTo>
                  <a:pt x="672" y="1885"/>
                  <a:pt x="672" y="1885"/>
                  <a:pt x="672" y="1885"/>
                </a:cubicBezTo>
                <a:cubicBezTo>
                  <a:pt x="650" y="1885"/>
                  <a:pt x="629" y="1876"/>
                  <a:pt x="614" y="1861"/>
                </a:cubicBezTo>
                <a:cubicBezTo>
                  <a:pt x="599" y="1845"/>
                  <a:pt x="590" y="1824"/>
                  <a:pt x="590" y="1803"/>
                </a:cubicBezTo>
                <a:cubicBezTo>
                  <a:pt x="590" y="1699"/>
                  <a:pt x="590" y="1699"/>
                  <a:pt x="590" y="1699"/>
                </a:cubicBezTo>
                <a:cubicBezTo>
                  <a:pt x="590" y="1678"/>
                  <a:pt x="599" y="1657"/>
                  <a:pt x="614" y="1641"/>
                </a:cubicBezTo>
                <a:cubicBezTo>
                  <a:pt x="629" y="1626"/>
                  <a:pt x="650" y="1617"/>
                  <a:pt x="672" y="1617"/>
                </a:cubicBezTo>
                <a:cubicBezTo>
                  <a:pt x="778" y="1617"/>
                  <a:pt x="778" y="1617"/>
                  <a:pt x="778" y="1617"/>
                </a:cubicBezTo>
                <a:cubicBezTo>
                  <a:pt x="799" y="1617"/>
                  <a:pt x="820" y="1626"/>
                  <a:pt x="836" y="1641"/>
                </a:cubicBezTo>
                <a:cubicBezTo>
                  <a:pt x="851" y="1657"/>
                  <a:pt x="860" y="1678"/>
                  <a:pt x="860" y="1699"/>
                </a:cubicBezTo>
                <a:cubicBezTo>
                  <a:pt x="860" y="1803"/>
                  <a:pt x="860" y="1803"/>
                  <a:pt x="860" y="1803"/>
                </a:cubicBezTo>
                <a:cubicBezTo>
                  <a:pt x="860" y="1824"/>
                  <a:pt x="851" y="1845"/>
                  <a:pt x="836" y="1861"/>
                </a:cubicBezTo>
                <a:cubicBezTo>
                  <a:pt x="820" y="1876"/>
                  <a:pt x="799" y="1885"/>
                  <a:pt x="778" y="1885"/>
                </a:cubicBezTo>
                <a:close/>
                <a:moveTo>
                  <a:pt x="778" y="1192"/>
                </a:moveTo>
                <a:cubicBezTo>
                  <a:pt x="672" y="1192"/>
                  <a:pt x="672" y="1192"/>
                  <a:pt x="672" y="1192"/>
                </a:cubicBezTo>
                <a:cubicBezTo>
                  <a:pt x="650" y="1192"/>
                  <a:pt x="629" y="1183"/>
                  <a:pt x="614" y="1168"/>
                </a:cubicBezTo>
                <a:cubicBezTo>
                  <a:pt x="599" y="1152"/>
                  <a:pt x="590" y="1131"/>
                  <a:pt x="590" y="1110"/>
                </a:cubicBezTo>
                <a:cubicBezTo>
                  <a:pt x="590" y="1006"/>
                  <a:pt x="590" y="1006"/>
                  <a:pt x="590" y="1006"/>
                </a:cubicBezTo>
                <a:cubicBezTo>
                  <a:pt x="590" y="984"/>
                  <a:pt x="599" y="963"/>
                  <a:pt x="614" y="948"/>
                </a:cubicBezTo>
                <a:cubicBezTo>
                  <a:pt x="629" y="932"/>
                  <a:pt x="650" y="924"/>
                  <a:pt x="672" y="924"/>
                </a:cubicBezTo>
                <a:cubicBezTo>
                  <a:pt x="778" y="924"/>
                  <a:pt x="778" y="924"/>
                  <a:pt x="778" y="924"/>
                </a:cubicBezTo>
                <a:cubicBezTo>
                  <a:pt x="800" y="924"/>
                  <a:pt x="821" y="932"/>
                  <a:pt x="836" y="948"/>
                </a:cubicBezTo>
                <a:cubicBezTo>
                  <a:pt x="852" y="963"/>
                  <a:pt x="860" y="984"/>
                  <a:pt x="860" y="1006"/>
                </a:cubicBezTo>
                <a:cubicBezTo>
                  <a:pt x="860" y="1113"/>
                  <a:pt x="860" y="1113"/>
                  <a:pt x="860" y="1113"/>
                </a:cubicBezTo>
                <a:cubicBezTo>
                  <a:pt x="860" y="1135"/>
                  <a:pt x="852" y="1155"/>
                  <a:pt x="836" y="1171"/>
                </a:cubicBezTo>
                <a:cubicBezTo>
                  <a:pt x="821" y="1186"/>
                  <a:pt x="800" y="1195"/>
                  <a:pt x="778" y="1195"/>
                </a:cubicBezTo>
                <a:lnTo>
                  <a:pt x="778" y="1192"/>
                </a:lnTo>
                <a:close/>
                <a:moveTo>
                  <a:pt x="1069" y="1885"/>
                </a:moveTo>
                <a:cubicBezTo>
                  <a:pt x="1048" y="1885"/>
                  <a:pt x="1027" y="1876"/>
                  <a:pt x="1011" y="1861"/>
                </a:cubicBezTo>
                <a:cubicBezTo>
                  <a:pt x="996" y="1845"/>
                  <a:pt x="987" y="1824"/>
                  <a:pt x="987" y="1803"/>
                </a:cubicBezTo>
                <a:cubicBezTo>
                  <a:pt x="987" y="1699"/>
                  <a:pt x="987" y="1699"/>
                  <a:pt x="987" y="1699"/>
                </a:cubicBezTo>
                <a:cubicBezTo>
                  <a:pt x="987" y="1678"/>
                  <a:pt x="996" y="1657"/>
                  <a:pt x="1011" y="1641"/>
                </a:cubicBezTo>
                <a:cubicBezTo>
                  <a:pt x="1027" y="1626"/>
                  <a:pt x="1048" y="1617"/>
                  <a:pt x="1069" y="1617"/>
                </a:cubicBezTo>
                <a:cubicBezTo>
                  <a:pt x="2015" y="1617"/>
                  <a:pt x="2015" y="1617"/>
                  <a:pt x="2015" y="1617"/>
                </a:cubicBezTo>
                <a:cubicBezTo>
                  <a:pt x="2036" y="1617"/>
                  <a:pt x="2057" y="1626"/>
                  <a:pt x="2073" y="1641"/>
                </a:cubicBezTo>
                <a:cubicBezTo>
                  <a:pt x="2088" y="1657"/>
                  <a:pt x="2097" y="1678"/>
                  <a:pt x="2097" y="1699"/>
                </a:cubicBezTo>
                <a:cubicBezTo>
                  <a:pt x="2097" y="1803"/>
                  <a:pt x="2097" y="1803"/>
                  <a:pt x="2097" y="1803"/>
                </a:cubicBezTo>
                <a:cubicBezTo>
                  <a:pt x="2097" y="1824"/>
                  <a:pt x="2088" y="1845"/>
                  <a:pt x="2073" y="1861"/>
                </a:cubicBezTo>
                <a:cubicBezTo>
                  <a:pt x="2057" y="1876"/>
                  <a:pt x="2036" y="1885"/>
                  <a:pt x="2015" y="1885"/>
                </a:cubicBezTo>
                <a:lnTo>
                  <a:pt x="1069" y="1885"/>
                </a:lnTo>
                <a:close/>
                <a:moveTo>
                  <a:pt x="2216" y="1980"/>
                </a:moveTo>
                <a:cubicBezTo>
                  <a:pt x="1860" y="1985"/>
                  <a:pt x="1576" y="2277"/>
                  <a:pt x="1579" y="2633"/>
                </a:cubicBezTo>
                <a:cubicBezTo>
                  <a:pt x="1582" y="2988"/>
                  <a:pt x="1872" y="3275"/>
                  <a:pt x="2228" y="3273"/>
                </a:cubicBezTo>
                <a:cubicBezTo>
                  <a:pt x="2584" y="3271"/>
                  <a:pt x="2872" y="2983"/>
                  <a:pt x="2872" y="2627"/>
                </a:cubicBezTo>
                <a:cubicBezTo>
                  <a:pt x="2872" y="2454"/>
                  <a:pt x="2802" y="2288"/>
                  <a:pt x="2679" y="2167"/>
                </a:cubicBezTo>
                <a:cubicBezTo>
                  <a:pt x="2556" y="2045"/>
                  <a:pt x="2389" y="1978"/>
                  <a:pt x="2216" y="1980"/>
                </a:cubicBezTo>
                <a:close/>
                <a:moveTo>
                  <a:pt x="2128" y="2950"/>
                </a:moveTo>
                <a:cubicBezTo>
                  <a:pt x="1770" y="2622"/>
                  <a:pt x="1770" y="2622"/>
                  <a:pt x="1770" y="2622"/>
                </a:cubicBezTo>
                <a:cubicBezTo>
                  <a:pt x="1934" y="2476"/>
                  <a:pt x="1934" y="2476"/>
                  <a:pt x="1934" y="2476"/>
                </a:cubicBezTo>
                <a:cubicBezTo>
                  <a:pt x="2131" y="2655"/>
                  <a:pt x="2131" y="2655"/>
                  <a:pt x="2131" y="2655"/>
                </a:cubicBezTo>
                <a:cubicBezTo>
                  <a:pt x="2507" y="2314"/>
                  <a:pt x="2507" y="2314"/>
                  <a:pt x="2507" y="2314"/>
                </a:cubicBezTo>
                <a:cubicBezTo>
                  <a:pt x="2671" y="2460"/>
                  <a:pt x="2671" y="2460"/>
                  <a:pt x="2671" y="2460"/>
                </a:cubicBezTo>
                <a:lnTo>
                  <a:pt x="2128" y="2950"/>
                </a:lnTo>
                <a:close/>
                <a:moveTo>
                  <a:pt x="2128" y="2950"/>
                </a:moveTo>
                <a:cubicBezTo>
                  <a:pt x="2128" y="2950"/>
                  <a:pt x="2128" y="2950"/>
                  <a:pt x="2128" y="2950"/>
                </a:cubicBezTo>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 name="文本框 2"/>
          <p:cNvSpPr txBox="1"/>
          <p:nvPr/>
        </p:nvSpPr>
        <p:spPr>
          <a:xfrm>
            <a:off x="2785110" y="2649220"/>
            <a:ext cx="6622415" cy="1013460"/>
          </a:xfrm>
          <a:prstGeom prst="rect">
            <a:avLst/>
          </a:prstGeom>
          <a:noFill/>
        </p:spPr>
        <p:txBody>
          <a:bodyPr wrap="square" rtlCol="0">
            <a:noAutofit/>
          </a:bodyPr>
          <a:p>
            <a:pPr algn="l">
              <a:buClrTx/>
              <a:buSzTx/>
              <a:buFont typeface="Wingdings" panose="05000000000000000000" charset="0"/>
            </a:pPr>
            <a:r>
              <a:rPr lang="zh-CN" altLang="en-US" sz="5400" b="1" dirty="0">
                <a:solidFill>
                  <a:schemeClr val="accent1">
                    <a:lumMod val="50000"/>
                  </a:schemeClr>
                </a:solidFill>
                <a:cs typeface="+mn-ea"/>
                <a:sym typeface="+mn-lt"/>
              </a:rPr>
              <a:t>请老师同学批评指正！</a:t>
            </a:r>
            <a:endParaRPr lang="zh-CN" altLang="en-US" sz="5400" b="1" dirty="0">
              <a:solidFill>
                <a:schemeClr val="accent1">
                  <a:lumMod val="50000"/>
                </a:schemeClr>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DIAGRAM_VIRTUALLY_FRAME" val="{&quot;height&quot;:388.74818897637795,&quot;left&quot;:72.08771653543307,&quot;top&quot;:26.10976377952756,&quot;width&quot;:815.8245669291339}"/>
</p:tagLst>
</file>

<file path=ppt/tags/tag2.xml><?xml version="1.0" encoding="utf-8"?>
<p:tagLst xmlns:p="http://schemas.openxmlformats.org/presentationml/2006/main">
  <p:tag name="KSO_WM_DIAGRAM_VIRTUALLY_FRAME" val="{&quot;height&quot;:396.8,&quot;left&quot;:75.06135442541509,&quot;top&quot;:67.5,&quot;width&quot;:741.0886455745851}"/>
</p:tagLst>
</file>

<file path=ppt/tags/tag3.xml><?xml version="1.0" encoding="utf-8"?>
<p:tagLst xmlns:p="http://schemas.openxmlformats.org/presentationml/2006/main">
  <p:tag name="KSO_WM_DIAGRAM_VIRTUALLY_FRAME" val="{&quot;height&quot;:396.8,&quot;left&quot;:75.06135442541509,&quot;top&quot;:67.5,&quot;width&quot;:741.0886455745851}"/>
</p:tagLst>
</file>

<file path=ppt/tags/tag4.xml><?xml version="1.0" encoding="utf-8"?>
<p:tagLst xmlns:p="http://schemas.openxmlformats.org/presentationml/2006/main">
  <p:tag name="KSO_WM_DIAGRAM_VIRTUALLY_FRAME" val="{&quot;height&quot;:396.8,&quot;left&quot;:75.06135442541509,&quot;top&quot;:67.5,&quot;width&quot;:741.0886455745851}"/>
</p:tagLst>
</file>

<file path=ppt/tags/tag5.xml><?xml version="1.0" encoding="utf-8"?>
<p:tagLst xmlns:p="http://schemas.openxmlformats.org/presentationml/2006/main">
  <p:tag name="KSO_WM_DIAGRAM_VIRTUALLY_FRAME" val="{&quot;height&quot;:396.8,&quot;left&quot;:75.06135442541509,&quot;top&quot;:67.5,&quot;width&quot;:741.0886455745851}"/>
</p:tagLst>
</file>

<file path=ppt/tags/tag6.xml><?xml version="1.0" encoding="utf-8"?>
<p:tagLst xmlns:p="http://schemas.openxmlformats.org/presentationml/2006/main">
  <p:tag name="KSO_WM_DIAGRAM_VIRTUALLY_FRAME" val="{&quot;height&quot;:396.8,&quot;left&quot;:75.06135442541509,&quot;top&quot;:67.5,&quot;width&quot;:741.0886455745851}"/>
</p:tagLst>
</file>

<file path=ppt/tags/tag7.xml><?xml version="1.0" encoding="utf-8"?>
<p:tagLst xmlns:p="http://schemas.openxmlformats.org/presentationml/2006/main">
  <p:tag name="KSO_WM_DIAGRAM_VIRTUALLY_FRAME" val="{&quot;height&quot;:396.8,&quot;left&quot;:75.06135442541509,&quot;top&quot;:67.5,&quot;width&quot;:741.0886455745851}"/>
</p:tagLst>
</file>

<file path=ppt/tags/tag8.xml><?xml version="1.0" encoding="utf-8"?>
<p:tagLst xmlns:p="http://schemas.openxmlformats.org/presentationml/2006/main">
  <p:tag name="KSO_WM_DIAGRAM_VIRTUALLY_FRAME" val="{&quot;height&quot;:396.8,&quot;left&quot;:75.06135442541509,&quot;top&quot;:67.5,&quot;width&quot;:741.0886455745851}"/>
</p:tagLst>
</file>

<file path=ppt/tags/tag9.xml><?xml version="1.0" encoding="utf-8"?>
<p:tagLst xmlns:p="http://schemas.openxmlformats.org/presentationml/2006/main">
  <p:tag name="KSO_WM_DIAGRAM_VIRTUALLY_FRAME" val="{&quot;height&quot;:396.8,&quot;left&quot;:75.06135442541509,&quot;top&quot;:67.5,&quot;width&quot;:741.0886455745851}"/>
</p:tagLst>
</file>

<file path=ppt/tags/tag10.xml><?xml version="1.0" encoding="utf-8"?>
<p:tagLst xmlns:p="http://schemas.openxmlformats.org/presentationml/2006/main">
  <p:tag name="KSO_WM_DIAGRAM_VIRTUALLY_FRAME" val="{&quot;height&quot;:396.8,&quot;left&quot;:75.06135442541509,&quot;top&quot;:67.5,&quot;width&quot;:741.0886455745851}"/>
</p:tagLst>
</file>

<file path=ppt/tags/tag11.xml><?xml version="1.0" encoding="utf-8"?>
<p:tagLst xmlns:p="http://schemas.openxmlformats.org/presentationml/2006/main">
  <p:tag name="KSO_WM_DIAGRAM_VIRTUALLY_FRAME" val="{&quot;height&quot;:388.74818897637795,&quot;left&quot;:72.08771653543307,&quot;top&quot;:26.10976377952756,&quot;width&quot;:815.8245669291339}"/>
</p:tagLst>
</file>

<file path=ppt/tags/tag12.xml><?xml version="1.0" encoding="utf-8"?>
<p:tagLst xmlns:p="http://schemas.openxmlformats.org/presentationml/2006/main">
  <p:tag name="KSO_WM_DIAGRAM_VIRTUALLY_FRAME" val="{&quot;height&quot;:373.55,&quot;left&quot;:79.3,&quot;top&quot;:90.75,&quot;width&quot;:736.85}"/>
</p:tagLst>
</file>

<file path=ppt/tags/tag13.xml><?xml version="1.0" encoding="utf-8"?>
<p:tagLst xmlns:p="http://schemas.openxmlformats.org/presentationml/2006/main">
  <p:tag name="resource_record_key" val="{&quot;29&quot;:[50000031],&quot;70&quot;:[3321880,331585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q1ayxfd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954</Words>
  <Application>WPS 演示</Application>
  <PresentationFormat>宽屏</PresentationFormat>
  <Paragraphs>72</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宋体</vt:lpstr>
      <vt:lpstr>Wingdings</vt:lpstr>
      <vt:lpstr>Wingdings</vt:lpstr>
      <vt:lpstr>黑体</vt:lpstr>
      <vt:lpstr>微软雅黑</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office2016mac10413</dc:creator>
  <cp:lastModifiedBy>Heart</cp:lastModifiedBy>
  <cp:revision>198</cp:revision>
  <dcterms:created xsi:type="dcterms:W3CDTF">2021-06-29T08:54:00Z</dcterms:created>
  <dcterms:modified xsi:type="dcterms:W3CDTF">2025-11-15T03:11:39Z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KSOTemplateUUID">
    <vt:lpwstr>v1.0_mb_3/AUWq/N1aYnYRXji2t99Q==</vt:lpwstr>
  </property>
  <property fmtid="{D5CDD505-2E9C-101B-9397-08002B2CF9AE}" pid="4" name="ICV">
    <vt:lpwstr>F3CCCED4F8D6492AB87A4B373DD5B26C_11</vt:lpwstr>
  </property>
</Properties>
</file>