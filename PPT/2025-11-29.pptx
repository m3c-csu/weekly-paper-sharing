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361" r:id="rId5"/>
    <p:sldId id="306" r:id="rId6"/>
    <p:sldId id="365" r:id="rId7"/>
    <p:sldId id="308" r:id="rId8"/>
    <p:sldId id="359" r:id="rId9"/>
    <p:sldId id="307" r:id="rId10"/>
    <p:sldId id="362" r:id="rId11"/>
    <p:sldId id="366" r:id="rId12"/>
    <p:sldId id="367" r:id="rId13"/>
    <p:sldId id="310" r:id="rId14"/>
    <p:sldId id="368" r:id="rId15"/>
    <p:sldId id="374" r:id="rId16"/>
    <p:sldId id="373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4" userDrawn="1">
          <p15:clr>
            <a:srgbClr val="A4A3A4"/>
          </p15:clr>
        </p15:guide>
        <p15:guide id="2" pos="3895" userDrawn="1">
          <p15:clr>
            <a:srgbClr val="A4A3A4"/>
          </p15:clr>
        </p15:guide>
        <p15:guide id="3" pos="40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27499155" name="272km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D91515"/>
    <a:srgbClr val="EE0000"/>
    <a:srgbClr val="18B0FC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84" y="67"/>
      </p:cViewPr>
      <p:guideLst>
        <p:guide orient="horz" pos="2284"/>
        <p:guide pos="3895"/>
        <p:guide pos="40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zh-CN" alt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F772-9AF6-740C-C72D-68F3A707B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075C78-4EF3-0EA3-6169-804168249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A5F346-22E2-E908-9597-B8485B144EF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34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1583" y="162128"/>
            <a:ext cx="11815864" cy="653374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304817" y="1"/>
            <a:ext cx="1569396" cy="173152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304817" y="6634265"/>
            <a:ext cx="1569396" cy="22373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10798227" y="5070856"/>
            <a:ext cx="1197659" cy="1389113"/>
            <a:chOff x="-1356283" y="1212273"/>
            <a:chExt cx="1599245" cy="1854896"/>
          </a:xfrm>
        </p:grpSpPr>
        <p:sp>
          <p:nvSpPr>
            <p:cNvPr id="28" name="等腰三角形 27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94553" y="193560"/>
            <a:ext cx="2019597" cy="1884355"/>
            <a:chOff x="214742" y="270164"/>
            <a:chExt cx="2661150" cy="2482947"/>
          </a:xfrm>
        </p:grpSpPr>
        <p:grpSp>
          <p:nvGrpSpPr>
            <p:cNvPr id="38" name="组合 37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2" name="等腰三角形 41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等腰三角形 38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等腰三角形 40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94341" y="5268976"/>
            <a:ext cx="1197659" cy="1389113"/>
            <a:chOff x="-1356283" y="1212273"/>
            <a:chExt cx="1599245" cy="1854896"/>
          </a:xfrm>
        </p:grpSpPr>
        <p:sp>
          <p:nvSpPr>
            <p:cNvPr id="25" name="等腰三角形 24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连接符 33"/>
          <p:cNvCxnSpPr/>
          <p:nvPr userDrawn="1"/>
        </p:nvCxnSpPr>
        <p:spPr>
          <a:xfrm flipH="1">
            <a:off x="533400" y="6507480"/>
            <a:ext cx="10637520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  <a:t>‹#›</a:t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-14298" y="155435"/>
            <a:ext cx="2957239" cy="2759208"/>
            <a:chOff x="214742" y="270164"/>
            <a:chExt cx="2661150" cy="2482947"/>
          </a:xfrm>
        </p:grpSpPr>
        <p:grpSp>
          <p:nvGrpSpPr>
            <p:cNvPr id="37" name="组合 36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1" name="等腰三角形 40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等腰三角形 37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64127" y="6507480"/>
            <a:ext cx="10706793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  <a:t>‹#›</a:t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452916" y="5846548"/>
            <a:ext cx="739084" cy="971841"/>
            <a:chOff x="-1164737" y="1521462"/>
            <a:chExt cx="1407699" cy="1851021"/>
          </a:xfrm>
        </p:grpSpPr>
        <p:sp>
          <p:nvSpPr>
            <p:cNvPr id="9" name="等腰三角形 8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6200000" flipH="1">
              <a:off x="-340775" y="2796755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>
              <a:off x="-1192059" y="2894582"/>
              <a:ext cx="396178" cy="341533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0"/>
            <a:ext cx="3581400" cy="3341572"/>
            <a:chOff x="214742" y="270164"/>
            <a:chExt cx="2661150" cy="2482947"/>
          </a:xfrm>
        </p:grpSpPr>
        <p:grpSp>
          <p:nvGrpSpPr>
            <p:cNvPr id="6" name="组合 5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10" name="等腰三角形 9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 userDrawn="1"/>
            </p:nvSpPr>
            <p:spPr>
              <a:xfrm rot="5400000">
                <a:off x="2749326" y="-43017"/>
                <a:ext cx="972885" cy="8386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3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等腰三角形 6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11352349" y="5684214"/>
            <a:ext cx="839651" cy="973875"/>
            <a:chOff x="-1356283" y="1212273"/>
            <a:chExt cx="1599245" cy="1854896"/>
          </a:xfrm>
        </p:grpSpPr>
        <p:sp>
          <p:nvSpPr>
            <p:cNvPr id="23" name="等腰三角形 22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6D3-EC10-435A-83A8-4CF3748666B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.jpeg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5640421" y="3947364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5495" y="2424430"/>
            <a:ext cx="10621010" cy="128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Font typeface="Wingdings" panose="05000000000000000000" charset="0"/>
            </a:pP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Masked Vascular Structure Segmentation and Completion in Retinal Images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50113" y="4247746"/>
            <a:ext cx="8091771" cy="8914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 IEEE TRANSACTIONS ON MEDICAL IMAGING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, </a:t>
            </a:r>
            <a:endParaRPr lang="en-US" altLang="zh-CN" sz="2400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  <a:p>
            <a:pPr algn="ctr"/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</a:rPr>
              <a:t>JUNE 2025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01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作者</a:t>
            </a:r>
          </a:p>
        </p:txBody>
      </p: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06E368A-B9AF-166D-567F-7562B9175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099" y="906433"/>
            <a:ext cx="7217835" cy="5560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</a:p>
        </p:txBody>
      </p:sp>
      <p:pic>
        <p:nvPicPr>
          <p:cNvPr id="6" name="图片 5"/>
          <p:cNvPicPr/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1005840" y="857250"/>
            <a:ext cx="93579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l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rgbClr val="C00000"/>
                </a:solidFill>
                <a:cs typeface="+mn-ea"/>
                <a:sym typeface="+mn-lt"/>
              </a:rPr>
              <a:t>1.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+mn-lt"/>
              </a:rPr>
              <a:t>数据瓶颈：</a:t>
            </a:r>
            <a:endParaRPr lang="en-US" altLang="zh-CN" sz="2000" b="1" dirty="0">
              <a:solidFill>
                <a:srgbClr val="C00000"/>
              </a:solidFill>
              <a:cs typeface="+mn-ea"/>
              <a:sym typeface="+mn-lt"/>
            </a:endParaRPr>
          </a:p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在视网膜图像中手动标注血管是一项繁琐且耗时的任务。这极大地限制了可用于训练的数据量。</a:t>
            </a:r>
          </a:p>
          <a:p>
            <a:pPr indent="0" algn="l">
              <a:buFont typeface="Wingdings" panose="05000000000000000000" charset="0"/>
              <a:buNone/>
            </a:pPr>
            <a:endParaRPr lang="zh-CN" altLang="en-US" sz="20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004492" y="2522220"/>
            <a:ext cx="9114155" cy="1202690"/>
            <a:chOff x="9598" y="1399"/>
            <a:chExt cx="6962" cy="1894"/>
          </a:xfrm>
        </p:grpSpPr>
        <p:sp>
          <p:nvSpPr>
            <p:cNvPr id="14" name="矩形 13"/>
            <p:cNvSpPr/>
            <p:nvPr>
              <p:custDataLst>
                <p:tags r:id="rId7"/>
              </p:custDataLst>
            </p:nvPr>
          </p:nvSpPr>
          <p:spPr>
            <a:xfrm>
              <a:off x="9599" y="1399"/>
              <a:ext cx="69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solidFill>
                    <a:srgbClr val="C00000"/>
                  </a:solidFill>
                  <a:cs typeface="+mn-ea"/>
                  <a:sym typeface="+mn-lt"/>
                </a:rPr>
                <a:t>2.</a:t>
              </a:r>
              <a:r>
                <a:rPr lang="zh-CN" altLang="en-US" sz="2000" b="1" dirty="0">
                  <a:solidFill>
                    <a:srgbClr val="C00000"/>
                  </a:solidFill>
                  <a:cs typeface="+mn-ea"/>
                  <a:sym typeface="+mn-lt"/>
                </a:rPr>
                <a:t>连通性瓶颈：</a:t>
              </a:r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9598" y="1884"/>
              <a:ext cx="6962" cy="1409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</a:rPr>
                <a:t>传统方法及大多数深度学习模型只关注像素级的预测精度，而忽视了血管作为一个连续网络的拓扑结构。这导致分割出的血管，尤其是细微血管，常常是断裂、碎片化的，无法形成完整的连通树状结构，严重影响后续的医学分析价值。</a:t>
              </a:r>
            </a:p>
            <a:p>
              <a:pPr>
                <a:lnSpc>
                  <a:spcPct val="130000"/>
                </a:lnSpc>
              </a:pPr>
              <a:endPara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>
                <a:lnSpc>
                  <a:spcPct val="130000"/>
                </a:lnSpc>
              </a:pPr>
              <a:endPara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4"/>
            </p:custDataLst>
          </p:nvPr>
        </p:nvGrpSpPr>
        <p:grpSpPr>
          <a:xfrm>
            <a:off x="1004474" y="4187190"/>
            <a:ext cx="9236377" cy="1242060"/>
            <a:chOff x="9598" y="1349"/>
            <a:chExt cx="7008" cy="1956"/>
          </a:xfrm>
        </p:grpSpPr>
        <p:sp>
          <p:nvSpPr>
            <p:cNvPr id="21" name="矩形 20"/>
            <p:cNvSpPr/>
            <p:nvPr>
              <p:custDataLst>
                <p:tags r:id="rId5"/>
              </p:custDataLst>
            </p:nvPr>
          </p:nvSpPr>
          <p:spPr>
            <a:xfrm>
              <a:off x="9645" y="1349"/>
              <a:ext cx="69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6"/>
              </p:custDataLst>
            </p:nvPr>
          </p:nvSpPr>
          <p:spPr>
            <a:xfrm>
              <a:off x="9598" y="1887"/>
              <a:ext cx="6962" cy="141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30000"/>
                </a:lnSpc>
              </a:pP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</a:p>
        </p:txBody>
      </p:sp>
      <p:pic>
        <p:nvPicPr>
          <p:cNvPr id="6" name="图片 5"/>
          <p:cNvPicPr/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3194856" y="779926"/>
            <a:ext cx="5538470" cy="5353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针对以上问题给出本文解决方案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188727" y="3556531"/>
            <a:ext cx="3669833" cy="92333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969679" y="1962579"/>
            <a:ext cx="4699635" cy="1256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sp>
        <p:nvSpPr>
          <p:cNvPr id="20" name="上箭头 1"/>
          <p:cNvSpPr/>
          <p:nvPr/>
        </p:nvSpPr>
        <p:spPr>
          <a:xfrm flipV="1">
            <a:off x="5743574" y="1315231"/>
            <a:ext cx="352426" cy="53530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D5EAE054-B4E1-0585-9C78-BD2F0D4CCC58}"/>
              </a:ext>
            </a:extLst>
          </p:cNvPr>
          <p:cNvSpPr/>
          <p:nvPr/>
        </p:nvSpPr>
        <p:spPr>
          <a:xfrm>
            <a:off x="3727675" y="1891167"/>
            <a:ext cx="4699634" cy="67106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8A5841-76BA-D827-6FDB-A0431B85F5F4}"/>
              </a:ext>
            </a:extLst>
          </p:cNvPr>
          <p:cNvSpPr txBox="1"/>
          <p:nvPr/>
        </p:nvSpPr>
        <p:spPr>
          <a:xfrm>
            <a:off x="3858560" y="1921948"/>
            <a:ext cx="4362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MaskVSC</a:t>
            </a:r>
            <a:r>
              <a:rPr lang="zh-CN" altLang="en-US" dirty="0"/>
              <a:t>（骨</a:t>
            </a:r>
            <a:r>
              <a:rPr lang="zh-CN" altLang="zh-CN" dirty="0"/>
              <a:t>干无关的视网膜血管结构分割与补全技术</a:t>
            </a:r>
            <a:r>
              <a:rPr lang="zh-CN" altLang="en-US" dirty="0"/>
              <a:t>）</a:t>
            </a:r>
          </a:p>
        </p:txBody>
      </p:sp>
      <p:sp>
        <p:nvSpPr>
          <p:cNvPr id="4" name="上箭头 1">
            <a:extLst>
              <a:ext uri="{FF2B5EF4-FFF2-40B4-BE49-F238E27FC236}">
                <a16:creationId xmlns:a16="http://schemas.microsoft.com/office/drawing/2014/main" id="{04BB289A-AA9F-52D6-2DD6-C0886C3401D0}"/>
              </a:ext>
            </a:extLst>
          </p:cNvPr>
          <p:cNvSpPr/>
          <p:nvPr/>
        </p:nvSpPr>
        <p:spPr>
          <a:xfrm flipV="1">
            <a:off x="5743574" y="2637856"/>
            <a:ext cx="352426" cy="53530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7396C1CF-8418-AFCB-451D-2BC52B45D42F}"/>
              </a:ext>
            </a:extLst>
          </p:cNvPr>
          <p:cNvSpPr/>
          <p:nvPr/>
        </p:nvSpPr>
        <p:spPr>
          <a:xfrm>
            <a:off x="4020717" y="3556531"/>
            <a:ext cx="3439817" cy="92333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可选过程 6">
            <a:extLst>
              <a:ext uri="{FF2B5EF4-FFF2-40B4-BE49-F238E27FC236}">
                <a16:creationId xmlns:a16="http://schemas.microsoft.com/office/drawing/2014/main" id="{D559C80E-7042-9FA3-8D7B-D61E2F8B675D}"/>
              </a:ext>
            </a:extLst>
          </p:cNvPr>
          <p:cNvSpPr/>
          <p:nvPr/>
        </p:nvSpPr>
        <p:spPr>
          <a:xfrm>
            <a:off x="7893701" y="3556531"/>
            <a:ext cx="3554078" cy="97308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3D21A3-4FDA-8FBD-617F-E048ADDF1CF6}"/>
              </a:ext>
            </a:extLst>
          </p:cNvPr>
          <p:cNvSpPr txBox="1"/>
          <p:nvPr/>
        </p:nvSpPr>
        <p:spPr>
          <a:xfrm>
            <a:off x="356993" y="3635835"/>
            <a:ext cx="3333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TopoMask</a:t>
            </a:r>
            <a:r>
              <a:rPr lang="zh-CN" altLang="en-US" dirty="0"/>
              <a:t>（</a:t>
            </a:r>
            <a:r>
              <a:rPr lang="zh-CN" altLang="zh-CN" dirty="0"/>
              <a:t>拓扑感知掩码策略</a:t>
            </a:r>
            <a:r>
              <a:rPr lang="zh-CN" altLang="en-US" dirty="0"/>
              <a:t>）： “先破坏后重建”。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A8DCA86-265C-3759-F1A9-B40B043ADB7A}"/>
                  </a:ext>
                </a:extLst>
              </p:cNvPr>
              <p:cNvSpPr txBox="1"/>
              <p:nvPr/>
            </p:nvSpPr>
            <p:spPr>
              <a:xfrm>
                <a:off x="4075438" y="3673564"/>
                <a:ext cx="27888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连通性损失函数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zh-CN" altLang="en-US" b="1" dirty="0"/>
                  <a:t>：</a:t>
                </a:r>
                <a:r>
                  <a:rPr lang="zh-CN" altLang="zh-CN" dirty="0"/>
                  <a:t>惩罚血管的碎片化现象</a:t>
                </a:r>
                <a:r>
                  <a:rPr lang="zh-CN" altLang="en-US" dirty="0"/>
                  <a:t>。</a:t>
                </a:r>
                <a:endParaRPr lang="zh-CN" altLang="en-US" b="1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A8DCA86-265C-3759-F1A9-B40B043AD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438" y="3673564"/>
                <a:ext cx="2788899" cy="923330"/>
              </a:xfrm>
              <a:prstGeom prst="rect">
                <a:avLst/>
              </a:prstGeom>
              <a:blipFill>
                <a:blip r:embed="rId6"/>
                <a:stretch>
                  <a:fillRect l="-1969" t="-3974" r="-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47ED9488-E30B-5ECC-D912-79E6E17AD2C4}"/>
              </a:ext>
            </a:extLst>
          </p:cNvPr>
          <p:cNvSpPr txBox="1"/>
          <p:nvPr/>
        </p:nvSpPr>
        <p:spPr>
          <a:xfrm>
            <a:off x="7969679" y="3648863"/>
            <a:ext cx="3420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ViG</a:t>
            </a:r>
            <a:r>
              <a:rPr lang="zh-CN" altLang="en-US" dirty="0"/>
              <a:t>（</a:t>
            </a:r>
            <a:r>
              <a:rPr lang="zh-CN" altLang="zh-CN" dirty="0"/>
              <a:t>视觉图神经网络</a:t>
            </a:r>
            <a:r>
              <a:rPr lang="zh-CN" altLang="en-US" dirty="0"/>
              <a:t>）后处理：二次精修。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2480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en-US" altLang="zh-CN" sz="2400" b="1" dirty="0" err="1">
                <a:solidFill>
                  <a:schemeClr val="accent1">
                    <a:lumMod val="50000"/>
                  </a:schemeClr>
                </a:solidFill>
              </a:rPr>
              <a:t>MaskVSC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训练过程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9BA1072-943C-3906-4DF2-AAF360A8B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9" y="932475"/>
            <a:ext cx="12040791" cy="4993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2480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en-US" altLang="zh-CN" sz="2400" b="1" dirty="0" err="1">
                <a:solidFill>
                  <a:schemeClr val="accent1">
                    <a:lumMod val="50000"/>
                  </a:schemeClr>
                </a:solidFill>
              </a:rPr>
              <a:t>MaskVSC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训练过程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5DDBEC1-3C99-958E-EBEE-883F39C1A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20" y="1497177"/>
            <a:ext cx="6518060" cy="38636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41C4326-0D1F-248F-FB85-2307C851E441}"/>
                  </a:ext>
                </a:extLst>
              </p:cNvPr>
              <p:cNvSpPr txBox="1"/>
              <p:nvPr/>
            </p:nvSpPr>
            <p:spPr>
              <a:xfrm>
                <a:off x="7828005" y="1902941"/>
                <a:ext cx="36823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二元交叉熵损失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𝐵𝐶𝐸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41C4326-0D1F-248F-FB85-2307C851E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005" y="1902941"/>
                <a:ext cx="3682314" cy="369332"/>
              </a:xfrm>
              <a:prstGeom prst="rect">
                <a:avLst/>
              </a:prstGeom>
              <a:blipFill>
                <a:blip r:embed="rId5"/>
                <a:stretch>
                  <a:fillRect l="-132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4661A97-016F-5A20-D7D7-5AC15D916FC3}"/>
                  </a:ext>
                </a:extLst>
              </p:cNvPr>
              <p:cNvSpPr txBox="1"/>
              <p:nvPr/>
            </p:nvSpPr>
            <p:spPr>
              <a:xfrm>
                <a:off x="7828004" y="2879125"/>
                <a:ext cx="3731741" cy="539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连通性损失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0" dirty="0">
                                    <a:latin typeface="Cambria Math" panose="02040503050406030204" pitchFamily="18" charset="0"/>
                                  </a:rPr>
                                  <m:t>#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zh-CN" altLang="en-US" i="1" dirty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num>
                      <m:den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#</m:t>
                        </m:r>
                        <m:d>
                          <m:d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zh-CN" altLang="en-US" i="0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4661A97-016F-5A20-D7D7-5AC15D916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004" y="2879125"/>
                <a:ext cx="3731741" cy="539507"/>
              </a:xfrm>
              <a:prstGeom prst="rect">
                <a:avLst/>
              </a:prstGeom>
              <a:blipFill>
                <a:blip r:embed="rId6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2E8A417-382C-41CC-94E1-3ACDB7A3F763}"/>
                  </a:ext>
                </a:extLst>
              </p:cNvPr>
              <p:cNvSpPr txBox="1"/>
              <p:nvPr/>
            </p:nvSpPr>
            <p:spPr>
              <a:xfrm>
                <a:off x="7877432" y="3917092"/>
                <a:ext cx="4061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第一阶段总损失函数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𝐵𝐶𝐸</m:t>
                        </m:r>
                      </m:sub>
                    </m:sSub>
                    <m:r>
                      <a:rPr lang="zh-CN" altLang="en-US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zh-CN" altLang="en-US" i="0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2E8A417-382C-41CC-94E1-3ACDB7A3F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432" y="3917092"/>
                <a:ext cx="4061368" cy="369332"/>
              </a:xfrm>
              <a:prstGeom prst="rect">
                <a:avLst/>
              </a:prstGeom>
              <a:blipFill>
                <a:blip r:embed="rId7"/>
                <a:stretch>
                  <a:fillRect l="-1201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0344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en-US" altLang="zh-CN" sz="2400" b="1" dirty="0" err="1">
                <a:solidFill>
                  <a:schemeClr val="accent1">
                    <a:lumMod val="50000"/>
                  </a:schemeClr>
                </a:solidFill>
              </a:rPr>
              <a:t>TopoMask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流程图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ABEEE4-13CC-256B-F74A-847B55A71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7" y="1055183"/>
            <a:ext cx="5565156" cy="512204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2A0CF4A-A086-63E3-60C7-3D504DE7942C}"/>
              </a:ext>
            </a:extLst>
          </p:cNvPr>
          <p:cNvSpPr txBox="1"/>
          <p:nvPr/>
        </p:nvSpPr>
        <p:spPr>
          <a:xfrm>
            <a:off x="7444946" y="1507524"/>
            <a:ext cx="4195119" cy="222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1.</a:t>
            </a:r>
            <a:r>
              <a:rPr lang="zh-CN" altLang="en-US" b="1" dirty="0"/>
              <a:t>输入真实标签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dirty="0"/>
              <a:t>2.</a:t>
            </a:r>
            <a:r>
              <a:rPr lang="zh-CN" altLang="en-US" b="1" dirty="0"/>
              <a:t>骨架化与分段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dirty="0"/>
              <a:t>3.</a:t>
            </a:r>
            <a:r>
              <a:rPr lang="zh-CN" altLang="en-US" b="1" dirty="0"/>
              <a:t>随机选择与掩码生成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dirty="0"/>
              <a:t>4.</a:t>
            </a:r>
            <a:r>
              <a:rPr lang="zh-CN" altLang="en-US" b="1" dirty="0"/>
              <a:t>噪声填充与输出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059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05 </a:t>
            </a:r>
            <a:r>
              <a:rPr lang="en-US" altLang="zh-CN" sz="2400" b="1" dirty="0" err="1">
                <a:solidFill>
                  <a:schemeClr val="accent1">
                    <a:lumMod val="50000"/>
                  </a:schemeClr>
                </a:solidFill>
              </a:rPr>
              <a:t>ViG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后处理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4918457-B32D-8F82-309C-7A533EDB8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60" y="912528"/>
            <a:ext cx="5868219" cy="468695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419A362-B5FD-2BD2-73F6-83B53682982C}"/>
              </a:ext>
            </a:extLst>
          </p:cNvPr>
          <p:cNvSpPr txBox="1"/>
          <p:nvPr/>
        </p:nvSpPr>
        <p:spPr>
          <a:xfrm>
            <a:off x="7883611" y="1488989"/>
            <a:ext cx="25144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/>
              <a:t>1</a:t>
            </a:r>
            <a:r>
              <a:rPr lang="en-US" altLang="zh-CN" dirty="0"/>
              <a:t>.</a:t>
            </a:r>
            <a:r>
              <a:rPr lang="zh-CN" altLang="en-US" b="1" dirty="0"/>
              <a:t>输入与初步预测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b="1" dirty="0"/>
              <a:t>2.</a:t>
            </a:r>
            <a:r>
              <a:rPr lang="zh-CN" altLang="en-US" b="1" dirty="0"/>
              <a:t>图构建</a:t>
            </a:r>
          </a:p>
          <a:p>
            <a:pPr>
              <a:lnSpc>
                <a:spcPct val="200000"/>
              </a:lnSpc>
            </a:pPr>
            <a:r>
              <a:rPr lang="en-US" altLang="zh-CN" b="1" dirty="0"/>
              <a:t>3.</a:t>
            </a:r>
            <a:r>
              <a:rPr lang="zh-CN" altLang="en-US" b="1" dirty="0"/>
              <a:t>图卷积与全局推理</a:t>
            </a:r>
          </a:p>
          <a:p>
            <a:pPr>
              <a:lnSpc>
                <a:spcPct val="200000"/>
              </a:lnSpc>
            </a:pPr>
            <a:r>
              <a:rPr lang="en-US" altLang="zh-CN" b="1" dirty="0"/>
              <a:t>4.</a:t>
            </a:r>
            <a:r>
              <a:rPr lang="zh-CN" altLang="en-US" b="1" dirty="0"/>
              <a:t> </a:t>
            </a:r>
            <a:r>
              <a:rPr lang="en-US" altLang="zh-CN" b="1" dirty="0" err="1"/>
              <a:t>ViG</a:t>
            </a:r>
            <a:r>
              <a:rPr lang="en-US" altLang="zh-CN" b="1" dirty="0"/>
              <a:t> </a:t>
            </a:r>
            <a:r>
              <a:rPr lang="zh-CN" altLang="en-US" b="1" dirty="0"/>
              <a:t>处理与最终输出</a:t>
            </a:r>
          </a:p>
          <a:p>
            <a:endParaRPr lang="zh-CN" altLang="en-US" b="1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843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06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实验部分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F34A09E-9464-8E3A-A9F8-9EA7B1A6A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818" y="751973"/>
            <a:ext cx="6094970" cy="30901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789E5AE-A22F-A066-7906-72B90B3CE881}"/>
              </a:ext>
            </a:extLst>
          </p:cNvPr>
          <p:cNvSpPr txBox="1"/>
          <p:nvPr/>
        </p:nvSpPr>
        <p:spPr>
          <a:xfrm>
            <a:off x="744221" y="886993"/>
            <a:ext cx="60949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36AC027-34E6-889C-E0AC-3040C31A3C69}"/>
                  </a:ext>
                </a:extLst>
              </p:cNvPr>
              <p:cNvSpPr txBox="1"/>
              <p:nvPr/>
            </p:nvSpPr>
            <p:spPr>
              <a:xfrm>
                <a:off x="481487" y="3771921"/>
                <a:ext cx="1101209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评价指标</a:t>
                </a:r>
                <a:r>
                  <a:rPr lang="zh-CN" altLang="en-US" b="1" dirty="0"/>
                  <a:t>：</a:t>
                </a:r>
                <a:r>
                  <a:rPr lang="en-US" altLang="zh-CN" b="1" dirty="0"/>
                  <a:t>Dice</a:t>
                </a:r>
                <a:r>
                  <a:rPr lang="zh-CN" altLang="en-US" b="1" dirty="0"/>
                  <a:t>系数 </a:t>
                </a:r>
                <a:r>
                  <a:rPr lang="en-US" altLang="zh-CN" b="1" dirty="0"/>
                  <a:t>(Dice)</a:t>
                </a:r>
                <a:r>
                  <a:rPr lang="zh-CN" altLang="en-US" b="1" dirty="0"/>
                  <a:t>，</a:t>
                </a:r>
                <a:r>
                  <a:rPr lang="en-US" altLang="zh-CN" b="1" dirty="0"/>
                  <a:t>Jaccard</a:t>
                </a:r>
                <a:r>
                  <a:rPr lang="zh-CN" altLang="en-US" b="1" dirty="0"/>
                  <a:t>指数 </a:t>
                </a:r>
                <a:r>
                  <a:rPr lang="en-US" altLang="zh-CN" b="1" dirty="0"/>
                  <a:t>(Jac)</a:t>
                </a:r>
                <a:r>
                  <a:rPr lang="zh-CN" altLang="en-US" b="1" dirty="0"/>
                  <a:t>，中心线 </a:t>
                </a:r>
                <a:r>
                  <a:rPr lang="en-US" altLang="zh-CN" b="1" dirty="0"/>
                  <a:t>Dice (</a:t>
                </a:r>
                <a:r>
                  <a:rPr lang="en-US" altLang="zh-CN" b="1" dirty="0" err="1"/>
                  <a:t>clDice</a:t>
                </a:r>
                <a:r>
                  <a:rPr lang="en-US" altLang="zh-CN" b="1" dirty="0"/>
                  <a:t>)</a:t>
                </a:r>
                <a:r>
                  <a:rPr lang="zh-CN" altLang="en-US" b="1" dirty="0"/>
                  <a:t>，</a:t>
                </a:r>
                <a:endParaRPr lang="en-US" altLang="zh-CN" b="1" dirty="0"/>
              </a:p>
              <a:p>
                <a:r>
                  <a:rPr lang="en-US" altLang="zh-CN" b="1" dirty="0"/>
                  <a:t>                  C (</a:t>
                </a:r>
                <a:r>
                  <a:rPr lang="zh-CN" altLang="en-US" b="1" dirty="0"/>
                  <a:t>连通性</a:t>
                </a:r>
                <a:r>
                  <a:rPr lang="en-US" altLang="zh-CN" b="1" dirty="0"/>
                  <a:t>)</a:t>
                </a:r>
                <a:r>
                  <a:rPr lang="zh-CN" altLang="en-US" b="1" dirty="0"/>
                  <a:t>：</a:t>
                </a:r>
                <a:r>
                  <a:rPr lang="zh-CN" altLang="en-US" sz="1600" dirty="0"/>
                  <a:t>该指标衡量预测结果中连通分量的数量与真实标签的一致性</a:t>
                </a:r>
                <a:r>
                  <a:rPr lang="zh-CN" altLang="en-US" b="1" dirty="0"/>
                  <a:t>。</a:t>
                </a:r>
                <a:endParaRPr lang="en-US" altLang="zh-CN" b="1" dirty="0"/>
              </a:p>
              <a:p>
                <a:r>
                  <a:rPr lang="en-US" altLang="zh-CN" b="1" dirty="0"/>
                  <a:t>                  A (</a:t>
                </a:r>
                <a:r>
                  <a:rPr lang="zh-CN" altLang="en-US" b="1" dirty="0"/>
                  <a:t>区域重合度</a:t>
                </a:r>
                <a:r>
                  <a:rPr lang="en-US" altLang="zh-CN" b="1" dirty="0"/>
                  <a:t>)</a:t>
                </a:r>
                <a:r>
                  <a:rPr lang="zh-CN" altLang="en-US" b="1" dirty="0"/>
                  <a:t>：</a:t>
                </a:r>
                <a:r>
                  <a:rPr lang="zh-CN" altLang="en-US" sz="1600" b="0" i="0" dirty="0">
                    <a:solidFill>
                      <a:srgbClr val="1A1C1E"/>
                    </a:solidFill>
                    <a:effectLst/>
                    <a:latin typeface="Inter"/>
                  </a:rPr>
                  <a:t>该指标衡量分割区域的重合度。</a:t>
                </a:r>
                <a:endParaRPr lang="en-US" altLang="zh-CN" b="1" dirty="0"/>
              </a:p>
              <a:p>
                <a:r>
                  <a:rPr lang="en-US" altLang="zh-CN" b="1" dirty="0"/>
                  <a:t>                  L (</a:t>
                </a:r>
                <a:r>
                  <a:rPr lang="zh-CN" altLang="en-US" b="1" dirty="0"/>
                  <a:t>长度一致性</a:t>
                </a:r>
                <a:r>
                  <a:rPr lang="en-US" altLang="zh-CN" b="1" dirty="0"/>
                  <a:t>)</a:t>
                </a:r>
                <a:r>
                  <a:rPr lang="zh-CN" altLang="en-US" b="1" dirty="0"/>
                  <a:t>：</a:t>
                </a:r>
                <a:r>
                  <a:rPr lang="zh-CN" altLang="en-US" sz="1600" dirty="0"/>
                  <a:t>该指标基于骨架化，它先提取血管的中心线（骨架），然后看预测出的骨架长度是否覆盖了真实的骨架长度。</a:t>
                </a:r>
                <a:endParaRPr lang="en-US" altLang="zh-CN" sz="1600" dirty="0"/>
              </a:p>
              <a:p>
                <a:r>
                  <a:rPr lang="en-US" altLang="zh-CN" b="1" dirty="0"/>
                  <a:t>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l-GR" altLang="zh-CN" i="1" dirty="0">
                            <a:latin typeface="Cambria Math" panose="02040503050406030204" pitchFamily="18" charset="0"/>
                          </a:rPr>
                          <m:t>𝑒𝑟𝑟</m:t>
                        </m:r>
                      </m:sup>
                    </m:sSup>
                  </m:oMath>
                </a14:m>
                <a:r>
                  <a:rPr lang="en-US" altLang="zh-CN" b="1" dirty="0"/>
                  <a:t>(</a:t>
                </a:r>
                <a:r>
                  <a:rPr lang="zh-CN" altLang="en-US" b="1" dirty="0"/>
                  <a:t>贝蒂数误差</a:t>
                </a:r>
                <a:r>
                  <a:rPr lang="en-US" altLang="zh-CN" b="1" dirty="0"/>
                  <a:t>)</a:t>
                </a:r>
                <a:r>
                  <a:rPr lang="zh-CN" altLang="en-US" b="1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1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zh-CN" altLang="en-US" b="1" i="1" dirty="0">
                            <a:latin typeface="Cambria Math" panose="02040503050406030204" pitchFamily="18" charset="0"/>
                          </a:rPr>
                          <m:t>𝑒𝑟𝑟</m:t>
                        </m:r>
                      </m:sup>
                    </m:sSup>
                  </m:oMath>
                </a14:m>
                <a:r>
                  <a:rPr lang="en-US" altLang="zh-CN" b="1" dirty="0"/>
                  <a:t>(</a:t>
                </a:r>
                <a:r>
                  <a:rPr lang="zh-CN" altLang="en-US" b="1" dirty="0"/>
                  <a:t>贝蒂匹配误差</a:t>
                </a:r>
                <a:r>
                  <a:rPr lang="en-US" altLang="zh-CN" b="1" dirty="0"/>
                  <a:t>)</a:t>
                </a:r>
                <a:endParaRPr lang="zh-CN" altLang="en-US" b="1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36AC027-34E6-889C-E0AC-3040C31A3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87" y="3771921"/>
                <a:ext cx="11012097" cy="1754326"/>
              </a:xfrm>
              <a:prstGeom prst="rect">
                <a:avLst/>
              </a:prstGeom>
              <a:blipFill>
                <a:blip r:embed="rId5"/>
                <a:stretch>
                  <a:fillRect l="-498" t="-2083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67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07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实验结果与分析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AAC03FD-AFAF-FF2F-D8BB-B3D16CDA7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7539"/>
            <a:ext cx="7704084" cy="5681257"/>
          </a:xfrm>
          <a:prstGeom prst="rect">
            <a:avLst/>
          </a:prstGeom>
        </p:spPr>
      </p:pic>
      <p:sp>
        <p:nvSpPr>
          <p:cNvPr id="4" name="圆角矩形 7">
            <a:extLst>
              <a:ext uri="{FF2B5EF4-FFF2-40B4-BE49-F238E27FC236}">
                <a16:creationId xmlns:a16="http://schemas.microsoft.com/office/drawing/2014/main" id="{030BD948-0B05-0795-8456-D61ED4CC36E8}"/>
              </a:ext>
            </a:extLst>
          </p:cNvPr>
          <p:cNvSpPr/>
          <p:nvPr/>
        </p:nvSpPr>
        <p:spPr>
          <a:xfrm flipV="1">
            <a:off x="5077595" y="4759110"/>
            <a:ext cx="451023" cy="135924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EA7D1D-DF11-B3FB-05E8-F5B425005E27}"/>
              </a:ext>
            </a:extLst>
          </p:cNvPr>
          <p:cNvSpPr txBox="1"/>
          <p:nvPr/>
        </p:nvSpPr>
        <p:spPr>
          <a:xfrm>
            <a:off x="3720000" y="509917"/>
            <a:ext cx="1583107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对比实验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BC4F310-55F3-144C-15F4-5C655A5A51B6}"/>
                  </a:ext>
                </a:extLst>
              </p:cNvPr>
              <p:cNvSpPr txBox="1"/>
              <p:nvPr/>
            </p:nvSpPr>
            <p:spPr>
              <a:xfrm>
                <a:off x="7487596" y="980001"/>
                <a:ext cx="3189025" cy="4624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err</m:t>
                          </m:r>
                        </m:sup>
                      </m:sSubSup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连通分量的数量误差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en-US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只看血管碎片的个数对不对</m:t>
                          </m:r>
                        </m:e>
                      </m:d>
                      <m:r>
                        <a:rPr lang="zh-CN" altLang="en-US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err</m:t>
                        </m:r>
                      </m:sup>
                    </m:sSubSup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环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/</a:t>
                </a: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孔洞的数量误差</a:t>
                </a:r>
                <a:r>
                  <a:rPr lang="zh-CN" altLang="en-US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（只看血管形成的圈的个数对不对）。</a:t>
                </a:r>
                <a:endParaRPr lang="en-US" altLang="zh-CN" dirty="0">
                  <a:solidFill>
                    <a:schemeClr val="accent5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err</m:t>
                        </m:r>
                      </m:sup>
                    </m:sSub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: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连通分量的空间匹配误差</a:t>
                </a:r>
                <a:r>
                  <a:rPr lang="zh-CN" altLang="en-US" dirty="0">
                    <a:solidFill>
                      <a:schemeClr val="accent5"/>
                    </a:solidFill>
                  </a:rPr>
                  <a:t>（既看碎片的个数，也看碎片的位置准不准）。</a:t>
                </a:r>
                <a:endParaRPr lang="en-US" altLang="zh-CN" dirty="0">
                  <a:solidFill>
                    <a:schemeClr val="accent5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err</m:t>
                        </m:r>
                      </m:sup>
                    </m:sSub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：环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/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孔洞的空间匹配误差</a:t>
                </a:r>
                <a:r>
                  <a:rPr lang="zh-CN" altLang="en-US" dirty="0">
                    <a:solidFill>
                      <a:schemeClr val="accent5"/>
                    </a:solidFill>
                  </a:rPr>
                  <a:t>（既看圈的个数，也看圈的位置准不准）。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BC4F310-55F3-144C-15F4-5C655A5A5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596" y="980001"/>
                <a:ext cx="3189025" cy="4624023"/>
              </a:xfrm>
              <a:prstGeom prst="rect">
                <a:avLst/>
              </a:prstGeom>
              <a:blipFill>
                <a:blip r:embed="rId5"/>
                <a:stretch>
                  <a:fillRect l="-1530" r="-1147" b="-1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流程图: 可选过程 10">
            <a:extLst>
              <a:ext uri="{FF2B5EF4-FFF2-40B4-BE49-F238E27FC236}">
                <a16:creationId xmlns:a16="http://schemas.microsoft.com/office/drawing/2014/main" id="{023C160D-AC6B-897A-E847-3788F1CA6BA3}"/>
              </a:ext>
            </a:extLst>
          </p:cNvPr>
          <p:cNvSpPr/>
          <p:nvPr/>
        </p:nvSpPr>
        <p:spPr>
          <a:xfrm>
            <a:off x="7400982" y="927539"/>
            <a:ext cx="3384094" cy="5002921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67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07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实验结果与分析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D7BA03-3918-B26D-1BDB-BBA01F7F0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441" y="1388618"/>
            <a:ext cx="9609474" cy="508632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8EE1160-D0B8-A99D-21F7-7BDAB0A9BEE0}"/>
              </a:ext>
            </a:extLst>
          </p:cNvPr>
          <p:cNvSpPr txBox="1"/>
          <p:nvPr/>
        </p:nvSpPr>
        <p:spPr>
          <a:xfrm>
            <a:off x="744221" y="826805"/>
            <a:ext cx="60949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67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07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实验结果与分析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B074B99-09D2-81D3-CBDB-7DB7E4630C4E}"/>
              </a:ext>
            </a:extLst>
          </p:cNvPr>
          <p:cNvSpPr txBox="1"/>
          <p:nvPr/>
        </p:nvSpPr>
        <p:spPr>
          <a:xfrm>
            <a:off x="481487" y="873304"/>
            <a:ext cx="60949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掩码比例效应与参数研究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142749-C44A-75D1-611E-F59262674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84498"/>
            <a:ext cx="8097380" cy="420111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37748E9-2F74-57A1-07F6-5C7500B61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5709" y="1776236"/>
            <a:ext cx="3229426" cy="685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67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07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实验结果与分析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418D572-9124-AE8B-D4FD-1FEF9CDCB5A3}"/>
              </a:ext>
            </a:extLst>
          </p:cNvPr>
          <p:cNvSpPr txBox="1"/>
          <p:nvPr/>
        </p:nvSpPr>
        <p:spPr>
          <a:xfrm>
            <a:off x="310463" y="821214"/>
            <a:ext cx="60949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不同主干网络上的性能表现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3400795-9FF9-10A8-9A89-E228DFFA9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2" y="623982"/>
            <a:ext cx="7684254" cy="580250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49C092A-30CB-80C7-CE0C-F75CFE35657A}"/>
              </a:ext>
            </a:extLst>
          </p:cNvPr>
          <p:cNvSpPr txBox="1"/>
          <p:nvPr/>
        </p:nvSpPr>
        <p:spPr>
          <a:xfrm>
            <a:off x="481487" y="2138448"/>
            <a:ext cx="3407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U-Net和CS2-Net ，Swin-Unet 。</a:t>
            </a:r>
            <a:r>
              <a:rPr lang="en-US" altLang="zh-CN" dirty="0"/>
              <a:t>   </a:t>
            </a:r>
            <a:r>
              <a:rPr lang="zh-CN" altLang="en-US" dirty="0"/>
              <a:t>掩码比例均选定为40%。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67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07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实验结果与分析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DDA83F2-43B7-6128-C5BA-10F0D3FF6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824" y="957182"/>
            <a:ext cx="6174445" cy="22968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CBEB5FE-E097-76E3-11DE-920CC688A6D5}"/>
              </a:ext>
            </a:extLst>
          </p:cNvPr>
          <p:cNvSpPr txBox="1"/>
          <p:nvPr/>
        </p:nvSpPr>
        <p:spPr>
          <a:xfrm>
            <a:off x="481487" y="821214"/>
            <a:ext cx="609497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F86A84-6B01-F364-78DF-22A86A281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7794" y="4144033"/>
            <a:ext cx="6273604" cy="2196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742A-7BDE-1984-CC66-3671C163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EE66D0-109C-0435-D5DE-F69B8AB68449}"/>
              </a:ext>
            </a:extLst>
          </p:cNvPr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FA389A50-D510-7139-034A-F94EB1AC6BEA}"/>
                </a:ext>
              </a:extLst>
            </p:cNvPr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6C804DF2-3EBF-BBEC-1CB3-6FDED42C18A6}"/>
                </a:ext>
              </a:extLst>
            </p:cNvPr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D48C01E6-18A7-3F56-2C70-C7A7A0032C13}"/>
              </a:ext>
            </a:extLst>
          </p:cNvPr>
          <p:cNvSpPr/>
          <p:nvPr/>
        </p:nvSpPr>
        <p:spPr>
          <a:xfrm>
            <a:off x="1006955" y="331594"/>
            <a:ext cx="1228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08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总结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8C8DC4D-4695-87E0-455F-5753EC5DFD38}"/>
              </a:ext>
            </a:extLst>
          </p:cNvPr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75A61E4-CA78-5E94-F16C-46CE62A784A7}"/>
              </a:ext>
            </a:extLst>
          </p:cNvPr>
          <p:cNvSpPr txBox="1"/>
          <p:nvPr/>
        </p:nvSpPr>
        <p:spPr>
          <a:xfrm>
            <a:off x="944385" y="793259"/>
            <a:ext cx="10379641" cy="388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        这篇文章的核心思想可以概括为一种“先破坏后重建”的血管结构修复策略。       </a:t>
            </a:r>
            <a:r>
              <a:rPr lang="en-US" altLang="zh-CN" dirty="0"/>
              <a:t>              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首先，文章引入了遮挡策略（</a:t>
            </a:r>
            <a:r>
              <a:rPr lang="en-US" altLang="zh-CN" dirty="0" err="1"/>
              <a:t>TopoMask</a:t>
            </a:r>
            <a:r>
              <a:rPr lang="zh-CN" altLang="en-US" dirty="0"/>
              <a:t>）作为训练的核心驱动力。通过在训练过程中人为地掩盖血管分支，迫使模型跳出局部像素的限制，转而学习血管骨架的全局信息。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       其次，为了解决遮挡策略可能引发的过度连接（假阳性）问题，文章引入了图神经网络（</a:t>
            </a:r>
            <a:r>
              <a:rPr lang="en-US" altLang="zh-CN" dirty="0" err="1"/>
              <a:t>ViG</a:t>
            </a:r>
            <a:r>
              <a:rPr lang="zh-CN" altLang="en-US" dirty="0"/>
              <a:t>）进行后处理。通过将图像像素转化为图结构（</a:t>
            </a:r>
            <a:r>
              <a:rPr lang="en-US" altLang="zh-CN" dirty="0"/>
              <a:t>Graph</a:t>
            </a:r>
            <a:r>
              <a:rPr lang="zh-CN" altLang="en-US" dirty="0"/>
              <a:t>），模型利用图网络在处理拓扑连接上的天然优势，对血管网络进行二次精修。这不仅剔除了错误的噪声连接，更确保了最终输出的血管网络在拓扑逻辑上的精确与连通。</a:t>
            </a:r>
          </a:p>
        </p:txBody>
      </p:sp>
    </p:spTree>
    <p:extLst>
      <p:ext uri="{BB962C8B-B14F-4D97-AF65-F5344CB8AC3E}">
        <p14:creationId xmlns:p14="http://schemas.microsoft.com/office/powerpoint/2010/main" val="3183223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5640421" y="3947364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85110" y="2649220"/>
            <a:ext cx="6622415" cy="1013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 typeface="Wingdings" panose="05000000000000000000" charset="0"/>
            </a:pPr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请老师同学批评指正！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031],&quot;70&quot;:[3321880,331585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8,&quot;left&quot;:75.06135442541509,&quot;top&quot;:67.5,&quot;width&quot;:741.088645574585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3.55,&quot;left&quot;:79.3,&quot;top&quot;:90.75,&quot;width&quot;:736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1ayxfd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2057</TotalTime>
  <Words>695</Words>
  <Application>Microsoft Office PowerPoint</Application>
  <PresentationFormat>宽屏</PresentationFormat>
  <Paragraphs>58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Inter</vt:lpstr>
      <vt:lpstr>微软雅黑</vt:lpstr>
      <vt:lpstr>Arial</vt:lpstr>
      <vt:lpstr>Calibri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志洋 彭</cp:lastModifiedBy>
  <cp:revision>218</cp:revision>
  <dcterms:created xsi:type="dcterms:W3CDTF">2021-06-29T08:54:00Z</dcterms:created>
  <dcterms:modified xsi:type="dcterms:W3CDTF">2025-11-28T14:08:05Z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KSOTemplateUUID">
    <vt:lpwstr>v1.0_mb_3/AUWq/N1aYnYRXji2t99Q==</vt:lpwstr>
  </property>
  <property fmtid="{D5CDD505-2E9C-101B-9397-08002B2CF9AE}" pid="4" name="ICV">
    <vt:lpwstr>F3CCCED4F8D6492AB87A4B373DD5B26C_11</vt:lpwstr>
  </property>
</Properties>
</file>