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394" r:id="rId2"/>
    <p:sldId id="3399" r:id="rId3"/>
    <p:sldId id="3396" r:id="rId4"/>
    <p:sldId id="3493" r:id="rId5"/>
    <p:sldId id="3436" r:id="rId6"/>
    <p:sldId id="3525" r:id="rId7"/>
    <p:sldId id="3532" r:id="rId8"/>
    <p:sldId id="3522" r:id="rId9"/>
    <p:sldId id="3534" r:id="rId10"/>
    <p:sldId id="3523" r:id="rId11"/>
    <p:sldId id="3533" r:id="rId12"/>
    <p:sldId id="3424" r:id="rId13"/>
    <p:sldId id="3503" r:id="rId14"/>
    <p:sldId id="3504" r:id="rId15"/>
    <p:sldId id="3231"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on gary" initials="wg" lastIdx="1" clrIdx="0">
    <p:extLst>
      <p:ext uri="{19B8F6BF-5375-455C-9EA6-DF929625EA0E}">
        <p15:presenceInfo xmlns:p15="http://schemas.microsoft.com/office/powerpoint/2012/main" userId="36f2ec5a437e181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BE8D"/>
    <a:srgbClr val="80E4C3"/>
    <a:srgbClr val="A597CD"/>
    <a:srgbClr val="EC9E97"/>
    <a:srgbClr val="02C693"/>
    <a:srgbClr val="C2E8F7"/>
    <a:srgbClr val="C7A489"/>
    <a:srgbClr val="88DBF8"/>
    <a:srgbClr val="92D2C6"/>
    <a:srgbClr val="C0E5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91" autoAdjust="0"/>
    <p:restoredTop sz="80099" autoAdjust="0"/>
  </p:normalViewPr>
  <p:slideViewPr>
    <p:cSldViewPr snapToGrid="0">
      <p:cViewPr varScale="1">
        <p:scale>
          <a:sx n="88" d="100"/>
          <a:sy n="88" d="100"/>
        </p:scale>
        <p:origin x="808" y="88"/>
      </p:cViewPr>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E98365-F53F-4CDA-A9C3-AF7FD0858500}" type="datetimeFigureOut">
              <a:rPr lang="zh-CN" altLang="en-US" smtClean="0"/>
              <a:t>2025/11/7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F48B1E-3844-496C-8F27-82E99E74AACD}" type="slidenum">
              <a:rPr lang="zh-CN" altLang="en-US" smtClean="0"/>
              <a:t>‹#›</a:t>
            </a:fld>
            <a:endParaRPr lang="zh-CN" altLang="en-US"/>
          </a:p>
        </p:txBody>
      </p:sp>
    </p:spTree>
    <p:extLst>
      <p:ext uri="{BB962C8B-B14F-4D97-AF65-F5344CB8AC3E}">
        <p14:creationId xmlns:p14="http://schemas.microsoft.com/office/powerpoint/2010/main" val="4029119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553118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高效的基础模型</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医学与人工智能的跨学科</a:t>
            </a:r>
            <a:endParaRPr lang="en-US" altLang="zh-CN" sz="1200" b="0" i="0" kern="1200" dirty="0">
              <a:solidFill>
                <a:schemeClr val="tx1"/>
              </a:solidFill>
              <a:effectLst/>
              <a:latin typeface="+mn-lt"/>
              <a:ea typeface="+mn-ea"/>
              <a:cs typeface="+mn-cs"/>
            </a:endParaRPr>
          </a:p>
          <a:p>
            <a:endParaRPr lang="en-US" altLang="zh-CN" dirty="0"/>
          </a:p>
          <a:p>
            <a:r>
              <a:rPr lang="zh-CN" altLang="en-US" dirty="0"/>
              <a:t>通过密度比估计在不平衡学习中恢复重新加权</a:t>
            </a:r>
            <a:endParaRPr lang="en-US" altLang="zh-CN" dirty="0"/>
          </a:p>
          <a:p>
            <a:r>
              <a:rPr lang="zh-CN" altLang="en-US" dirty="0"/>
              <a:t>用于增强缺失模态鲁棒性的概率共形蒸馏</a:t>
            </a:r>
            <a:endParaRPr lang="en-US" altLang="zh-CN" dirty="0"/>
          </a:p>
          <a:p>
            <a:r>
              <a:rPr lang="zh-CN" altLang="en-US" dirty="0"/>
              <a:t>用于分布外检测的视觉语言模型的自校准调整</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110735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ADBAC7"/>
                </a:solidFill>
                <a:effectLst/>
                <a:latin typeface="-apple-system"/>
              </a:rPr>
              <a:t>一类</a:t>
            </a:r>
            <a:r>
              <a:rPr lang="en-US" altLang="zh-CN" b="0" i="0" dirty="0">
                <a:solidFill>
                  <a:srgbClr val="ADBAC7"/>
                </a:solidFill>
                <a:effectLst/>
                <a:latin typeface="-apple-system"/>
              </a:rPr>
              <a:t>Miccai2022</a:t>
            </a:r>
            <a:r>
              <a:rPr lang="zh-CN" altLang="en-US" b="0" i="0" dirty="0">
                <a:solidFill>
                  <a:srgbClr val="ADBAC7"/>
                </a:solidFill>
                <a:effectLst/>
                <a:latin typeface="-apple-system"/>
              </a:rPr>
              <a:t>的</a:t>
            </a:r>
            <a:r>
              <a:rPr lang="en-US" altLang="zh-CN" b="0" i="0" dirty="0" err="1">
                <a:solidFill>
                  <a:srgbClr val="ADBAC7"/>
                </a:solidFill>
                <a:effectLst/>
                <a:latin typeface="-apple-system"/>
              </a:rPr>
              <a:t>mmfomer</a:t>
            </a:r>
            <a:endParaRPr lang="en-US" altLang="zh-CN" b="0" i="0" dirty="0">
              <a:solidFill>
                <a:srgbClr val="ADBAC7"/>
              </a:solidFill>
              <a:effectLst/>
              <a:latin typeface="-apple-system"/>
            </a:endParaRPr>
          </a:p>
          <a:p>
            <a:pPr algn="l"/>
            <a:r>
              <a:rPr lang="zh-CN" altLang="en-US" b="0" i="0" dirty="0">
                <a:solidFill>
                  <a:srgbClr val="ADBAC7"/>
                </a:solidFill>
                <a:effectLst/>
                <a:latin typeface="-apple-system"/>
              </a:rPr>
              <a:t>三类</a:t>
            </a:r>
            <a:r>
              <a:rPr lang="en-US" altLang="zh-CN" b="0" i="0" dirty="0">
                <a:solidFill>
                  <a:srgbClr val="ADBAC7"/>
                </a:solidFill>
                <a:effectLst/>
                <a:latin typeface="-apple-system"/>
              </a:rPr>
              <a:t>Miccai2023</a:t>
            </a:r>
            <a:r>
              <a:rPr lang="zh-CN" altLang="en-US" b="0" i="0" dirty="0">
                <a:solidFill>
                  <a:srgbClr val="ADBAC7"/>
                </a:solidFill>
                <a:effectLst/>
                <a:latin typeface="-apple-system"/>
              </a:rPr>
              <a:t>的</a:t>
            </a:r>
            <a:r>
              <a:rPr lang="en-US" altLang="zh-CN" b="0" i="0" dirty="0">
                <a:solidFill>
                  <a:srgbClr val="ADBAC7"/>
                </a:solidFill>
                <a:effectLst/>
                <a:latin typeface="-apple-system"/>
              </a:rPr>
              <a:t>LCKD</a:t>
            </a:r>
          </a:p>
          <a:p>
            <a:pPr algn="l"/>
            <a:r>
              <a:rPr lang="zh-CN" altLang="en-US" b="0" i="0" dirty="0">
                <a:solidFill>
                  <a:srgbClr val="ADBAC7"/>
                </a:solidFill>
                <a:effectLst/>
                <a:latin typeface="-apple-system"/>
              </a:rPr>
              <a:t>大大影响泛化性</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03233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所以作者就提出，模态完全表示是两种模态表示的融合；当部分模态缺失时，</a:t>
            </a:r>
            <a:r>
              <a:rPr lang="zh-CN" altLang="en-US" b="1" dirty="0"/>
              <a:t>保留信息仅与模态完备特征在概率意义上相关</a:t>
            </a:r>
            <a:r>
              <a:rPr lang="zh-CN" altLang="en-US" dirty="0"/>
              <a:t>。也就是说，从剩余模态推断出来的映射表示在模态完全空间中受到一个确定的概率分布的支配。核心思想是：未缺失模态确定能够对齐的部分对齐，对于确实无法对齐的部分用较大的方差来承认不确定性，而不是尝试用虚假特征去拟合，假装能够学到模态完全特征，从而提高泛化性。</a:t>
            </a:r>
            <a:endParaRPr lang="en-US" altLang="zh-CN" dirty="0"/>
          </a:p>
          <a:p>
            <a:r>
              <a:rPr lang="zh-CN" altLang="en-US" dirty="0"/>
              <a:t>但是这个概率分布</a:t>
            </a:r>
            <a:r>
              <a:rPr lang="en-US" altLang="zh-CN" dirty="0"/>
              <a:t>p(zi | xi)</a:t>
            </a:r>
            <a:r>
              <a:rPr lang="zh-CN" altLang="en-US" dirty="0"/>
              <a:t>是未知的，作者提出通过建模一个具有两个关键特征的概率分布</a:t>
            </a:r>
            <a:r>
              <a:rPr lang="en-US" altLang="zh-CN" dirty="0"/>
              <a:t>q(zi | xi)</a:t>
            </a:r>
            <a:r>
              <a:rPr lang="zh-CN" altLang="en-US" dirty="0"/>
              <a:t>去近似他。</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029875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（得儿塔、</a:t>
            </a:r>
            <a:r>
              <a:rPr lang="en-US" altLang="zh-CN" dirty="0"/>
              <a:t>mu</a:t>
            </a:r>
            <a:r>
              <a:rPr lang="zh-CN" altLang="en-US" dirty="0"/>
              <a:t>、西格玛）这两个关键特征一个叫做概率极值，一个叫几何一致性。这是整个框架图，包含两大部分，第一部分是</a:t>
            </a:r>
            <a:r>
              <a:rPr lang="zh-CN" altLang="en-US" sz="1200" dirty="0"/>
              <a:t>概率建模，第二部分是概率共形蒸馏，</a:t>
            </a:r>
            <a:r>
              <a:rPr lang="zh-CN" altLang="en-US" dirty="0"/>
              <a:t>模型整体架构是一个自蒸馏的架构，就是说分为两个阶段，第一阶段叫预热阶段，输入两种模态，得到一个教师权重，然后第二阶段叫做训练阶段，针对不同的缺模组合先概率建模，然后去模态完备特征空间进行概率共形蒸馏</a:t>
            </a:r>
            <a:r>
              <a:rPr lang="zh-CN" altLang="en-US" sz="1200" dirty="0"/>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概率建模是针对当前缺模样本 </a:t>
            </a:r>
            <a:r>
              <a:rPr lang="en-US" altLang="zh-CN" dirty="0" err="1"/>
              <a:t>i</a:t>
            </a:r>
            <a:r>
              <a:rPr lang="en-US" altLang="zh-CN" dirty="0"/>
              <a:t> </a:t>
            </a:r>
            <a:r>
              <a:rPr lang="zh-CN" altLang="en-US" dirty="0"/>
              <a:t>在模态完备空间构建概率密度函数</a:t>
            </a:r>
            <a:r>
              <a:rPr lang="en-US" altLang="zh-CN" dirty="0"/>
              <a:t>PDF</a:t>
            </a:r>
            <a:r>
              <a:rPr lang="zh-CN" altLang="en-US" dirty="0"/>
              <a:t>：</a:t>
            </a:r>
            <a:r>
              <a:rPr lang="en-US" altLang="zh-CN" dirty="0"/>
              <a:t>q(</a:t>
            </a:r>
            <a:r>
              <a:rPr lang="en-US" altLang="zh-CN" dirty="0" err="1"/>
              <a:t>z|xi</a:t>
            </a:r>
            <a:r>
              <a:rPr lang="en-US" altLang="zh-CN" dirty="0"/>
              <a:t>)</a:t>
            </a:r>
            <a:r>
              <a:rPr lang="zh-CN" altLang="en-US" dirty="0"/>
              <a:t>：</a:t>
            </a:r>
            <a:r>
              <a:rPr lang="en-US" altLang="zh-CN" dirty="0"/>
              <a:t>【</a:t>
            </a:r>
            <a:r>
              <a:rPr lang="zh-CN" altLang="en-US" b="1" dirty="0"/>
              <a:t>关于 </a:t>
            </a:r>
            <a:r>
              <a:rPr lang="en-US" altLang="zh-CN" b="1" dirty="0"/>
              <a:t>z </a:t>
            </a:r>
            <a:r>
              <a:rPr lang="zh-CN" altLang="en-US" b="1" dirty="0"/>
              <a:t>的函数</a:t>
            </a:r>
            <a:r>
              <a:rPr lang="zh-CN" altLang="en-US" dirty="0"/>
              <a:t>，在每个 </a:t>
            </a:r>
            <a:r>
              <a:rPr lang="en-US" altLang="zh-CN" dirty="0"/>
              <a:t>z </a:t>
            </a:r>
            <a:r>
              <a:rPr lang="zh-CN" altLang="en-US" dirty="0"/>
              <a:t>处给一个“密度值”</a:t>
            </a:r>
            <a:r>
              <a:rPr lang="en-US" altLang="zh-CN" dirty="0"/>
              <a:t>】</a:t>
            </a:r>
            <a:r>
              <a:rPr lang="zh-CN" altLang="en-US" dirty="0"/>
              <a:t>：在“完备表示空间”里，</a:t>
            </a:r>
            <a:r>
              <a:rPr lang="zh-CN" altLang="en-US" b="1" dirty="0"/>
              <a:t>对应该缺模输入的表示 </a:t>
            </a:r>
            <a:r>
              <a:rPr lang="en-US" altLang="zh-CN" b="1" dirty="0"/>
              <a:t>z </a:t>
            </a:r>
            <a:r>
              <a:rPr lang="zh-CN" altLang="en-US" b="1" dirty="0"/>
              <a:t>最可能落在哪些位置</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a:t>
            </a:r>
            <a:r>
              <a:rPr lang="zh-CN" altLang="en-US" dirty="0"/>
              <a:t>概率极值就是对应样本</a:t>
            </a:r>
            <a:r>
              <a:rPr lang="en-US" altLang="zh-CN" dirty="0" err="1"/>
              <a:t>i</a:t>
            </a:r>
            <a:r>
              <a:rPr lang="zh-CN" altLang="en-US" dirty="0"/>
              <a:t>，完备模态表征</a:t>
            </a:r>
            <a:r>
              <a:rPr lang="en-US" altLang="zh-CN" dirty="0"/>
              <a:t>Z*</a:t>
            </a:r>
            <a:r>
              <a:rPr lang="zh-CN" altLang="en-US" dirty="0"/>
              <a:t>可以分为</a:t>
            </a:r>
            <a:r>
              <a:rPr lang="en-US" altLang="zh-CN" dirty="0" err="1"/>
              <a:t>Zp</a:t>
            </a:r>
            <a:r>
              <a:rPr lang="zh-CN" altLang="en-US" dirty="0"/>
              <a:t>和</a:t>
            </a:r>
            <a:r>
              <a:rPr lang="en-US" altLang="zh-CN" dirty="0"/>
              <a:t>Zn</a:t>
            </a:r>
            <a:r>
              <a:rPr lang="zh-CN" altLang="en-US" dirty="0"/>
              <a:t>，分类任务中，与</a:t>
            </a:r>
            <a:r>
              <a:rPr lang="en-US" altLang="zh-CN" dirty="0"/>
              <a:t>z*</a:t>
            </a:r>
            <a:r>
              <a:rPr lang="en-US" altLang="zh-CN" dirty="0" err="1"/>
              <a:t>i</a:t>
            </a:r>
            <a:r>
              <a:rPr lang="zh-CN" altLang="en-US" dirty="0"/>
              <a:t>同类的属于</a:t>
            </a:r>
            <a:r>
              <a:rPr lang="en-US" altLang="zh-CN" dirty="0" err="1"/>
              <a:t>Zp</a:t>
            </a:r>
            <a:r>
              <a:rPr lang="zh-CN" altLang="en-US" dirty="0"/>
              <a:t>，异类属于</a:t>
            </a:r>
            <a:r>
              <a:rPr lang="en-US" altLang="zh-CN" dirty="0"/>
              <a:t>Zn</a:t>
            </a:r>
            <a:r>
              <a:rPr lang="zh-CN" altLang="en-US" dirty="0"/>
              <a:t>，分割任务中，只有</a:t>
            </a:r>
            <a:r>
              <a:rPr lang="en-US" altLang="zh-CN" dirty="0" err="1"/>
              <a:t>i</a:t>
            </a:r>
            <a:r>
              <a:rPr lang="zh-CN" altLang="en-US" dirty="0"/>
              <a:t>样本的</a:t>
            </a:r>
            <a:r>
              <a:rPr lang="en-US" altLang="zh-CN" dirty="0"/>
              <a:t>z*</a:t>
            </a:r>
            <a:r>
              <a:rPr lang="en-US" altLang="zh-CN" dirty="0" err="1"/>
              <a:t>i</a:t>
            </a:r>
            <a:r>
              <a:rPr lang="zh-CN" altLang="en-US" dirty="0"/>
              <a:t>属于</a:t>
            </a:r>
            <a:r>
              <a:rPr lang="en-US" altLang="zh-CN" dirty="0" err="1"/>
              <a:t>Zp</a:t>
            </a:r>
            <a:r>
              <a:rPr lang="zh-CN" altLang="en-US" dirty="0"/>
              <a:t>，其他样本的</a:t>
            </a:r>
            <a:r>
              <a:rPr lang="en-US" altLang="zh-CN" dirty="0"/>
              <a:t>z*</a:t>
            </a:r>
            <a:r>
              <a:rPr lang="en-US" altLang="zh-CN" dirty="0" err="1"/>
              <a:t>i</a:t>
            </a:r>
            <a:r>
              <a:rPr lang="zh-CN" altLang="en-US" dirty="0"/>
              <a:t>都属于</a:t>
            </a:r>
            <a:r>
              <a:rPr lang="en-US" altLang="zh-CN" dirty="0"/>
              <a:t>Zn</a:t>
            </a:r>
            <a:r>
              <a:rPr lang="zh-CN" altLang="en-US" dirty="0"/>
              <a:t>。那么我们在把这些完备特征点带入</a:t>
            </a:r>
            <a:r>
              <a:rPr lang="en-US" altLang="zh-CN" dirty="0"/>
              <a:t>q(</a:t>
            </a:r>
            <a:r>
              <a:rPr lang="en-US" altLang="zh-CN" dirty="0" err="1"/>
              <a:t>z|xi</a:t>
            </a:r>
            <a:r>
              <a:rPr lang="en-US" altLang="zh-CN" dirty="0"/>
              <a:t>)</a:t>
            </a:r>
            <a:r>
              <a:rPr lang="zh-CN" altLang="en-US" dirty="0"/>
              <a:t>时，要让同类的概率高，不同类的概率低。</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4.</a:t>
            </a:r>
            <a:r>
              <a:rPr lang="zh-CN" altLang="en-US" dirty="0"/>
              <a:t>几何一致性要求从每个样本的缺模表征出发看到的样本之间的距离（</a:t>
            </a:r>
            <a:r>
              <a:rPr lang="en-US" altLang="zh-CN" dirty="0"/>
              <a:t>distance</a:t>
            </a:r>
            <a:r>
              <a:rPr lang="zh-CN" altLang="en-US" dirty="0"/>
              <a:t>）、角度（</a:t>
            </a:r>
            <a:r>
              <a:rPr lang="en-US" altLang="zh-CN" dirty="0"/>
              <a:t>angle</a:t>
            </a:r>
            <a:r>
              <a:rPr lang="zh-CN" altLang="en-US" dirty="0"/>
              <a:t>）、相对位置、聚类结构（哪些点挤成一个簇）等“几何”结构要与样本</a:t>
            </a:r>
            <a:r>
              <a:rPr lang="en-US" altLang="zh-CN" dirty="0" err="1"/>
              <a:t>i</a:t>
            </a:r>
            <a:r>
              <a:rPr lang="zh-CN" altLang="en-US" dirty="0"/>
              <a:t>对应的正样本完备表征出发看到的几何结构类似，与从负样本完备表征出发看到的几何结构不相似</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41930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3590849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CAEF8-016F-030C-39EE-6F298629DA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21954D-BF00-82CF-DCA6-4E40536C63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AC3A1D-D576-A2F3-6F4E-16A6482AA054}"/>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这里需要注意的是，</a:t>
            </a:r>
            <a:r>
              <a:rPr lang="en-US" altLang="zh-CN" sz="1200" b="0" i="0" kern="1200" dirty="0">
                <a:solidFill>
                  <a:schemeClr val="tx1"/>
                </a:solidFill>
                <a:effectLst/>
                <a:latin typeface="+mn-lt"/>
                <a:ea typeface="+mn-ea"/>
                <a:cs typeface="+mn-cs"/>
              </a:rPr>
              <a:t>mu</a:t>
            </a:r>
            <a:r>
              <a:rPr lang="zh-CN" altLang="en-US" sz="1200" b="0" i="0" kern="1200" dirty="0">
                <a:solidFill>
                  <a:schemeClr val="tx1"/>
                </a:solidFill>
                <a:effectLst/>
                <a:latin typeface="+mn-lt"/>
                <a:ea typeface="+mn-ea"/>
                <a:cs typeface="+mn-cs"/>
              </a:rPr>
              <a:t>和西格玛都是高维的，所以本来应该是一个高维高斯分布，但是考虑到高维高斯分布的协方差是</a:t>
            </a:r>
            <a:r>
              <a:rPr lang="en-US" altLang="zh-CN" sz="1200" b="0" i="0" kern="1200" dirty="0">
                <a:solidFill>
                  <a:schemeClr val="tx1"/>
                </a:solidFill>
                <a:effectLst/>
                <a:latin typeface="+mn-lt"/>
                <a:ea typeface="+mn-ea"/>
                <a:cs typeface="+mn-cs"/>
              </a:rPr>
              <a:t>D*D</a:t>
            </a:r>
            <a:r>
              <a:rPr lang="zh-CN" altLang="en-US" sz="1200" b="0" i="0" kern="1200" dirty="0">
                <a:solidFill>
                  <a:schemeClr val="tx1"/>
                </a:solidFill>
                <a:effectLst/>
                <a:latin typeface="+mn-lt"/>
                <a:ea typeface="+mn-ea"/>
                <a:cs typeface="+mn-cs"/>
              </a:rPr>
              <a:t>的，计算量太大，所以采用了一个常用的工程妥协，使用对角高斯分布：它是假设所有维度都是相互独立的，那么协方差就只有对角线上的元素（各个维度的方差）不为零，其余所有元素都为零（因为这些点原来表示不同维度之间的相关性）。</a:t>
            </a:r>
            <a:endParaRPr lang="en-US" altLang="zh-CN" b="0" dirty="0"/>
          </a:p>
        </p:txBody>
      </p:sp>
      <p:sp>
        <p:nvSpPr>
          <p:cNvPr id="4" name="灯片编号占位符 3">
            <a:extLst>
              <a:ext uri="{FF2B5EF4-FFF2-40B4-BE49-F238E27FC236}">
                <a16:creationId xmlns:a16="http://schemas.microsoft.com/office/drawing/2014/main" id="{02554DE8-1E6E-E236-07D5-C60097171F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039419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244078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2E7AD-BC2E-89C2-D485-339F4AAF85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FEC7EC-683E-D069-02F2-FE62EEFEF5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563A757-E3B4-0962-77EF-55216FB8C054}"/>
              </a:ext>
            </a:extLst>
          </p:cNvPr>
          <p:cNvSpPr>
            <a:spLocks noGrp="1"/>
          </p:cNvSpPr>
          <p:nvPr>
            <p:ph type="body" idx="1"/>
          </p:nvPr>
        </p:nvSpPr>
        <p:spPr/>
        <p:txBody>
          <a:bodyPr/>
          <a:lstStyle/>
          <a:p>
            <a:r>
              <a:rPr lang="en-US" altLang="zh-CN" dirty="0"/>
              <a:t>d</a:t>
            </a:r>
            <a:r>
              <a:rPr lang="zh-CN" altLang="en-US" dirty="0"/>
              <a:t>代表维度，在保证均值和</a:t>
            </a:r>
            <a:r>
              <a:rPr lang="en-US" altLang="zh-CN" dirty="0" err="1"/>
              <a:t>zp</a:t>
            </a:r>
            <a:r>
              <a:rPr lang="zh-CN" altLang="en-US" dirty="0"/>
              <a:t>尽量相似的情况下，再评估不确定性。同时之前的工作提到了一个方差崩溃的问题，就是把后一项优化的太小了，也就是说重点去优化不确定性了，这样不但导致训练不稳，也会导致虚假因子的引入，所以作者对方差做了下限约束。</a:t>
            </a:r>
            <a:endParaRPr lang="en-US" altLang="zh-CN" dirty="0"/>
          </a:p>
        </p:txBody>
      </p:sp>
      <p:sp>
        <p:nvSpPr>
          <p:cNvPr id="4" name="灯片编号占位符 3">
            <a:extLst>
              <a:ext uri="{FF2B5EF4-FFF2-40B4-BE49-F238E27FC236}">
                <a16:creationId xmlns:a16="http://schemas.microsoft.com/office/drawing/2014/main" id="{39519FAA-5611-787C-D74F-421846BB68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4059987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这里没有提到对于负样本的操作，是因为后面使用</a:t>
            </a:r>
            <a:r>
              <a:rPr lang="en-US" altLang="zh-CN" dirty="0" err="1"/>
              <a:t>infoNCE</a:t>
            </a:r>
            <a:r>
              <a:rPr lang="zh-CN" altLang="en-US" dirty="0"/>
              <a:t>的对比损失，将对于负样本的操作隐含到对于正样本的操作中了</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536008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C3314-D36C-A872-65D1-482384BE9F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3B80F7-DD34-E07B-89F4-BCA20FD485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A9A744A-B3D1-C1E7-C507-A6BF32C38F11}"/>
              </a:ext>
            </a:extLst>
          </p:cNvPr>
          <p:cNvSpPr>
            <a:spLocks noGrp="1"/>
          </p:cNvSpPr>
          <p:nvPr>
            <p:ph type="body" idx="1"/>
          </p:nvPr>
        </p:nvSpPr>
        <p:spPr/>
        <p:txBody>
          <a:bodyPr/>
          <a:lstStyle/>
          <a:p>
            <a:r>
              <a:rPr lang="en-US" altLang="zh-CN" dirty="0"/>
              <a:t>B</a:t>
            </a:r>
            <a:r>
              <a:rPr lang="zh-CN" altLang="en-US" dirty="0"/>
              <a:t>是</a:t>
            </a:r>
            <a:r>
              <a:rPr lang="en-US" altLang="zh-CN" dirty="0" err="1"/>
              <a:t>batchsize</a:t>
            </a:r>
            <a:r>
              <a:rPr lang="zh-CN" altLang="en-US" dirty="0"/>
              <a:t>大小，所有的</a:t>
            </a:r>
            <a:r>
              <a:rPr lang="en-US" altLang="zh-CN" dirty="0"/>
              <a:t>g</a:t>
            </a:r>
            <a:r>
              <a:rPr lang="zh-CN" altLang="en-US" dirty="0"/>
              <a:t>都是</a:t>
            </a:r>
            <a:r>
              <a:rPr lang="en-US" altLang="zh-CN" dirty="0"/>
              <a:t>b</a:t>
            </a:r>
            <a:r>
              <a:rPr lang="zh-CN" altLang="en-US" dirty="0"/>
              <a:t>维向量</a:t>
            </a:r>
            <a:endParaRPr lang="en-US" altLang="zh-CN" dirty="0"/>
          </a:p>
          <a:p>
            <a:r>
              <a:rPr lang="zh-CN" altLang="en-US" dirty="0"/>
              <a:t>（</a:t>
            </a:r>
            <a:r>
              <a:rPr lang="en-US" altLang="zh-CN" dirty="0"/>
              <a:t>2</a:t>
            </a:r>
            <a:r>
              <a:rPr lang="zh-CN" altLang="en-US" dirty="0"/>
              <a:t>）首先使用</a:t>
            </a:r>
            <a:r>
              <a:rPr lang="en-US" altLang="zh-CN" dirty="0"/>
              <a:t>α(⋅,⋅)</a:t>
            </a:r>
            <a:r>
              <a:rPr lang="zh-CN" altLang="en-US" dirty="0"/>
              <a:t>衡量缺模表征之间和完备表征之间的距离（</a:t>
            </a:r>
            <a:r>
              <a:rPr lang="zh-CN" altLang="en-US" b="1" dirty="0"/>
              <a:t>分类用欧式距离，分割使用内积减轻维度灾难</a:t>
            </a:r>
            <a:r>
              <a:rPr lang="zh-CN" altLang="en-US" dirty="0"/>
              <a:t>）得到向量</a:t>
            </a:r>
            <a:r>
              <a:rPr lang="en-US" altLang="zh-CN" dirty="0"/>
              <a:t>g*</a:t>
            </a:r>
            <a:r>
              <a:rPr lang="en-US" altLang="zh-CN" dirty="0" err="1"/>
              <a:t>i</a:t>
            </a:r>
            <a:r>
              <a:rPr lang="zh-CN" altLang="en-US" dirty="0"/>
              <a:t>（维度等于</a:t>
            </a:r>
            <a:r>
              <a:rPr lang="en-US" altLang="zh-CN" dirty="0"/>
              <a:t>minibatch</a:t>
            </a:r>
            <a:r>
              <a:rPr lang="zh-CN" altLang="en-US" dirty="0"/>
              <a:t>的大小）：里面装着“</a:t>
            </a:r>
            <a:r>
              <a:rPr lang="en-US" altLang="zh-CN" dirty="0"/>
              <a:t>$</a:t>
            </a:r>
            <a:r>
              <a:rPr lang="en-US" altLang="zh-CN" dirty="0" err="1"/>
              <a:t>z_i</a:t>
            </a:r>
            <a:r>
              <a:rPr lang="en-US" altLang="zh-CN" dirty="0"/>
              <a:t>^*$ </a:t>
            </a:r>
            <a:r>
              <a:rPr lang="zh-CN" altLang="en-US" dirty="0"/>
              <a:t>到其他所有 </a:t>
            </a:r>
            <a:r>
              <a:rPr lang="en-US" altLang="zh-CN" dirty="0"/>
              <a:t>$</a:t>
            </a:r>
            <a:r>
              <a:rPr lang="en-US" altLang="zh-CN" dirty="0" err="1"/>
              <a:t>z_b</a:t>
            </a:r>
            <a:r>
              <a:rPr lang="en-US" altLang="zh-CN" dirty="0"/>
              <a:t>^*$ </a:t>
            </a:r>
            <a:r>
              <a:rPr lang="zh-CN" altLang="en-US" dirty="0"/>
              <a:t>的距离</a:t>
            </a:r>
            <a:r>
              <a:rPr lang="en-US" altLang="zh-CN" dirty="0"/>
              <a:t>/</a:t>
            </a:r>
            <a:r>
              <a:rPr lang="zh-CN" altLang="en-US" dirty="0"/>
              <a:t>相似度和</a:t>
            </a:r>
            <a:r>
              <a:rPr lang="en-US" altLang="zh-CN" dirty="0" err="1"/>
              <a:t>gi</a:t>
            </a:r>
            <a:r>
              <a:rPr lang="zh-CN" altLang="en-US" dirty="0"/>
              <a:t>：</a:t>
            </a:r>
            <a:r>
              <a:rPr lang="en-US" altLang="zh-CN" dirty="0"/>
              <a:t>$\</a:t>
            </a:r>
            <a:r>
              <a:rPr lang="en-US" altLang="zh-CN" dirty="0" err="1"/>
              <a:t>mu_i</a:t>
            </a:r>
            <a:r>
              <a:rPr lang="en-US" altLang="zh-CN" dirty="0"/>
              <a:t>$ </a:t>
            </a:r>
            <a:r>
              <a:rPr lang="zh-CN" altLang="en-US" dirty="0"/>
              <a:t>到其他所有 </a:t>
            </a:r>
            <a:r>
              <a:rPr lang="en-US" altLang="zh-CN" dirty="0"/>
              <a:t>$\</a:t>
            </a:r>
            <a:r>
              <a:rPr lang="en-US" altLang="zh-CN" dirty="0" err="1"/>
              <a:t>mu_b</a:t>
            </a:r>
            <a:r>
              <a:rPr lang="en-US" altLang="zh-CN" dirty="0"/>
              <a:t>$ </a:t>
            </a:r>
            <a:r>
              <a:rPr lang="zh-CN" altLang="en-US" dirty="0"/>
              <a:t>的距离</a:t>
            </a:r>
            <a:r>
              <a:rPr lang="en-US" altLang="zh-CN" dirty="0"/>
              <a:t>/</a:t>
            </a:r>
            <a:r>
              <a:rPr lang="zh-CN" altLang="en-US" dirty="0"/>
              <a:t>相似度。</a:t>
            </a:r>
          </a:p>
          <a:p>
            <a:r>
              <a:rPr lang="zh-CN" altLang="en-US" dirty="0"/>
              <a:t>（</a:t>
            </a:r>
            <a:r>
              <a:rPr lang="en-US" altLang="zh-CN" dirty="0"/>
              <a:t>3</a:t>
            </a:r>
            <a:r>
              <a:rPr lang="zh-CN" altLang="en-US" dirty="0"/>
              <a:t>）然后使用</a:t>
            </a:r>
            <a:r>
              <a:rPr lang="en-US" altLang="zh-CN" dirty="0"/>
              <a:t>β</a:t>
            </a:r>
            <a:r>
              <a:rPr lang="zh-CN" altLang="en-US" dirty="0"/>
              <a:t>余弦相似度衡量这两个向量的相似度。</a:t>
            </a:r>
          </a:p>
          <a:p>
            <a:r>
              <a:rPr lang="zh-CN" altLang="en-US" dirty="0"/>
              <a:t>（</a:t>
            </a:r>
            <a:r>
              <a:rPr lang="en-US" altLang="zh-CN" dirty="0"/>
              <a:t>4</a:t>
            </a:r>
            <a:r>
              <a:rPr lang="zh-CN" altLang="en-US" dirty="0"/>
              <a:t>）最后使用类</a:t>
            </a:r>
            <a:r>
              <a:rPr lang="en-US" altLang="zh-CN" sz="1200" b="1" kern="1200" dirty="0" err="1">
                <a:solidFill>
                  <a:schemeClr val="tx1"/>
                </a:solidFill>
                <a:effectLst/>
                <a:latin typeface="+mn-lt"/>
                <a:ea typeface="+mn-ea"/>
                <a:cs typeface="+mn-cs"/>
              </a:rPr>
              <a:t>InfoNCE</a:t>
            </a:r>
            <a:r>
              <a:rPr lang="zh-CN" altLang="en-US" sz="1200" b="1" kern="1200" dirty="0">
                <a:solidFill>
                  <a:schemeClr val="tx1"/>
                </a:solidFill>
                <a:effectLst/>
                <a:latin typeface="+mn-lt"/>
                <a:ea typeface="+mn-ea"/>
                <a:cs typeface="+mn-cs"/>
              </a:rPr>
              <a:t>损失</a:t>
            </a:r>
            <a:r>
              <a:rPr lang="zh-CN" altLang="en-US" sz="1200" kern="1200" dirty="0">
                <a:solidFill>
                  <a:schemeClr val="tx1"/>
                </a:solidFill>
                <a:effectLst/>
                <a:latin typeface="+mn-lt"/>
                <a:ea typeface="+mn-ea"/>
                <a:cs typeface="+mn-cs"/>
              </a:rPr>
              <a:t>实现</a:t>
            </a:r>
            <a:r>
              <a:rPr lang="zh-CN" altLang="en-US" dirty="0"/>
              <a:t>让 学生几何向量</a:t>
            </a:r>
            <a:r>
              <a:rPr lang="en-US" altLang="zh-CN" dirty="0"/>
              <a:t>$</a:t>
            </a:r>
            <a:r>
              <a:rPr lang="en-US" altLang="zh-CN" dirty="0" err="1"/>
              <a:t>g_i</a:t>
            </a:r>
            <a:r>
              <a:rPr lang="en-US" altLang="zh-CN" dirty="0"/>
              <a:t>$ </a:t>
            </a:r>
            <a:r>
              <a:rPr lang="zh-CN" altLang="en-US" dirty="0"/>
              <a:t>和同类样本的老师几何向量 </a:t>
            </a:r>
            <a:r>
              <a:rPr lang="en-US" altLang="zh-CN" dirty="0"/>
              <a:t>$</a:t>
            </a:r>
            <a:r>
              <a:rPr lang="en-US" altLang="zh-CN" dirty="0" err="1"/>
              <a:t>g_p</a:t>
            </a:r>
            <a:r>
              <a:rPr lang="en-US" altLang="zh-CN" dirty="0"/>
              <a:t>^*$ </a:t>
            </a:r>
            <a:r>
              <a:rPr lang="zh-CN" altLang="en-US" dirty="0"/>
              <a:t>尽量相似，不同类不相似</a:t>
            </a:r>
            <a:endParaRPr lang="en-US" altLang="zh-CN" dirty="0"/>
          </a:p>
          <a:p>
            <a:r>
              <a:rPr lang="zh-CN" altLang="en-US" dirty="0"/>
              <a:t>首先我们从分类的角度来看，其次对于分割。。。。。</a:t>
            </a:r>
            <a:endParaRPr lang="en-US" altLang="zh-CN" dirty="0"/>
          </a:p>
          <a:p>
            <a:r>
              <a:rPr lang="zh-CN" altLang="en-US" dirty="0"/>
              <a:t>拉姆达：在</a:t>
            </a:r>
            <a:r>
              <a:rPr lang="en-US" altLang="zh-CN" dirty="0"/>
              <a:t>[1.4,2.2]</a:t>
            </a:r>
            <a:r>
              <a:rPr lang="zh-CN" altLang="en-US" dirty="0"/>
              <a:t>中，</a:t>
            </a:r>
            <a:r>
              <a:rPr lang="en-US" altLang="zh-CN" dirty="0"/>
              <a:t>λ</a:t>
            </a:r>
            <a:r>
              <a:rPr lang="zh-CN" altLang="en-US" dirty="0"/>
              <a:t>在一定范围内似乎不敏感，在我们的实验中，我们设置</a:t>
            </a:r>
            <a:r>
              <a:rPr lang="en-US" altLang="zh-CN" dirty="0"/>
              <a:t>λ=1.8</a:t>
            </a:r>
            <a:endParaRPr lang="zh-CN" altLang="en-US" dirty="0"/>
          </a:p>
          <a:p>
            <a:endParaRPr lang="en-US" altLang="zh-CN" dirty="0"/>
          </a:p>
        </p:txBody>
      </p:sp>
      <p:sp>
        <p:nvSpPr>
          <p:cNvPr id="4" name="灯片编号占位符 3">
            <a:extLst>
              <a:ext uri="{FF2B5EF4-FFF2-40B4-BE49-F238E27FC236}">
                <a16:creationId xmlns:a16="http://schemas.microsoft.com/office/drawing/2014/main" id="{35643CA4-72D3-2BE8-FD1F-8151298095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610413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ECECEC"/>
                </a:solidFill>
                <a:effectLst/>
                <a:latin typeface="ui-sans-serif"/>
              </a:rPr>
              <a:t>红外</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2983414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ECECEC"/>
                </a:solidFill>
                <a:effectLst/>
                <a:latin typeface="ui-sans-serif"/>
              </a:rPr>
              <a:t>第一个框：</a:t>
            </a:r>
            <a:r>
              <a:rPr lang="en-US" altLang="zh-CN" b="0" i="0" dirty="0">
                <a:solidFill>
                  <a:srgbClr val="ECECEC"/>
                </a:solidFill>
                <a:effectLst/>
                <a:latin typeface="ui-sans-serif"/>
              </a:rPr>
              <a:t>Tradition</a:t>
            </a:r>
            <a:r>
              <a:rPr lang="zh-CN" altLang="en-US" b="0" i="0" dirty="0">
                <a:solidFill>
                  <a:srgbClr val="ECECEC"/>
                </a:solidFill>
                <a:effectLst/>
                <a:latin typeface="ui-sans-serif"/>
              </a:rPr>
              <a:t>：只在两个模态数据上训练</a:t>
            </a:r>
            <a:endParaRPr lang="en-US" altLang="zh-CN" b="0" i="0" dirty="0">
              <a:solidFill>
                <a:srgbClr val="ECECEC"/>
              </a:solidFill>
              <a:effectLst/>
              <a:latin typeface="ui-sans-serif"/>
            </a:endParaRPr>
          </a:p>
          <a:p>
            <a:pPr algn="l"/>
            <a:r>
              <a:rPr lang="en-US" altLang="zh-CN" b="0" i="0" dirty="0">
                <a:solidFill>
                  <a:srgbClr val="ECECEC"/>
                </a:solidFill>
                <a:effectLst/>
                <a:latin typeface="ui-sans-serif"/>
              </a:rPr>
              <a:t>Separate model</a:t>
            </a:r>
            <a:r>
              <a:rPr lang="zh-CN" altLang="en-US" b="0" i="0" dirty="0">
                <a:solidFill>
                  <a:srgbClr val="ECECEC"/>
                </a:solidFill>
                <a:effectLst/>
                <a:latin typeface="ui-sans-serif"/>
              </a:rPr>
              <a:t>是单独建模，这两个作为</a:t>
            </a:r>
            <a:r>
              <a:rPr lang="en-US" altLang="zh-CN" b="0" i="0" dirty="0">
                <a:solidFill>
                  <a:srgbClr val="ECECEC"/>
                </a:solidFill>
                <a:effectLst/>
                <a:latin typeface="ui-sans-serif"/>
              </a:rPr>
              <a:t>baseline</a:t>
            </a:r>
          </a:p>
          <a:p>
            <a:pPr algn="l"/>
            <a:r>
              <a:rPr lang="zh-CN" altLang="en-US" dirty="0"/>
              <a:t>第二个框：融合网络提取跨模态的冗余信息的方法</a:t>
            </a:r>
            <a:endParaRPr lang="en-US" altLang="zh-CN" dirty="0"/>
          </a:p>
          <a:p>
            <a:pPr algn="l"/>
            <a:r>
              <a:rPr lang="zh-CN" altLang="en-US" b="0" i="0" dirty="0">
                <a:solidFill>
                  <a:srgbClr val="ECECEC"/>
                </a:solidFill>
                <a:effectLst/>
                <a:latin typeface="ui-sans-serif"/>
              </a:rPr>
              <a:t>第三个框：基于跨模态蒸馏的方法</a:t>
            </a:r>
            <a:endParaRPr lang="en-US" altLang="zh-CN" b="0" i="0" dirty="0">
              <a:solidFill>
                <a:srgbClr val="ECECEC"/>
              </a:solidFill>
              <a:effectLst/>
              <a:latin typeface="ui-sans-serif"/>
            </a:endParaRPr>
          </a:p>
          <a:p>
            <a:pPr algn="l"/>
            <a:r>
              <a:rPr lang="zh-CN" altLang="en-US" b="0" i="0" dirty="0">
                <a:solidFill>
                  <a:srgbClr val="ECECEC"/>
                </a:solidFill>
                <a:effectLst/>
                <a:latin typeface="ui-sans-serif"/>
              </a:rPr>
              <a:t>第四个框：基于动态融合的方法</a:t>
            </a:r>
            <a:endParaRPr lang="en-US" altLang="zh-CN" b="0" i="0" dirty="0">
              <a:solidFill>
                <a:srgbClr val="ECECEC"/>
              </a:solidFill>
              <a:effectLst/>
              <a:latin typeface="ui-sans-serif"/>
            </a:endParaRPr>
          </a:p>
          <a:p>
            <a:pPr algn="l"/>
            <a:r>
              <a:rPr lang="zh-CN" altLang="en-US" b="0" i="0" dirty="0">
                <a:solidFill>
                  <a:srgbClr val="ECECEC"/>
                </a:solidFill>
                <a:effectLst/>
                <a:latin typeface="ui-sans-serif"/>
              </a:rPr>
              <a:t>作者提到单</a:t>
            </a:r>
            <a:r>
              <a:rPr lang="en-US" altLang="zh-CN" b="0" i="0" dirty="0">
                <a:solidFill>
                  <a:srgbClr val="ECECEC"/>
                </a:solidFill>
                <a:effectLst/>
                <a:latin typeface="ui-sans-serif"/>
              </a:rPr>
              <a:t>R</a:t>
            </a:r>
            <a:r>
              <a:rPr lang="zh-CN" altLang="en-US" b="0" i="0" dirty="0">
                <a:solidFill>
                  <a:srgbClr val="ECECEC"/>
                </a:solidFill>
                <a:effectLst/>
                <a:latin typeface="ui-sans-serif"/>
              </a:rPr>
              <a:t>分割提升效果不大是因为单</a:t>
            </a:r>
            <a:r>
              <a:rPr lang="en-US" altLang="zh-CN" b="0" i="0" dirty="0">
                <a:solidFill>
                  <a:srgbClr val="ECECEC"/>
                </a:solidFill>
                <a:effectLst/>
                <a:latin typeface="ui-sans-serif"/>
              </a:rPr>
              <a:t>R</a:t>
            </a:r>
            <a:r>
              <a:rPr lang="zh-CN" altLang="en-US" b="0" i="0" dirty="0">
                <a:solidFill>
                  <a:srgbClr val="ECECEC"/>
                </a:solidFill>
                <a:effectLst/>
                <a:latin typeface="ui-sans-serif"/>
              </a:rPr>
              <a:t>已经接近全模态性能</a:t>
            </a:r>
            <a:endParaRPr lang="en-US" altLang="zh-CN" b="0" i="0" dirty="0">
              <a:solidFill>
                <a:srgbClr val="ECECEC"/>
              </a:solidFill>
              <a:effectLst/>
              <a:latin typeface="ui-sans-serif"/>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198002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ECECEC"/>
              </a:solidFill>
              <a:effectLst/>
              <a:latin typeface="ui-sans-serif"/>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995DCBA-0CD2-47DC-90CF-EC7D70760B5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14</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extLst>
      <p:ext uri="{BB962C8B-B14F-4D97-AF65-F5344CB8AC3E}">
        <p14:creationId xmlns:p14="http://schemas.microsoft.com/office/powerpoint/2010/main" val="575063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6A9E09-D1A5-4964-96DD-C272DDCB1AA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CEBCDFF-9E79-4D83-8BE4-E4BFC5ECE6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8CCAD58-37AD-4096-8D7A-A24DFF04ABC9}"/>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56767ACE-0889-48EB-9F4E-B3BCF2B6572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EAD6D4-E8C8-48A5-BB8F-9416801C5558}"/>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3444761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ED88FC-2026-47CE-B797-B1AD70ED8A5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0C70A4E-F739-4E8B-A81C-34A733F5F6F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C29521F-7FA9-4DBF-8B95-7BC72527F0F5}"/>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E365F88F-3CE8-4DFD-AEA5-9A9E216F3C5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3A02CF-7CAB-4224-9369-8F133B543C43}"/>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1316068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E60236-3122-40C8-A2BA-BE946F414B9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2F86EE4-A9C1-4E1C-895C-4CDB09B8BA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42B996B-9399-4D3D-A561-B097415A8F39}"/>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13E9ADBB-01D4-405F-BA5E-591CE440D7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586D59-FB6F-415F-8F1E-98A6030ED1D9}"/>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1226104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C9FAED-22B0-4915-9A53-246450B915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EF1BAA-EA45-4118-9B95-7FCBF41D96D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E9ECD2A-91F2-4487-AE4B-EA69B39CF51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95F7DBE-57D0-48E9-B406-0401AB4A687E}"/>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6" name="页脚占位符 5">
            <a:extLst>
              <a:ext uri="{FF2B5EF4-FFF2-40B4-BE49-F238E27FC236}">
                <a16:creationId xmlns:a16="http://schemas.microsoft.com/office/drawing/2014/main" id="{00FA0907-AE21-476E-9A56-D741C2336E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5A49AB5-DF57-4E34-AB28-EC26CBEF6659}"/>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2873514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1DEF9B-557E-414A-912F-4BB938D472E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6A3C8C9-F524-4911-A0EC-1513F3C6FA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CF3D93D-81A7-4D47-ADFA-977E08AAE46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134450E-175D-46A3-921B-85EA2F7D16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A0676AD-52CC-424E-B279-7BC879365AA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58EE84D-FE41-43AC-B521-67A7B8FA90A9}"/>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8" name="页脚占位符 7">
            <a:extLst>
              <a:ext uri="{FF2B5EF4-FFF2-40B4-BE49-F238E27FC236}">
                <a16:creationId xmlns:a16="http://schemas.microsoft.com/office/drawing/2014/main" id="{EF1C6F89-7291-42CD-9487-50AE2A94571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8BFE8EB-BAC4-454E-A4DC-B69FA3C58CE9}"/>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3687425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043C2-BD38-4F33-8C41-E25AD911DEC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FAB3807-44D3-4F4F-8060-E10F9123DFD6}"/>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4" name="页脚占位符 3">
            <a:extLst>
              <a:ext uri="{FF2B5EF4-FFF2-40B4-BE49-F238E27FC236}">
                <a16:creationId xmlns:a16="http://schemas.microsoft.com/office/drawing/2014/main" id="{9EFDA364-765C-4F94-96E7-AB9BA576FD8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D584DDB-B007-4AC9-8CFF-E1EF419D39BA}"/>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2546662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E3C10E9-CFE1-44EA-B43D-E2797426195C}"/>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3" name="页脚占位符 2">
            <a:extLst>
              <a:ext uri="{FF2B5EF4-FFF2-40B4-BE49-F238E27FC236}">
                <a16:creationId xmlns:a16="http://schemas.microsoft.com/office/drawing/2014/main" id="{789073A9-8FD3-4B49-9F06-04B003BFCCD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0157F4-6FDC-4693-B09D-6DDD79AC7587}"/>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1956766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B26233-671A-43E2-8306-42566CB50F6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5016B2F-7E31-4513-98D9-0D185CC95E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83797B9-3363-4999-844F-ED482410C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27F5C5-6AFE-4E7F-93A8-97936C816F8A}"/>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6" name="页脚占位符 5">
            <a:extLst>
              <a:ext uri="{FF2B5EF4-FFF2-40B4-BE49-F238E27FC236}">
                <a16:creationId xmlns:a16="http://schemas.microsoft.com/office/drawing/2014/main" id="{D492E0EA-2690-498A-923C-A5879D34D7F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126570A-8237-4E65-B919-60E7141EAAB4}"/>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4221399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990762-5967-49C3-AC7B-B383B88B0E1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28B31A2-8F84-4212-80A0-D63B5CF775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F0627BA-620A-436F-B3ED-90C7976301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88EF30F-A058-4400-A273-EB00858CA1A8}"/>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6" name="页脚占位符 5">
            <a:extLst>
              <a:ext uri="{FF2B5EF4-FFF2-40B4-BE49-F238E27FC236}">
                <a16:creationId xmlns:a16="http://schemas.microsoft.com/office/drawing/2014/main" id="{DC7AD9F7-FD42-449F-AD4B-703C825BE1E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4F009EC-CCD3-4324-8356-1AC2B8FD062F}"/>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4026157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564D9D-F39E-4DCB-BB8E-772CADB3DC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8AC28BA-54D0-48F9-BF08-F578B729088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2C4DAA3-AB46-429F-BC38-22600B11B0FE}"/>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94C0907F-8060-4F71-8001-A8466CC2D7B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6F4A13E-29A6-4BF2-8C16-0FB39D70C44D}"/>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379033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1FD02FF-058B-4611-ABBD-4FDAD2B2141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29E8EBE-CE0B-44F6-996F-EE71D47E990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1A2D0EB-F6F8-4D56-B88D-BA61D7164902}"/>
              </a:ext>
            </a:extLst>
          </p:cNvPr>
          <p:cNvSpPr>
            <a:spLocks noGrp="1"/>
          </p:cNvSpPr>
          <p:nvPr>
            <p:ph type="dt" sz="half" idx="10"/>
          </p:nvPr>
        </p:nvSpPr>
        <p:spPr/>
        <p:txBody>
          <a:bodyPr/>
          <a:lstStyle/>
          <a:p>
            <a:fld id="{773469AC-3566-4F4B-965A-CB7ECF5E2515}"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253770A1-7DF4-40DD-A36F-ACD6CE95802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8B44572-2E41-468F-8E0F-A906DA728367}"/>
              </a:ext>
            </a:extLst>
          </p:cNvPr>
          <p:cNvSpPr>
            <a:spLocks noGrp="1"/>
          </p:cNvSpPr>
          <p:nvPr>
            <p:ph type="sldNum" sz="quarter" idx="12"/>
          </p:nvPr>
        </p:nvSpPr>
        <p:spPr/>
        <p:txBody>
          <a:body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3243620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43A93E93-166D-47F5-9EF1-ACEABE24AEEA}" type="datetimeFigureOut">
              <a:rPr lang="zh-CN" altLang="en-US" smtClean="0"/>
              <a:t>2025/11/7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8D5ACA-62CA-46DB-AD6B-12EDD6D51A23}" type="slidenum">
              <a:rPr lang="zh-CN" altLang="en-US" smtClean="0"/>
              <a:t>‹#›</a:t>
            </a:fld>
            <a:endParaRPr lang="zh-CN" altLang="en-US"/>
          </a:p>
        </p:txBody>
      </p:sp>
      <p:sp>
        <p:nvSpPr>
          <p:cNvPr id="6" name="文本框 5"/>
          <p:cNvSpPr txBox="1"/>
          <p:nvPr userDrawn="1"/>
        </p:nvSpPr>
        <p:spPr>
          <a:xfrm>
            <a:off x="4397375" y="753110"/>
            <a:ext cx="309880" cy="368300"/>
          </a:xfrm>
          <a:prstGeom prst="rect">
            <a:avLst/>
          </a:prstGeom>
          <a:noFill/>
        </p:spPr>
        <p:txBody>
          <a:bodyPr wrap="none" rtlCol="0">
            <a:spAutoFit/>
          </a:bodyPr>
          <a:lstStyle/>
          <a:p>
            <a:endParaRPr lang="zh-CN" altLang="en-US"/>
          </a:p>
        </p:txBody>
      </p:sp>
    </p:spTree>
    <p:extLst>
      <p:ext uri="{BB962C8B-B14F-4D97-AF65-F5344CB8AC3E}">
        <p14:creationId xmlns:p14="http://schemas.microsoft.com/office/powerpoint/2010/main" val="2113608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FAA2EB0-E6C2-4DDA-AC6C-830B48C6EB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A8DF27-379A-436C-AF46-66828990BC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8D2337C-9985-455D-B7E4-9F819830B8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3469AC-3566-4F4B-965A-CB7ECF5E2515}" type="datetimeFigureOut">
              <a:rPr lang="zh-CN" altLang="en-US" smtClean="0"/>
              <a:t>2025/11/7</a:t>
            </a:fld>
            <a:endParaRPr lang="zh-CN" altLang="en-US"/>
          </a:p>
        </p:txBody>
      </p:sp>
      <p:sp>
        <p:nvSpPr>
          <p:cNvPr id="5" name="页脚占位符 4">
            <a:extLst>
              <a:ext uri="{FF2B5EF4-FFF2-40B4-BE49-F238E27FC236}">
                <a16:creationId xmlns:a16="http://schemas.microsoft.com/office/drawing/2014/main" id="{D1153385-F15D-457C-B14A-0B471547A4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E4F1B8F-872F-4EC9-A7E5-E54C45DEFA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187B4E-8BB0-44A0-AADC-C7FC883A5E40}" type="slidenum">
              <a:rPr lang="zh-CN" altLang="en-US" smtClean="0"/>
              <a:t>‹#›</a:t>
            </a:fld>
            <a:endParaRPr lang="zh-CN" altLang="en-US"/>
          </a:p>
        </p:txBody>
      </p:sp>
    </p:spTree>
    <p:extLst>
      <p:ext uri="{BB962C8B-B14F-4D97-AF65-F5344CB8AC3E}">
        <p14:creationId xmlns:p14="http://schemas.microsoft.com/office/powerpoint/2010/main" val="720864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69" y="2396430"/>
            <a:ext cx="12191331" cy="1838567"/>
          </a:xfrm>
          <a:prstGeom prst="rect">
            <a:avLst/>
          </a:prstGeom>
          <a:solidFill>
            <a:srgbClr val="1A78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dirty="0">
              <a:solidFill>
                <a:prstClr val="white"/>
              </a:solidFill>
              <a:cs typeface="+mn-ea"/>
              <a:sym typeface="+mn-lt"/>
            </a:endParaRPr>
          </a:p>
        </p:txBody>
      </p:sp>
      <p:sp>
        <p:nvSpPr>
          <p:cNvPr id="12" name="椭圆 11"/>
          <p:cNvSpPr/>
          <p:nvPr/>
        </p:nvSpPr>
        <p:spPr>
          <a:xfrm>
            <a:off x="58172" y="2017547"/>
            <a:ext cx="2624273" cy="2624273"/>
          </a:xfrm>
          <a:prstGeom prst="ellipse">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cs typeface="+mn-ea"/>
              <a:sym typeface="+mn-lt"/>
            </a:endParaRPr>
          </a:p>
        </p:txBody>
      </p:sp>
      <p:pic>
        <p:nvPicPr>
          <p:cNvPr id="9" name="图片 8"/>
          <p:cNvPicPr>
            <a:picLocks noChangeAspect="1"/>
          </p:cNvPicPr>
          <p:nvPr/>
        </p:nvPicPr>
        <p:blipFill>
          <a:blip r:embed="rId3">
            <a:extLst>
              <a:ext uri="{BEBA8EAE-BF5A-486C-A8C5-ECC9F3942E4B}">
                <a14:imgProps xmlns:a14="http://schemas.microsoft.com/office/drawing/2010/main">
                  <a14:imgLayer r:embed="rId4">
                    <a14:imgEffect>
                      <a14:brightnessContrast bright="14000" contrast="21000"/>
                    </a14:imgEffect>
                    <a14:imgEffect>
                      <a14:colorTemperature colorTemp="6700"/>
                    </a14:imgEffect>
                  </a14:imgLayer>
                </a14:imgProps>
              </a:ext>
              <a:ext uri="{28A0092B-C50C-407E-A947-70E740481C1C}">
                <a14:useLocalDpi xmlns:a14="http://schemas.microsoft.com/office/drawing/2010/main" val="0"/>
              </a:ext>
            </a:extLst>
          </a:blip>
          <a:stretch>
            <a:fillRect/>
          </a:stretch>
        </p:blipFill>
        <p:spPr>
          <a:xfrm>
            <a:off x="-200000" y="1877889"/>
            <a:ext cx="3140616" cy="2903588"/>
          </a:xfrm>
          <a:prstGeom prst="rect">
            <a:avLst/>
          </a:prstGeom>
        </p:spPr>
      </p:pic>
      <p:sp>
        <p:nvSpPr>
          <p:cNvPr id="8" name="文本框 7"/>
          <p:cNvSpPr txBox="1"/>
          <p:nvPr/>
        </p:nvSpPr>
        <p:spPr>
          <a:xfrm>
            <a:off x="2495313" y="2777104"/>
            <a:ext cx="9754190" cy="1077218"/>
          </a:xfrm>
          <a:prstGeom prst="rect">
            <a:avLst/>
          </a:prstGeom>
          <a:noFill/>
        </p:spPr>
        <p:txBody>
          <a:bodyPr wrap="square" rtlCol="0">
            <a:spAutoFit/>
          </a:bodyPr>
          <a:lstStyle/>
          <a:p>
            <a:pPr algn="ctr" defTabSz="913765">
              <a:defRPr/>
            </a:pPr>
            <a:r>
              <a:rPr lang="en-US" altLang="zh-CN" sz="3200" b="1" dirty="0">
                <a:solidFill>
                  <a:srgbClr val="FFFF00"/>
                </a:solidFill>
                <a:latin typeface="微软雅黑" panose="020B0503020204020204" pitchFamily="34" charset="-122"/>
                <a:ea typeface="微软雅黑" panose="020B0503020204020204" pitchFamily="34" charset="-122"/>
                <a:sym typeface="+mn-lt"/>
              </a:rPr>
              <a:t>Probabilistic Conformal Distillation </a:t>
            </a:r>
            <a:r>
              <a:rPr lang="en-US" altLang="zh-CN" sz="3200" b="1" dirty="0">
                <a:solidFill>
                  <a:schemeClr val="bg1"/>
                </a:solidFill>
                <a:latin typeface="微软雅黑" panose="020B0503020204020204" pitchFamily="34" charset="-122"/>
                <a:ea typeface="微软雅黑" panose="020B0503020204020204" pitchFamily="34" charset="-122"/>
                <a:sym typeface="+mn-lt"/>
              </a:rPr>
              <a:t>for Enhancing </a:t>
            </a:r>
            <a:r>
              <a:rPr lang="en-US" altLang="zh-CN" sz="3200" b="1" dirty="0">
                <a:solidFill>
                  <a:srgbClr val="FF0000"/>
                </a:solidFill>
                <a:latin typeface="微软雅黑" panose="020B0503020204020204" pitchFamily="34" charset="-122"/>
                <a:ea typeface="微软雅黑" panose="020B0503020204020204" pitchFamily="34" charset="-122"/>
                <a:sym typeface="+mn-lt"/>
              </a:rPr>
              <a:t>Missing Modality </a:t>
            </a:r>
            <a:r>
              <a:rPr lang="en-US" altLang="zh-CN" sz="3200" b="1" dirty="0">
                <a:solidFill>
                  <a:schemeClr val="bg1"/>
                </a:solidFill>
                <a:latin typeface="微软雅黑" panose="020B0503020204020204" pitchFamily="34" charset="-122"/>
                <a:ea typeface="微软雅黑" panose="020B0503020204020204" pitchFamily="34" charset="-122"/>
                <a:sym typeface="+mn-lt"/>
              </a:rPr>
              <a:t>Robustness</a:t>
            </a:r>
          </a:p>
        </p:txBody>
      </p:sp>
      <p:pic>
        <p:nvPicPr>
          <p:cNvPr id="10" name="图片 9"/>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4000" contrast="21000"/>
                    </a14:imgEffect>
                    <a14:imgEffect>
                      <a14:colorTemperature colorTemp="6700"/>
                    </a14:imgEffect>
                    <a14:imgEffect>
                      <a14:sharpenSoften amount="3000"/>
                    </a14:imgEffect>
                  </a14:imgLayer>
                </a14:imgProps>
              </a:ext>
              <a:ext uri="{28A0092B-C50C-407E-A947-70E740481C1C}">
                <a14:useLocalDpi xmlns:a14="http://schemas.microsoft.com/office/drawing/2010/main" val="0"/>
              </a:ext>
            </a:extLst>
          </a:blip>
          <a:stretch>
            <a:fillRect/>
          </a:stretch>
        </p:blipFill>
        <p:spPr>
          <a:xfrm>
            <a:off x="9898070" y="0"/>
            <a:ext cx="1966449" cy="575997"/>
          </a:xfrm>
          <a:prstGeom prst="rect">
            <a:avLst/>
          </a:prstGeom>
        </p:spPr>
      </p:pic>
      <p:sp>
        <p:nvSpPr>
          <p:cNvPr id="2" name="文本框 1">
            <a:extLst>
              <a:ext uri="{FF2B5EF4-FFF2-40B4-BE49-F238E27FC236}">
                <a16:creationId xmlns:a16="http://schemas.microsoft.com/office/drawing/2014/main" id="{12B816B8-9C9B-4BF1-323A-3AEF258A219A}"/>
              </a:ext>
            </a:extLst>
          </p:cNvPr>
          <p:cNvSpPr txBox="1"/>
          <p:nvPr/>
        </p:nvSpPr>
        <p:spPr>
          <a:xfrm>
            <a:off x="5446985" y="4910958"/>
            <a:ext cx="2270235" cy="400110"/>
          </a:xfrm>
          <a:prstGeom prst="rect">
            <a:avLst/>
          </a:prstGeom>
          <a:noFill/>
        </p:spPr>
        <p:txBody>
          <a:bodyPr wrap="square" rtlCol="0">
            <a:spAutoFit/>
          </a:bodyPr>
          <a:lstStyle/>
          <a:p>
            <a:r>
              <a:rPr lang="en-US" altLang="zh-CN" sz="2000" dirty="0" err="1"/>
              <a:t>NeurIPS</a:t>
            </a:r>
            <a:r>
              <a:rPr lang="en-US" altLang="zh-CN" sz="2000" dirty="0"/>
              <a:t> 2024</a:t>
            </a:r>
            <a:endParaRPr lang="zh-CN" altLang="en-US" sz="2000" dirty="0"/>
          </a:p>
        </p:txBody>
      </p:sp>
    </p:spTree>
    <p:extLst>
      <p:ext uri="{BB962C8B-B14F-4D97-AF65-F5344CB8AC3E}">
        <p14:creationId xmlns:p14="http://schemas.microsoft.com/office/powerpoint/2010/main" val="32245541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a:t>
              </a:r>
              <a:endParaRPr kumimoji="0" lang="zh-CN" altLang="en-US"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sp>
        <p:nvSpPr>
          <p:cNvPr id="19" name="标题占位符 1">
            <a:extLst>
              <a:ext uri="{FF2B5EF4-FFF2-40B4-BE49-F238E27FC236}">
                <a16:creationId xmlns:a16="http://schemas.microsoft.com/office/drawing/2014/main" id="{D7B251A9-C9D0-42AC-893C-DDF796B5D1D9}"/>
              </a:ext>
            </a:extLst>
          </p:cNvPr>
          <p:cNvSpPr txBox="1"/>
          <p:nvPr/>
        </p:nvSpPr>
        <p:spPr>
          <a:xfrm>
            <a:off x="1056438" y="149511"/>
            <a:ext cx="5435600"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Authors</a:t>
            </a:r>
            <a:endParaRPr kumimoji="0" lang="zh-CN" altLang="en-US" sz="2600" b="1" i="0" u="none" strike="noStrike" kern="1200" cap="none" spc="0" normalizeH="0" baseline="0" noProof="0" dirty="0">
              <a:ln>
                <a:noFill/>
              </a:ln>
              <a:solidFill>
                <a:sysClr val="windowText" lastClr="000000"/>
              </a:solidFill>
              <a:effectLst/>
              <a:uLnTx/>
              <a:uFillTx/>
              <a:latin typeface="Arial" panose="020B0604020202020204"/>
              <a:ea typeface="微软雅黑" panose="020B0503020204020204" pitchFamily="34" charset="-122"/>
              <a:cs typeface="+mj-cs"/>
            </a:endParaRPr>
          </a:p>
        </p:txBody>
      </p:sp>
      <p:pic>
        <p:nvPicPr>
          <p:cNvPr id="2" name="图片 1">
            <a:extLst>
              <a:ext uri="{FF2B5EF4-FFF2-40B4-BE49-F238E27FC236}">
                <a16:creationId xmlns:a16="http://schemas.microsoft.com/office/drawing/2014/main" id="{82C76EC1-8B01-E9BA-809A-60C328662EBD}"/>
              </a:ext>
            </a:extLst>
          </p:cNvPr>
          <p:cNvPicPr>
            <a:picLocks noChangeAspect="1"/>
          </p:cNvPicPr>
          <p:nvPr/>
        </p:nvPicPr>
        <p:blipFill>
          <a:blip r:embed="rId4"/>
          <a:stretch>
            <a:fillRect/>
          </a:stretch>
        </p:blipFill>
        <p:spPr>
          <a:xfrm>
            <a:off x="163643" y="3452449"/>
            <a:ext cx="3915321" cy="1171739"/>
          </a:xfrm>
          <a:prstGeom prst="rect">
            <a:avLst/>
          </a:prstGeom>
        </p:spPr>
      </p:pic>
      <p:pic>
        <p:nvPicPr>
          <p:cNvPr id="3" name="图片 2">
            <a:extLst>
              <a:ext uri="{FF2B5EF4-FFF2-40B4-BE49-F238E27FC236}">
                <a16:creationId xmlns:a16="http://schemas.microsoft.com/office/drawing/2014/main" id="{8F1A04C2-ECFE-E698-A09F-1900E633361E}"/>
              </a:ext>
            </a:extLst>
          </p:cNvPr>
          <p:cNvPicPr>
            <a:picLocks noChangeAspect="1"/>
          </p:cNvPicPr>
          <p:nvPr/>
        </p:nvPicPr>
        <p:blipFill>
          <a:blip r:embed="rId5"/>
          <a:stretch>
            <a:fillRect/>
          </a:stretch>
        </p:blipFill>
        <p:spPr>
          <a:xfrm>
            <a:off x="203760" y="1399373"/>
            <a:ext cx="3732759" cy="1704948"/>
          </a:xfrm>
          <a:prstGeom prst="rect">
            <a:avLst/>
          </a:prstGeom>
        </p:spPr>
      </p:pic>
      <p:pic>
        <p:nvPicPr>
          <p:cNvPr id="10" name="图片 9">
            <a:extLst>
              <a:ext uri="{FF2B5EF4-FFF2-40B4-BE49-F238E27FC236}">
                <a16:creationId xmlns:a16="http://schemas.microsoft.com/office/drawing/2014/main" id="{6CDB2CEF-4430-2800-1E5E-E683ECE7F719}"/>
              </a:ext>
            </a:extLst>
          </p:cNvPr>
          <p:cNvPicPr>
            <a:picLocks noChangeAspect="1"/>
          </p:cNvPicPr>
          <p:nvPr/>
        </p:nvPicPr>
        <p:blipFill>
          <a:blip r:embed="rId6"/>
          <a:stretch>
            <a:fillRect/>
          </a:stretch>
        </p:blipFill>
        <p:spPr>
          <a:xfrm>
            <a:off x="4198391" y="1363716"/>
            <a:ext cx="7424376" cy="1776262"/>
          </a:xfrm>
          <a:prstGeom prst="rect">
            <a:avLst/>
          </a:prstGeom>
        </p:spPr>
      </p:pic>
    </p:spTree>
    <p:extLst>
      <p:ext uri="{BB962C8B-B14F-4D97-AF65-F5344CB8AC3E}">
        <p14:creationId xmlns:p14="http://schemas.microsoft.com/office/powerpoint/2010/main" val="1515862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sp>
        <p:nvSpPr>
          <p:cNvPr id="17" name="标题占位符 1">
            <a:extLst>
              <a:ext uri="{FF2B5EF4-FFF2-40B4-BE49-F238E27FC236}">
                <a16:creationId xmlns:a16="http://schemas.microsoft.com/office/drawing/2014/main" id="{35CE67DA-8DF0-4A90-BBA9-237E6B31F313}"/>
              </a:ext>
            </a:extLst>
          </p:cNvPr>
          <p:cNvSpPr txBox="1"/>
          <p:nvPr/>
        </p:nvSpPr>
        <p:spPr>
          <a:xfrm>
            <a:off x="1042966" y="149511"/>
            <a:ext cx="5435600"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Introduction</a:t>
            </a:r>
          </a:p>
        </p:txBody>
      </p:sp>
      <p:sp>
        <p:nvSpPr>
          <p:cNvPr id="3" name="左大括号 2">
            <a:extLst>
              <a:ext uri="{FF2B5EF4-FFF2-40B4-BE49-F238E27FC236}">
                <a16:creationId xmlns:a16="http://schemas.microsoft.com/office/drawing/2014/main" id="{00791607-AEC0-4458-32EA-C95D8FEE3B68}"/>
              </a:ext>
            </a:extLst>
          </p:cNvPr>
          <p:cNvSpPr/>
          <p:nvPr/>
        </p:nvSpPr>
        <p:spPr>
          <a:xfrm>
            <a:off x="1994338" y="1852448"/>
            <a:ext cx="378829" cy="2928932"/>
          </a:xfrm>
          <a:prstGeom prst="leftBrace">
            <a:avLst>
              <a:gd name="adj1" fmla="val 72838"/>
              <a:gd name="adj2" fmla="val 50000"/>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6693C9A2-582C-9556-41CC-E0A050D3B92F}"/>
              </a:ext>
            </a:extLst>
          </p:cNvPr>
          <p:cNvSpPr txBox="1"/>
          <p:nvPr/>
        </p:nvSpPr>
        <p:spPr>
          <a:xfrm>
            <a:off x="433552" y="2976011"/>
            <a:ext cx="1560786" cy="646331"/>
          </a:xfrm>
          <a:prstGeom prst="rect">
            <a:avLst/>
          </a:prstGeom>
          <a:noFill/>
        </p:spPr>
        <p:txBody>
          <a:bodyPr wrap="square" rtlCol="0">
            <a:spAutoFit/>
          </a:bodyPr>
          <a:lstStyle/>
          <a:p>
            <a:pPr algn="ctr"/>
            <a:r>
              <a:rPr lang="zh-CN" altLang="en-US" dirty="0"/>
              <a:t>提高缺失模态鲁棒性</a:t>
            </a:r>
          </a:p>
        </p:txBody>
      </p:sp>
      <p:sp>
        <p:nvSpPr>
          <p:cNvPr id="6" name="文本框 5">
            <a:extLst>
              <a:ext uri="{FF2B5EF4-FFF2-40B4-BE49-F238E27FC236}">
                <a16:creationId xmlns:a16="http://schemas.microsoft.com/office/drawing/2014/main" id="{FA7CBFC9-27DF-D42B-EF74-14A135F65B7E}"/>
              </a:ext>
            </a:extLst>
          </p:cNvPr>
          <p:cNvSpPr txBox="1"/>
          <p:nvPr/>
        </p:nvSpPr>
        <p:spPr>
          <a:xfrm>
            <a:off x="2457688" y="1792238"/>
            <a:ext cx="1263212" cy="369332"/>
          </a:xfrm>
          <a:prstGeom prst="rect">
            <a:avLst/>
          </a:prstGeom>
          <a:noFill/>
        </p:spPr>
        <p:txBody>
          <a:bodyPr wrap="square">
            <a:spAutoFit/>
          </a:bodyPr>
          <a:lstStyle/>
          <a:p>
            <a:r>
              <a:rPr lang="zh-CN" altLang="en-US" dirty="0"/>
              <a:t>独立建模</a:t>
            </a:r>
          </a:p>
        </p:txBody>
      </p:sp>
      <p:sp>
        <p:nvSpPr>
          <p:cNvPr id="10" name="文本框 9">
            <a:extLst>
              <a:ext uri="{FF2B5EF4-FFF2-40B4-BE49-F238E27FC236}">
                <a16:creationId xmlns:a16="http://schemas.microsoft.com/office/drawing/2014/main" id="{DFA0631C-0C54-836E-FBAA-21BFE363EE62}"/>
              </a:ext>
            </a:extLst>
          </p:cNvPr>
          <p:cNvSpPr txBox="1"/>
          <p:nvPr/>
        </p:nvSpPr>
        <p:spPr>
          <a:xfrm>
            <a:off x="2457688" y="4412050"/>
            <a:ext cx="1263212" cy="369332"/>
          </a:xfrm>
          <a:prstGeom prst="rect">
            <a:avLst/>
          </a:prstGeom>
          <a:noFill/>
        </p:spPr>
        <p:txBody>
          <a:bodyPr wrap="square">
            <a:spAutoFit/>
          </a:bodyPr>
          <a:lstStyle/>
          <a:p>
            <a:r>
              <a:rPr lang="zh-CN" altLang="en-US" dirty="0"/>
              <a:t>统一建模</a:t>
            </a:r>
          </a:p>
        </p:txBody>
      </p:sp>
      <p:sp>
        <p:nvSpPr>
          <p:cNvPr id="11" name="左大括号 10">
            <a:extLst>
              <a:ext uri="{FF2B5EF4-FFF2-40B4-BE49-F238E27FC236}">
                <a16:creationId xmlns:a16="http://schemas.microsoft.com/office/drawing/2014/main" id="{D0F32531-08CB-C746-9040-D755DE2576B9}"/>
              </a:ext>
            </a:extLst>
          </p:cNvPr>
          <p:cNvSpPr/>
          <p:nvPr/>
        </p:nvSpPr>
        <p:spPr>
          <a:xfrm>
            <a:off x="3531485" y="1121855"/>
            <a:ext cx="378829" cy="1695568"/>
          </a:xfrm>
          <a:prstGeom prst="leftBrace">
            <a:avLst>
              <a:gd name="adj1" fmla="val 72838"/>
              <a:gd name="adj2" fmla="val 50000"/>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左大括号 11">
            <a:extLst>
              <a:ext uri="{FF2B5EF4-FFF2-40B4-BE49-F238E27FC236}">
                <a16:creationId xmlns:a16="http://schemas.microsoft.com/office/drawing/2014/main" id="{99C84619-785C-780F-9EA8-2FF0A140C110}"/>
              </a:ext>
            </a:extLst>
          </p:cNvPr>
          <p:cNvSpPr/>
          <p:nvPr/>
        </p:nvSpPr>
        <p:spPr>
          <a:xfrm>
            <a:off x="3576511" y="3376599"/>
            <a:ext cx="378829" cy="2459878"/>
          </a:xfrm>
          <a:prstGeom prst="leftBrace">
            <a:avLst>
              <a:gd name="adj1" fmla="val 72838"/>
              <a:gd name="adj2" fmla="val 50000"/>
            </a:avLst>
          </a:prstGeom>
          <a:ln w="1905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CEA73104-F088-79F0-CDC9-E9B4D7403596}"/>
              </a:ext>
            </a:extLst>
          </p:cNvPr>
          <p:cNvSpPr txBox="1"/>
          <p:nvPr/>
        </p:nvSpPr>
        <p:spPr>
          <a:xfrm>
            <a:off x="3955340" y="1134924"/>
            <a:ext cx="7563560" cy="369332"/>
          </a:xfrm>
          <a:prstGeom prst="rect">
            <a:avLst/>
          </a:prstGeom>
          <a:noFill/>
        </p:spPr>
        <p:txBody>
          <a:bodyPr wrap="square">
            <a:spAutoFit/>
          </a:bodyPr>
          <a:lstStyle/>
          <a:p>
            <a:r>
              <a:rPr lang="zh-CN" altLang="en-US" dirty="0"/>
              <a:t>重建缺失模态：数据重建的复杂性通常会导致不稳定性，并可能引入噪声</a:t>
            </a:r>
          </a:p>
        </p:txBody>
      </p:sp>
      <p:sp>
        <p:nvSpPr>
          <p:cNvPr id="15" name="文本框 14">
            <a:extLst>
              <a:ext uri="{FF2B5EF4-FFF2-40B4-BE49-F238E27FC236}">
                <a16:creationId xmlns:a16="http://schemas.microsoft.com/office/drawing/2014/main" id="{B3AFDEF3-B41A-D741-A3C9-9040D6B90003}"/>
              </a:ext>
            </a:extLst>
          </p:cNvPr>
          <p:cNvSpPr txBox="1"/>
          <p:nvPr/>
        </p:nvSpPr>
        <p:spPr>
          <a:xfrm>
            <a:off x="3955340" y="2358702"/>
            <a:ext cx="7451012" cy="369332"/>
          </a:xfrm>
          <a:prstGeom prst="rect">
            <a:avLst/>
          </a:prstGeom>
          <a:noFill/>
        </p:spPr>
        <p:txBody>
          <a:bodyPr wrap="square">
            <a:spAutoFit/>
          </a:bodyPr>
          <a:lstStyle/>
          <a:p>
            <a:r>
              <a:rPr lang="zh-CN" altLang="en-US" dirty="0"/>
              <a:t>重建缺失表征：每个缺失案例训练特定模型往往不灵活且占用存储空间</a:t>
            </a:r>
          </a:p>
        </p:txBody>
      </p:sp>
      <p:sp>
        <p:nvSpPr>
          <p:cNvPr id="18" name="文本框 17">
            <a:extLst>
              <a:ext uri="{FF2B5EF4-FFF2-40B4-BE49-F238E27FC236}">
                <a16:creationId xmlns:a16="http://schemas.microsoft.com/office/drawing/2014/main" id="{281A9AF7-4168-D2A0-0A8E-2A17123DA5FA}"/>
              </a:ext>
            </a:extLst>
          </p:cNvPr>
          <p:cNvSpPr txBox="1"/>
          <p:nvPr/>
        </p:nvSpPr>
        <p:spPr>
          <a:xfrm>
            <a:off x="3955340" y="3419000"/>
            <a:ext cx="6097314" cy="369332"/>
          </a:xfrm>
          <a:prstGeom prst="rect">
            <a:avLst/>
          </a:prstGeom>
          <a:noFill/>
        </p:spPr>
        <p:txBody>
          <a:bodyPr wrap="square">
            <a:spAutoFit/>
          </a:bodyPr>
          <a:lstStyle/>
          <a:p>
            <a:r>
              <a:rPr lang="zh-CN" altLang="en-US" dirty="0"/>
              <a:t>融合网络提取跨模态的冗余信息：忽略了互补信息</a:t>
            </a:r>
          </a:p>
        </p:txBody>
      </p:sp>
      <p:sp>
        <p:nvSpPr>
          <p:cNvPr id="20" name="文本框 19">
            <a:extLst>
              <a:ext uri="{FF2B5EF4-FFF2-40B4-BE49-F238E27FC236}">
                <a16:creationId xmlns:a16="http://schemas.microsoft.com/office/drawing/2014/main" id="{9D3D3153-A0CB-A614-854C-199CA886EE60}"/>
              </a:ext>
            </a:extLst>
          </p:cNvPr>
          <p:cNvSpPr txBox="1"/>
          <p:nvPr/>
        </p:nvSpPr>
        <p:spPr>
          <a:xfrm>
            <a:off x="3910313" y="4214839"/>
            <a:ext cx="8103011" cy="646331"/>
          </a:xfrm>
          <a:prstGeom prst="rect">
            <a:avLst/>
          </a:prstGeom>
          <a:noFill/>
        </p:spPr>
        <p:txBody>
          <a:bodyPr wrap="square">
            <a:spAutoFit/>
          </a:bodyPr>
          <a:lstStyle/>
          <a:p>
            <a:r>
              <a:rPr lang="zh-CN" altLang="en-US" dirty="0"/>
              <a:t>动态融合策略：不确定性</a:t>
            </a:r>
            <a:r>
              <a:rPr lang="en-US" altLang="zh-CN" dirty="0"/>
              <a:t>/</a:t>
            </a:r>
            <a:r>
              <a:rPr lang="zh-CN" altLang="en-US" dirty="0"/>
              <a:t>注意力等为可用模态分配权重，有效地利用</a:t>
            </a:r>
            <a:r>
              <a:rPr lang="zh-CN" altLang="en-US" b="1" dirty="0"/>
              <a:t>可用模态</a:t>
            </a:r>
            <a:r>
              <a:rPr lang="zh-CN" altLang="en-US" dirty="0"/>
              <a:t>的冗余和互补信息</a:t>
            </a:r>
          </a:p>
        </p:txBody>
      </p:sp>
      <p:sp>
        <p:nvSpPr>
          <p:cNvPr id="22" name="文本框 21">
            <a:extLst>
              <a:ext uri="{FF2B5EF4-FFF2-40B4-BE49-F238E27FC236}">
                <a16:creationId xmlns:a16="http://schemas.microsoft.com/office/drawing/2014/main" id="{AED133AE-6252-177F-9CB1-871753D796B4}"/>
              </a:ext>
            </a:extLst>
          </p:cNvPr>
          <p:cNvSpPr txBox="1"/>
          <p:nvPr/>
        </p:nvSpPr>
        <p:spPr>
          <a:xfrm>
            <a:off x="3910313" y="5253784"/>
            <a:ext cx="8166073" cy="646331"/>
          </a:xfrm>
          <a:prstGeom prst="rect">
            <a:avLst/>
          </a:prstGeom>
          <a:noFill/>
        </p:spPr>
        <p:txBody>
          <a:bodyPr wrap="square">
            <a:spAutoFit/>
          </a:bodyPr>
          <a:lstStyle/>
          <a:p>
            <a:r>
              <a:rPr lang="zh-CN" altLang="en-US" dirty="0"/>
              <a:t>蒸馏损失指导统一模型模仿模态完全模型的表示或样本间关系：现有方法强行对齐，这可能会由于固有的</a:t>
            </a:r>
            <a:r>
              <a:rPr lang="zh-CN" altLang="en-US" b="1" dirty="0"/>
              <a:t>信息不对称性</a:t>
            </a:r>
            <a:r>
              <a:rPr lang="zh-CN" altLang="en-US" dirty="0"/>
              <a:t>而导致</a:t>
            </a:r>
            <a:r>
              <a:rPr lang="zh-CN" altLang="en-US" b="1" dirty="0"/>
              <a:t>虚假特征的过拟合</a:t>
            </a:r>
          </a:p>
        </p:txBody>
      </p:sp>
      <p:sp>
        <p:nvSpPr>
          <p:cNvPr id="23" name="文本框 22">
            <a:extLst>
              <a:ext uri="{FF2B5EF4-FFF2-40B4-BE49-F238E27FC236}">
                <a16:creationId xmlns:a16="http://schemas.microsoft.com/office/drawing/2014/main" id="{711E82B3-F312-0298-11FE-588EE3E6B3F0}"/>
              </a:ext>
            </a:extLst>
          </p:cNvPr>
          <p:cNvSpPr txBox="1"/>
          <p:nvPr/>
        </p:nvSpPr>
        <p:spPr>
          <a:xfrm>
            <a:off x="379973" y="864819"/>
            <a:ext cx="2288363" cy="461665"/>
          </a:xfrm>
          <a:prstGeom prst="rect">
            <a:avLst/>
          </a:prstGeom>
          <a:noFill/>
        </p:spPr>
        <p:txBody>
          <a:bodyPr wrap="square" rtlCol="0">
            <a:spAutoFit/>
          </a:bodyPr>
          <a:lstStyle/>
          <a:p>
            <a:r>
              <a:rPr lang="zh-CN" altLang="en-US" sz="2400" dirty="0"/>
              <a:t>（</a:t>
            </a:r>
            <a:r>
              <a:rPr lang="en-US" altLang="zh-CN" sz="2400" dirty="0"/>
              <a:t>1</a:t>
            </a:r>
            <a:r>
              <a:rPr lang="zh-CN" altLang="en-US" sz="2400" dirty="0"/>
              <a:t>）问题</a:t>
            </a:r>
            <a:endParaRPr lang="en-US" altLang="zh-CN" sz="2400" dirty="0"/>
          </a:p>
        </p:txBody>
      </p:sp>
    </p:spTree>
    <p:extLst>
      <p:ext uri="{BB962C8B-B14F-4D97-AF65-F5344CB8AC3E}">
        <p14:creationId xmlns:p14="http://schemas.microsoft.com/office/powerpoint/2010/main" val="1707297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grpSp>
        <p:nvGrpSpPr>
          <p:cNvPr id="54" name="组合 53"/>
          <p:cNvGrpSpPr/>
          <p:nvPr/>
        </p:nvGrpSpPr>
        <p:grpSpPr>
          <a:xfrm>
            <a:off x="203760" y="159728"/>
            <a:ext cx="725344" cy="619478"/>
            <a:chOff x="178632" y="159728"/>
            <a:chExt cx="725344" cy="619478"/>
          </a:xfrm>
        </p:grpSpPr>
        <p:sp>
          <p:nvSpPr>
            <p:cNvPr id="55" name="椭圆 54"/>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56" name="文本框 55"/>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57" name="椭圆 56"/>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sp>
        <p:nvSpPr>
          <p:cNvPr id="17" name="标题占位符 1">
            <a:extLst>
              <a:ext uri="{FF2B5EF4-FFF2-40B4-BE49-F238E27FC236}">
                <a16:creationId xmlns:a16="http://schemas.microsoft.com/office/drawing/2014/main" id="{35CE67DA-8DF0-4A90-BBA9-237E6B31F313}"/>
              </a:ext>
            </a:extLst>
          </p:cNvPr>
          <p:cNvSpPr txBox="1"/>
          <p:nvPr/>
        </p:nvSpPr>
        <p:spPr>
          <a:xfrm>
            <a:off x="1042966" y="149511"/>
            <a:ext cx="5435600"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Introduction</a:t>
            </a:r>
          </a:p>
        </p:txBody>
      </p:sp>
      <p:sp>
        <p:nvSpPr>
          <p:cNvPr id="2" name="文本框 1">
            <a:extLst>
              <a:ext uri="{FF2B5EF4-FFF2-40B4-BE49-F238E27FC236}">
                <a16:creationId xmlns:a16="http://schemas.microsoft.com/office/drawing/2014/main" id="{E7E5F766-96DF-C61F-AB99-DE791F2A8DAB}"/>
              </a:ext>
            </a:extLst>
          </p:cNvPr>
          <p:cNvSpPr txBox="1"/>
          <p:nvPr/>
        </p:nvSpPr>
        <p:spPr>
          <a:xfrm>
            <a:off x="379973" y="883611"/>
            <a:ext cx="2288363" cy="461665"/>
          </a:xfrm>
          <a:prstGeom prst="rect">
            <a:avLst/>
          </a:prstGeom>
          <a:noFill/>
        </p:spPr>
        <p:txBody>
          <a:bodyPr wrap="square" rtlCol="0">
            <a:spAutoFit/>
          </a:bodyPr>
          <a:lstStyle/>
          <a:p>
            <a:r>
              <a:rPr lang="zh-CN" altLang="en-US" sz="2400" dirty="0"/>
              <a:t>（</a:t>
            </a:r>
            <a:r>
              <a:rPr lang="en-US" altLang="zh-CN" sz="2400" dirty="0"/>
              <a:t>2</a:t>
            </a:r>
            <a:r>
              <a:rPr lang="zh-CN" altLang="en-US" sz="2400" dirty="0"/>
              <a:t>）解决方案</a:t>
            </a:r>
            <a:endParaRPr lang="en-US" altLang="zh-CN" sz="2400" dirty="0"/>
          </a:p>
        </p:txBody>
      </p:sp>
      <p:pic>
        <p:nvPicPr>
          <p:cNvPr id="3" name="图片 2">
            <a:extLst>
              <a:ext uri="{FF2B5EF4-FFF2-40B4-BE49-F238E27FC236}">
                <a16:creationId xmlns:a16="http://schemas.microsoft.com/office/drawing/2014/main" id="{29363514-E4B2-325B-064C-DFFCE2451061}"/>
              </a:ext>
            </a:extLst>
          </p:cNvPr>
          <p:cNvPicPr>
            <a:picLocks noChangeAspect="1"/>
          </p:cNvPicPr>
          <p:nvPr/>
        </p:nvPicPr>
        <p:blipFill>
          <a:blip r:embed="rId4"/>
          <a:stretch>
            <a:fillRect/>
          </a:stretch>
        </p:blipFill>
        <p:spPr>
          <a:xfrm>
            <a:off x="1987932" y="1866747"/>
            <a:ext cx="7768512" cy="3139886"/>
          </a:xfrm>
          <a:prstGeom prst="rect">
            <a:avLst/>
          </a:prstGeom>
        </p:spPr>
      </p:pic>
      <p:sp>
        <p:nvSpPr>
          <p:cNvPr id="6" name="文本框 5">
            <a:extLst>
              <a:ext uri="{FF2B5EF4-FFF2-40B4-BE49-F238E27FC236}">
                <a16:creationId xmlns:a16="http://schemas.microsoft.com/office/drawing/2014/main" id="{13D0D02F-990D-5349-6CB0-BEF24BF9FE88}"/>
              </a:ext>
            </a:extLst>
          </p:cNvPr>
          <p:cNvSpPr txBox="1"/>
          <p:nvPr/>
        </p:nvSpPr>
        <p:spPr>
          <a:xfrm>
            <a:off x="9756444" y="2338805"/>
            <a:ext cx="1001110" cy="370484"/>
          </a:xfrm>
          <a:prstGeom prst="rect">
            <a:avLst/>
          </a:prstGeom>
          <a:noFill/>
        </p:spPr>
        <p:txBody>
          <a:bodyPr wrap="square" rtlCol="0">
            <a:spAutoFit/>
          </a:bodyPr>
          <a:lstStyle/>
          <a:p>
            <a:r>
              <a:rPr lang="en-US" altLang="zh-CN" dirty="0"/>
              <a:t>p(zi | xi)</a:t>
            </a:r>
            <a:endParaRPr lang="zh-CN" altLang="en-US" dirty="0"/>
          </a:p>
        </p:txBody>
      </p:sp>
      <p:cxnSp>
        <p:nvCxnSpPr>
          <p:cNvPr id="8" name="直接箭头连接符 7">
            <a:extLst>
              <a:ext uri="{FF2B5EF4-FFF2-40B4-BE49-F238E27FC236}">
                <a16:creationId xmlns:a16="http://schemas.microsoft.com/office/drawing/2014/main" id="{676AB3A4-808C-699A-B0B5-0155DCFF2FB2}"/>
              </a:ext>
            </a:extLst>
          </p:cNvPr>
          <p:cNvCxnSpPr>
            <a:cxnSpLocks/>
          </p:cNvCxnSpPr>
          <p:nvPr/>
        </p:nvCxnSpPr>
        <p:spPr>
          <a:xfrm flipV="1">
            <a:off x="8980727" y="2588683"/>
            <a:ext cx="819071" cy="2693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64D34552-CC87-ADB0-1CD6-94F3309B70DC}"/>
              </a:ext>
            </a:extLst>
          </p:cNvPr>
          <p:cNvSpPr txBox="1"/>
          <p:nvPr/>
        </p:nvSpPr>
        <p:spPr>
          <a:xfrm>
            <a:off x="9724913" y="1731841"/>
            <a:ext cx="877397" cy="369332"/>
          </a:xfrm>
          <a:prstGeom prst="rect">
            <a:avLst/>
          </a:prstGeom>
          <a:noFill/>
        </p:spPr>
        <p:txBody>
          <a:bodyPr wrap="square" rtlCol="0">
            <a:spAutoFit/>
          </a:bodyPr>
          <a:lstStyle/>
          <a:p>
            <a:r>
              <a:rPr lang="en-US" altLang="zh-CN" dirty="0"/>
              <a:t>q(zi | xi)</a:t>
            </a:r>
            <a:endParaRPr lang="zh-CN" altLang="en-US" dirty="0"/>
          </a:p>
        </p:txBody>
      </p:sp>
      <p:cxnSp>
        <p:nvCxnSpPr>
          <p:cNvPr id="12" name="直接箭头连接符 11">
            <a:extLst>
              <a:ext uri="{FF2B5EF4-FFF2-40B4-BE49-F238E27FC236}">
                <a16:creationId xmlns:a16="http://schemas.microsoft.com/office/drawing/2014/main" id="{84E9217B-D238-B20D-F992-1AD6A29BFDE4}"/>
              </a:ext>
            </a:extLst>
          </p:cNvPr>
          <p:cNvCxnSpPr>
            <a:cxnSpLocks/>
          </p:cNvCxnSpPr>
          <p:nvPr/>
        </p:nvCxnSpPr>
        <p:spPr>
          <a:xfrm flipV="1">
            <a:off x="7275786" y="2040870"/>
            <a:ext cx="2449127" cy="66841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66970CD3-9D29-46CA-7887-C840E573531C}"/>
              </a:ext>
            </a:extLst>
          </p:cNvPr>
          <p:cNvCxnSpPr>
            <a:cxnSpLocks/>
          </p:cNvCxnSpPr>
          <p:nvPr/>
        </p:nvCxnSpPr>
        <p:spPr>
          <a:xfrm>
            <a:off x="10256999" y="2069379"/>
            <a:ext cx="0" cy="3358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8331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grpSp>
        <p:nvGrpSpPr>
          <p:cNvPr id="19" name="组合 18">
            <a:extLst>
              <a:ext uri="{FF2B5EF4-FFF2-40B4-BE49-F238E27FC236}">
                <a16:creationId xmlns:a16="http://schemas.microsoft.com/office/drawing/2014/main" id="{D6AF88AF-8690-4EED-BB78-70F6DFC22C2B}"/>
              </a:ext>
            </a:extLst>
          </p:cNvPr>
          <p:cNvGrpSpPr/>
          <p:nvPr/>
        </p:nvGrpSpPr>
        <p:grpSpPr>
          <a:xfrm>
            <a:off x="203760" y="159728"/>
            <a:ext cx="725344" cy="619478"/>
            <a:chOff x="178632" y="159728"/>
            <a:chExt cx="725344" cy="619478"/>
          </a:xfrm>
        </p:grpSpPr>
        <p:sp>
          <p:nvSpPr>
            <p:cNvPr id="20" name="椭圆 19">
              <a:extLst>
                <a:ext uri="{FF2B5EF4-FFF2-40B4-BE49-F238E27FC236}">
                  <a16:creationId xmlns:a16="http://schemas.microsoft.com/office/drawing/2014/main" id="{ED67310B-FB3F-4D06-B8BF-87F4966CB067}"/>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21" name="文本框 20">
              <a:extLst>
                <a:ext uri="{FF2B5EF4-FFF2-40B4-BE49-F238E27FC236}">
                  <a16:creationId xmlns:a16="http://schemas.microsoft.com/office/drawing/2014/main" id="{C3A336AB-85A1-4B21-8070-FAAE12EF8A86}"/>
                </a:ext>
              </a:extLst>
            </p:cNvPr>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22" name="椭圆 21">
              <a:extLst>
                <a:ext uri="{FF2B5EF4-FFF2-40B4-BE49-F238E27FC236}">
                  <a16:creationId xmlns:a16="http://schemas.microsoft.com/office/drawing/2014/main" id="{9CDC6C8E-BB30-4A08-955C-9F0D478ECF66}"/>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23" name="标题占位符 1">
            <a:extLst>
              <a:ext uri="{FF2B5EF4-FFF2-40B4-BE49-F238E27FC236}">
                <a16:creationId xmlns:a16="http://schemas.microsoft.com/office/drawing/2014/main" id="{F1530D8B-A116-40D5-82DB-AFCEB4A34740}"/>
              </a:ext>
            </a:extLst>
          </p:cNvPr>
          <p:cNvSpPr txBox="1"/>
          <p:nvPr/>
        </p:nvSpPr>
        <p:spPr>
          <a:xfrm>
            <a:off x="1042966" y="140479"/>
            <a:ext cx="2193293"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3" name="文本框 2">
            <a:extLst>
              <a:ext uri="{FF2B5EF4-FFF2-40B4-BE49-F238E27FC236}">
                <a16:creationId xmlns:a16="http://schemas.microsoft.com/office/drawing/2014/main" id="{B8FA3DDB-A29B-6CAB-815C-632BD7C6AE7F}"/>
              </a:ext>
            </a:extLst>
          </p:cNvPr>
          <p:cNvSpPr txBox="1"/>
          <p:nvPr/>
        </p:nvSpPr>
        <p:spPr>
          <a:xfrm>
            <a:off x="455955" y="866211"/>
            <a:ext cx="3367314" cy="461665"/>
          </a:xfrm>
          <a:prstGeom prst="rect">
            <a:avLst/>
          </a:prstGeom>
          <a:noFill/>
        </p:spPr>
        <p:txBody>
          <a:bodyPr wrap="square" rtlCol="0">
            <a:spAutoFit/>
          </a:bodyPr>
          <a:lstStyle/>
          <a:p>
            <a:r>
              <a:rPr lang="zh-CN" altLang="en-US" sz="2400" dirty="0"/>
              <a:t>（</a:t>
            </a:r>
            <a:r>
              <a:rPr lang="en-US" altLang="zh-CN" sz="2400" dirty="0"/>
              <a:t>3</a:t>
            </a:r>
            <a:r>
              <a:rPr lang="zh-CN" altLang="en-US" sz="2400" dirty="0"/>
              <a:t>）模型结构</a:t>
            </a:r>
            <a:endParaRPr lang="en-US" altLang="zh-CN" sz="2400" dirty="0"/>
          </a:p>
        </p:txBody>
      </p:sp>
      <p:pic>
        <p:nvPicPr>
          <p:cNvPr id="2" name="图片 1">
            <a:extLst>
              <a:ext uri="{FF2B5EF4-FFF2-40B4-BE49-F238E27FC236}">
                <a16:creationId xmlns:a16="http://schemas.microsoft.com/office/drawing/2014/main" id="{71ACB291-B025-7866-10DC-84C849543DE5}"/>
              </a:ext>
            </a:extLst>
          </p:cNvPr>
          <p:cNvPicPr>
            <a:picLocks noChangeAspect="1"/>
          </p:cNvPicPr>
          <p:nvPr/>
        </p:nvPicPr>
        <p:blipFill>
          <a:blip r:embed="rId4"/>
          <a:stretch>
            <a:fillRect/>
          </a:stretch>
        </p:blipFill>
        <p:spPr>
          <a:xfrm>
            <a:off x="792148" y="1587397"/>
            <a:ext cx="10402752" cy="4258269"/>
          </a:xfrm>
          <a:prstGeom prst="rect">
            <a:avLst/>
          </a:prstGeom>
        </p:spPr>
      </p:pic>
      <p:sp>
        <p:nvSpPr>
          <p:cNvPr id="5" name="文本框 4">
            <a:extLst>
              <a:ext uri="{FF2B5EF4-FFF2-40B4-BE49-F238E27FC236}">
                <a16:creationId xmlns:a16="http://schemas.microsoft.com/office/drawing/2014/main" id="{003E1282-71CE-44AB-2E70-F4E4EBF4FD1E}"/>
              </a:ext>
            </a:extLst>
          </p:cNvPr>
          <p:cNvSpPr txBox="1"/>
          <p:nvPr/>
        </p:nvSpPr>
        <p:spPr>
          <a:xfrm>
            <a:off x="2062872" y="1320711"/>
            <a:ext cx="877397" cy="369332"/>
          </a:xfrm>
          <a:prstGeom prst="rect">
            <a:avLst/>
          </a:prstGeom>
          <a:noFill/>
        </p:spPr>
        <p:txBody>
          <a:bodyPr wrap="square" rtlCol="0">
            <a:spAutoFit/>
          </a:bodyPr>
          <a:lstStyle/>
          <a:p>
            <a:r>
              <a:rPr lang="en-US" altLang="zh-CN" dirty="0"/>
              <a:t>q(z | xi)</a:t>
            </a:r>
            <a:endParaRPr lang="zh-CN" altLang="en-US" dirty="0"/>
          </a:p>
        </p:txBody>
      </p:sp>
      <p:sp>
        <p:nvSpPr>
          <p:cNvPr id="8" name="左大括号 7">
            <a:extLst>
              <a:ext uri="{FF2B5EF4-FFF2-40B4-BE49-F238E27FC236}">
                <a16:creationId xmlns:a16="http://schemas.microsoft.com/office/drawing/2014/main" id="{830A5CBB-2CDE-C5BC-F90A-2CB8D6E7F79E}"/>
              </a:ext>
            </a:extLst>
          </p:cNvPr>
          <p:cNvSpPr/>
          <p:nvPr/>
        </p:nvSpPr>
        <p:spPr>
          <a:xfrm>
            <a:off x="4045889" y="900153"/>
            <a:ext cx="165104" cy="65142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chemeClr val="tx1"/>
                </a:solidFill>
              </a:ln>
            </a:endParaRPr>
          </a:p>
        </p:txBody>
      </p:sp>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6D58174F-A553-39F2-9A95-D04FD36BC779}"/>
                  </a:ext>
                </a:extLst>
              </p:cNvPr>
              <p:cNvSpPr txBox="1"/>
              <p:nvPr/>
            </p:nvSpPr>
            <p:spPr>
              <a:xfrm>
                <a:off x="4796064" y="805682"/>
                <a:ext cx="281680" cy="29841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zh-CN" altLang="en-US" smtClean="0">
                              <a:solidFill>
                                <a:srgbClr val="836967"/>
                              </a:solidFill>
                              <a:latin typeface="Cambria Math" panose="02040503050406030204" pitchFamily="18" charset="0"/>
                            </a:rPr>
                          </m:ctrlPr>
                        </m:sSubSupPr>
                        <m:e>
                          <m:r>
                            <a:rPr lang="zh-CN" altLang="en-US" i="1">
                              <a:latin typeface="Cambria Math" panose="02040503050406030204" pitchFamily="18" charset="0"/>
                            </a:rPr>
                            <m:t>𝑧</m:t>
                          </m:r>
                        </m:e>
                        <m:sub>
                          <m:r>
                            <a:rPr lang="zh-CN" altLang="en-US" i="1">
                              <a:latin typeface="Cambria Math" panose="02040503050406030204" pitchFamily="18" charset="0"/>
                            </a:rPr>
                            <m:t>𝑝</m:t>
                          </m:r>
                        </m:sub>
                        <m:sup>
                          <m:r>
                            <a:rPr lang="zh-CN" altLang="en-US" i="0">
                              <a:latin typeface="Cambria Math" panose="02040503050406030204" pitchFamily="18" charset="0"/>
                            </a:rPr>
                            <m:t>∗</m:t>
                          </m:r>
                        </m:sup>
                      </m:sSubSup>
                    </m:oMath>
                  </m:oMathPara>
                </a14:m>
                <a:endParaRPr lang="zh-CN" altLang="en-US" dirty="0"/>
              </a:p>
            </p:txBody>
          </p:sp>
        </mc:Choice>
        <mc:Fallback>
          <p:sp>
            <p:nvSpPr>
              <p:cNvPr id="9" name="文本框 8">
                <a:extLst>
                  <a:ext uri="{FF2B5EF4-FFF2-40B4-BE49-F238E27FC236}">
                    <a16:creationId xmlns:a16="http://schemas.microsoft.com/office/drawing/2014/main" id="{6D58174F-A553-39F2-9A95-D04FD36BC779}"/>
                  </a:ext>
                </a:extLst>
              </p:cNvPr>
              <p:cNvSpPr txBox="1">
                <a:spLocks noRot="1" noChangeAspect="1" noMove="1" noResize="1" noEditPoints="1" noAdjustHandles="1" noChangeArrowheads="1" noChangeShapeType="1" noTextEdit="1"/>
              </p:cNvSpPr>
              <p:nvPr/>
            </p:nvSpPr>
            <p:spPr>
              <a:xfrm>
                <a:off x="4796064" y="805682"/>
                <a:ext cx="281680" cy="298415"/>
              </a:xfrm>
              <a:prstGeom prst="rect">
                <a:avLst/>
              </a:prstGeom>
              <a:blipFill>
                <a:blip r:embed="rId5"/>
                <a:stretch>
                  <a:fillRect l="-10870" r="-8696" b="-204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9FBDB43B-87F6-F47E-0DD7-9E95F27554F7}"/>
                  </a:ext>
                </a:extLst>
              </p:cNvPr>
              <p:cNvSpPr txBox="1"/>
              <p:nvPr/>
            </p:nvSpPr>
            <p:spPr>
              <a:xfrm>
                <a:off x="4815577" y="1326191"/>
                <a:ext cx="285719"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zh-CN" altLang="en-US" smtClean="0">
                              <a:solidFill>
                                <a:srgbClr val="836967"/>
                              </a:solidFill>
                              <a:latin typeface="Cambria Math" panose="02040503050406030204" pitchFamily="18" charset="0"/>
                            </a:rPr>
                          </m:ctrlPr>
                        </m:sSubSupPr>
                        <m:e>
                          <m:r>
                            <a:rPr lang="zh-CN" altLang="en-US" i="1">
                              <a:latin typeface="Cambria Math" panose="02040503050406030204" pitchFamily="18" charset="0"/>
                            </a:rPr>
                            <m:t>𝑧</m:t>
                          </m:r>
                        </m:e>
                        <m:sub>
                          <m:r>
                            <a:rPr lang="en-US" altLang="zh-CN" b="0" i="1" smtClean="0">
                              <a:latin typeface="Cambria Math" panose="02040503050406030204" pitchFamily="18" charset="0"/>
                            </a:rPr>
                            <m:t>𝑛</m:t>
                          </m:r>
                        </m:sub>
                        <m:sup>
                          <m:r>
                            <a:rPr lang="zh-CN" altLang="en-US" i="0">
                              <a:latin typeface="Cambria Math" panose="02040503050406030204" pitchFamily="18" charset="0"/>
                            </a:rPr>
                            <m:t>∗</m:t>
                          </m:r>
                        </m:sup>
                      </m:sSubSup>
                    </m:oMath>
                  </m:oMathPara>
                </a14:m>
                <a:endParaRPr lang="zh-CN" altLang="en-US" dirty="0"/>
              </a:p>
            </p:txBody>
          </p:sp>
        </mc:Choice>
        <mc:Fallback>
          <p:sp>
            <p:nvSpPr>
              <p:cNvPr id="11" name="文本框 10">
                <a:extLst>
                  <a:ext uri="{FF2B5EF4-FFF2-40B4-BE49-F238E27FC236}">
                    <a16:creationId xmlns:a16="http://schemas.microsoft.com/office/drawing/2014/main" id="{9FBDB43B-87F6-F47E-0DD7-9E95F27554F7}"/>
                  </a:ext>
                </a:extLst>
              </p:cNvPr>
              <p:cNvSpPr txBox="1">
                <a:spLocks noRot="1" noChangeAspect="1" noMove="1" noResize="1" noEditPoints="1" noAdjustHandles="1" noChangeArrowheads="1" noChangeShapeType="1" noTextEdit="1"/>
              </p:cNvSpPr>
              <p:nvPr/>
            </p:nvSpPr>
            <p:spPr>
              <a:xfrm>
                <a:off x="4815577" y="1326191"/>
                <a:ext cx="285719" cy="276999"/>
              </a:xfrm>
              <a:prstGeom prst="rect">
                <a:avLst/>
              </a:prstGeom>
              <a:blipFill>
                <a:blip r:embed="rId6"/>
                <a:stretch>
                  <a:fillRect l="-10638" b="-133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A3EDCCB4-1022-F3B3-5FDB-627474FC03F9}"/>
                  </a:ext>
                </a:extLst>
              </p:cNvPr>
              <p:cNvSpPr txBox="1"/>
              <p:nvPr/>
            </p:nvSpPr>
            <p:spPr>
              <a:xfrm>
                <a:off x="3251690" y="1073324"/>
                <a:ext cx="272510" cy="27783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zh-CN" altLang="en-US" smtClean="0">
                              <a:solidFill>
                                <a:srgbClr val="836967"/>
                              </a:solidFill>
                              <a:latin typeface="Cambria Math" panose="02040503050406030204" pitchFamily="18" charset="0"/>
                            </a:rPr>
                          </m:ctrlPr>
                        </m:sSubSupPr>
                        <m:e>
                          <m:r>
                            <a:rPr lang="zh-CN" altLang="en-US" i="1">
                              <a:latin typeface="Cambria Math" panose="02040503050406030204" pitchFamily="18" charset="0"/>
                            </a:rPr>
                            <m:t>𝑧</m:t>
                          </m:r>
                        </m:e>
                        <m:sub>
                          <m:acc>
                            <m:accPr>
                              <m:chr m:val="̇"/>
                              <m:ctrlPr>
                                <a:rPr lang="zh-CN" altLang="en-US" i="1">
                                  <a:solidFill>
                                    <a:srgbClr val="836967"/>
                                  </a:solidFill>
                                  <a:latin typeface="Cambria Math" panose="02040503050406030204" pitchFamily="18" charset="0"/>
                                </a:rPr>
                              </m:ctrlPr>
                            </m:accPr>
                            <m:e>
                              <m:r>
                                <a:rPr lang="zh-CN" altLang="en-US" i="1">
                                  <a:latin typeface="Cambria Math" panose="02040503050406030204" pitchFamily="18" charset="0"/>
                                </a:rPr>
                                <m:t>𝑖</m:t>
                              </m:r>
                            </m:e>
                          </m:acc>
                        </m:sub>
                        <m:sup>
                          <m:r>
                            <a:rPr lang="zh-CN" altLang="en-US" i="0">
                              <a:latin typeface="Cambria Math" panose="02040503050406030204" pitchFamily="18" charset="0"/>
                            </a:rPr>
                            <m:t>∗</m:t>
                          </m:r>
                        </m:sup>
                      </m:sSubSup>
                    </m:oMath>
                  </m:oMathPara>
                </a14:m>
                <a:endParaRPr lang="zh-CN" altLang="en-US" dirty="0"/>
              </a:p>
            </p:txBody>
          </p:sp>
        </mc:Choice>
        <mc:Fallback>
          <p:sp>
            <p:nvSpPr>
              <p:cNvPr id="12" name="文本框 11">
                <a:extLst>
                  <a:ext uri="{FF2B5EF4-FFF2-40B4-BE49-F238E27FC236}">
                    <a16:creationId xmlns:a16="http://schemas.microsoft.com/office/drawing/2014/main" id="{A3EDCCB4-1022-F3B3-5FDB-627474FC03F9}"/>
                  </a:ext>
                </a:extLst>
              </p:cNvPr>
              <p:cNvSpPr txBox="1">
                <a:spLocks noRot="1" noChangeAspect="1" noMove="1" noResize="1" noEditPoints="1" noAdjustHandles="1" noChangeArrowheads="1" noChangeShapeType="1" noTextEdit="1"/>
              </p:cNvSpPr>
              <p:nvPr/>
            </p:nvSpPr>
            <p:spPr>
              <a:xfrm>
                <a:off x="3251690" y="1073324"/>
                <a:ext cx="272510" cy="277833"/>
              </a:xfrm>
              <a:prstGeom prst="rect">
                <a:avLst/>
              </a:prstGeom>
              <a:blipFill>
                <a:blip r:embed="rId7"/>
                <a:stretch>
                  <a:fillRect l="-11111" r="-20000" b="-173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18C6BC0D-B8D6-1542-EF1D-78B853818702}"/>
                  </a:ext>
                </a:extLst>
              </p:cNvPr>
              <p:cNvSpPr txBox="1"/>
              <p:nvPr/>
            </p:nvSpPr>
            <p:spPr>
              <a:xfrm>
                <a:off x="3733517" y="1072275"/>
                <a:ext cx="279757"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zh-CN" altLang="en-US" smtClean="0">
                              <a:solidFill>
                                <a:srgbClr val="836967"/>
                              </a:solidFill>
                              <a:latin typeface="Cambria Math" panose="02040503050406030204" pitchFamily="18" charset="0"/>
                            </a:rPr>
                          </m:ctrlPr>
                        </m:sSupPr>
                        <m:e>
                          <m:r>
                            <m:rPr>
                              <m:sty m:val="p"/>
                            </m:rPr>
                            <a:rPr lang="en-US" altLang="zh-CN" b="0" i="0" smtClean="0">
                              <a:solidFill>
                                <a:srgbClr val="836967"/>
                              </a:solidFill>
                              <a:latin typeface="Cambria Math" panose="02040503050406030204" pitchFamily="18" charset="0"/>
                            </a:rPr>
                            <m:t>Z</m:t>
                          </m:r>
                        </m:e>
                        <m:sup>
                          <m:r>
                            <a:rPr lang="zh-CN" altLang="en-US" i="0">
                              <a:latin typeface="Cambria Math" panose="02040503050406030204" pitchFamily="18" charset="0"/>
                            </a:rPr>
                            <m:t>∗</m:t>
                          </m:r>
                        </m:sup>
                      </m:sSup>
                    </m:oMath>
                  </m:oMathPara>
                </a14:m>
                <a:endParaRPr lang="zh-CN" altLang="en-US" dirty="0"/>
              </a:p>
            </p:txBody>
          </p:sp>
        </mc:Choice>
        <mc:Fallback>
          <p:sp>
            <p:nvSpPr>
              <p:cNvPr id="13" name="文本框 12">
                <a:extLst>
                  <a:ext uri="{FF2B5EF4-FFF2-40B4-BE49-F238E27FC236}">
                    <a16:creationId xmlns:a16="http://schemas.microsoft.com/office/drawing/2014/main" id="{18C6BC0D-B8D6-1542-EF1D-78B853818702}"/>
                  </a:ext>
                </a:extLst>
              </p:cNvPr>
              <p:cNvSpPr txBox="1">
                <a:spLocks noRot="1" noChangeAspect="1" noMove="1" noResize="1" noEditPoints="1" noAdjustHandles="1" noChangeArrowheads="1" noChangeShapeType="1" noTextEdit="1"/>
              </p:cNvSpPr>
              <p:nvPr/>
            </p:nvSpPr>
            <p:spPr>
              <a:xfrm>
                <a:off x="3733517" y="1072275"/>
                <a:ext cx="279757" cy="276999"/>
              </a:xfrm>
              <a:prstGeom prst="rect">
                <a:avLst/>
              </a:prstGeom>
              <a:blipFill>
                <a:blip r:embed="rId8"/>
                <a:stretch>
                  <a:fillRect l="-17391" r="-2174" b="-88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2137D24B-932C-0BB0-F2D3-F36B088E8E61}"/>
                  </a:ext>
                </a:extLst>
              </p:cNvPr>
              <p:cNvSpPr txBox="1"/>
              <p:nvPr/>
            </p:nvSpPr>
            <p:spPr>
              <a:xfrm>
                <a:off x="4316665" y="805681"/>
                <a:ext cx="304635" cy="29841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zh-CN" altLang="en-US" smtClean="0">
                              <a:solidFill>
                                <a:srgbClr val="836967"/>
                              </a:solidFill>
                              <a:latin typeface="Cambria Math" panose="02040503050406030204" pitchFamily="18" charset="0"/>
                            </a:rPr>
                          </m:ctrlPr>
                        </m:sSubPr>
                        <m:e>
                          <m:r>
                            <a:rPr lang="en-US" altLang="zh-CN" b="0" i="1" smtClean="0">
                              <a:solidFill>
                                <a:srgbClr val="836967"/>
                              </a:solidFill>
                              <a:latin typeface="Cambria Math" panose="02040503050406030204" pitchFamily="18" charset="0"/>
                            </a:rPr>
                            <m:t>𝑍</m:t>
                          </m:r>
                        </m:e>
                        <m:sub>
                          <m:r>
                            <a:rPr lang="zh-CN" altLang="en-US" i="1">
                              <a:latin typeface="Cambria Math" panose="02040503050406030204" pitchFamily="18" charset="0"/>
                            </a:rPr>
                            <m:t>𝑝</m:t>
                          </m:r>
                        </m:sub>
                      </m:sSub>
                    </m:oMath>
                  </m:oMathPara>
                </a14:m>
                <a:endParaRPr lang="zh-CN" altLang="en-US" dirty="0"/>
              </a:p>
            </p:txBody>
          </p:sp>
        </mc:Choice>
        <mc:Fallback>
          <p:sp>
            <p:nvSpPr>
              <p:cNvPr id="15" name="文本框 14">
                <a:extLst>
                  <a:ext uri="{FF2B5EF4-FFF2-40B4-BE49-F238E27FC236}">
                    <a16:creationId xmlns:a16="http://schemas.microsoft.com/office/drawing/2014/main" id="{2137D24B-932C-0BB0-F2D3-F36B088E8E61}"/>
                  </a:ext>
                </a:extLst>
              </p:cNvPr>
              <p:cNvSpPr txBox="1">
                <a:spLocks noRot="1" noChangeAspect="1" noMove="1" noResize="1" noEditPoints="1" noAdjustHandles="1" noChangeArrowheads="1" noChangeShapeType="1" noTextEdit="1"/>
              </p:cNvSpPr>
              <p:nvPr/>
            </p:nvSpPr>
            <p:spPr>
              <a:xfrm>
                <a:off x="4316665" y="805681"/>
                <a:ext cx="304635" cy="298415"/>
              </a:xfrm>
              <a:prstGeom prst="rect">
                <a:avLst/>
              </a:prstGeom>
              <a:blipFill>
                <a:blip r:embed="rId9"/>
                <a:stretch>
                  <a:fillRect l="-16000" r="-8000" b="-204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58FBF4F1-2738-EE78-0405-832EB59AF921}"/>
                  </a:ext>
                </a:extLst>
              </p:cNvPr>
              <p:cNvSpPr txBox="1"/>
              <p:nvPr/>
            </p:nvSpPr>
            <p:spPr>
              <a:xfrm>
                <a:off x="4325626" y="1311114"/>
                <a:ext cx="30258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zh-CN" altLang="en-US" smtClean="0">
                              <a:solidFill>
                                <a:srgbClr val="836967"/>
                              </a:solidFill>
                              <a:latin typeface="Cambria Math" panose="02040503050406030204" pitchFamily="18" charset="0"/>
                            </a:rPr>
                          </m:ctrlPr>
                        </m:sSubPr>
                        <m:e>
                          <m:r>
                            <a:rPr lang="en-US" altLang="zh-CN" b="0" i="1" smtClean="0">
                              <a:solidFill>
                                <a:srgbClr val="836967"/>
                              </a:solidFill>
                              <a:latin typeface="Cambria Math" panose="02040503050406030204" pitchFamily="18" charset="0"/>
                            </a:rPr>
                            <m:t>𝑍</m:t>
                          </m:r>
                        </m:e>
                        <m:sub>
                          <m:r>
                            <m:rPr>
                              <m:sty m:val="p"/>
                            </m:rPr>
                            <a:rPr lang="en-US" altLang="zh-CN" i="1" smtClean="0">
                              <a:latin typeface="Cambria Math" panose="02040503050406030204" pitchFamily="18" charset="0"/>
                            </a:rPr>
                            <m:t>n</m:t>
                          </m:r>
                        </m:sub>
                      </m:sSub>
                    </m:oMath>
                  </m:oMathPara>
                </a14:m>
                <a:endParaRPr lang="zh-CN" altLang="en-US" dirty="0"/>
              </a:p>
            </p:txBody>
          </p:sp>
        </mc:Choice>
        <mc:Fallback>
          <p:sp>
            <p:nvSpPr>
              <p:cNvPr id="16" name="文本框 15">
                <a:extLst>
                  <a:ext uri="{FF2B5EF4-FFF2-40B4-BE49-F238E27FC236}">
                    <a16:creationId xmlns:a16="http://schemas.microsoft.com/office/drawing/2014/main" id="{58FBF4F1-2738-EE78-0405-832EB59AF921}"/>
                  </a:ext>
                </a:extLst>
              </p:cNvPr>
              <p:cNvSpPr txBox="1">
                <a:spLocks noRot="1" noChangeAspect="1" noMove="1" noResize="1" noEditPoints="1" noAdjustHandles="1" noChangeArrowheads="1" noChangeShapeType="1" noTextEdit="1"/>
              </p:cNvSpPr>
              <p:nvPr/>
            </p:nvSpPr>
            <p:spPr>
              <a:xfrm>
                <a:off x="4325626" y="1311114"/>
                <a:ext cx="302582" cy="276999"/>
              </a:xfrm>
              <a:prstGeom prst="rect">
                <a:avLst/>
              </a:prstGeom>
              <a:blipFill>
                <a:blip r:embed="rId10"/>
                <a:stretch>
                  <a:fillRect l="-18367" r="-4082" b="-13043"/>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C403D468-83D3-A9AD-A91B-2EFBC31FF27E}"/>
              </a:ext>
            </a:extLst>
          </p:cNvPr>
          <p:cNvPicPr>
            <a:picLocks noChangeAspect="1"/>
          </p:cNvPicPr>
          <p:nvPr/>
        </p:nvPicPr>
        <p:blipFill>
          <a:blip r:embed="rId11"/>
          <a:stretch>
            <a:fillRect/>
          </a:stretch>
        </p:blipFill>
        <p:spPr>
          <a:xfrm>
            <a:off x="5235802" y="1046902"/>
            <a:ext cx="3457318" cy="421434"/>
          </a:xfrm>
          <a:prstGeom prst="rect">
            <a:avLst/>
          </a:prstGeom>
        </p:spPr>
      </p:pic>
      <p:pic>
        <p:nvPicPr>
          <p:cNvPr id="18" name="图片 17">
            <a:extLst>
              <a:ext uri="{FF2B5EF4-FFF2-40B4-BE49-F238E27FC236}">
                <a16:creationId xmlns:a16="http://schemas.microsoft.com/office/drawing/2014/main" id="{AB990893-215E-A3C5-5AD5-C0F5460B6616}"/>
              </a:ext>
            </a:extLst>
          </p:cNvPr>
          <p:cNvPicPr>
            <a:picLocks noChangeAspect="1"/>
          </p:cNvPicPr>
          <p:nvPr/>
        </p:nvPicPr>
        <p:blipFill>
          <a:blip r:embed="rId12"/>
          <a:stretch>
            <a:fillRect/>
          </a:stretch>
        </p:blipFill>
        <p:spPr>
          <a:xfrm>
            <a:off x="8693120" y="996064"/>
            <a:ext cx="3139738" cy="421281"/>
          </a:xfrm>
          <a:prstGeom prst="rect">
            <a:avLst/>
          </a:prstGeom>
        </p:spPr>
      </p:pic>
    </p:spTree>
    <p:extLst>
      <p:ext uri="{BB962C8B-B14F-4D97-AF65-F5344CB8AC3E}">
        <p14:creationId xmlns:p14="http://schemas.microsoft.com/office/powerpoint/2010/main" val="4068344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grpSp>
        <p:nvGrpSpPr>
          <p:cNvPr id="19" name="组合 18">
            <a:extLst>
              <a:ext uri="{FF2B5EF4-FFF2-40B4-BE49-F238E27FC236}">
                <a16:creationId xmlns:a16="http://schemas.microsoft.com/office/drawing/2014/main" id="{D6AF88AF-8690-4EED-BB78-70F6DFC22C2B}"/>
              </a:ext>
            </a:extLst>
          </p:cNvPr>
          <p:cNvGrpSpPr/>
          <p:nvPr/>
        </p:nvGrpSpPr>
        <p:grpSpPr>
          <a:xfrm>
            <a:off x="203760" y="159728"/>
            <a:ext cx="725344" cy="619478"/>
            <a:chOff x="178632" y="159728"/>
            <a:chExt cx="725344" cy="619478"/>
          </a:xfrm>
        </p:grpSpPr>
        <p:sp>
          <p:nvSpPr>
            <p:cNvPr id="20" name="椭圆 19">
              <a:extLst>
                <a:ext uri="{FF2B5EF4-FFF2-40B4-BE49-F238E27FC236}">
                  <a16:creationId xmlns:a16="http://schemas.microsoft.com/office/drawing/2014/main" id="{ED67310B-FB3F-4D06-B8BF-87F4966CB067}"/>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21" name="文本框 20">
              <a:extLst>
                <a:ext uri="{FF2B5EF4-FFF2-40B4-BE49-F238E27FC236}">
                  <a16:creationId xmlns:a16="http://schemas.microsoft.com/office/drawing/2014/main" id="{C3A336AB-85A1-4B21-8070-FAAE12EF8A86}"/>
                </a:ext>
              </a:extLst>
            </p:cNvPr>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22" name="椭圆 21">
              <a:extLst>
                <a:ext uri="{FF2B5EF4-FFF2-40B4-BE49-F238E27FC236}">
                  <a16:creationId xmlns:a16="http://schemas.microsoft.com/office/drawing/2014/main" id="{9CDC6C8E-BB30-4A08-955C-9F0D478ECF66}"/>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23" name="标题占位符 1">
            <a:extLst>
              <a:ext uri="{FF2B5EF4-FFF2-40B4-BE49-F238E27FC236}">
                <a16:creationId xmlns:a16="http://schemas.microsoft.com/office/drawing/2014/main" id="{F1530D8B-A116-40D5-82DB-AFCEB4A34740}"/>
              </a:ext>
            </a:extLst>
          </p:cNvPr>
          <p:cNvSpPr txBox="1"/>
          <p:nvPr/>
        </p:nvSpPr>
        <p:spPr>
          <a:xfrm>
            <a:off x="1042966" y="140479"/>
            <a:ext cx="2193293"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3" name="文本框 2">
            <a:extLst>
              <a:ext uri="{FF2B5EF4-FFF2-40B4-BE49-F238E27FC236}">
                <a16:creationId xmlns:a16="http://schemas.microsoft.com/office/drawing/2014/main" id="{B8FA3DDB-A29B-6CAB-815C-632BD7C6AE7F}"/>
              </a:ext>
            </a:extLst>
          </p:cNvPr>
          <p:cNvSpPr txBox="1"/>
          <p:nvPr/>
        </p:nvSpPr>
        <p:spPr>
          <a:xfrm>
            <a:off x="455955" y="866211"/>
            <a:ext cx="3367314" cy="461665"/>
          </a:xfrm>
          <a:prstGeom prst="rect">
            <a:avLst/>
          </a:prstGeom>
          <a:noFill/>
        </p:spPr>
        <p:txBody>
          <a:bodyPr wrap="square" rtlCol="0">
            <a:spAutoFit/>
          </a:bodyPr>
          <a:lstStyle/>
          <a:p>
            <a:r>
              <a:rPr lang="zh-CN" altLang="en-US" sz="2400" dirty="0"/>
              <a:t>（</a:t>
            </a:r>
            <a:r>
              <a:rPr lang="en-US" altLang="zh-CN" sz="2400" dirty="0"/>
              <a:t>3</a:t>
            </a:r>
            <a:r>
              <a:rPr lang="zh-CN" altLang="en-US" sz="2400" dirty="0"/>
              <a:t>）算法流程</a:t>
            </a:r>
            <a:endParaRPr lang="en-US" altLang="zh-CN" sz="2400" dirty="0"/>
          </a:p>
        </p:txBody>
      </p:sp>
      <p:pic>
        <p:nvPicPr>
          <p:cNvPr id="4" name="图片 3">
            <a:extLst>
              <a:ext uri="{FF2B5EF4-FFF2-40B4-BE49-F238E27FC236}">
                <a16:creationId xmlns:a16="http://schemas.microsoft.com/office/drawing/2014/main" id="{97033CD9-1BB8-ABEB-9DC7-CBC00430521C}"/>
              </a:ext>
            </a:extLst>
          </p:cNvPr>
          <p:cNvPicPr>
            <a:picLocks noChangeAspect="1"/>
          </p:cNvPicPr>
          <p:nvPr/>
        </p:nvPicPr>
        <p:blipFill>
          <a:blip r:embed="rId4"/>
          <a:stretch>
            <a:fillRect/>
          </a:stretch>
        </p:blipFill>
        <p:spPr>
          <a:xfrm>
            <a:off x="1498079" y="1373056"/>
            <a:ext cx="8882200" cy="4916347"/>
          </a:xfrm>
          <a:prstGeom prst="rect">
            <a:avLst/>
          </a:prstGeom>
        </p:spPr>
      </p:pic>
      <p:cxnSp>
        <p:nvCxnSpPr>
          <p:cNvPr id="6" name="直接连接符 5">
            <a:extLst>
              <a:ext uri="{FF2B5EF4-FFF2-40B4-BE49-F238E27FC236}">
                <a16:creationId xmlns:a16="http://schemas.microsoft.com/office/drawing/2014/main" id="{857683B7-B32C-125C-3992-6B06C7A432C7}"/>
              </a:ext>
            </a:extLst>
          </p:cNvPr>
          <p:cNvCxnSpPr/>
          <p:nvPr/>
        </p:nvCxnSpPr>
        <p:spPr>
          <a:xfrm>
            <a:off x="1805152" y="2577662"/>
            <a:ext cx="201811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BC8FE9DE-60CC-6EF6-3C61-3EA668C80212}"/>
              </a:ext>
            </a:extLst>
          </p:cNvPr>
          <p:cNvCxnSpPr/>
          <p:nvPr/>
        </p:nvCxnSpPr>
        <p:spPr>
          <a:xfrm>
            <a:off x="1736835" y="4030717"/>
            <a:ext cx="201811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3125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37D6A-95C4-B7D5-8D63-4E9851E0C993}"/>
            </a:ext>
          </a:extLst>
        </p:cNvPr>
        <p:cNvGrpSpPr/>
        <p:nvPr/>
      </p:nvGrpSpPr>
      <p:grpSpPr>
        <a:xfrm>
          <a:off x="0" y="0"/>
          <a:ext cx="0" cy="0"/>
          <a:chOff x="0" y="0"/>
          <a:chExt cx="0" cy="0"/>
        </a:xfrm>
      </p:grpSpPr>
      <p:cxnSp>
        <p:nvCxnSpPr>
          <p:cNvPr id="51" name="直接连接符 50">
            <a:extLst>
              <a:ext uri="{FF2B5EF4-FFF2-40B4-BE49-F238E27FC236}">
                <a16:creationId xmlns:a16="http://schemas.microsoft.com/office/drawing/2014/main" id="{926B4FAB-A50F-4B49-771D-AE62B7CFDA03}"/>
              </a:ext>
            </a:extLst>
          </p:cNvPr>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a:extLst>
              <a:ext uri="{FF2B5EF4-FFF2-40B4-BE49-F238E27FC236}">
                <a16:creationId xmlns:a16="http://schemas.microsoft.com/office/drawing/2014/main" id="{124EB494-7E45-15E6-5696-D2C4E7C9AF91}"/>
              </a:ext>
            </a:extLst>
          </p:cNvPr>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59" name="文本框 58">
            <a:extLst>
              <a:ext uri="{FF2B5EF4-FFF2-40B4-BE49-F238E27FC236}">
                <a16:creationId xmlns:a16="http://schemas.microsoft.com/office/drawing/2014/main" id="{C5915541-B997-021A-3DD2-9F0160A6F7BB}"/>
              </a:ext>
            </a:extLst>
          </p:cNvPr>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a:extLst>
              <a:ext uri="{FF2B5EF4-FFF2-40B4-BE49-F238E27FC236}">
                <a16:creationId xmlns:a16="http://schemas.microsoft.com/office/drawing/2014/main" id="{4F96944D-A4AD-58AC-D839-59F69CC104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a:extLst>
              <a:ext uri="{FF2B5EF4-FFF2-40B4-BE49-F238E27FC236}">
                <a16:creationId xmlns:a16="http://schemas.microsoft.com/office/drawing/2014/main" id="{6B335AB6-9D6B-698D-DC51-A1FCF247C8CD}"/>
              </a:ext>
            </a:extLst>
          </p:cNvPr>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a:extLst>
              <a:ext uri="{FF2B5EF4-FFF2-40B4-BE49-F238E27FC236}">
                <a16:creationId xmlns:a16="http://schemas.microsoft.com/office/drawing/2014/main" id="{85BAB122-6BFA-A652-D370-824709B0C486}"/>
              </a:ext>
            </a:extLst>
          </p:cNvPr>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a:extLst>
              <a:ext uri="{FF2B5EF4-FFF2-40B4-BE49-F238E27FC236}">
                <a16:creationId xmlns:a16="http://schemas.microsoft.com/office/drawing/2014/main" id="{1724149E-2B82-F6F5-4D3F-EBB183EA840B}"/>
              </a:ext>
            </a:extLst>
          </p:cNvPr>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grpSp>
        <p:nvGrpSpPr>
          <p:cNvPr id="19" name="组合 18">
            <a:extLst>
              <a:ext uri="{FF2B5EF4-FFF2-40B4-BE49-F238E27FC236}">
                <a16:creationId xmlns:a16="http://schemas.microsoft.com/office/drawing/2014/main" id="{E21802EF-9C34-7FAD-DD06-DE66B8C0533E}"/>
              </a:ext>
            </a:extLst>
          </p:cNvPr>
          <p:cNvGrpSpPr/>
          <p:nvPr/>
        </p:nvGrpSpPr>
        <p:grpSpPr>
          <a:xfrm>
            <a:off x="203760" y="159728"/>
            <a:ext cx="725344" cy="619478"/>
            <a:chOff x="178632" y="159728"/>
            <a:chExt cx="725344" cy="619478"/>
          </a:xfrm>
        </p:grpSpPr>
        <p:sp>
          <p:nvSpPr>
            <p:cNvPr id="20" name="椭圆 19">
              <a:extLst>
                <a:ext uri="{FF2B5EF4-FFF2-40B4-BE49-F238E27FC236}">
                  <a16:creationId xmlns:a16="http://schemas.microsoft.com/office/drawing/2014/main" id="{26A9D7C1-228F-756F-98F2-47ADFCF38BD3}"/>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21" name="文本框 20">
              <a:extLst>
                <a:ext uri="{FF2B5EF4-FFF2-40B4-BE49-F238E27FC236}">
                  <a16:creationId xmlns:a16="http://schemas.microsoft.com/office/drawing/2014/main" id="{434E34FB-4845-1DF6-CA2D-B4E80D7E1049}"/>
                </a:ext>
              </a:extLst>
            </p:cNvPr>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22" name="椭圆 21">
              <a:extLst>
                <a:ext uri="{FF2B5EF4-FFF2-40B4-BE49-F238E27FC236}">
                  <a16:creationId xmlns:a16="http://schemas.microsoft.com/office/drawing/2014/main" id="{BF5604D5-1BCA-8A7F-3177-6083C3652BC6}"/>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23" name="标题占位符 1">
            <a:extLst>
              <a:ext uri="{FF2B5EF4-FFF2-40B4-BE49-F238E27FC236}">
                <a16:creationId xmlns:a16="http://schemas.microsoft.com/office/drawing/2014/main" id="{04B34E89-55AB-8D58-28D1-DC8566811687}"/>
              </a:ext>
            </a:extLst>
          </p:cNvPr>
          <p:cNvSpPr txBox="1"/>
          <p:nvPr/>
        </p:nvSpPr>
        <p:spPr>
          <a:xfrm>
            <a:off x="1042966" y="140479"/>
            <a:ext cx="2193293"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3" name="文本框 2">
            <a:extLst>
              <a:ext uri="{FF2B5EF4-FFF2-40B4-BE49-F238E27FC236}">
                <a16:creationId xmlns:a16="http://schemas.microsoft.com/office/drawing/2014/main" id="{0539DEB5-2A79-5FFF-CF52-DF53AFD0A161}"/>
              </a:ext>
            </a:extLst>
          </p:cNvPr>
          <p:cNvSpPr txBox="1"/>
          <p:nvPr/>
        </p:nvSpPr>
        <p:spPr>
          <a:xfrm>
            <a:off x="660400" y="958043"/>
            <a:ext cx="7874000" cy="461665"/>
          </a:xfrm>
          <a:prstGeom prst="rect">
            <a:avLst/>
          </a:prstGeom>
          <a:noFill/>
        </p:spPr>
        <p:txBody>
          <a:bodyPr wrap="square" rtlCol="0">
            <a:spAutoFit/>
          </a:bodyPr>
          <a:lstStyle/>
          <a:p>
            <a:r>
              <a:rPr lang="zh-CN" altLang="en-US" sz="2400" dirty="0"/>
              <a:t>（</a:t>
            </a:r>
            <a:r>
              <a:rPr lang="en-US" altLang="zh-CN" sz="2400" dirty="0"/>
              <a:t>5</a:t>
            </a:r>
            <a:r>
              <a:rPr lang="zh-CN" altLang="en-US" sz="2400" dirty="0"/>
              <a:t>）公式解读</a:t>
            </a:r>
            <a:r>
              <a:rPr lang="en-US" altLang="zh-CN" sz="2400" dirty="0"/>
              <a:t>—</a:t>
            </a:r>
            <a:r>
              <a:rPr lang="zh-CN" altLang="en-US" sz="2400" dirty="0"/>
              <a:t>多模态概率建模</a:t>
            </a:r>
            <a:endParaRPr lang="en-US" altLang="zh-CN" sz="2400" dirty="0"/>
          </a:p>
        </p:txBody>
      </p:sp>
      <p:pic>
        <p:nvPicPr>
          <p:cNvPr id="2" name="图片 1">
            <a:extLst>
              <a:ext uri="{FF2B5EF4-FFF2-40B4-BE49-F238E27FC236}">
                <a16:creationId xmlns:a16="http://schemas.microsoft.com/office/drawing/2014/main" id="{A91DAADC-399A-6A1A-7FF9-6EDF0BB6F7E8}"/>
              </a:ext>
            </a:extLst>
          </p:cNvPr>
          <p:cNvPicPr>
            <a:picLocks noChangeAspect="1"/>
          </p:cNvPicPr>
          <p:nvPr/>
        </p:nvPicPr>
        <p:blipFill>
          <a:blip r:embed="rId4"/>
          <a:stretch>
            <a:fillRect/>
          </a:stretch>
        </p:blipFill>
        <p:spPr>
          <a:xfrm>
            <a:off x="2625415" y="1597311"/>
            <a:ext cx="6296904" cy="495369"/>
          </a:xfrm>
          <a:prstGeom prst="rect">
            <a:avLst/>
          </a:prstGeom>
        </p:spPr>
      </p:pic>
      <p:pic>
        <p:nvPicPr>
          <p:cNvPr id="5" name="图片 4">
            <a:extLst>
              <a:ext uri="{FF2B5EF4-FFF2-40B4-BE49-F238E27FC236}">
                <a16:creationId xmlns:a16="http://schemas.microsoft.com/office/drawing/2014/main" id="{618AC7FD-14E6-4995-212D-36DACC6E01DA}"/>
              </a:ext>
            </a:extLst>
          </p:cNvPr>
          <p:cNvPicPr>
            <a:picLocks noChangeAspect="1"/>
          </p:cNvPicPr>
          <p:nvPr/>
        </p:nvPicPr>
        <p:blipFill>
          <a:blip r:embed="rId5"/>
          <a:srcRect t="1" b="11082"/>
          <a:stretch/>
        </p:blipFill>
        <p:spPr>
          <a:xfrm>
            <a:off x="4640234" y="2126283"/>
            <a:ext cx="2267266" cy="288000"/>
          </a:xfrm>
          <a:prstGeom prst="rect">
            <a:avLst/>
          </a:prstGeom>
        </p:spPr>
      </p:pic>
      <p:pic>
        <p:nvPicPr>
          <p:cNvPr id="6" name="图片 5">
            <a:extLst>
              <a:ext uri="{FF2B5EF4-FFF2-40B4-BE49-F238E27FC236}">
                <a16:creationId xmlns:a16="http://schemas.microsoft.com/office/drawing/2014/main" id="{5D4B3942-C850-1A77-0AF3-48F94A1F7F3B}"/>
              </a:ext>
            </a:extLst>
          </p:cNvPr>
          <p:cNvPicPr>
            <a:picLocks noChangeAspect="1"/>
          </p:cNvPicPr>
          <p:nvPr/>
        </p:nvPicPr>
        <p:blipFill>
          <a:blip r:embed="rId6"/>
          <a:stretch>
            <a:fillRect/>
          </a:stretch>
        </p:blipFill>
        <p:spPr>
          <a:xfrm>
            <a:off x="592554" y="2618093"/>
            <a:ext cx="5027271" cy="3815730"/>
          </a:xfrm>
          <a:prstGeom prst="rect">
            <a:avLst/>
          </a:prstGeom>
        </p:spPr>
      </p:pic>
      <p:pic>
        <p:nvPicPr>
          <p:cNvPr id="8" name="图片 7">
            <a:extLst>
              <a:ext uri="{FF2B5EF4-FFF2-40B4-BE49-F238E27FC236}">
                <a16:creationId xmlns:a16="http://schemas.microsoft.com/office/drawing/2014/main" id="{4F41A32A-F11A-AD71-3A5E-33AF4F96AE2F}"/>
              </a:ext>
            </a:extLst>
          </p:cNvPr>
          <p:cNvPicPr>
            <a:picLocks noChangeAspect="1"/>
          </p:cNvPicPr>
          <p:nvPr/>
        </p:nvPicPr>
        <p:blipFill>
          <a:blip r:embed="rId7"/>
          <a:stretch>
            <a:fillRect/>
          </a:stretch>
        </p:blipFill>
        <p:spPr>
          <a:xfrm>
            <a:off x="9137792" y="1754562"/>
            <a:ext cx="2079374" cy="1987094"/>
          </a:xfrm>
          <a:prstGeom prst="rect">
            <a:avLst/>
          </a:prstGeom>
        </p:spPr>
      </p:pic>
      <p:pic>
        <p:nvPicPr>
          <p:cNvPr id="10" name="图片 9">
            <a:extLst>
              <a:ext uri="{FF2B5EF4-FFF2-40B4-BE49-F238E27FC236}">
                <a16:creationId xmlns:a16="http://schemas.microsoft.com/office/drawing/2014/main" id="{57C35DDC-1C0B-CA72-09C2-D7DEBC38DCD4}"/>
              </a:ext>
            </a:extLst>
          </p:cNvPr>
          <p:cNvPicPr>
            <a:picLocks noChangeAspect="1"/>
          </p:cNvPicPr>
          <p:nvPr/>
        </p:nvPicPr>
        <p:blipFill>
          <a:blip r:embed="rId8"/>
          <a:stretch>
            <a:fillRect/>
          </a:stretch>
        </p:blipFill>
        <p:spPr>
          <a:xfrm>
            <a:off x="9137792" y="4194048"/>
            <a:ext cx="2079374" cy="2087371"/>
          </a:xfrm>
          <a:prstGeom prst="rect">
            <a:avLst/>
          </a:prstGeom>
        </p:spPr>
      </p:pic>
    </p:spTree>
    <p:extLst>
      <p:ext uri="{BB962C8B-B14F-4D97-AF65-F5344CB8AC3E}">
        <p14:creationId xmlns:p14="http://schemas.microsoft.com/office/powerpoint/2010/main" val="2977650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grpSp>
        <p:nvGrpSpPr>
          <p:cNvPr id="19" name="组合 18">
            <a:extLst>
              <a:ext uri="{FF2B5EF4-FFF2-40B4-BE49-F238E27FC236}">
                <a16:creationId xmlns:a16="http://schemas.microsoft.com/office/drawing/2014/main" id="{D6AF88AF-8690-4EED-BB78-70F6DFC22C2B}"/>
              </a:ext>
            </a:extLst>
          </p:cNvPr>
          <p:cNvGrpSpPr/>
          <p:nvPr/>
        </p:nvGrpSpPr>
        <p:grpSpPr>
          <a:xfrm>
            <a:off x="203760" y="159728"/>
            <a:ext cx="725344" cy="619478"/>
            <a:chOff x="178632" y="159728"/>
            <a:chExt cx="725344" cy="619478"/>
          </a:xfrm>
        </p:grpSpPr>
        <p:sp>
          <p:nvSpPr>
            <p:cNvPr id="20" name="椭圆 19">
              <a:extLst>
                <a:ext uri="{FF2B5EF4-FFF2-40B4-BE49-F238E27FC236}">
                  <a16:creationId xmlns:a16="http://schemas.microsoft.com/office/drawing/2014/main" id="{ED67310B-FB3F-4D06-B8BF-87F4966CB067}"/>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21" name="文本框 20">
              <a:extLst>
                <a:ext uri="{FF2B5EF4-FFF2-40B4-BE49-F238E27FC236}">
                  <a16:creationId xmlns:a16="http://schemas.microsoft.com/office/drawing/2014/main" id="{C3A336AB-85A1-4B21-8070-FAAE12EF8A86}"/>
                </a:ext>
              </a:extLst>
            </p:cNvPr>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22" name="椭圆 21">
              <a:extLst>
                <a:ext uri="{FF2B5EF4-FFF2-40B4-BE49-F238E27FC236}">
                  <a16:creationId xmlns:a16="http://schemas.microsoft.com/office/drawing/2014/main" id="{9CDC6C8E-BB30-4A08-955C-9F0D478ECF66}"/>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23" name="标题占位符 1">
            <a:extLst>
              <a:ext uri="{FF2B5EF4-FFF2-40B4-BE49-F238E27FC236}">
                <a16:creationId xmlns:a16="http://schemas.microsoft.com/office/drawing/2014/main" id="{F1530D8B-A116-40D5-82DB-AFCEB4A34740}"/>
              </a:ext>
            </a:extLst>
          </p:cNvPr>
          <p:cNvSpPr txBox="1"/>
          <p:nvPr/>
        </p:nvSpPr>
        <p:spPr>
          <a:xfrm>
            <a:off x="1042966" y="140479"/>
            <a:ext cx="2193293"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3" name="文本框 2">
            <a:extLst>
              <a:ext uri="{FF2B5EF4-FFF2-40B4-BE49-F238E27FC236}">
                <a16:creationId xmlns:a16="http://schemas.microsoft.com/office/drawing/2014/main" id="{B8FA3DDB-A29B-6CAB-815C-632BD7C6AE7F}"/>
              </a:ext>
            </a:extLst>
          </p:cNvPr>
          <p:cNvSpPr txBox="1"/>
          <p:nvPr/>
        </p:nvSpPr>
        <p:spPr>
          <a:xfrm>
            <a:off x="660400" y="958043"/>
            <a:ext cx="7874000" cy="830997"/>
          </a:xfrm>
          <a:prstGeom prst="rect">
            <a:avLst/>
          </a:prstGeom>
          <a:noFill/>
        </p:spPr>
        <p:txBody>
          <a:bodyPr wrap="square" rtlCol="0">
            <a:spAutoFit/>
          </a:bodyPr>
          <a:lstStyle/>
          <a:p>
            <a:r>
              <a:rPr lang="zh-CN" altLang="en-US" sz="2400" dirty="0"/>
              <a:t>（</a:t>
            </a:r>
            <a:r>
              <a:rPr lang="en-US" altLang="zh-CN" sz="2400" dirty="0"/>
              <a:t>5</a:t>
            </a:r>
            <a:r>
              <a:rPr lang="zh-CN" altLang="en-US" sz="2400" dirty="0"/>
              <a:t>）公式解读</a:t>
            </a:r>
            <a:r>
              <a:rPr lang="en-US" altLang="zh-CN" sz="2400" dirty="0"/>
              <a:t>—</a:t>
            </a:r>
            <a:r>
              <a:rPr lang="zh-CN" altLang="en-US" sz="2400" dirty="0"/>
              <a:t>概率极值</a:t>
            </a:r>
          </a:p>
          <a:p>
            <a:endParaRPr lang="en-US" altLang="zh-CN" sz="2400" dirty="0"/>
          </a:p>
        </p:txBody>
      </p:sp>
      <p:pic>
        <p:nvPicPr>
          <p:cNvPr id="4" name="图片 3">
            <a:extLst>
              <a:ext uri="{FF2B5EF4-FFF2-40B4-BE49-F238E27FC236}">
                <a16:creationId xmlns:a16="http://schemas.microsoft.com/office/drawing/2014/main" id="{50BD2B79-AC63-0EAA-8BF7-527F59123123}"/>
              </a:ext>
            </a:extLst>
          </p:cNvPr>
          <p:cNvPicPr>
            <a:picLocks noChangeAspect="1"/>
          </p:cNvPicPr>
          <p:nvPr/>
        </p:nvPicPr>
        <p:blipFill>
          <a:blip r:embed="rId4"/>
          <a:stretch>
            <a:fillRect/>
          </a:stretch>
        </p:blipFill>
        <p:spPr>
          <a:xfrm>
            <a:off x="851338" y="1747006"/>
            <a:ext cx="4220164" cy="514422"/>
          </a:xfrm>
          <a:prstGeom prst="rect">
            <a:avLst/>
          </a:prstGeom>
        </p:spPr>
      </p:pic>
      <p:pic>
        <p:nvPicPr>
          <p:cNvPr id="7" name="图片 6">
            <a:extLst>
              <a:ext uri="{FF2B5EF4-FFF2-40B4-BE49-F238E27FC236}">
                <a16:creationId xmlns:a16="http://schemas.microsoft.com/office/drawing/2014/main" id="{35426150-4F59-6EAE-5327-B6F9F0D666F6}"/>
              </a:ext>
            </a:extLst>
          </p:cNvPr>
          <p:cNvPicPr>
            <a:picLocks noChangeAspect="1"/>
          </p:cNvPicPr>
          <p:nvPr/>
        </p:nvPicPr>
        <p:blipFill>
          <a:blip r:embed="rId5"/>
          <a:stretch>
            <a:fillRect/>
          </a:stretch>
        </p:blipFill>
        <p:spPr>
          <a:xfrm>
            <a:off x="6019669" y="1436109"/>
            <a:ext cx="4515480" cy="990738"/>
          </a:xfrm>
          <a:prstGeom prst="rect">
            <a:avLst/>
          </a:prstGeom>
        </p:spPr>
      </p:pic>
      <p:pic>
        <p:nvPicPr>
          <p:cNvPr id="9" name="图片 8">
            <a:extLst>
              <a:ext uri="{FF2B5EF4-FFF2-40B4-BE49-F238E27FC236}">
                <a16:creationId xmlns:a16="http://schemas.microsoft.com/office/drawing/2014/main" id="{14E98BB0-6718-E412-86C2-1ECA8B1311E5}"/>
              </a:ext>
            </a:extLst>
          </p:cNvPr>
          <p:cNvPicPr>
            <a:picLocks noChangeAspect="1"/>
          </p:cNvPicPr>
          <p:nvPr/>
        </p:nvPicPr>
        <p:blipFill>
          <a:blip r:embed="rId6"/>
          <a:stretch>
            <a:fillRect/>
          </a:stretch>
        </p:blipFill>
        <p:spPr>
          <a:xfrm>
            <a:off x="1794926" y="2685946"/>
            <a:ext cx="7687748" cy="1486107"/>
          </a:xfrm>
          <a:prstGeom prst="rect">
            <a:avLst/>
          </a:prstGeom>
        </p:spPr>
      </p:pic>
      <p:pic>
        <p:nvPicPr>
          <p:cNvPr id="14" name="图片 13">
            <a:extLst>
              <a:ext uri="{FF2B5EF4-FFF2-40B4-BE49-F238E27FC236}">
                <a16:creationId xmlns:a16="http://schemas.microsoft.com/office/drawing/2014/main" id="{8B1432CE-69F9-F483-9881-AEE5CE8EC333}"/>
              </a:ext>
            </a:extLst>
          </p:cNvPr>
          <p:cNvPicPr>
            <a:picLocks noChangeAspect="1"/>
          </p:cNvPicPr>
          <p:nvPr/>
        </p:nvPicPr>
        <p:blipFill>
          <a:blip r:embed="rId7"/>
          <a:stretch>
            <a:fillRect/>
          </a:stretch>
        </p:blipFill>
        <p:spPr>
          <a:xfrm>
            <a:off x="9800425" y="2343783"/>
            <a:ext cx="2079374" cy="2087371"/>
          </a:xfrm>
          <a:prstGeom prst="rect">
            <a:avLst/>
          </a:prstGeom>
        </p:spPr>
      </p:pic>
      <p:cxnSp>
        <p:nvCxnSpPr>
          <p:cNvPr id="15" name="直接连接符 14">
            <a:extLst>
              <a:ext uri="{FF2B5EF4-FFF2-40B4-BE49-F238E27FC236}">
                <a16:creationId xmlns:a16="http://schemas.microsoft.com/office/drawing/2014/main" id="{11206E00-6FB0-3F25-17B6-4E87AED9288D}"/>
              </a:ext>
            </a:extLst>
          </p:cNvPr>
          <p:cNvCxnSpPr/>
          <p:nvPr/>
        </p:nvCxnSpPr>
        <p:spPr>
          <a:xfrm>
            <a:off x="6621517" y="1915511"/>
            <a:ext cx="201811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E7794BF-3581-F26E-B890-1114DAD903FA}"/>
              </a:ext>
            </a:extLst>
          </p:cNvPr>
          <p:cNvCxnSpPr/>
          <p:nvPr/>
        </p:nvCxnSpPr>
        <p:spPr>
          <a:xfrm>
            <a:off x="7464557" y="2413685"/>
            <a:ext cx="201811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D5D8C046-B79B-E1C4-B372-9D7EF1EE3346}"/>
              </a:ext>
            </a:extLst>
          </p:cNvPr>
          <p:cNvCxnSpPr>
            <a:cxnSpLocks/>
          </p:cNvCxnSpPr>
          <p:nvPr/>
        </p:nvCxnSpPr>
        <p:spPr>
          <a:xfrm>
            <a:off x="2383220" y="4172053"/>
            <a:ext cx="441171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4800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52DDC-06EE-FC03-6988-F137507DD31A}"/>
            </a:ext>
          </a:extLst>
        </p:cNvPr>
        <p:cNvGrpSpPr/>
        <p:nvPr/>
      </p:nvGrpSpPr>
      <p:grpSpPr>
        <a:xfrm>
          <a:off x="0" y="0"/>
          <a:ext cx="0" cy="0"/>
          <a:chOff x="0" y="0"/>
          <a:chExt cx="0" cy="0"/>
        </a:xfrm>
      </p:grpSpPr>
      <p:cxnSp>
        <p:nvCxnSpPr>
          <p:cNvPr id="51" name="直接连接符 50">
            <a:extLst>
              <a:ext uri="{FF2B5EF4-FFF2-40B4-BE49-F238E27FC236}">
                <a16:creationId xmlns:a16="http://schemas.microsoft.com/office/drawing/2014/main" id="{2BEF5E9E-9C62-EC31-2145-8ECD45CC1ACD}"/>
              </a:ext>
            </a:extLst>
          </p:cNvPr>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a:extLst>
              <a:ext uri="{FF2B5EF4-FFF2-40B4-BE49-F238E27FC236}">
                <a16:creationId xmlns:a16="http://schemas.microsoft.com/office/drawing/2014/main" id="{AE8416FE-EE69-07EA-FC41-0FFD48BB93CE}"/>
              </a:ext>
            </a:extLst>
          </p:cNvPr>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59" name="文本框 58">
            <a:extLst>
              <a:ext uri="{FF2B5EF4-FFF2-40B4-BE49-F238E27FC236}">
                <a16:creationId xmlns:a16="http://schemas.microsoft.com/office/drawing/2014/main" id="{BAA50721-BDDD-7DD5-5909-0A7972C0837D}"/>
              </a:ext>
            </a:extLst>
          </p:cNvPr>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a:extLst>
              <a:ext uri="{FF2B5EF4-FFF2-40B4-BE49-F238E27FC236}">
                <a16:creationId xmlns:a16="http://schemas.microsoft.com/office/drawing/2014/main" id="{566A337C-6C22-0905-F3B9-36C3AD0C55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a:extLst>
              <a:ext uri="{FF2B5EF4-FFF2-40B4-BE49-F238E27FC236}">
                <a16:creationId xmlns:a16="http://schemas.microsoft.com/office/drawing/2014/main" id="{76EBA56C-0171-6258-40A3-B0BE6DCB2422}"/>
              </a:ext>
            </a:extLst>
          </p:cNvPr>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a:extLst>
              <a:ext uri="{FF2B5EF4-FFF2-40B4-BE49-F238E27FC236}">
                <a16:creationId xmlns:a16="http://schemas.microsoft.com/office/drawing/2014/main" id="{D317482F-2B33-E866-F721-C6083BFBEB36}"/>
              </a:ext>
            </a:extLst>
          </p:cNvPr>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a:extLst>
              <a:ext uri="{FF2B5EF4-FFF2-40B4-BE49-F238E27FC236}">
                <a16:creationId xmlns:a16="http://schemas.microsoft.com/office/drawing/2014/main" id="{D8D1A9EE-6CE8-3D43-2DC8-ECDABDFC9248}"/>
              </a:ext>
            </a:extLst>
          </p:cNvPr>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grpSp>
        <p:nvGrpSpPr>
          <p:cNvPr id="19" name="组合 18">
            <a:extLst>
              <a:ext uri="{FF2B5EF4-FFF2-40B4-BE49-F238E27FC236}">
                <a16:creationId xmlns:a16="http://schemas.microsoft.com/office/drawing/2014/main" id="{C078CCE5-01C1-6D27-92EF-2DC4A9AA9B4D}"/>
              </a:ext>
            </a:extLst>
          </p:cNvPr>
          <p:cNvGrpSpPr/>
          <p:nvPr/>
        </p:nvGrpSpPr>
        <p:grpSpPr>
          <a:xfrm>
            <a:off x="203760" y="159728"/>
            <a:ext cx="725344" cy="619478"/>
            <a:chOff x="178632" y="159728"/>
            <a:chExt cx="725344" cy="619478"/>
          </a:xfrm>
        </p:grpSpPr>
        <p:sp>
          <p:nvSpPr>
            <p:cNvPr id="20" name="椭圆 19">
              <a:extLst>
                <a:ext uri="{FF2B5EF4-FFF2-40B4-BE49-F238E27FC236}">
                  <a16:creationId xmlns:a16="http://schemas.microsoft.com/office/drawing/2014/main" id="{55B84133-7304-E0C0-2C46-7A6F10829F7D}"/>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21" name="文本框 20">
              <a:extLst>
                <a:ext uri="{FF2B5EF4-FFF2-40B4-BE49-F238E27FC236}">
                  <a16:creationId xmlns:a16="http://schemas.microsoft.com/office/drawing/2014/main" id="{1583839D-4962-F938-4D2E-6DBEBA942EE0}"/>
                </a:ext>
              </a:extLst>
            </p:cNvPr>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22" name="椭圆 21">
              <a:extLst>
                <a:ext uri="{FF2B5EF4-FFF2-40B4-BE49-F238E27FC236}">
                  <a16:creationId xmlns:a16="http://schemas.microsoft.com/office/drawing/2014/main" id="{B5212A1F-2DB7-66D3-15A2-11A2A010BB18}"/>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23" name="标题占位符 1">
            <a:extLst>
              <a:ext uri="{FF2B5EF4-FFF2-40B4-BE49-F238E27FC236}">
                <a16:creationId xmlns:a16="http://schemas.microsoft.com/office/drawing/2014/main" id="{3B453BB6-EC2E-EB52-FD8A-ED19DE157EF2}"/>
              </a:ext>
            </a:extLst>
          </p:cNvPr>
          <p:cNvSpPr txBox="1"/>
          <p:nvPr/>
        </p:nvSpPr>
        <p:spPr>
          <a:xfrm>
            <a:off x="1042966" y="140479"/>
            <a:ext cx="2193293"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3" name="文本框 2">
            <a:extLst>
              <a:ext uri="{FF2B5EF4-FFF2-40B4-BE49-F238E27FC236}">
                <a16:creationId xmlns:a16="http://schemas.microsoft.com/office/drawing/2014/main" id="{BE352069-AB3B-8975-66C4-6BB20D70438F}"/>
              </a:ext>
            </a:extLst>
          </p:cNvPr>
          <p:cNvSpPr txBox="1"/>
          <p:nvPr/>
        </p:nvSpPr>
        <p:spPr>
          <a:xfrm>
            <a:off x="660400" y="958043"/>
            <a:ext cx="7874000" cy="830997"/>
          </a:xfrm>
          <a:prstGeom prst="rect">
            <a:avLst/>
          </a:prstGeom>
          <a:noFill/>
        </p:spPr>
        <p:txBody>
          <a:bodyPr wrap="square" rtlCol="0">
            <a:spAutoFit/>
          </a:bodyPr>
          <a:lstStyle/>
          <a:p>
            <a:r>
              <a:rPr lang="zh-CN" altLang="en-US" sz="2400" dirty="0"/>
              <a:t>（</a:t>
            </a:r>
            <a:r>
              <a:rPr lang="en-US" altLang="zh-CN" sz="2400" dirty="0"/>
              <a:t>5</a:t>
            </a:r>
            <a:r>
              <a:rPr lang="zh-CN" altLang="en-US" sz="2400" dirty="0"/>
              <a:t>）公式解读</a:t>
            </a:r>
            <a:r>
              <a:rPr lang="en-US" altLang="zh-CN" sz="2400" dirty="0"/>
              <a:t>—</a:t>
            </a:r>
            <a:r>
              <a:rPr lang="zh-CN" altLang="en-US" sz="2400" dirty="0"/>
              <a:t>概率极值</a:t>
            </a:r>
          </a:p>
          <a:p>
            <a:endParaRPr lang="en-US" altLang="zh-CN" sz="2400" dirty="0"/>
          </a:p>
        </p:txBody>
      </p:sp>
      <p:pic>
        <p:nvPicPr>
          <p:cNvPr id="11" name="图片 10">
            <a:extLst>
              <a:ext uri="{FF2B5EF4-FFF2-40B4-BE49-F238E27FC236}">
                <a16:creationId xmlns:a16="http://schemas.microsoft.com/office/drawing/2014/main" id="{44F209E2-1019-410E-F98E-2382950AF6C4}"/>
              </a:ext>
            </a:extLst>
          </p:cNvPr>
          <p:cNvPicPr>
            <a:picLocks noChangeAspect="1"/>
          </p:cNvPicPr>
          <p:nvPr/>
        </p:nvPicPr>
        <p:blipFill>
          <a:blip r:embed="rId4"/>
          <a:stretch>
            <a:fillRect/>
          </a:stretch>
        </p:blipFill>
        <p:spPr>
          <a:xfrm>
            <a:off x="1185616" y="3191648"/>
            <a:ext cx="9488224" cy="971686"/>
          </a:xfrm>
          <a:prstGeom prst="rect">
            <a:avLst/>
          </a:prstGeom>
        </p:spPr>
      </p:pic>
      <p:pic>
        <p:nvPicPr>
          <p:cNvPr id="2" name="图片 1">
            <a:extLst>
              <a:ext uri="{FF2B5EF4-FFF2-40B4-BE49-F238E27FC236}">
                <a16:creationId xmlns:a16="http://schemas.microsoft.com/office/drawing/2014/main" id="{4FD37325-E7C7-6D04-32A6-840402DBA98C}"/>
              </a:ext>
            </a:extLst>
          </p:cNvPr>
          <p:cNvPicPr>
            <a:picLocks noChangeAspect="1"/>
          </p:cNvPicPr>
          <p:nvPr/>
        </p:nvPicPr>
        <p:blipFill>
          <a:blip r:embed="rId5"/>
          <a:stretch>
            <a:fillRect/>
          </a:stretch>
        </p:blipFill>
        <p:spPr>
          <a:xfrm>
            <a:off x="9232385" y="893099"/>
            <a:ext cx="2079374" cy="2087371"/>
          </a:xfrm>
          <a:prstGeom prst="rect">
            <a:avLst/>
          </a:prstGeom>
        </p:spPr>
      </p:pic>
    </p:spTree>
    <p:extLst>
      <p:ext uri="{BB962C8B-B14F-4D97-AF65-F5344CB8AC3E}">
        <p14:creationId xmlns:p14="http://schemas.microsoft.com/office/powerpoint/2010/main" val="1918974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grpSp>
        <p:nvGrpSpPr>
          <p:cNvPr id="19" name="组合 18">
            <a:extLst>
              <a:ext uri="{FF2B5EF4-FFF2-40B4-BE49-F238E27FC236}">
                <a16:creationId xmlns:a16="http://schemas.microsoft.com/office/drawing/2014/main" id="{D6AF88AF-8690-4EED-BB78-70F6DFC22C2B}"/>
              </a:ext>
            </a:extLst>
          </p:cNvPr>
          <p:cNvGrpSpPr/>
          <p:nvPr/>
        </p:nvGrpSpPr>
        <p:grpSpPr>
          <a:xfrm>
            <a:off x="203760" y="159728"/>
            <a:ext cx="725344" cy="619478"/>
            <a:chOff x="178632" y="159728"/>
            <a:chExt cx="725344" cy="619478"/>
          </a:xfrm>
        </p:grpSpPr>
        <p:sp>
          <p:nvSpPr>
            <p:cNvPr id="20" name="椭圆 19">
              <a:extLst>
                <a:ext uri="{FF2B5EF4-FFF2-40B4-BE49-F238E27FC236}">
                  <a16:creationId xmlns:a16="http://schemas.microsoft.com/office/drawing/2014/main" id="{ED67310B-FB3F-4D06-B8BF-87F4966CB067}"/>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21" name="文本框 20">
              <a:extLst>
                <a:ext uri="{FF2B5EF4-FFF2-40B4-BE49-F238E27FC236}">
                  <a16:creationId xmlns:a16="http://schemas.microsoft.com/office/drawing/2014/main" id="{C3A336AB-85A1-4B21-8070-FAAE12EF8A86}"/>
                </a:ext>
              </a:extLst>
            </p:cNvPr>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22" name="椭圆 21">
              <a:extLst>
                <a:ext uri="{FF2B5EF4-FFF2-40B4-BE49-F238E27FC236}">
                  <a16:creationId xmlns:a16="http://schemas.microsoft.com/office/drawing/2014/main" id="{9CDC6C8E-BB30-4A08-955C-9F0D478ECF66}"/>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23" name="标题占位符 1">
            <a:extLst>
              <a:ext uri="{FF2B5EF4-FFF2-40B4-BE49-F238E27FC236}">
                <a16:creationId xmlns:a16="http://schemas.microsoft.com/office/drawing/2014/main" id="{F1530D8B-A116-40D5-82DB-AFCEB4A34740}"/>
              </a:ext>
            </a:extLst>
          </p:cNvPr>
          <p:cNvSpPr txBox="1"/>
          <p:nvPr/>
        </p:nvSpPr>
        <p:spPr>
          <a:xfrm>
            <a:off x="1042966" y="140479"/>
            <a:ext cx="2193293"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3" name="文本框 2">
            <a:extLst>
              <a:ext uri="{FF2B5EF4-FFF2-40B4-BE49-F238E27FC236}">
                <a16:creationId xmlns:a16="http://schemas.microsoft.com/office/drawing/2014/main" id="{B8FA3DDB-A29B-6CAB-815C-632BD7C6AE7F}"/>
              </a:ext>
            </a:extLst>
          </p:cNvPr>
          <p:cNvSpPr txBox="1"/>
          <p:nvPr/>
        </p:nvSpPr>
        <p:spPr>
          <a:xfrm>
            <a:off x="660399" y="958043"/>
            <a:ext cx="5435601" cy="830997"/>
          </a:xfrm>
          <a:prstGeom prst="rect">
            <a:avLst/>
          </a:prstGeom>
          <a:noFill/>
        </p:spPr>
        <p:txBody>
          <a:bodyPr wrap="square" rtlCol="0">
            <a:spAutoFit/>
          </a:bodyPr>
          <a:lstStyle/>
          <a:p>
            <a:r>
              <a:rPr lang="zh-CN" altLang="en-US" sz="2400" dirty="0"/>
              <a:t>（</a:t>
            </a:r>
            <a:r>
              <a:rPr lang="en-US" altLang="zh-CN" sz="2400" dirty="0"/>
              <a:t>5</a:t>
            </a:r>
            <a:r>
              <a:rPr lang="zh-CN" altLang="en-US" sz="2400" dirty="0"/>
              <a:t>）公式解读</a:t>
            </a:r>
            <a:r>
              <a:rPr lang="en-US" altLang="zh-CN" sz="2400" dirty="0"/>
              <a:t>--</a:t>
            </a:r>
            <a:r>
              <a:rPr lang="zh-CN" altLang="en-US" sz="2400" dirty="0"/>
              <a:t>几何一致性</a:t>
            </a:r>
          </a:p>
          <a:p>
            <a:endParaRPr lang="en-US" altLang="zh-CN" sz="2400" dirty="0"/>
          </a:p>
        </p:txBody>
      </p:sp>
      <p:pic>
        <p:nvPicPr>
          <p:cNvPr id="2" name="图片 1">
            <a:extLst>
              <a:ext uri="{FF2B5EF4-FFF2-40B4-BE49-F238E27FC236}">
                <a16:creationId xmlns:a16="http://schemas.microsoft.com/office/drawing/2014/main" id="{B5E30111-A963-4C97-B076-95D1F840BA6B}"/>
              </a:ext>
            </a:extLst>
          </p:cNvPr>
          <p:cNvPicPr>
            <a:picLocks noChangeAspect="1"/>
          </p:cNvPicPr>
          <p:nvPr/>
        </p:nvPicPr>
        <p:blipFill>
          <a:blip r:embed="rId4"/>
          <a:stretch>
            <a:fillRect/>
          </a:stretch>
        </p:blipFill>
        <p:spPr>
          <a:xfrm>
            <a:off x="1291747" y="2759214"/>
            <a:ext cx="3762900" cy="504895"/>
          </a:xfrm>
          <a:prstGeom prst="rect">
            <a:avLst/>
          </a:prstGeom>
        </p:spPr>
      </p:pic>
      <p:pic>
        <p:nvPicPr>
          <p:cNvPr id="6" name="图片 5">
            <a:extLst>
              <a:ext uri="{FF2B5EF4-FFF2-40B4-BE49-F238E27FC236}">
                <a16:creationId xmlns:a16="http://schemas.microsoft.com/office/drawing/2014/main" id="{777F62B9-FD65-E6EE-F08C-BEF0748FC758}"/>
              </a:ext>
            </a:extLst>
          </p:cNvPr>
          <p:cNvPicPr>
            <a:picLocks noChangeAspect="1"/>
          </p:cNvPicPr>
          <p:nvPr/>
        </p:nvPicPr>
        <p:blipFill>
          <a:blip r:embed="rId5"/>
          <a:stretch>
            <a:fillRect/>
          </a:stretch>
        </p:blipFill>
        <p:spPr>
          <a:xfrm>
            <a:off x="6324784" y="2602059"/>
            <a:ext cx="4429743" cy="866896"/>
          </a:xfrm>
          <a:prstGeom prst="rect">
            <a:avLst/>
          </a:prstGeom>
        </p:spPr>
      </p:pic>
      <p:pic>
        <p:nvPicPr>
          <p:cNvPr id="8" name="图片 7">
            <a:extLst>
              <a:ext uri="{FF2B5EF4-FFF2-40B4-BE49-F238E27FC236}">
                <a16:creationId xmlns:a16="http://schemas.microsoft.com/office/drawing/2014/main" id="{3200E087-BA08-F031-88AD-572485CBE6DD}"/>
              </a:ext>
            </a:extLst>
          </p:cNvPr>
          <p:cNvPicPr>
            <a:picLocks noChangeAspect="1"/>
          </p:cNvPicPr>
          <p:nvPr/>
        </p:nvPicPr>
        <p:blipFill>
          <a:blip r:embed="rId6"/>
          <a:stretch>
            <a:fillRect/>
          </a:stretch>
        </p:blipFill>
        <p:spPr>
          <a:xfrm>
            <a:off x="2068205" y="4212686"/>
            <a:ext cx="7535327" cy="1448002"/>
          </a:xfrm>
          <a:prstGeom prst="rect">
            <a:avLst/>
          </a:prstGeom>
        </p:spPr>
      </p:pic>
      <p:pic>
        <p:nvPicPr>
          <p:cNvPr id="9" name="图片 8">
            <a:extLst>
              <a:ext uri="{FF2B5EF4-FFF2-40B4-BE49-F238E27FC236}">
                <a16:creationId xmlns:a16="http://schemas.microsoft.com/office/drawing/2014/main" id="{9E7D5EFD-5CB6-2687-A5EC-A27E78567FC6}"/>
              </a:ext>
            </a:extLst>
          </p:cNvPr>
          <p:cNvPicPr>
            <a:picLocks noChangeAspect="1"/>
          </p:cNvPicPr>
          <p:nvPr/>
        </p:nvPicPr>
        <p:blipFill>
          <a:blip r:embed="rId7"/>
          <a:stretch>
            <a:fillRect/>
          </a:stretch>
        </p:blipFill>
        <p:spPr>
          <a:xfrm>
            <a:off x="8276297" y="846590"/>
            <a:ext cx="3117869" cy="1639960"/>
          </a:xfrm>
          <a:prstGeom prst="rect">
            <a:avLst/>
          </a:prstGeom>
        </p:spPr>
      </p:pic>
      <p:cxnSp>
        <p:nvCxnSpPr>
          <p:cNvPr id="10" name="直接连接符 9">
            <a:extLst>
              <a:ext uri="{FF2B5EF4-FFF2-40B4-BE49-F238E27FC236}">
                <a16:creationId xmlns:a16="http://schemas.microsoft.com/office/drawing/2014/main" id="{5EE7D349-4B78-A51D-FA2F-C856D91384F4}"/>
              </a:ext>
            </a:extLst>
          </p:cNvPr>
          <p:cNvCxnSpPr/>
          <p:nvPr/>
        </p:nvCxnSpPr>
        <p:spPr>
          <a:xfrm>
            <a:off x="8736410" y="3066393"/>
            <a:ext cx="201811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773AAE65-F0E0-D9FD-A06F-6AE8B76F6916}"/>
              </a:ext>
            </a:extLst>
          </p:cNvPr>
          <p:cNvCxnSpPr/>
          <p:nvPr/>
        </p:nvCxnSpPr>
        <p:spPr>
          <a:xfrm>
            <a:off x="7467286" y="5722883"/>
            <a:ext cx="201811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352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F99FC-B7F4-C9A8-2B15-07C515BA65ED}"/>
            </a:ext>
          </a:extLst>
        </p:cNvPr>
        <p:cNvGrpSpPr/>
        <p:nvPr/>
      </p:nvGrpSpPr>
      <p:grpSpPr>
        <a:xfrm>
          <a:off x="0" y="0"/>
          <a:ext cx="0" cy="0"/>
          <a:chOff x="0" y="0"/>
          <a:chExt cx="0" cy="0"/>
        </a:xfrm>
      </p:grpSpPr>
      <p:cxnSp>
        <p:nvCxnSpPr>
          <p:cNvPr id="51" name="直接连接符 50">
            <a:extLst>
              <a:ext uri="{FF2B5EF4-FFF2-40B4-BE49-F238E27FC236}">
                <a16:creationId xmlns:a16="http://schemas.microsoft.com/office/drawing/2014/main" id="{82A9C4B8-06BA-CEEE-AE0E-F6F7EB414E6D}"/>
              </a:ext>
            </a:extLst>
          </p:cNvPr>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a:extLst>
              <a:ext uri="{FF2B5EF4-FFF2-40B4-BE49-F238E27FC236}">
                <a16:creationId xmlns:a16="http://schemas.microsoft.com/office/drawing/2014/main" id="{A6B3A576-95E1-BD92-AB36-BBD5BE8F9005}"/>
              </a:ext>
            </a:extLst>
          </p:cNvPr>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59" name="文本框 58">
            <a:extLst>
              <a:ext uri="{FF2B5EF4-FFF2-40B4-BE49-F238E27FC236}">
                <a16:creationId xmlns:a16="http://schemas.microsoft.com/office/drawing/2014/main" id="{E6776DEE-B24E-8A89-3AB8-C09B511FAF8D}"/>
              </a:ext>
            </a:extLst>
          </p:cNvPr>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a:extLst>
              <a:ext uri="{FF2B5EF4-FFF2-40B4-BE49-F238E27FC236}">
                <a16:creationId xmlns:a16="http://schemas.microsoft.com/office/drawing/2014/main" id="{947F233E-8E88-DD0F-C3F4-7F42E34C6E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a:extLst>
              <a:ext uri="{FF2B5EF4-FFF2-40B4-BE49-F238E27FC236}">
                <a16:creationId xmlns:a16="http://schemas.microsoft.com/office/drawing/2014/main" id="{5B3E06B5-3075-45C3-6EC9-E19D7B73BA31}"/>
              </a:ext>
            </a:extLst>
          </p:cNvPr>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a:extLst>
              <a:ext uri="{FF2B5EF4-FFF2-40B4-BE49-F238E27FC236}">
                <a16:creationId xmlns:a16="http://schemas.microsoft.com/office/drawing/2014/main" id="{98FB253B-F53C-A18D-3B33-3F68D9EED36E}"/>
              </a:ext>
            </a:extLst>
          </p:cNvPr>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a:extLst>
              <a:ext uri="{FF2B5EF4-FFF2-40B4-BE49-F238E27FC236}">
                <a16:creationId xmlns:a16="http://schemas.microsoft.com/office/drawing/2014/main" id="{704BDADD-64C8-4517-FA6F-F65E9138D1CE}"/>
              </a:ext>
            </a:extLst>
          </p:cNvPr>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grpSp>
        <p:nvGrpSpPr>
          <p:cNvPr id="19" name="组合 18">
            <a:extLst>
              <a:ext uri="{FF2B5EF4-FFF2-40B4-BE49-F238E27FC236}">
                <a16:creationId xmlns:a16="http://schemas.microsoft.com/office/drawing/2014/main" id="{5348E962-E071-916D-E8F1-44154A28C840}"/>
              </a:ext>
            </a:extLst>
          </p:cNvPr>
          <p:cNvGrpSpPr/>
          <p:nvPr/>
        </p:nvGrpSpPr>
        <p:grpSpPr>
          <a:xfrm>
            <a:off x="203760" y="159728"/>
            <a:ext cx="725344" cy="619478"/>
            <a:chOff x="178632" y="159728"/>
            <a:chExt cx="725344" cy="619478"/>
          </a:xfrm>
        </p:grpSpPr>
        <p:sp>
          <p:nvSpPr>
            <p:cNvPr id="20" name="椭圆 19">
              <a:extLst>
                <a:ext uri="{FF2B5EF4-FFF2-40B4-BE49-F238E27FC236}">
                  <a16:creationId xmlns:a16="http://schemas.microsoft.com/office/drawing/2014/main" id="{8D7EAA6E-9718-7FB5-3A5C-CC3B18EDAD64}"/>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21" name="文本框 20">
              <a:extLst>
                <a:ext uri="{FF2B5EF4-FFF2-40B4-BE49-F238E27FC236}">
                  <a16:creationId xmlns:a16="http://schemas.microsoft.com/office/drawing/2014/main" id="{AD27C15D-92C8-DDFF-A10A-C2CFC51EDDE7}"/>
                </a:ext>
              </a:extLst>
            </p:cNvPr>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22" name="椭圆 21">
              <a:extLst>
                <a:ext uri="{FF2B5EF4-FFF2-40B4-BE49-F238E27FC236}">
                  <a16:creationId xmlns:a16="http://schemas.microsoft.com/office/drawing/2014/main" id="{76AB261D-1591-2350-2616-3F4FB8A0038A}"/>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23" name="标题占位符 1">
            <a:extLst>
              <a:ext uri="{FF2B5EF4-FFF2-40B4-BE49-F238E27FC236}">
                <a16:creationId xmlns:a16="http://schemas.microsoft.com/office/drawing/2014/main" id="{FF696701-9747-BC7C-7144-25214A217C33}"/>
              </a:ext>
            </a:extLst>
          </p:cNvPr>
          <p:cNvSpPr txBox="1"/>
          <p:nvPr/>
        </p:nvSpPr>
        <p:spPr>
          <a:xfrm>
            <a:off x="1042966" y="140479"/>
            <a:ext cx="2193293"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Methodology</a:t>
            </a: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3" name="文本框 2">
            <a:extLst>
              <a:ext uri="{FF2B5EF4-FFF2-40B4-BE49-F238E27FC236}">
                <a16:creationId xmlns:a16="http://schemas.microsoft.com/office/drawing/2014/main" id="{082471C6-CBF6-8315-6F61-225B1849A268}"/>
              </a:ext>
            </a:extLst>
          </p:cNvPr>
          <p:cNvSpPr txBox="1"/>
          <p:nvPr/>
        </p:nvSpPr>
        <p:spPr>
          <a:xfrm>
            <a:off x="660399" y="958043"/>
            <a:ext cx="5435601" cy="830997"/>
          </a:xfrm>
          <a:prstGeom prst="rect">
            <a:avLst/>
          </a:prstGeom>
          <a:noFill/>
        </p:spPr>
        <p:txBody>
          <a:bodyPr wrap="square" rtlCol="0">
            <a:spAutoFit/>
          </a:bodyPr>
          <a:lstStyle/>
          <a:p>
            <a:r>
              <a:rPr lang="zh-CN" altLang="en-US" sz="2400" dirty="0"/>
              <a:t>（</a:t>
            </a:r>
            <a:r>
              <a:rPr lang="en-US" altLang="zh-CN" sz="2400" dirty="0"/>
              <a:t>5</a:t>
            </a:r>
            <a:r>
              <a:rPr lang="zh-CN" altLang="en-US" sz="2400" dirty="0"/>
              <a:t>）公式解读</a:t>
            </a:r>
            <a:r>
              <a:rPr lang="en-US" altLang="zh-CN" sz="2400" dirty="0"/>
              <a:t>--</a:t>
            </a:r>
            <a:r>
              <a:rPr lang="zh-CN" altLang="en-US" sz="2400" dirty="0"/>
              <a:t>几何一致性</a:t>
            </a:r>
          </a:p>
          <a:p>
            <a:endParaRPr lang="en-US" altLang="zh-CN" sz="2400" dirty="0"/>
          </a:p>
        </p:txBody>
      </p:sp>
      <p:pic>
        <p:nvPicPr>
          <p:cNvPr id="4" name="图片 3">
            <a:extLst>
              <a:ext uri="{FF2B5EF4-FFF2-40B4-BE49-F238E27FC236}">
                <a16:creationId xmlns:a16="http://schemas.microsoft.com/office/drawing/2014/main" id="{1087348F-50A5-C420-C3A8-DF44A959F089}"/>
              </a:ext>
            </a:extLst>
          </p:cNvPr>
          <p:cNvPicPr>
            <a:picLocks noChangeAspect="1"/>
          </p:cNvPicPr>
          <p:nvPr/>
        </p:nvPicPr>
        <p:blipFill>
          <a:blip r:embed="rId4"/>
          <a:stretch>
            <a:fillRect/>
          </a:stretch>
        </p:blipFill>
        <p:spPr>
          <a:xfrm>
            <a:off x="3682998" y="1666369"/>
            <a:ext cx="4153480" cy="457264"/>
          </a:xfrm>
          <a:prstGeom prst="rect">
            <a:avLst/>
          </a:prstGeom>
        </p:spPr>
      </p:pic>
      <p:pic>
        <p:nvPicPr>
          <p:cNvPr id="5" name="图片 4">
            <a:extLst>
              <a:ext uri="{FF2B5EF4-FFF2-40B4-BE49-F238E27FC236}">
                <a16:creationId xmlns:a16="http://schemas.microsoft.com/office/drawing/2014/main" id="{6B45ABE1-0E76-365C-4EFB-D47D1D478054}"/>
              </a:ext>
            </a:extLst>
          </p:cNvPr>
          <p:cNvPicPr>
            <a:picLocks noChangeAspect="1"/>
          </p:cNvPicPr>
          <p:nvPr/>
        </p:nvPicPr>
        <p:blipFill>
          <a:blip r:embed="rId5"/>
          <a:stretch>
            <a:fillRect/>
          </a:stretch>
        </p:blipFill>
        <p:spPr>
          <a:xfrm>
            <a:off x="2854207" y="2510403"/>
            <a:ext cx="5811061" cy="1038370"/>
          </a:xfrm>
          <a:prstGeom prst="rect">
            <a:avLst/>
          </a:prstGeom>
        </p:spPr>
      </p:pic>
      <p:pic>
        <p:nvPicPr>
          <p:cNvPr id="7" name="图片 6">
            <a:extLst>
              <a:ext uri="{FF2B5EF4-FFF2-40B4-BE49-F238E27FC236}">
                <a16:creationId xmlns:a16="http://schemas.microsoft.com/office/drawing/2014/main" id="{09EC29CF-D212-BBE3-2546-2FC51B668070}"/>
              </a:ext>
            </a:extLst>
          </p:cNvPr>
          <p:cNvPicPr>
            <a:picLocks noChangeAspect="1"/>
          </p:cNvPicPr>
          <p:nvPr/>
        </p:nvPicPr>
        <p:blipFill>
          <a:blip r:embed="rId6"/>
          <a:stretch>
            <a:fillRect/>
          </a:stretch>
        </p:blipFill>
        <p:spPr>
          <a:xfrm>
            <a:off x="4264103" y="3935543"/>
            <a:ext cx="2991267" cy="762106"/>
          </a:xfrm>
          <a:prstGeom prst="rect">
            <a:avLst/>
          </a:prstGeom>
        </p:spPr>
      </p:pic>
      <p:pic>
        <p:nvPicPr>
          <p:cNvPr id="9" name="图片 8">
            <a:extLst>
              <a:ext uri="{FF2B5EF4-FFF2-40B4-BE49-F238E27FC236}">
                <a16:creationId xmlns:a16="http://schemas.microsoft.com/office/drawing/2014/main" id="{1A284576-9238-A6CC-1C44-64723BCC82D8}"/>
              </a:ext>
            </a:extLst>
          </p:cNvPr>
          <p:cNvPicPr>
            <a:picLocks noChangeAspect="1"/>
          </p:cNvPicPr>
          <p:nvPr/>
        </p:nvPicPr>
        <p:blipFill>
          <a:blip r:embed="rId7"/>
          <a:stretch>
            <a:fillRect/>
          </a:stretch>
        </p:blipFill>
        <p:spPr>
          <a:xfrm>
            <a:off x="5100456" y="5298762"/>
            <a:ext cx="2600688" cy="438211"/>
          </a:xfrm>
          <a:prstGeom prst="rect">
            <a:avLst/>
          </a:prstGeom>
        </p:spPr>
      </p:pic>
      <p:sp>
        <p:nvSpPr>
          <p:cNvPr id="10" name="文本框 9">
            <a:extLst>
              <a:ext uri="{FF2B5EF4-FFF2-40B4-BE49-F238E27FC236}">
                <a16:creationId xmlns:a16="http://schemas.microsoft.com/office/drawing/2014/main" id="{8CFB531E-9910-DC9D-28BD-1C8114666F7E}"/>
              </a:ext>
            </a:extLst>
          </p:cNvPr>
          <p:cNvSpPr txBox="1"/>
          <p:nvPr/>
        </p:nvSpPr>
        <p:spPr>
          <a:xfrm>
            <a:off x="4070444" y="5313843"/>
            <a:ext cx="1332186" cy="369332"/>
          </a:xfrm>
          <a:prstGeom prst="rect">
            <a:avLst/>
          </a:prstGeom>
          <a:noFill/>
        </p:spPr>
        <p:txBody>
          <a:bodyPr wrap="square" rtlCol="0">
            <a:spAutoFit/>
          </a:bodyPr>
          <a:lstStyle/>
          <a:p>
            <a:r>
              <a:rPr lang="zh-CN" altLang="en-US" dirty="0"/>
              <a:t>总损失：</a:t>
            </a:r>
          </a:p>
        </p:txBody>
      </p:sp>
      <p:pic>
        <p:nvPicPr>
          <p:cNvPr id="11" name="图片 10">
            <a:extLst>
              <a:ext uri="{FF2B5EF4-FFF2-40B4-BE49-F238E27FC236}">
                <a16:creationId xmlns:a16="http://schemas.microsoft.com/office/drawing/2014/main" id="{C0FC76B0-9E54-0590-F8BC-DF2D77949AAD}"/>
              </a:ext>
            </a:extLst>
          </p:cNvPr>
          <p:cNvPicPr>
            <a:picLocks noChangeAspect="1"/>
          </p:cNvPicPr>
          <p:nvPr/>
        </p:nvPicPr>
        <p:blipFill>
          <a:blip r:embed="rId8"/>
          <a:stretch>
            <a:fillRect/>
          </a:stretch>
        </p:blipFill>
        <p:spPr>
          <a:xfrm>
            <a:off x="8074437" y="858150"/>
            <a:ext cx="3457164" cy="1818425"/>
          </a:xfrm>
          <a:prstGeom prst="rect">
            <a:avLst/>
          </a:prstGeom>
        </p:spPr>
      </p:pic>
    </p:spTree>
    <p:extLst>
      <p:ext uri="{BB962C8B-B14F-4D97-AF65-F5344CB8AC3E}">
        <p14:creationId xmlns:p14="http://schemas.microsoft.com/office/powerpoint/2010/main" val="3158829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grpSp>
        <p:nvGrpSpPr>
          <p:cNvPr id="15" name="组合 14">
            <a:extLst>
              <a:ext uri="{FF2B5EF4-FFF2-40B4-BE49-F238E27FC236}">
                <a16:creationId xmlns:a16="http://schemas.microsoft.com/office/drawing/2014/main" id="{978C4C76-2130-43D6-ABF8-A0D42B46969B}"/>
              </a:ext>
            </a:extLst>
          </p:cNvPr>
          <p:cNvGrpSpPr/>
          <p:nvPr/>
        </p:nvGrpSpPr>
        <p:grpSpPr>
          <a:xfrm>
            <a:off x="203760" y="159728"/>
            <a:ext cx="725344" cy="619478"/>
            <a:chOff x="178632" y="159728"/>
            <a:chExt cx="725344" cy="619478"/>
          </a:xfrm>
        </p:grpSpPr>
        <p:sp>
          <p:nvSpPr>
            <p:cNvPr id="16" name="椭圆 15">
              <a:extLst>
                <a:ext uri="{FF2B5EF4-FFF2-40B4-BE49-F238E27FC236}">
                  <a16:creationId xmlns:a16="http://schemas.microsoft.com/office/drawing/2014/main" id="{841D81A0-A6FF-45E1-9BF0-05D9D5C9C10C}"/>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17" name="文本框 16">
              <a:extLst>
                <a:ext uri="{FF2B5EF4-FFF2-40B4-BE49-F238E27FC236}">
                  <a16:creationId xmlns:a16="http://schemas.microsoft.com/office/drawing/2014/main" id="{A9B7568F-9B2B-42AF-A8F3-094730C7B929}"/>
                </a:ext>
              </a:extLst>
            </p:cNvPr>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18" name="椭圆 17">
              <a:extLst>
                <a:ext uri="{FF2B5EF4-FFF2-40B4-BE49-F238E27FC236}">
                  <a16:creationId xmlns:a16="http://schemas.microsoft.com/office/drawing/2014/main" id="{9E4B6FE6-02B3-4D19-8490-9DD4D22C8311}"/>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20" name="标题占位符 1">
            <a:extLst>
              <a:ext uri="{FF2B5EF4-FFF2-40B4-BE49-F238E27FC236}">
                <a16:creationId xmlns:a16="http://schemas.microsoft.com/office/drawing/2014/main" id="{262568E6-65BB-4A70-ADA5-1C64F26B8091}"/>
              </a:ext>
            </a:extLst>
          </p:cNvPr>
          <p:cNvSpPr txBox="1"/>
          <p:nvPr/>
        </p:nvSpPr>
        <p:spPr>
          <a:xfrm>
            <a:off x="1056438" y="137746"/>
            <a:ext cx="5435600"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Experiments</a:t>
            </a: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2" name="文本框 1">
            <a:extLst>
              <a:ext uri="{FF2B5EF4-FFF2-40B4-BE49-F238E27FC236}">
                <a16:creationId xmlns:a16="http://schemas.microsoft.com/office/drawing/2014/main" id="{B4C1F4FE-67A2-7310-37D9-A4BDDA7F36EB}"/>
              </a:ext>
            </a:extLst>
          </p:cNvPr>
          <p:cNvSpPr txBox="1"/>
          <p:nvPr/>
        </p:nvSpPr>
        <p:spPr>
          <a:xfrm>
            <a:off x="638873" y="948790"/>
            <a:ext cx="3737183" cy="461665"/>
          </a:xfrm>
          <a:prstGeom prst="rect">
            <a:avLst/>
          </a:prstGeom>
          <a:noFill/>
        </p:spPr>
        <p:txBody>
          <a:bodyPr wrap="square" rtlCol="0">
            <a:spAutoFit/>
          </a:bodyPr>
          <a:lstStyle/>
          <a:p>
            <a:r>
              <a:rPr lang="zh-CN" altLang="en-US" sz="2400" dirty="0"/>
              <a:t>（</a:t>
            </a:r>
            <a:r>
              <a:rPr lang="en-US" altLang="zh-CN" sz="2400" dirty="0"/>
              <a:t>1</a:t>
            </a:r>
            <a:r>
              <a:rPr lang="zh-CN" altLang="en-US" sz="2400" dirty="0"/>
              <a:t>）实验设置</a:t>
            </a:r>
            <a:r>
              <a:rPr lang="en-US" altLang="zh-CN" sz="2400" dirty="0"/>
              <a:t>—</a:t>
            </a:r>
            <a:r>
              <a:rPr lang="zh-CN" altLang="en-US" sz="2400" dirty="0"/>
              <a:t>数据集</a:t>
            </a:r>
            <a:endParaRPr lang="en-US" altLang="zh-CN" sz="2400" dirty="0"/>
          </a:p>
        </p:txBody>
      </p:sp>
      <p:sp>
        <p:nvSpPr>
          <p:cNvPr id="8" name="文本框 7">
            <a:extLst>
              <a:ext uri="{FF2B5EF4-FFF2-40B4-BE49-F238E27FC236}">
                <a16:creationId xmlns:a16="http://schemas.microsoft.com/office/drawing/2014/main" id="{76B24134-0AB9-76FE-3545-8B52DD69E009}"/>
              </a:ext>
            </a:extLst>
          </p:cNvPr>
          <p:cNvSpPr txBox="1"/>
          <p:nvPr/>
        </p:nvSpPr>
        <p:spPr>
          <a:xfrm>
            <a:off x="851338" y="1471907"/>
            <a:ext cx="8824497" cy="1883657"/>
          </a:xfrm>
          <a:prstGeom prst="rect">
            <a:avLst/>
          </a:prstGeom>
          <a:noFill/>
        </p:spPr>
        <p:txBody>
          <a:bodyPr wrap="square">
            <a:spAutoFit/>
          </a:bodyPr>
          <a:lstStyle/>
          <a:p>
            <a:pPr>
              <a:lnSpc>
                <a:spcPct val="150000"/>
              </a:lnSpc>
            </a:pPr>
            <a:r>
              <a:rPr lang="zh-CN" altLang="en-US" sz="2000" dirty="0"/>
              <a:t>( 一 ) 分类数据集</a:t>
            </a:r>
            <a:r>
              <a:rPr lang="en-US" altLang="zh-CN" sz="2000" dirty="0"/>
              <a:t>CASIA-SURF </a:t>
            </a:r>
            <a:r>
              <a:rPr lang="zh-CN" altLang="en-US" sz="2000" dirty="0"/>
              <a:t>、</a:t>
            </a:r>
            <a:r>
              <a:rPr lang="en-US" altLang="zh-CN" sz="2000" dirty="0"/>
              <a:t> </a:t>
            </a:r>
            <a:r>
              <a:rPr lang="en-US" altLang="zh-CN" sz="2000" dirty="0" err="1"/>
              <a:t>CeFA</a:t>
            </a:r>
            <a:endParaRPr lang="en-US" altLang="zh-CN" sz="2000" dirty="0"/>
          </a:p>
          <a:p>
            <a:pPr>
              <a:lnSpc>
                <a:spcPct val="150000"/>
              </a:lnSpc>
            </a:pPr>
            <a:r>
              <a:rPr lang="en-US" altLang="zh-CN" sz="2000" dirty="0"/>
              <a:t>         RGB  Depth  infrared (IR)</a:t>
            </a:r>
          </a:p>
          <a:p>
            <a:pPr>
              <a:lnSpc>
                <a:spcPct val="150000"/>
              </a:lnSpc>
            </a:pPr>
            <a:r>
              <a:rPr lang="zh-CN" altLang="en-US" sz="2000" dirty="0"/>
              <a:t>( 二 ) 分割数据集</a:t>
            </a:r>
            <a:r>
              <a:rPr lang="en-US" altLang="zh-CN" sz="2000" dirty="0"/>
              <a:t>NYUv2  </a:t>
            </a:r>
            <a:r>
              <a:rPr lang="zh-CN" altLang="en-US" sz="2000" dirty="0"/>
              <a:t>、</a:t>
            </a:r>
            <a:r>
              <a:rPr lang="en-US" altLang="zh-CN" sz="2000" dirty="0"/>
              <a:t> Cityscapes</a:t>
            </a:r>
          </a:p>
          <a:p>
            <a:pPr>
              <a:lnSpc>
                <a:spcPct val="150000"/>
              </a:lnSpc>
            </a:pPr>
            <a:r>
              <a:rPr lang="en-US" altLang="zh-CN" sz="2000" dirty="0"/>
              <a:t> </a:t>
            </a:r>
            <a:r>
              <a:rPr lang="zh-CN" altLang="en-US" sz="2000" dirty="0"/>
              <a:t>        </a:t>
            </a:r>
            <a:r>
              <a:rPr lang="en-US" altLang="zh-CN" sz="2000" dirty="0"/>
              <a:t>RGB  Depth</a:t>
            </a:r>
            <a:endParaRPr lang="zh-CN" altLang="en-US" sz="2000" dirty="0"/>
          </a:p>
        </p:txBody>
      </p:sp>
    </p:spTree>
    <p:extLst>
      <p:ext uri="{BB962C8B-B14F-4D97-AF65-F5344CB8AC3E}">
        <p14:creationId xmlns:p14="http://schemas.microsoft.com/office/powerpoint/2010/main" val="1369034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grpSp>
        <p:nvGrpSpPr>
          <p:cNvPr id="15" name="组合 14">
            <a:extLst>
              <a:ext uri="{FF2B5EF4-FFF2-40B4-BE49-F238E27FC236}">
                <a16:creationId xmlns:a16="http://schemas.microsoft.com/office/drawing/2014/main" id="{978C4C76-2130-43D6-ABF8-A0D42B46969B}"/>
              </a:ext>
            </a:extLst>
          </p:cNvPr>
          <p:cNvGrpSpPr/>
          <p:nvPr/>
        </p:nvGrpSpPr>
        <p:grpSpPr>
          <a:xfrm>
            <a:off x="203760" y="159728"/>
            <a:ext cx="725344" cy="619478"/>
            <a:chOff x="178632" y="159728"/>
            <a:chExt cx="725344" cy="619478"/>
          </a:xfrm>
        </p:grpSpPr>
        <p:sp>
          <p:nvSpPr>
            <p:cNvPr id="16" name="椭圆 15">
              <a:extLst>
                <a:ext uri="{FF2B5EF4-FFF2-40B4-BE49-F238E27FC236}">
                  <a16:creationId xmlns:a16="http://schemas.microsoft.com/office/drawing/2014/main" id="{841D81A0-A6FF-45E1-9BF0-05D9D5C9C10C}"/>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17" name="文本框 16">
              <a:extLst>
                <a:ext uri="{FF2B5EF4-FFF2-40B4-BE49-F238E27FC236}">
                  <a16:creationId xmlns:a16="http://schemas.microsoft.com/office/drawing/2014/main" id="{A9B7568F-9B2B-42AF-A8F3-094730C7B929}"/>
                </a:ext>
              </a:extLst>
            </p:cNvPr>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18" name="椭圆 17">
              <a:extLst>
                <a:ext uri="{FF2B5EF4-FFF2-40B4-BE49-F238E27FC236}">
                  <a16:creationId xmlns:a16="http://schemas.microsoft.com/office/drawing/2014/main" id="{9E4B6FE6-02B3-4D19-8490-9DD4D22C8311}"/>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20" name="标题占位符 1">
            <a:extLst>
              <a:ext uri="{FF2B5EF4-FFF2-40B4-BE49-F238E27FC236}">
                <a16:creationId xmlns:a16="http://schemas.microsoft.com/office/drawing/2014/main" id="{262568E6-65BB-4A70-ADA5-1C64F26B8091}"/>
              </a:ext>
            </a:extLst>
          </p:cNvPr>
          <p:cNvSpPr txBox="1"/>
          <p:nvPr/>
        </p:nvSpPr>
        <p:spPr>
          <a:xfrm>
            <a:off x="1056438" y="137746"/>
            <a:ext cx="5435600"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Experiments</a:t>
            </a: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pic>
        <p:nvPicPr>
          <p:cNvPr id="4" name="图片 3">
            <a:extLst>
              <a:ext uri="{FF2B5EF4-FFF2-40B4-BE49-F238E27FC236}">
                <a16:creationId xmlns:a16="http://schemas.microsoft.com/office/drawing/2014/main" id="{69E27B2F-F7FB-55B1-5AA7-E006291AB11F}"/>
              </a:ext>
            </a:extLst>
          </p:cNvPr>
          <p:cNvPicPr>
            <a:picLocks noChangeAspect="1"/>
          </p:cNvPicPr>
          <p:nvPr/>
        </p:nvPicPr>
        <p:blipFill>
          <a:blip r:embed="rId4"/>
          <a:stretch>
            <a:fillRect/>
          </a:stretch>
        </p:blipFill>
        <p:spPr>
          <a:xfrm>
            <a:off x="3359427" y="905926"/>
            <a:ext cx="5460446" cy="5470633"/>
          </a:xfrm>
          <a:prstGeom prst="rect">
            <a:avLst/>
          </a:prstGeom>
        </p:spPr>
      </p:pic>
      <p:sp>
        <p:nvSpPr>
          <p:cNvPr id="5" name="矩形 4">
            <a:extLst>
              <a:ext uri="{FF2B5EF4-FFF2-40B4-BE49-F238E27FC236}">
                <a16:creationId xmlns:a16="http://schemas.microsoft.com/office/drawing/2014/main" id="{46BB6225-64F1-4279-8AC3-DEE5B479077E}"/>
              </a:ext>
            </a:extLst>
          </p:cNvPr>
          <p:cNvSpPr/>
          <p:nvPr/>
        </p:nvSpPr>
        <p:spPr>
          <a:xfrm>
            <a:off x="3359427" y="1277007"/>
            <a:ext cx="1149511" cy="3862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E8C07E47-0C14-D581-6B6A-DD61B96CAF71}"/>
              </a:ext>
            </a:extLst>
          </p:cNvPr>
          <p:cNvSpPr/>
          <p:nvPr/>
        </p:nvSpPr>
        <p:spPr>
          <a:xfrm>
            <a:off x="3359426" y="1693296"/>
            <a:ext cx="1149511" cy="3410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C961FCD-316D-1611-35C0-13B2CBE8D47A}"/>
              </a:ext>
            </a:extLst>
          </p:cNvPr>
          <p:cNvSpPr/>
          <p:nvPr/>
        </p:nvSpPr>
        <p:spPr>
          <a:xfrm>
            <a:off x="3359425" y="2064371"/>
            <a:ext cx="1149511" cy="1223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D3C8C967-09CC-16E4-44CC-7FCC301826B4}"/>
              </a:ext>
            </a:extLst>
          </p:cNvPr>
          <p:cNvSpPr/>
          <p:nvPr/>
        </p:nvSpPr>
        <p:spPr>
          <a:xfrm>
            <a:off x="3359424" y="2209657"/>
            <a:ext cx="1149511" cy="3862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2879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直接连接符 50"/>
          <p:cNvCxnSpPr/>
          <p:nvPr/>
        </p:nvCxnSpPr>
        <p:spPr>
          <a:xfrm>
            <a:off x="660400" y="760413"/>
            <a:ext cx="10858500" cy="0"/>
          </a:xfrm>
          <a:prstGeom prst="line">
            <a:avLst/>
          </a:prstGeom>
          <a:noFill/>
          <a:ln w="22225" cap="flat" cmpd="sng" algn="ctr">
            <a:solidFill>
              <a:srgbClr val="1C6299"/>
            </a:solidFill>
            <a:prstDash val="solid"/>
            <a:miter lim="800000"/>
          </a:ln>
          <a:effectLst/>
        </p:spPr>
      </p:cxnSp>
      <p:sp>
        <p:nvSpPr>
          <p:cNvPr id="52" name="标题占位符 1"/>
          <p:cNvSpPr txBox="1"/>
          <p:nvPr/>
        </p:nvSpPr>
        <p:spPr>
          <a:xfrm>
            <a:off x="965200" y="-100014"/>
            <a:ext cx="5435600" cy="817564"/>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59" name="文本框 58"/>
          <p:cNvSpPr txBox="1"/>
          <p:nvPr/>
        </p:nvSpPr>
        <p:spPr>
          <a:xfrm>
            <a:off x="660400" y="6583649"/>
            <a:ext cx="1941557"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600" normalizeH="0" baseline="0" noProof="0" dirty="0">
                <a:ln>
                  <a:noFill/>
                </a:ln>
                <a:solidFill>
                  <a:prstClr val="white"/>
                </a:solidFill>
                <a:effectLst/>
                <a:uLnTx/>
                <a:uFillTx/>
                <a:cs typeface="+mn-ea"/>
                <a:sym typeface="+mn-lt"/>
              </a:rPr>
              <a:t>自强不息 厚德载物</a:t>
            </a:r>
          </a:p>
        </p:txBody>
      </p:sp>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24913" y="176378"/>
            <a:ext cx="1897854" cy="555905"/>
          </a:xfrm>
          <a:prstGeom prst="rect">
            <a:avLst/>
          </a:prstGeom>
        </p:spPr>
      </p:pic>
      <p:sp>
        <p:nvSpPr>
          <p:cNvPr id="62" name="矩形 61"/>
          <p:cNvSpPr/>
          <p:nvPr/>
        </p:nvSpPr>
        <p:spPr>
          <a:xfrm>
            <a:off x="0" y="6570000"/>
            <a:ext cx="12192000" cy="288000"/>
          </a:xfrm>
          <a:prstGeom prst="rect">
            <a:avLst/>
          </a:prstGeom>
          <a:solidFill>
            <a:srgbClr val="1C6299"/>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63" name="文本框 62"/>
          <p:cNvSpPr txBox="1"/>
          <p:nvPr/>
        </p:nvSpPr>
        <p:spPr>
          <a:xfrm>
            <a:off x="594090" y="6583649"/>
            <a:ext cx="2031325" cy="246221"/>
          </a:xfrm>
          <a:prstGeom prst="rect">
            <a:avLst/>
          </a:prstGeom>
          <a:noFill/>
        </p:spPr>
        <p:txBody>
          <a:bodyPr wrap="none" rtlCol="0">
            <a:spAutoFit/>
          </a:bodyPr>
          <a:lstStyle/>
          <a:p>
            <a:pPr lvl="0">
              <a:defRPr/>
            </a:pPr>
            <a:r>
              <a:rPr lang="zh-CN" altLang="en-US" sz="1000" spc="600" dirty="0">
                <a:solidFill>
                  <a:prstClr val="white"/>
                </a:solidFill>
                <a:cs typeface="+mn-ea"/>
                <a:sym typeface="+mn-lt"/>
              </a:rPr>
              <a:t>知行合一、经世致用</a:t>
            </a:r>
            <a:endParaRPr kumimoji="0" lang="zh-CN" altLang="en-US" sz="1000" b="0" i="0" u="none" strike="noStrike" kern="1200" cap="none" spc="600" normalizeH="0" baseline="0" noProof="0" dirty="0">
              <a:ln>
                <a:noFill/>
              </a:ln>
              <a:solidFill>
                <a:prstClr val="white"/>
              </a:solidFill>
              <a:effectLst/>
              <a:uLnTx/>
              <a:uFillTx/>
              <a:cs typeface="+mn-ea"/>
              <a:sym typeface="+mn-lt"/>
            </a:endParaRPr>
          </a:p>
        </p:txBody>
      </p:sp>
      <p:sp>
        <p:nvSpPr>
          <p:cNvPr id="64" name="文本框 63"/>
          <p:cNvSpPr txBox="1"/>
          <p:nvPr/>
        </p:nvSpPr>
        <p:spPr>
          <a:xfrm>
            <a:off x="9137792" y="6583649"/>
            <a:ext cx="2484975" cy="246221"/>
          </a:xfrm>
          <a:prstGeom prst="rect">
            <a:avLst/>
          </a:prstGeom>
          <a:noFill/>
        </p:spPr>
        <p:txBody>
          <a:bodyPr wrap="none" rtlCol="0">
            <a:spAutoFit/>
          </a:bodyPr>
          <a:lstStyle/>
          <a:p>
            <a:pPr lvl="0" algn="r">
              <a:defRPr/>
            </a:pPr>
            <a:r>
              <a:rPr lang="en-US" altLang="zh-CN" sz="1000" spc="300" dirty="0">
                <a:solidFill>
                  <a:prstClr val="white"/>
                </a:solidFill>
                <a:cs typeface="+mn-ea"/>
                <a:sym typeface="+mn-lt"/>
              </a:rPr>
              <a:t>Central South University</a:t>
            </a:r>
            <a:endParaRPr kumimoji="0" lang="zh-CN" altLang="en-US" sz="1000" b="0" i="0" u="none" strike="noStrike" kern="1200" cap="none" spc="300" normalizeH="0" baseline="0" noProof="0" dirty="0">
              <a:ln>
                <a:noFill/>
              </a:ln>
              <a:solidFill>
                <a:prstClr val="white"/>
              </a:solidFill>
              <a:effectLst/>
              <a:uLnTx/>
              <a:uFillTx/>
              <a:cs typeface="+mn-ea"/>
              <a:sym typeface="+mn-lt"/>
            </a:endParaRPr>
          </a:p>
        </p:txBody>
      </p:sp>
      <p:grpSp>
        <p:nvGrpSpPr>
          <p:cNvPr id="15" name="组合 14">
            <a:extLst>
              <a:ext uri="{FF2B5EF4-FFF2-40B4-BE49-F238E27FC236}">
                <a16:creationId xmlns:a16="http://schemas.microsoft.com/office/drawing/2014/main" id="{978C4C76-2130-43D6-ABF8-A0D42B46969B}"/>
              </a:ext>
            </a:extLst>
          </p:cNvPr>
          <p:cNvGrpSpPr/>
          <p:nvPr/>
        </p:nvGrpSpPr>
        <p:grpSpPr>
          <a:xfrm>
            <a:off x="203760" y="159728"/>
            <a:ext cx="725344" cy="619478"/>
            <a:chOff x="178632" y="159728"/>
            <a:chExt cx="725344" cy="619478"/>
          </a:xfrm>
        </p:grpSpPr>
        <p:sp>
          <p:nvSpPr>
            <p:cNvPr id="16" name="椭圆 15">
              <a:extLst>
                <a:ext uri="{FF2B5EF4-FFF2-40B4-BE49-F238E27FC236}">
                  <a16:creationId xmlns:a16="http://schemas.microsoft.com/office/drawing/2014/main" id="{841D81A0-A6FF-45E1-9BF0-05D9D5C9C10C}"/>
                </a:ext>
              </a:extLst>
            </p:cNvPr>
            <p:cNvSpPr/>
            <p:nvPr/>
          </p:nvSpPr>
          <p:spPr>
            <a:xfrm>
              <a:off x="358210" y="159728"/>
              <a:ext cx="468000" cy="468000"/>
            </a:xfrm>
            <a:prstGeom prst="ellipse">
              <a:avLst/>
            </a:prstGeom>
            <a:gradFill>
              <a:gsLst>
                <a:gs pos="0">
                  <a:srgbClr val="1C6299"/>
                </a:gs>
                <a:gs pos="100000">
                  <a:srgbClr val="5C307D">
                    <a:alpha val="9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sp>
          <p:nvSpPr>
            <p:cNvPr id="17" name="文本框 16">
              <a:extLst>
                <a:ext uri="{FF2B5EF4-FFF2-40B4-BE49-F238E27FC236}">
                  <a16:creationId xmlns:a16="http://schemas.microsoft.com/office/drawing/2014/main" id="{A9B7568F-9B2B-42AF-A8F3-094730C7B929}"/>
                </a:ext>
              </a:extLst>
            </p:cNvPr>
            <p:cNvSpPr txBox="1"/>
            <p:nvPr/>
          </p:nvSpPr>
          <p:spPr>
            <a:xfrm>
              <a:off x="230876" y="233483"/>
              <a:ext cx="6731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1"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a:t>
              </a:r>
              <a:endParaRPr kumimoji="0" lang="zh-CN" altLang="en-US" sz="1600" b="0" i="1" u="none" strike="noStrike" kern="1200" cap="none" spc="0" normalizeH="0" baseline="0" noProof="0" dirty="0">
                <a:ln>
                  <a:noFill/>
                </a:ln>
                <a:solidFill>
                  <a:prstClr val="white"/>
                </a:solidFill>
                <a:effectLst/>
                <a:uLnTx/>
                <a:uFillTx/>
                <a:cs typeface="+mn-ea"/>
                <a:sym typeface="+mn-lt"/>
              </a:endParaRPr>
            </a:p>
          </p:txBody>
        </p:sp>
        <p:sp>
          <p:nvSpPr>
            <p:cNvPr id="18" name="椭圆 17">
              <a:extLst>
                <a:ext uri="{FF2B5EF4-FFF2-40B4-BE49-F238E27FC236}">
                  <a16:creationId xmlns:a16="http://schemas.microsoft.com/office/drawing/2014/main" id="{9E4B6FE6-02B3-4D19-8490-9DD4D22C8311}"/>
                </a:ext>
              </a:extLst>
            </p:cNvPr>
            <p:cNvSpPr/>
            <p:nvPr/>
          </p:nvSpPr>
          <p:spPr>
            <a:xfrm>
              <a:off x="178632" y="602993"/>
              <a:ext cx="176213" cy="176213"/>
            </a:xfrm>
            <a:prstGeom prst="ellipse">
              <a:avLst/>
            </a:prstGeom>
            <a:gradFill>
              <a:gsLst>
                <a:gs pos="0">
                  <a:srgbClr val="1C6299"/>
                </a:gs>
                <a:gs pos="100000">
                  <a:srgbClr val="5C307D">
                    <a:alpha val="90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1" u="none" strike="noStrike" kern="1200" cap="none" spc="0" normalizeH="0" baseline="0" noProof="0" dirty="0">
                <a:ln>
                  <a:noFill/>
                </a:ln>
                <a:solidFill>
                  <a:prstClr val="white"/>
                </a:solidFill>
                <a:effectLst/>
                <a:uLnTx/>
                <a:uFillTx/>
                <a:cs typeface="+mn-ea"/>
                <a:sym typeface="+mn-lt"/>
              </a:endParaRPr>
            </a:p>
          </p:txBody>
        </p:sp>
      </p:grpSp>
      <p:sp>
        <p:nvSpPr>
          <p:cNvPr id="20" name="标题占位符 1">
            <a:extLst>
              <a:ext uri="{FF2B5EF4-FFF2-40B4-BE49-F238E27FC236}">
                <a16:creationId xmlns:a16="http://schemas.microsoft.com/office/drawing/2014/main" id="{262568E6-65BB-4A70-ADA5-1C64F26B8091}"/>
              </a:ext>
            </a:extLst>
          </p:cNvPr>
          <p:cNvSpPr txBox="1"/>
          <p:nvPr/>
        </p:nvSpPr>
        <p:spPr>
          <a:xfrm>
            <a:off x="1056438" y="137746"/>
            <a:ext cx="5435600" cy="506497"/>
          </a:xfrm>
          <a:prstGeom prst="rect">
            <a:avLst/>
          </a:prstGeom>
          <a:ln>
            <a:noFill/>
          </a:ln>
        </p:spPr>
        <p:txBody>
          <a:bodyPr vert="horz" lIns="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en-US" altLang="zh-CN" sz="2600" b="1" noProof="0" dirty="0">
                <a:ln>
                  <a:noFill/>
                </a:ln>
                <a:solidFill>
                  <a:sysClr val="windowText" lastClr="000000"/>
                </a:solidFill>
                <a:effectLst/>
                <a:uLnTx/>
                <a:uFillTx/>
                <a:latin typeface="Arial" panose="020B0604020202020204"/>
                <a:ea typeface="微软雅黑" panose="020B0503020204020204" pitchFamily="34" charset="-122"/>
                <a:sym typeface="+mn-ea"/>
              </a:rPr>
              <a:t>Experiments</a:t>
            </a:r>
            <a:endParaRPr kumimoji="0" lang="zh-CN" altLang="en-US" sz="2600" b="1" i="0" u="none" strike="noStrike" kern="1200" cap="none" spc="0" normalizeH="0" baseline="0" noProof="0" dirty="0">
              <a:ln>
                <a:noFill/>
              </a:ln>
              <a:solidFill>
                <a:sysClr val="windowText" lastClr="000000"/>
              </a:solidFill>
              <a:effectLst/>
              <a:uLnTx/>
              <a:uFillTx/>
              <a:latin typeface="+mn-lt"/>
              <a:ea typeface="+mn-ea"/>
              <a:cs typeface="+mn-ea"/>
              <a:sym typeface="+mn-lt"/>
            </a:endParaRPr>
          </a:p>
        </p:txBody>
      </p:sp>
      <p:sp>
        <p:nvSpPr>
          <p:cNvPr id="2" name="文本框 1">
            <a:extLst>
              <a:ext uri="{FF2B5EF4-FFF2-40B4-BE49-F238E27FC236}">
                <a16:creationId xmlns:a16="http://schemas.microsoft.com/office/drawing/2014/main" id="{B4C1F4FE-67A2-7310-37D9-A4BDDA7F36EB}"/>
              </a:ext>
            </a:extLst>
          </p:cNvPr>
          <p:cNvSpPr txBox="1"/>
          <p:nvPr/>
        </p:nvSpPr>
        <p:spPr>
          <a:xfrm>
            <a:off x="638873" y="948790"/>
            <a:ext cx="8570441" cy="830997"/>
          </a:xfrm>
          <a:prstGeom prst="rect">
            <a:avLst/>
          </a:prstGeom>
          <a:noFill/>
        </p:spPr>
        <p:txBody>
          <a:bodyPr wrap="square" rtlCol="0">
            <a:spAutoFit/>
          </a:bodyPr>
          <a:lstStyle/>
          <a:p>
            <a:r>
              <a:rPr lang="zh-CN" altLang="en-US" sz="2400" dirty="0"/>
              <a:t>（</a:t>
            </a:r>
            <a:r>
              <a:rPr lang="en-US" altLang="zh-CN" sz="2400" dirty="0"/>
              <a:t>3</a:t>
            </a:r>
            <a:r>
              <a:rPr lang="zh-CN" altLang="en-US" sz="2400" dirty="0"/>
              <a:t>）消融实验</a:t>
            </a:r>
            <a:endParaRPr lang="en-US" altLang="zh-CN" sz="2400" dirty="0"/>
          </a:p>
          <a:p>
            <a:endParaRPr lang="en-US" altLang="zh-CN" sz="2400" dirty="0"/>
          </a:p>
        </p:txBody>
      </p:sp>
      <p:pic>
        <p:nvPicPr>
          <p:cNvPr id="3" name="图片 2">
            <a:extLst>
              <a:ext uri="{FF2B5EF4-FFF2-40B4-BE49-F238E27FC236}">
                <a16:creationId xmlns:a16="http://schemas.microsoft.com/office/drawing/2014/main" id="{EAAC8D53-051C-CBF9-C658-DCB24ED77C0E}"/>
              </a:ext>
            </a:extLst>
          </p:cNvPr>
          <p:cNvPicPr>
            <a:picLocks noChangeAspect="1"/>
          </p:cNvPicPr>
          <p:nvPr/>
        </p:nvPicPr>
        <p:blipFill>
          <a:blip r:embed="rId4"/>
          <a:stretch>
            <a:fillRect/>
          </a:stretch>
        </p:blipFill>
        <p:spPr>
          <a:xfrm>
            <a:off x="2793540" y="1968163"/>
            <a:ext cx="6592220" cy="1838582"/>
          </a:xfrm>
          <a:prstGeom prst="rect">
            <a:avLst/>
          </a:prstGeom>
        </p:spPr>
      </p:pic>
    </p:spTree>
    <p:extLst>
      <p:ext uri="{BB962C8B-B14F-4D97-AF65-F5344CB8AC3E}">
        <p14:creationId xmlns:p14="http://schemas.microsoft.com/office/powerpoint/2010/main" val="18335983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951492"/>
            <a:ext cx="12192001" cy="1838567"/>
          </a:xfrm>
          <a:prstGeom prst="rect">
            <a:avLst/>
          </a:prstGeom>
          <a:solidFill>
            <a:srgbClr val="1C62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cs typeface="+mn-ea"/>
              <a:sym typeface="+mn-lt"/>
            </a:endParaRPr>
          </a:p>
        </p:txBody>
      </p:sp>
      <p:sp>
        <p:nvSpPr>
          <p:cNvPr id="7" name="文本框 6"/>
          <p:cNvSpPr txBox="1"/>
          <p:nvPr/>
        </p:nvSpPr>
        <p:spPr>
          <a:xfrm>
            <a:off x="5644784" y="2252225"/>
            <a:ext cx="3793130" cy="923330"/>
          </a:xfrm>
          <a:prstGeom prst="rect">
            <a:avLst/>
          </a:prstGeom>
          <a:noFill/>
        </p:spPr>
        <p:txBody>
          <a:bodyPr wrap="square" rtlCol="0">
            <a:spAutoFit/>
          </a:bodyPr>
          <a:lstStyle/>
          <a:p>
            <a:pPr defTabSz="913765">
              <a:defRPr/>
            </a:pPr>
            <a:r>
              <a:rPr lang="zh-CN" altLang="en-US" sz="5400" b="1" dirty="0">
                <a:solidFill>
                  <a:prstClr val="white"/>
                </a:solidFill>
                <a:cs typeface="+mn-ea"/>
                <a:sym typeface="+mn-lt"/>
              </a:rPr>
              <a:t>感 谢 聆 听</a:t>
            </a:r>
          </a:p>
        </p:txBody>
      </p:sp>
      <p:sp>
        <p:nvSpPr>
          <p:cNvPr id="12" name="椭圆 11"/>
          <p:cNvSpPr/>
          <p:nvPr/>
        </p:nvSpPr>
        <p:spPr>
          <a:xfrm>
            <a:off x="1524353" y="1558640"/>
            <a:ext cx="2624273" cy="2624273"/>
          </a:xfrm>
          <a:prstGeom prst="ellipse">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prstClr val="white"/>
              </a:solidFill>
              <a:cs typeface="+mn-ea"/>
              <a:sym typeface="+mn-lt"/>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181" y="1418982"/>
            <a:ext cx="3140616" cy="2903588"/>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3751" y="212782"/>
            <a:ext cx="1966449" cy="575997"/>
          </a:xfrm>
          <a:prstGeom prst="rect">
            <a:avLst/>
          </a:prstGeom>
        </p:spPr>
      </p:pic>
      <p:sp>
        <p:nvSpPr>
          <p:cNvPr id="19" name="矩形 18"/>
          <p:cNvSpPr/>
          <p:nvPr/>
        </p:nvSpPr>
        <p:spPr>
          <a:xfrm>
            <a:off x="6444598" y="3263845"/>
            <a:ext cx="6498497" cy="276956"/>
          </a:xfrm>
          <a:prstGeom prst="rect">
            <a:avLst/>
          </a:prstGeom>
        </p:spPr>
        <p:txBody>
          <a:bodyPr wrap="square" lIns="91397" tIns="45699" rIns="91397" bIns="45699">
            <a:spAutoFit/>
          </a:bodyPr>
          <a:lstStyle/>
          <a:p>
            <a:pPr defTabSz="913765">
              <a:defRPr/>
            </a:pPr>
            <a:r>
              <a:rPr lang="en-US" altLang="zh-CN" sz="1200" b="1" dirty="0">
                <a:solidFill>
                  <a:prstClr val="white"/>
                </a:solidFill>
                <a:cs typeface="+mn-ea"/>
                <a:sym typeface="+mn-lt"/>
              </a:rPr>
              <a:t>THANKS FOR ALL</a:t>
            </a:r>
          </a:p>
        </p:txBody>
      </p:sp>
    </p:spTree>
  </p:cSld>
  <p:clrMapOvr>
    <a:masterClrMapping/>
  </p:clrMapOvr>
  <mc:AlternateContent xmlns:mc="http://schemas.openxmlformats.org/markup-compatibility/2006" xmlns:p14="http://schemas.microsoft.com/office/powerpoint/2010/main">
    <mc:Choice Requires="p14">
      <p:transition p14:dur="0" advClick="0" advTm="1000"/>
    </mc:Choice>
    <mc:Fallback xmlns="">
      <p:transition advClick="0" advTm="1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wbeyijpg">
      <a:majorFont>
        <a:latin typeface="Times New Roman" panose="020F0302020204030204"/>
        <a:ea typeface="微软雅黑"/>
        <a:cs typeface=""/>
      </a:majorFont>
      <a:minorFont>
        <a:latin typeface="Times New Roman"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4-2</Template>
  <TotalTime>29608</TotalTime>
  <Words>1494</Words>
  <Application>Microsoft Office PowerPoint</Application>
  <PresentationFormat>宽屏</PresentationFormat>
  <Paragraphs>147</Paragraphs>
  <Slides>15</Slides>
  <Notes>14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-apple-system</vt:lpstr>
      <vt:lpstr>ui-sans-serif</vt:lpstr>
      <vt:lpstr>等线</vt:lpstr>
      <vt:lpstr>微软雅黑</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won gary</dc:creator>
  <cp:lastModifiedBy>津华 张</cp:lastModifiedBy>
  <cp:revision>1163</cp:revision>
  <dcterms:created xsi:type="dcterms:W3CDTF">2022-04-19T02:24:36Z</dcterms:created>
  <dcterms:modified xsi:type="dcterms:W3CDTF">2025-11-08T12:19:07Z</dcterms:modified>
</cp:coreProperties>
</file>