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3" r:id="rId1"/>
    <p:sldMasterId id="2147483666" r:id="rId2"/>
  </p:sldMasterIdLst>
  <p:notesMasterIdLst>
    <p:notesMasterId r:id="rId18"/>
  </p:notesMasterIdLst>
  <p:sldIdLst>
    <p:sldId id="3228" r:id="rId3"/>
    <p:sldId id="3233" r:id="rId4"/>
    <p:sldId id="3262" r:id="rId5"/>
    <p:sldId id="3283" r:id="rId6"/>
    <p:sldId id="3292" r:id="rId7"/>
    <p:sldId id="3281" r:id="rId8"/>
    <p:sldId id="3284" r:id="rId9"/>
    <p:sldId id="3285" r:id="rId10"/>
    <p:sldId id="3286" r:id="rId11"/>
    <p:sldId id="3287" r:id="rId12"/>
    <p:sldId id="3267" r:id="rId13"/>
    <p:sldId id="3289" r:id="rId14"/>
    <p:sldId id="3288" r:id="rId15"/>
    <p:sldId id="3290" r:id="rId16"/>
    <p:sldId id="3291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54DC"/>
    <a:srgbClr val="5B9BD5"/>
    <a:srgbClr val="FF0000"/>
    <a:srgbClr val="1A78C2"/>
    <a:srgbClr val="1A78C3"/>
    <a:srgbClr val="1B6299"/>
    <a:srgbClr val="8609AD"/>
    <a:srgbClr val="1C6299"/>
    <a:srgbClr val="1B6298"/>
    <a:srgbClr val="96C4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83039" autoAdjust="0"/>
  </p:normalViewPr>
  <p:slideViewPr>
    <p:cSldViewPr snapToGrid="0" showGuides="1">
      <p:cViewPr>
        <p:scale>
          <a:sx n="75" d="100"/>
          <a:sy n="75" d="100"/>
        </p:scale>
        <p:origin x="1956" y="4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13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“本文的第一作者是来自 </a:t>
            </a:r>
            <a:r>
              <a:rPr lang="en-US" altLang="zh-CN" b="1" i="0" dirty="0">
                <a:solidFill>
                  <a:srgbClr val="1A1C1E"/>
                </a:solidFill>
                <a:effectLst/>
                <a:latin typeface="Inter"/>
              </a:rPr>
              <a:t>MBZUAI</a:t>
            </a: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（阿联酋的一所人工智能专修大学）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 的博士生。他目前在计算机视觉领域非常活跃，除了这篇关于</a:t>
            </a: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目标检测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的文章外，他在</a:t>
            </a: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遥感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和</a:t>
            </a: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多模态大模型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方向（比如他的代表作 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GeoChat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）也有很高的引用量。”</a:t>
            </a:r>
            <a:endParaRPr lang="zh-CN" altLang="en-US" b="1" i="0" dirty="0">
              <a:solidFill>
                <a:srgbClr val="527BBD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150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3677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EEDC-66FE-0CC7-474A-BEC7647B3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3C822E-A346-9095-6A94-4F329082D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FDBDFC-1777-C542-0A0D-2E8AB28AF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613A08-1CDE-8FF9-4C51-6B467DC65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460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4BF2-D958-9CD2-C5CA-572A9135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493300-74A2-4CB9-DF45-004DF5049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CCFF08-D63C-1FB8-EF07-299C5B4C3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E4217-6B18-52FE-A296-08D7671F0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722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041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E9D9-D546-519C-C7F2-5BB98AE9B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71CC48-D037-F5F1-AC12-BB9DABC08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1B1ED-BEF2-FB9F-8E0F-B739674D5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5FEE9-4D95-4527-6A9B-8D74FBD48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405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F98A-6D1E-4B0F-FB47-92F91696D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815369-CD72-68DF-40DA-E62F3442A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3F175D-2B7E-6ADA-66EA-362A07138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CEAC93-188D-9DD5-626E-7CA631485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69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C0874-6C61-7228-306F-8FDAD573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33BF64-C8A5-AAB6-0BBE-3521BE2A1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56DAB3-386F-F84B-0373-EAB004C74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70D5FA-33CF-2FDF-C186-52AA6582C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977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03448-AFA3-9D75-3F52-F55BD431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E1BDF7-1E6F-43F8-C7ED-6DC07732A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464AA8-D80F-39CA-42D8-79A6E7C85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42C717-A542-F3BD-CECE-7577BDCBF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265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522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30D0-F35C-F343-A8C9-8527E8A7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DC5B03-D903-F7E6-F274-747F434F6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661845-C396-492F-F78A-0474CB5B8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6C367F-E0C4-C47F-92F1-FB3707D7E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187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968F-0EF1-FACE-D434-C989994F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EAC5DE-2385-9465-F61B-27F057A10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6FD2C7-6BAA-57B9-DD34-18C5D4684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4C8C95-8A1D-DF3B-1458-3AD88513E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171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F44A-DC4C-BDA3-8DC1-4DF40A489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9EAC8E-CF9B-EDA8-079B-EF6C817FC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E4FE8A-89E5-2AE4-8DDF-CE59C9AA3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AD022C-2D4B-0E5D-24DC-12C26A460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62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73D5-A9E3-2B7D-7C70-E57E99DC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AFB2EC-B86A-69D9-ADC5-364D885F0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197BCF-4A41-5495-DC4F-B425FB8CC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83D96-639B-A890-23F4-6A2B6261D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016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17" name="文本占位符 13"/>
          <p:cNvSpPr txBox="1"/>
          <p:nvPr/>
        </p:nvSpPr>
        <p:spPr>
          <a:xfrm>
            <a:off x="4581189" y="6441819"/>
            <a:ext cx="3028952" cy="2962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1" name="文本占位符 13">
            <a:extLst>
              <a:ext uri="{FF2B5EF4-FFF2-40B4-BE49-F238E27FC236}">
                <a16:creationId xmlns:a16="http://schemas.microsoft.com/office/drawing/2014/main" id="{F3FB24F5-63D6-4DE8-8E4D-977EB21B2EFE}"/>
              </a:ext>
            </a:extLst>
          </p:cNvPr>
          <p:cNvSpPr txBox="1"/>
          <p:nvPr/>
        </p:nvSpPr>
        <p:spPr>
          <a:xfrm>
            <a:off x="4581189" y="4252389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A47370-2CA9-76D6-D0CD-02AEF434179E}"/>
              </a:ext>
            </a:extLst>
          </p:cNvPr>
          <p:cNvSpPr txBox="1"/>
          <p:nvPr/>
        </p:nvSpPr>
        <p:spPr>
          <a:xfrm>
            <a:off x="4406797" y="2642582"/>
            <a:ext cx="76087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Improving Single Domain-Generalized Object Detection: A Focus on Diversification and Alignment</a:t>
            </a:r>
          </a:p>
          <a:p>
            <a:endParaRPr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B51617-3C92-81BA-6A05-E218CAC6EED2}"/>
              </a:ext>
            </a:extLst>
          </p:cNvPr>
          <p:cNvSpPr txBox="1"/>
          <p:nvPr/>
        </p:nvSpPr>
        <p:spPr>
          <a:xfrm>
            <a:off x="5406189" y="4571758"/>
            <a:ext cx="302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CVPR 2024</a:t>
            </a:r>
            <a:endParaRPr lang="zh-CN" altLang="en-US" sz="3200" dirty="0"/>
          </a:p>
        </p:txBody>
      </p:sp>
    </p:spTree>
  </p:cSld>
  <p:clrMapOvr>
    <a:masterClrMapping/>
  </p:clrMapOvr>
  <p:transition spd="slow" advClick="0" advTm="100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Authors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8698F8-10FE-9E45-DADF-35F3E9791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087" y="948790"/>
            <a:ext cx="9284982" cy="517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57746"/>
      </p:ext>
    </p:extLst>
  </p:cSld>
  <p:clrMapOvr>
    <a:masterClrMapping/>
  </p:clrMapOvr>
  <p:transition spd="slow" advClick="0" advTm="1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Introduction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94200B-0DBA-2AB8-E8EC-2CFCAE2622FA}"/>
              </a:ext>
            </a:extLst>
          </p:cNvPr>
          <p:cNvSpPr txBox="1"/>
          <p:nvPr/>
        </p:nvSpPr>
        <p:spPr>
          <a:xfrm>
            <a:off x="5222193" y="1074919"/>
            <a:ext cx="4490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研究背景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CEFAF2-B05C-770A-8F9F-7351906052BC}"/>
              </a:ext>
            </a:extLst>
          </p:cNvPr>
          <p:cNvSpPr txBox="1"/>
          <p:nvPr/>
        </p:nvSpPr>
        <p:spPr>
          <a:xfrm>
            <a:off x="466244" y="2050903"/>
            <a:ext cx="543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现代目标检测器（如 </a:t>
            </a:r>
            <a:r>
              <a:rPr lang="en-US" altLang="zh-CN" dirty="0"/>
              <a:t>Faster R-CNN, FCOS</a:t>
            </a:r>
            <a:r>
              <a:rPr lang="zh-CN" altLang="en-US" dirty="0"/>
              <a:t>）高度依赖 独立同分布 </a:t>
            </a:r>
            <a:r>
              <a:rPr lang="en-US" altLang="zh-CN" dirty="0"/>
              <a:t>(I.I.D.) </a:t>
            </a:r>
            <a:r>
              <a:rPr lang="zh-CN" altLang="en-US" dirty="0"/>
              <a:t>假设。也就是假设训练数据与测试数据采样自同一分布。然而现实情况是： 在开放世界应用中，这一假设经常被打破。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C235D6-4E2D-9CC4-9ADE-0828F9906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828" y="4535566"/>
            <a:ext cx="5259387" cy="57167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D3217F0-2791-FA7C-C879-A9D233125BCF}"/>
              </a:ext>
            </a:extLst>
          </p:cNvPr>
          <p:cNvSpPr txBox="1"/>
          <p:nvPr/>
        </p:nvSpPr>
        <p:spPr>
          <a:xfrm>
            <a:off x="466244" y="3797244"/>
            <a:ext cx="5422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域偏移现象</a:t>
            </a:r>
          </a:p>
          <a:p>
            <a:pPr lvl="1"/>
            <a:r>
              <a:rPr lang="zh-CN" altLang="en-US" dirty="0"/>
              <a:t>定义： 由于环境变化导致的数据分布不一致。</a:t>
            </a:r>
          </a:p>
          <a:p>
            <a:pPr lvl="1"/>
            <a:r>
              <a:rPr lang="zh-CN" altLang="en-US" dirty="0"/>
              <a:t>表现形式：</a:t>
            </a:r>
          </a:p>
          <a:p>
            <a:pPr lvl="2"/>
            <a:r>
              <a:rPr lang="zh-CN" altLang="en-US" dirty="0"/>
              <a:t>天气变化： 晴天 →雨天、雾天、雪天。</a:t>
            </a:r>
          </a:p>
          <a:p>
            <a:pPr lvl="2"/>
            <a:r>
              <a:rPr lang="zh-CN" altLang="en-US" dirty="0"/>
              <a:t>光照变化： 白天 →黄昏、夜间。</a:t>
            </a:r>
          </a:p>
          <a:p>
            <a:pPr lvl="2"/>
            <a:r>
              <a:rPr lang="zh-CN" altLang="en-US" dirty="0"/>
              <a:t>风格变化： 真实照片 →艺术画、草图。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A4883E-E389-F239-5D5C-03EB66E7C1D3}"/>
              </a:ext>
            </a:extLst>
          </p:cNvPr>
          <p:cNvSpPr txBox="1"/>
          <p:nvPr/>
        </p:nvSpPr>
        <p:spPr>
          <a:xfrm>
            <a:off x="6778144" y="2153775"/>
            <a:ext cx="47407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域偏移带来的后果是很严重的，可能会导致模型在源域表现优异（mAP &gt; 80%），但在目标域性能断崖式下跌（mAP &lt; 30%，这么大的性能差距也可能会带来一些安全隐患：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在自动驾驶等安全关键型应用中，这种失效可能导致严重事故（如漏检行人）。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2665457"/>
      </p:ext>
    </p:extLst>
  </p:cSld>
  <p:clrMapOvr>
    <a:masterClrMapping/>
  </p:clrMapOvr>
  <p:transition spd="slow" advClick="0" advTm="1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9E8DA-A0E3-E6C7-0A19-4827F8D3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4354A70-FDCB-2A64-FBDF-A2A900AEDABC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CDA027F2-1380-AC0C-6DA7-CF1B654B8FCE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Introduction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CD83276-DB63-AFDA-6E56-2AB380218DEA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71E1FEFA-18F3-95FD-F318-75D3F8CE968F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FE3F58F-5726-4677-0AE5-0D75C02869E3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56074A44-6610-9442-2932-B18CB6F022AD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A7A815BB-DDD0-BE53-5602-2F604F672C76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D1CEEC78-C0BF-138A-714C-3F1D66D6CF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52069B34-0F8C-61DA-6149-F6C0A0D09D38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F7C886F-9822-A1C8-2820-508354A6929E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14461F-0E98-362F-C261-8ECB8FB104F9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6C1718-391D-F8E2-6421-17A39E238556}"/>
              </a:ext>
            </a:extLst>
          </p:cNvPr>
          <p:cNvSpPr txBox="1"/>
          <p:nvPr/>
        </p:nvSpPr>
        <p:spPr>
          <a:xfrm>
            <a:off x="4090736" y="1109044"/>
            <a:ext cx="462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i="0" dirty="0">
                <a:solidFill>
                  <a:srgbClr val="1A1C1E"/>
                </a:solidFill>
                <a:effectLst/>
                <a:latin typeface="Inter"/>
              </a:rPr>
              <a:t>现有方法局限与任务设定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4E632B-6EAC-C145-2DC1-32D1FFE4017B}"/>
              </a:ext>
            </a:extLst>
          </p:cNvPr>
          <p:cNvSpPr txBox="1"/>
          <p:nvPr/>
        </p:nvSpPr>
        <p:spPr>
          <a:xfrm>
            <a:off x="965200" y="1919339"/>
            <a:ext cx="83945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现有解决方案的局限</a:t>
            </a:r>
            <a:endParaRPr lang="en-US" altLang="zh-CN" b="1" dirty="0"/>
          </a:p>
          <a:p>
            <a:pPr lvl="1"/>
            <a:r>
              <a:rPr lang="zh-CN" altLang="en-US" dirty="0"/>
              <a:t>无监督域自适应 (UDA):</a:t>
            </a:r>
          </a:p>
          <a:p>
            <a:pPr lvl="2"/>
            <a:r>
              <a:rPr lang="zh-CN" altLang="en-US" dirty="0"/>
              <a:t>其机制是利用源域的数据和标签 + 目标域无标签数据进行联合训练。但存在一定的缺陷： 需要预先收集目标域数据，无法应对未知的、突发的场景。</a:t>
            </a:r>
          </a:p>
          <a:p>
            <a:pPr lvl="1"/>
            <a:r>
              <a:rPr lang="zh-CN" altLang="en-US" dirty="0"/>
              <a:t>多源域泛化 </a:t>
            </a:r>
            <a:endParaRPr lang="en-US" altLang="zh-CN" dirty="0"/>
          </a:p>
          <a:p>
            <a:pPr lvl="2"/>
            <a:r>
              <a:rPr lang="zh-CN" altLang="en-US" dirty="0"/>
              <a:t>其机制是收集多个不同风格的源域数据进行训练，学习不变特征。但缺陷也显而易见：数据收集和标注成本极其昂贵。</a:t>
            </a:r>
          </a:p>
          <a:p>
            <a:r>
              <a:rPr lang="zh-CN" altLang="en-US" b="1" dirty="0"/>
              <a:t>本文聚焦：单域泛化 (Single-DGOD):</a:t>
            </a:r>
          </a:p>
          <a:p>
            <a:pPr lvl="1"/>
            <a:r>
              <a:rPr lang="zh-CN" altLang="en-US" dirty="0"/>
              <a:t>定义： 仅使用单一源域数据训练，泛化到任意未知目标域。</a:t>
            </a:r>
          </a:p>
          <a:p>
            <a:pPr lvl="1"/>
            <a:r>
              <a:rPr lang="zh-CN" altLang="en-US" dirty="0"/>
              <a:t>挑战 :</a:t>
            </a:r>
          </a:p>
          <a:p>
            <a:pPr lvl="2"/>
            <a:r>
              <a:rPr lang="zh-CN" altLang="en-US" dirty="0"/>
              <a:t>数据匮乏： 缺乏多样性的训练样本。</a:t>
            </a:r>
          </a:p>
          <a:p>
            <a:pPr lvl="2"/>
            <a:r>
              <a:rPr lang="zh-CN" altLang="en-US" dirty="0"/>
              <a:t>不可见性： 训练阶段完全无法访问目标域信息（Zero-shot）。</a:t>
            </a:r>
          </a:p>
          <a:p>
            <a:pPr lvl="2"/>
            <a:r>
              <a:rPr lang="zh-CN" altLang="en-US" dirty="0"/>
              <a:t>过拟合风险： 模型极易过拟合于源域的特定风格（如纹理、背景）</a:t>
            </a:r>
          </a:p>
        </p:txBody>
      </p:sp>
    </p:spTree>
    <p:extLst>
      <p:ext uri="{BB962C8B-B14F-4D97-AF65-F5344CB8AC3E}">
        <p14:creationId xmlns:p14="http://schemas.microsoft.com/office/powerpoint/2010/main" val="1839795222"/>
      </p:ext>
    </p:extLst>
  </p:cSld>
  <p:clrMapOvr>
    <a:masterClrMapping/>
  </p:clrMapOvr>
  <p:transition spd="slow" advClick="0" advTm="1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5D84-852F-02CD-B764-1CB7CEC37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E84D973-454D-D109-D3AD-E747CFFCD1AC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F0BE8F42-2999-6FE2-1805-4EBF88663CE4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Introduction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C32BF17-3F5A-6063-AB9F-E5A578EDF81C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24B46053-5FB5-410E-EDED-BC65761450A5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2AE0F7E-D9D0-2531-5BC1-0952E84F41EC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D84C7D4B-8ED9-A9CF-E1B4-735593D22A2F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7DF1E489-B1CD-4864-E28D-7BE7E104D904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56158CC3-05A4-DC3B-16F6-2ABA902172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6B21275-6956-F325-B568-8FE64DDED0B2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C9C7345-27DA-9003-3BCF-5ADB5DB25D4F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8E0C926-BCAB-886E-27D5-661D7362CBA9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2D083A-7E66-E2C1-2230-23B4D5E961D6}"/>
              </a:ext>
            </a:extLst>
          </p:cNvPr>
          <p:cNvSpPr txBox="1"/>
          <p:nvPr/>
        </p:nvSpPr>
        <p:spPr>
          <a:xfrm>
            <a:off x="3471635" y="1066180"/>
            <a:ext cx="5248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350"/>
              </a:spcAft>
            </a:pPr>
            <a:r>
              <a:rPr lang="zh-CN" altLang="en-US" sz="2400" b="1" i="0" dirty="0">
                <a:solidFill>
                  <a:srgbClr val="1A1C1E"/>
                </a:solidFill>
                <a:effectLst/>
                <a:latin typeface="Inter"/>
              </a:rPr>
              <a:t>研究动机：从单纯多样化到鲁棒对齐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BE6CBA-6D17-27CD-4ABB-9383508DC7CD}"/>
              </a:ext>
            </a:extLst>
          </p:cNvPr>
          <p:cNvSpPr txBox="1"/>
          <p:nvPr/>
        </p:nvSpPr>
        <p:spPr>
          <a:xfrm>
            <a:off x="929104" y="1648265"/>
            <a:ext cx="104355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i="0" dirty="0">
                <a:solidFill>
                  <a:srgbClr val="1A1C1E"/>
                </a:solidFill>
                <a:effectLst/>
                <a:latin typeface="Inter"/>
              </a:rPr>
              <a:t>1. </a:t>
            </a: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单纯数据增强的局限性</a:t>
            </a:r>
          </a:p>
          <a:p>
            <a:pPr lvl="1"/>
            <a:r>
              <a:rPr lang="zh-CN" altLang="en-US" i="0" dirty="0">
                <a:solidFill>
                  <a:srgbClr val="1A1C1E"/>
                </a:solidFill>
                <a:effectLst/>
                <a:latin typeface="Inter"/>
              </a:rPr>
              <a:t>在单域设定下，通过图像增强来扩充数据多样性是最直观的解法。然而，这种策略存在深层局限：深度网络倾向于学习纹理、背景等“捷径”，导致模型容易过拟合于特定的增强模式，而非学习到真正的域不变物体表征。实验证实，仅依赖多样化虽然能提升 </a:t>
            </a:r>
            <a:r>
              <a:rPr lang="en-US" altLang="zh-CN" i="0" dirty="0">
                <a:solidFill>
                  <a:srgbClr val="1A1C1E"/>
                </a:solidFill>
                <a:effectLst/>
                <a:latin typeface="Inter"/>
              </a:rPr>
              <a:t>mAP</a:t>
            </a:r>
            <a:r>
              <a:rPr lang="zh-CN" altLang="en-US" i="0" dirty="0">
                <a:solidFill>
                  <a:srgbClr val="1A1C1E"/>
                </a:solidFill>
                <a:effectLst/>
                <a:latin typeface="Inter"/>
              </a:rPr>
              <a:t>，却会引发严重的“过度自信”问题，即模型对错误的预测也给出极高的置信度。</a:t>
            </a:r>
          </a:p>
          <a:p>
            <a:pPr algn="l"/>
            <a:r>
              <a:rPr lang="en-US" altLang="zh-CN" b="1" i="0" dirty="0">
                <a:solidFill>
                  <a:srgbClr val="1A1C1E"/>
                </a:solidFill>
                <a:effectLst/>
                <a:latin typeface="Inter"/>
              </a:rPr>
              <a:t>2. </a:t>
            </a: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预测不一致性</a:t>
            </a:r>
          </a:p>
          <a:p>
            <a:pPr lvl="1"/>
            <a:r>
              <a:rPr lang="zh-CN" altLang="en-US" i="0" dirty="0">
                <a:solidFill>
                  <a:srgbClr val="1A1C1E"/>
                </a:solidFill>
                <a:effectLst/>
                <a:latin typeface="Inter"/>
              </a:rPr>
              <a:t>作者观察到，当同一张图像的“原始版本”与“增强版本”分别输入模型时，其输出在分类和定位上均存在显著差异。这种不一致性深刻地揭示了模型对“域风格”的高度敏感性</a:t>
            </a:r>
            <a:r>
              <a:rPr lang="en-US" altLang="zh-CN" i="0" dirty="0">
                <a:solidFill>
                  <a:srgbClr val="1A1C1E"/>
                </a:solidFill>
                <a:effectLst/>
                <a:latin typeface="Inter"/>
              </a:rPr>
              <a:t>——</a:t>
            </a:r>
            <a:r>
              <a:rPr lang="zh-CN" altLang="en-US" i="0" dirty="0">
                <a:solidFill>
                  <a:srgbClr val="1A1C1E"/>
                </a:solidFill>
                <a:effectLst/>
                <a:latin typeface="Inter"/>
              </a:rPr>
              <a:t>如果模型真正理解了物体，其预测结果本不应随图像风格的变化而改变。</a:t>
            </a:r>
          </a:p>
          <a:p>
            <a:pPr algn="l"/>
            <a:r>
              <a:rPr lang="en-US" altLang="zh-CN" b="1" i="0" dirty="0">
                <a:solidFill>
                  <a:srgbClr val="1A1C1E"/>
                </a:solidFill>
                <a:effectLst/>
                <a:latin typeface="Inter"/>
              </a:rPr>
              <a:t>3. </a:t>
            </a: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核心思想：通过对齐构建域不变性</a:t>
            </a:r>
          </a:p>
          <a:p>
            <a:pPr lvl="1"/>
            <a:r>
              <a:rPr lang="zh-CN" altLang="en-US" i="0" dirty="0">
                <a:solidFill>
                  <a:srgbClr val="1A1C1E"/>
                </a:solidFill>
                <a:effectLst/>
                <a:latin typeface="Inter"/>
              </a:rPr>
              <a:t>基于此，本文的核心思想是通过“对齐”来构建域不变性。域泛化的关键在于解耦内容与风格：无论图像风格如何变化，物体的语义和位置应当保持不变。为此，我们引入“一致性约束”作为正则化手段，强制模型在原图和增强图上输出一致的类别概率和边界框坐标。这种对齐机制迫使特征提取器忽略干扰性的风格信息，专注于提取鲁棒的、本质的物体特征，从而实现真正的单域泛化。</a:t>
            </a:r>
          </a:p>
        </p:txBody>
      </p:sp>
    </p:spTree>
    <p:extLst>
      <p:ext uri="{BB962C8B-B14F-4D97-AF65-F5344CB8AC3E}">
        <p14:creationId xmlns:p14="http://schemas.microsoft.com/office/powerpoint/2010/main" val="2090384146"/>
      </p:ext>
    </p:extLst>
  </p:cSld>
  <p:clrMapOvr>
    <a:masterClrMapping/>
  </p:clrMapOvr>
  <p:transition spd="slow" advClick="0" advTm="1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Method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3D6454D-1402-36FE-6743-58539E089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82" y="1532995"/>
            <a:ext cx="4354363" cy="44190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7D80839-F4BC-15F0-32F4-98D7C11B4B97}"/>
              </a:ext>
            </a:extLst>
          </p:cNvPr>
          <p:cNvSpPr txBox="1"/>
          <p:nvPr/>
        </p:nvSpPr>
        <p:spPr>
          <a:xfrm>
            <a:off x="5434445" y="905927"/>
            <a:ext cx="2448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0" dirty="0">
                <a:effectLst/>
                <a:latin typeface="PingFang SC"/>
              </a:rPr>
              <a:t>Faster R-CNN</a:t>
            </a:r>
          </a:p>
          <a:p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3D99F4-51CD-965A-9C1F-24DA3CA164E9}"/>
              </a:ext>
            </a:extLst>
          </p:cNvPr>
          <p:cNvSpPr txBox="1"/>
          <p:nvPr/>
        </p:nvSpPr>
        <p:spPr>
          <a:xfrm>
            <a:off x="6987552" y="2413337"/>
            <a:ext cx="30737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>
                <a:effectLst/>
                <a:latin typeface="system-ui"/>
              </a:rPr>
              <a:t>Faster R-CNN </a:t>
            </a:r>
            <a:r>
              <a:rPr lang="zh-CN" altLang="en-US" b="1" i="0" dirty="0">
                <a:effectLst/>
                <a:latin typeface="system-ui"/>
              </a:rPr>
              <a:t>是一种端到端的两阶段目标检测框架。它首先通过共享卷积层提取图像特征，再由区域建议网络（</a:t>
            </a:r>
            <a:r>
              <a:rPr lang="en-US" altLang="zh-CN" b="1" i="0" dirty="0">
                <a:effectLst/>
                <a:latin typeface="system-ui"/>
              </a:rPr>
              <a:t>RPN</a:t>
            </a:r>
            <a:r>
              <a:rPr lang="zh-CN" altLang="en-US" b="1" i="0" dirty="0">
                <a:effectLst/>
                <a:latin typeface="system-ui"/>
              </a:rPr>
              <a:t>）生成候选框（</a:t>
            </a:r>
            <a:r>
              <a:rPr lang="en-US" altLang="zh-CN" b="1" i="0" dirty="0">
                <a:effectLst/>
                <a:latin typeface="system-ui"/>
              </a:rPr>
              <a:t>proposals</a:t>
            </a:r>
            <a:r>
              <a:rPr lang="zh-CN" altLang="en-US" b="1" i="0" dirty="0">
                <a:effectLst/>
                <a:latin typeface="system-ui"/>
              </a:rPr>
              <a:t>），接着对每个候选框进行 </a:t>
            </a:r>
            <a:r>
              <a:rPr lang="en-US" altLang="zh-CN" b="1" i="0" dirty="0">
                <a:effectLst/>
                <a:latin typeface="system-ui"/>
              </a:rPr>
              <a:t>RoI Pooling </a:t>
            </a:r>
            <a:r>
              <a:rPr lang="zh-CN" altLang="en-US" b="1" i="0" dirty="0">
                <a:effectLst/>
                <a:latin typeface="system-ui"/>
              </a:rPr>
              <a:t>特征对齐，最后由分类器完成类别预测与边界框精修。</a:t>
            </a:r>
          </a:p>
          <a:p>
            <a:endParaRPr lang="zh-CN" altLang="en-US" b="1" i="0" dirty="0">
              <a:solidFill>
                <a:srgbClr val="8C8D9B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3586004567"/>
      </p:ext>
    </p:extLst>
  </p:cSld>
  <p:clrMapOvr>
    <a:masterClrMapping/>
  </p:clrMapOvr>
  <p:transition spd="slow" advClick="0" advTm="1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B42A0-E45E-F8A1-4D25-AF92C029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E51AFB4-F12F-A4DF-F339-3F27FF539BF1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32F4A968-D35E-4C3D-5811-6C775E0E88ED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Method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2B87B3C-C192-1A91-E817-D9277A0B0060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B6822772-214F-4E3C-CE13-2F9EE0C5D990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72576BA9-CD30-FB76-A73D-CA89CCE28879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A84B13E-1AD8-1882-02FC-369B86E71FEA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70BEC663-5DF7-4ABB-0D76-306789196847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46190733-FAA9-3D69-3670-E88C0E0666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14F7F5FF-706A-1239-99D7-22181DD58603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F487E45-A480-5FEA-DFA3-118C38F7C608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B421B01-1E7D-783B-D92C-D7C3FB75E27D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7C0355-C933-06AF-3960-477790733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2060"/>
            <a:ext cx="12219555" cy="324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38969"/>
      </p:ext>
    </p:extLst>
  </p:cSld>
  <p:clrMapOvr>
    <a:masterClrMapping/>
  </p:clrMapOvr>
  <p:transition spd="slow" advClick="0" advTm="100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EA05-234D-1C40-B0E7-7ED6E191C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5F04F9C-F354-1D11-6FE9-8721B87C3232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D15A081F-8690-107B-BD73-E25817FB2380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Method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D0CC264-FB1D-10A6-4E06-A35CBC4994D1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D153943B-CC5F-5408-4499-BE161F3BF4F4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64FA39B-DEB6-C343-70CD-97028D325D0A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219CF596-FDDB-5374-6265-F7287893E1E1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170FD342-E553-5065-B47A-27A990DEE2B4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66386911-2107-7A74-ED20-FE3AC09B03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C9384AE0-0EDC-D95E-1F0A-C7EB0F7F2F03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E0969D6-0B53-483E-9D09-103D422EAB7C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92E64C9-9D64-2EE8-C77F-B9A5ABDAD842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1D603C-3417-8EEE-E5A3-DCFCBEA94553}"/>
              </a:ext>
            </a:extLst>
          </p:cNvPr>
          <p:cNvSpPr txBox="1"/>
          <p:nvPr/>
        </p:nvSpPr>
        <p:spPr>
          <a:xfrm>
            <a:off x="4315326" y="950495"/>
            <a:ext cx="32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第一步：源域多样化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B7DC64-3B19-DAE3-3AFB-05D4788A806C}"/>
              </a:ext>
            </a:extLst>
          </p:cNvPr>
          <p:cNvSpPr txBox="1"/>
          <p:nvPr/>
        </p:nvSpPr>
        <p:spPr>
          <a:xfrm>
            <a:off x="379973" y="1759559"/>
            <a:ext cx="52989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1.</a:t>
            </a:r>
            <a:r>
              <a:rPr lang="zh-CN" altLang="en-US" dirty="0"/>
              <a:t>目的：</a:t>
            </a:r>
          </a:p>
          <a:p>
            <a:pPr lvl="1"/>
            <a:r>
              <a:rPr lang="zh-CN" altLang="en-US" dirty="0"/>
              <a:t>在没有目标域数据的情况下，通过数据增强模拟未知的域偏移。</a:t>
            </a:r>
          </a:p>
          <a:p>
            <a:pPr lvl="1"/>
            <a:r>
              <a:rPr lang="zh-CN" altLang="en-US" dirty="0"/>
              <a:t>防止模型死记硬背源域的纹理和风格。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增强策略 </a:t>
            </a:r>
            <a:r>
              <a:rPr lang="en-US" altLang="zh-CN" dirty="0"/>
              <a:t>A —— </a:t>
            </a:r>
            <a:r>
              <a:rPr lang="zh-CN" altLang="en-US" dirty="0"/>
              <a:t>视觉破坏：</a:t>
            </a:r>
          </a:p>
          <a:p>
            <a:pPr lvl="1"/>
            <a:r>
              <a:rPr lang="zh-CN" altLang="en-US" dirty="0"/>
              <a:t>使用常见的图像处理技术，包括噪声、模糊、数字变换（如像素化、对比度调整）。</a:t>
            </a:r>
          </a:p>
          <a:p>
            <a:pPr lvl="1"/>
            <a:r>
              <a:rPr lang="zh-CN" altLang="en-US" dirty="0"/>
              <a:t>注： 为了公平比较，排除了天气相关的增强。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增强策略 </a:t>
            </a:r>
            <a:r>
              <a:rPr lang="en-US" altLang="zh-CN" dirty="0"/>
              <a:t>B —— </a:t>
            </a:r>
            <a:r>
              <a:rPr lang="zh-CN" altLang="en-US" dirty="0"/>
              <a:t>基于傅里叶变换：</a:t>
            </a:r>
          </a:p>
          <a:p>
            <a:pPr lvl="1"/>
            <a:r>
              <a:rPr lang="zh-CN" altLang="en-US" dirty="0"/>
              <a:t>利用傅里叶变换的特性：幅度谱包含风格信息，</a:t>
            </a:r>
            <a:r>
              <a:rPr lang="en-US" altLang="zh-CN" dirty="0"/>
              <a:t>			    </a:t>
            </a:r>
            <a:r>
              <a:rPr lang="zh-CN" altLang="en-US" dirty="0"/>
              <a:t>相位谱包含语义内容</a:t>
            </a:r>
          </a:p>
          <a:p>
            <a:pPr lvl="1"/>
            <a:r>
              <a:rPr lang="zh-CN" altLang="en-US" dirty="0"/>
              <a:t>操作： 保持相位不变，扰动幅度信息。</a:t>
            </a:r>
          </a:p>
          <a:p>
            <a:pPr lvl="1"/>
            <a:r>
              <a:rPr lang="zh-CN" altLang="en-US" dirty="0"/>
              <a:t>效果： 在不破坏物体结构（语义）的前提下，大幅改变图像的风格（纹理）。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435ED5-B075-BD7C-751C-E897FE658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642" y="1889565"/>
            <a:ext cx="5325430" cy="420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154298"/>
      </p:ext>
    </p:extLst>
  </p:cSld>
  <p:clrMapOvr>
    <a:masterClrMapping/>
  </p:clrMapOvr>
  <p:transition spd="slow" advClick="0" advTm="1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79ED-2591-3396-BA36-07B5A13A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6EF62603-010A-68DE-334B-B5CEE8B99654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C1D6B3A1-8C6A-25BE-3958-CD1FA9179CD7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Method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069F825-C331-62A6-C6D5-33106088D569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D2842C75-BE4E-86A8-E3D7-21456DE000A6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79E32DB5-ACFF-5A9B-9023-3387EF4AC45E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2EAA31C8-2C25-83B6-5E77-8F7BEBF2DDB4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E32A2350-CF4B-8FEE-EEC8-BFC2DEF15A95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12B92681-49A2-70AF-FD2C-452DBD02E7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FB368923-C105-34B3-159B-97F36B6DFD38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4EB2529-128A-C529-1084-E786E275978F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03066F3-4824-2D54-3C72-EA97EA8EB900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A50A69-4928-14C2-5264-B47113AFDF08}"/>
              </a:ext>
            </a:extLst>
          </p:cNvPr>
          <p:cNvSpPr txBox="1"/>
          <p:nvPr/>
        </p:nvSpPr>
        <p:spPr>
          <a:xfrm>
            <a:off x="4315326" y="950495"/>
            <a:ext cx="3545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第二步：跨视图对齐机制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59E040-2096-2D9A-FEFF-3881F40C01FB}"/>
              </a:ext>
            </a:extLst>
          </p:cNvPr>
          <p:cNvSpPr txBox="1"/>
          <p:nvPr/>
        </p:nvSpPr>
        <p:spPr>
          <a:xfrm>
            <a:off x="567191" y="1703527"/>
            <a:ext cx="55398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核心挑战 ：</a:t>
            </a:r>
          </a:p>
          <a:p>
            <a:pPr lvl="1"/>
            <a:r>
              <a:rPr lang="zh-CN" altLang="en-US" dirty="0"/>
              <a:t>增强后的图像含有噪声和模糊。这会导致区域提议网络 </a:t>
            </a:r>
            <a:r>
              <a:rPr lang="en-US" altLang="zh-CN" dirty="0"/>
              <a:t>(RPN) </a:t>
            </a:r>
            <a:r>
              <a:rPr lang="zh-CN" altLang="en-US" dirty="0"/>
              <a:t>生成的提议框与原图不一致（即</a:t>
            </a:r>
            <a:r>
              <a:rPr lang="en-US" altLang="zh-CN" i="1" dirty="0"/>
              <a:t>O</a:t>
            </a:r>
            <a:r>
              <a:rPr lang="en-US" altLang="zh-CN" i="1" baseline="30000" dirty="0"/>
              <a:t>s</a:t>
            </a:r>
            <a:r>
              <a:rPr lang="en-US" altLang="zh-CN" i="1" dirty="0"/>
              <a:t>≠O</a:t>
            </a:r>
            <a:r>
              <a:rPr lang="el-GR" altLang="zh-CN" b="0" i="1" baseline="30000" dirty="0">
                <a:solidFill>
                  <a:srgbClr val="000000"/>
                </a:solidFill>
                <a:effectLst/>
                <a:latin typeface="Helvetica Neue"/>
              </a:rPr>
              <a:t>Φ</a:t>
            </a:r>
            <a:r>
              <a:rPr lang="el-GR" altLang="zh-CN" b="0" i="0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zh-CN" altLang="en-US" dirty="0"/>
              <a:t>），如果框的位置都不同，特征就无法进行一对一的对比。</a:t>
            </a:r>
          </a:p>
          <a:p>
            <a:r>
              <a:rPr lang="zh-CN" altLang="en-US" dirty="0"/>
              <a:t>解决方案 ：</a:t>
            </a:r>
          </a:p>
          <a:p>
            <a:pPr lvl="1"/>
            <a:r>
              <a:rPr lang="zh-CN" altLang="en-US" dirty="0"/>
              <a:t>策略： 利用源域的提议框去提取增强域的特征。</a:t>
            </a:r>
          </a:p>
          <a:p>
            <a:pPr lvl="1"/>
            <a:r>
              <a:rPr lang="zh-CN" altLang="en-US" dirty="0"/>
              <a:t>具体操作：</a:t>
            </a:r>
          </a:p>
          <a:p>
            <a:pPr lvl="2"/>
            <a:r>
              <a:rPr lang="zh-CN" altLang="en-US" dirty="0"/>
              <a:t>输入：源域图像的 </a:t>
            </a:r>
            <a:r>
              <a:rPr lang="en-US" altLang="zh-CN" dirty="0"/>
              <a:t>RPN </a:t>
            </a:r>
            <a:r>
              <a:rPr lang="zh-CN" altLang="en-US" dirty="0"/>
              <a:t>提议框。</a:t>
            </a:r>
          </a:p>
          <a:p>
            <a:pPr lvl="2"/>
            <a:r>
              <a:rPr lang="zh-CN" altLang="en-US" dirty="0"/>
              <a:t>目标：增强图像的特征图。</a:t>
            </a:r>
          </a:p>
          <a:p>
            <a:pPr lvl="2"/>
            <a:r>
              <a:rPr lang="zh-CN" altLang="en-US" dirty="0"/>
              <a:t>动作：感兴趣区域对齐 </a:t>
            </a:r>
            <a:r>
              <a:rPr lang="en-US" altLang="zh-CN" dirty="0"/>
              <a:t>(RoI Alignment)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endParaRPr lang="zh-CN" altLang="en-US" dirty="0"/>
          </a:p>
          <a:p>
            <a:r>
              <a:rPr lang="zh-CN" altLang="en-US" dirty="0"/>
              <a:t>这样便能获得了在空间位置上严格一一对应的特征表示。为计算一致性损失奠定了基础。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035EB0B-B1BE-A74A-1C0E-D9CF5AD7F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161" y="4049163"/>
            <a:ext cx="4136503" cy="149948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5D2A731-B045-7004-3DDC-60EB83E83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4672" y="1982240"/>
            <a:ext cx="2765607" cy="166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98489"/>
      </p:ext>
    </p:extLst>
  </p:cSld>
  <p:clrMapOvr>
    <a:masterClrMapping/>
  </p:clrMapOvr>
  <p:transition spd="slow" advClick="0" advTm="1000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7DDA-D6A2-C1AC-2FD0-031BE069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54F6F47-95DA-DC2A-D6C8-ECC37BABBA22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51BC1459-232E-0C8F-9EFB-1997FDB828EF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Method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7F7A8B5-DCE8-4FC0-7D95-86143B4CBBDD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5F2E4C32-E553-1140-73C1-409F75DBCBC9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D2373B1-C814-F54C-BB98-B673B0F48594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68A0B719-1E7E-7B9C-A4D3-11C4D546FB8F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B0DD3D0F-ABE1-9ABB-E52C-CE6ED0AF1749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EE300375-E0DB-A951-EB8C-A59A6E6591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61AF03C4-B3AE-E667-A9AD-B568B1B8968C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B18BB5C-C641-F4D2-48B1-65F4947D3A6B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BFC54D0-3E85-8BF1-B50A-9A32003FD6D6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41DF15-B433-0220-D0C7-C42C0C698CC8}"/>
              </a:ext>
            </a:extLst>
          </p:cNvPr>
          <p:cNvSpPr txBox="1"/>
          <p:nvPr/>
        </p:nvSpPr>
        <p:spPr>
          <a:xfrm>
            <a:off x="5133473" y="898913"/>
            <a:ext cx="3545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损失函数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BFAD48-E8F8-D4D0-DE9A-30F3F5DA9A28}"/>
              </a:ext>
            </a:extLst>
          </p:cNvPr>
          <p:cNvSpPr txBox="1"/>
          <p:nvPr/>
        </p:nvSpPr>
        <p:spPr>
          <a:xfrm>
            <a:off x="2100667" y="1509229"/>
            <a:ext cx="7977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目标：在</a:t>
            </a:r>
            <a:r>
              <a:rPr lang="zh-CN" altLang="en-US" sz="2000" u="sng" dirty="0"/>
              <a:t>保证基础检测准确率</a:t>
            </a:r>
            <a:r>
              <a:rPr lang="zh-CN" altLang="en-US" sz="2000" dirty="0"/>
              <a:t>的同时，</a:t>
            </a:r>
            <a:r>
              <a:rPr lang="zh-CN" altLang="en-US" sz="2000" u="sng" dirty="0"/>
              <a:t>最小化原图与增强图之间的预测差异。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5DF192-966B-BF5A-F57B-2FD1A1914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874" y="2333243"/>
            <a:ext cx="5282969" cy="679680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AEBBB28-C3C1-EF3C-3750-0F90E6191652}"/>
              </a:ext>
            </a:extLst>
          </p:cNvPr>
          <p:cNvCxnSpPr/>
          <p:nvPr/>
        </p:nvCxnSpPr>
        <p:spPr>
          <a:xfrm>
            <a:off x="3882188" y="1927472"/>
            <a:ext cx="641685" cy="519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0BAB027-3D96-3A67-7FD2-C4EE45B607D4}"/>
              </a:ext>
            </a:extLst>
          </p:cNvPr>
          <p:cNvCxnSpPr/>
          <p:nvPr/>
        </p:nvCxnSpPr>
        <p:spPr>
          <a:xfrm flipH="1">
            <a:off x="6256421" y="1878561"/>
            <a:ext cx="770021" cy="568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BC44CBD-1696-7AD3-E309-B9D765F73B10}"/>
              </a:ext>
            </a:extLst>
          </p:cNvPr>
          <p:cNvCxnSpPr>
            <a:cxnSpLocks/>
          </p:cNvCxnSpPr>
          <p:nvPr/>
        </p:nvCxnSpPr>
        <p:spPr>
          <a:xfrm flipH="1">
            <a:off x="7716253" y="1878561"/>
            <a:ext cx="401052" cy="748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3F570B78-BC20-DB39-4824-25DFC0A9B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760" y="3150787"/>
            <a:ext cx="3625516" cy="95461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0BF8E67-11A9-657D-64D5-1341E647AC75}"/>
              </a:ext>
            </a:extLst>
          </p:cNvPr>
          <p:cNvSpPr txBox="1"/>
          <p:nvPr/>
        </p:nvSpPr>
        <p:spPr>
          <a:xfrm>
            <a:off x="3743602" y="3098748"/>
            <a:ext cx="77405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这里</a:t>
            </a:r>
            <a:r>
              <a:rPr lang="el-GR" altLang="zh-CN" sz="2000" b="0" i="1" dirty="0">
                <a:solidFill>
                  <a:srgbClr val="1A1C1E"/>
                </a:solidFill>
                <a:effectLst/>
                <a:latin typeface="KaTeX_Main"/>
              </a:rPr>
              <a:t>Ψ</a:t>
            </a:r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表示分类器和边界框回归器，</a:t>
            </a:r>
            <a:r>
              <a:rPr lang="en-US" altLang="zh-CN" sz="2000" b="0" i="1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en-US" altLang="zh-CN" sz="2000" b="0" i="1" baseline="-25000" dirty="0">
                <a:solidFill>
                  <a:srgbClr val="1A1C1E"/>
                </a:solidFill>
                <a:effectLst/>
                <a:latin typeface="Inter"/>
              </a:rPr>
              <a:t>n</a:t>
            </a:r>
            <a:r>
              <a:rPr lang="en-US" altLang="zh-CN" sz="2000" b="0" i="0" baseline="-25000" dirty="0">
                <a:solidFill>
                  <a:srgbClr val="1A1C1E"/>
                </a:solidFill>
                <a:effectLst/>
                <a:latin typeface="Inter"/>
              </a:rPr>
              <a:t> </a:t>
            </a:r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是第</a:t>
            </a:r>
            <a:r>
              <a:rPr lang="en-US" altLang="zh-CN" sz="2000" b="0" i="0" dirty="0">
                <a:solidFill>
                  <a:srgbClr val="1A1C1E"/>
                </a:solidFill>
                <a:effectLst/>
                <a:latin typeface="Inter"/>
              </a:rPr>
              <a:t>n</a:t>
            </a:r>
            <a:r>
              <a:rPr lang="zh-CN" altLang="en-US" sz="2000" dirty="0">
                <a:solidFill>
                  <a:srgbClr val="1A1C1E"/>
                </a:solidFill>
                <a:latin typeface="Inter"/>
              </a:rPr>
              <a:t>个提议的真实标签，</a:t>
            </a:r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（包括类别标签和边界框坐标）。</a:t>
            </a:r>
            <a:r>
              <a:rPr lang="en-US" altLang="zh-CN" sz="2000" b="0" i="1" dirty="0">
                <a:solidFill>
                  <a:srgbClr val="1A1C1E"/>
                </a:solidFill>
                <a:effectLst/>
                <a:latin typeface="Inter"/>
              </a:rPr>
              <a:t>L</a:t>
            </a:r>
            <a:r>
              <a:rPr lang="en-US" altLang="zh-CN" sz="2000" b="0" i="1" baseline="-25000" dirty="0">
                <a:solidFill>
                  <a:srgbClr val="1A1C1E"/>
                </a:solidFill>
                <a:effectLst/>
                <a:latin typeface="Inter"/>
              </a:rPr>
              <a:t>det</a:t>
            </a:r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由 </a:t>
            </a:r>
            <a:r>
              <a:rPr lang="en-US" altLang="zh-CN" sz="2000" b="0" i="0" dirty="0">
                <a:solidFill>
                  <a:srgbClr val="1A1C1E"/>
                </a:solidFill>
                <a:effectLst/>
                <a:latin typeface="Inter"/>
              </a:rPr>
              <a:t>smooth-L1 </a:t>
            </a:r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损失和负对数似然损失组成。</a:t>
            </a:r>
            <a:endParaRPr lang="zh-CN" altLang="en-US" sz="2000" baseline="-250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5630593-3219-150F-DEE1-87D3C6BCB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89" y="4289787"/>
            <a:ext cx="2371725" cy="6858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1038407-E457-50D6-1025-FF385DE356FA}"/>
              </a:ext>
            </a:extLst>
          </p:cNvPr>
          <p:cNvSpPr txBox="1"/>
          <p:nvPr/>
        </p:nvSpPr>
        <p:spPr>
          <a:xfrm>
            <a:off x="2699361" y="4295818"/>
            <a:ext cx="8929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使用 </a:t>
            </a:r>
            <a:r>
              <a:rPr lang="en-US" altLang="zh-CN" sz="2000" dirty="0"/>
              <a:t>L2 </a:t>
            </a:r>
            <a:r>
              <a:rPr lang="zh-CN" altLang="en-US" sz="2000" dirty="0"/>
              <a:t>范数 来约束边界框的回归坐标。这要求模型在两个视图下对物体位置的判断必须是一致的。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DE6D605-27DE-2F33-1B3A-2DA72312C3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49" y="5403296"/>
            <a:ext cx="2486025" cy="40005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5B4712AA-3A44-F413-192A-06B36EF29FF9}"/>
              </a:ext>
            </a:extLst>
          </p:cNvPr>
          <p:cNvSpPr txBox="1"/>
          <p:nvPr/>
        </p:nvSpPr>
        <p:spPr>
          <a:xfrm>
            <a:off x="2943726" y="5413965"/>
            <a:ext cx="6914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使用 </a:t>
            </a:r>
            <a:r>
              <a:rPr lang="en-US" altLang="zh-CN" sz="2000" i="0" dirty="0">
                <a:solidFill>
                  <a:srgbClr val="1A1C1E"/>
                </a:solidFill>
                <a:effectLst/>
                <a:latin typeface="Inter"/>
              </a:rPr>
              <a:t>KL </a:t>
            </a:r>
            <a:r>
              <a:rPr lang="zh-CN" altLang="en-US" sz="2000" i="0" dirty="0">
                <a:solidFill>
                  <a:srgbClr val="1A1C1E"/>
                </a:solidFill>
                <a:effectLst/>
                <a:latin typeface="Inter"/>
              </a:rPr>
              <a:t>散度 </a:t>
            </a:r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来衡量原图和增强图预测概率分布的差异。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99167235"/>
      </p:ext>
    </p:extLst>
  </p:cSld>
  <p:clrMapOvr>
    <a:masterClrMapping/>
  </p:clrMapOvr>
  <p:transition spd="slow" advClick="0" advTm="100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Experiment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4A3127-3B53-216F-B8DC-92CDA3AAEF8B}"/>
              </a:ext>
            </a:extLst>
          </p:cNvPr>
          <p:cNvSpPr txBox="1"/>
          <p:nvPr/>
        </p:nvSpPr>
        <p:spPr>
          <a:xfrm>
            <a:off x="3683000" y="918412"/>
            <a:ext cx="4796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0" dirty="0">
                <a:solidFill>
                  <a:srgbClr val="1A1C1E"/>
                </a:solidFill>
                <a:effectLst/>
                <a:latin typeface="Inter"/>
              </a:rPr>
              <a:t>实验结果： </a:t>
            </a:r>
            <a:r>
              <a:rPr lang="en-US" altLang="zh-CN" sz="2400" b="1" i="0" dirty="0">
                <a:solidFill>
                  <a:srgbClr val="1A1C1E"/>
                </a:solidFill>
                <a:effectLst/>
                <a:latin typeface="Inter"/>
              </a:rPr>
              <a:t>Real to Artistic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33C9C2-4493-F6A7-60DB-C69A83841F56}"/>
              </a:ext>
            </a:extLst>
          </p:cNvPr>
          <p:cNvSpPr txBox="1"/>
          <p:nvPr/>
        </p:nvSpPr>
        <p:spPr>
          <a:xfrm>
            <a:off x="2431716" y="1745361"/>
            <a:ext cx="7328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实验设置：</a:t>
            </a:r>
          </a:p>
          <a:p>
            <a:r>
              <a:rPr lang="zh-CN" altLang="en-US" dirty="0"/>
              <a:t>源域： Pascal VOC（真实照片）。</a:t>
            </a:r>
          </a:p>
          <a:p>
            <a:r>
              <a:rPr lang="zh-CN" altLang="en-US" dirty="0"/>
              <a:t>目标域： Clipart（卡通）、Watercolor（水彩）、Comic（漫画）。</a:t>
            </a:r>
          </a:p>
          <a:p>
            <a:r>
              <a:rPr lang="zh-CN" altLang="en-US" dirty="0"/>
              <a:t>难点： 跨度非常大，从写实风格到抽象风格。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2EBE161-BD77-9CCE-E147-24A5BEEE3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178" y="3185345"/>
            <a:ext cx="8235867" cy="264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80394"/>
      </p:ext>
    </p:extLst>
  </p:cSld>
  <p:clrMapOvr>
    <a:masterClrMapping/>
  </p:clrMapOvr>
  <p:transition spd="slow" advClick="0" advTm="100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B6F80-3153-E53E-BEBC-BA13290BC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18D52113-0B1E-0345-9855-E0BE4BB3A565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13D695A5-EFD2-AA82-B467-D7205972ABA1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Experiment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049136D-6CC5-F4EA-45F2-F2054ECB9440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63B18789-402A-361A-0985-F2CAAD0BB0F5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52FD14A8-BABE-3553-6378-4535EFB1E410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A7B533FF-A29C-3C05-CBFB-05AF98EB2FA8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9AEC6DC5-247F-C092-91B4-CE05454B1463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90AA1FB6-4088-6C95-98C9-B2198B4597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3F2D6FAD-4A42-4068-FC81-C71E7FBDE680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6C962FF-2AF6-349F-0377-7CD9820EF448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E42487E-6C40-8972-FFB3-FC67EEEF94D6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CE66CC-9A92-2F30-7B12-15846F47B967}"/>
              </a:ext>
            </a:extLst>
          </p:cNvPr>
          <p:cNvSpPr txBox="1"/>
          <p:nvPr/>
        </p:nvSpPr>
        <p:spPr>
          <a:xfrm>
            <a:off x="4002505" y="948790"/>
            <a:ext cx="4796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实验结果：城市场景与天气泛化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BC745C-24ED-AE8C-1F93-9BF57B9103EE}"/>
              </a:ext>
            </a:extLst>
          </p:cNvPr>
          <p:cNvSpPr txBox="1"/>
          <p:nvPr/>
        </p:nvSpPr>
        <p:spPr>
          <a:xfrm>
            <a:off x="3352799" y="161793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应用场景： 自动驾驶中的目标检测。</a:t>
            </a:r>
          </a:p>
          <a:p>
            <a:r>
              <a:rPr lang="zh-CN" altLang="en-US" dirty="0"/>
              <a:t>源域： 白天晴朗 (Daytime Sunny)。</a:t>
            </a:r>
          </a:p>
          <a:p>
            <a:r>
              <a:rPr lang="zh-CN" altLang="en-US" dirty="0"/>
              <a:t>目标域： 夜间 (Night)、雨天 (Rainy)、雾天 (Foggy)。</a:t>
            </a:r>
          </a:p>
          <a:p>
            <a:r>
              <a:rPr lang="zh-CN" altLang="en-US" dirty="0"/>
              <a:t>注： 训练时未包含任何天气相关的增强（零样本泛化）。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31B616-A90D-4568-5A5A-09B28EF6F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841609"/>
            <a:ext cx="6095999" cy="334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075876"/>
      </p:ext>
    </p:extLst>
  </p:cSld>
  <p:clrMapOvr>
    <a:masterClrMapping/>
  </p:clrMapOvr>
  <p:transition spd="slow" advClick="0" advTm="1000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F37D-5AB1-FFF0-2A08-8CC3A92D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D859C7F-C1B1-0BC9-540C-77D3C06887F7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B69675A1-9AFC-B8AC-C2C4-223A07B6C105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Experiment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141C5D6-2593-DC33-E928-074ABB77FF3D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447AB156-FCD8-1896-2523-EE0F1303FDDE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1872A18D-3566-448E-8340-2AEB01CB8E21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5CA7282-9E60-06ED-CF3D-AF2A9B2F870F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7BA3E429-F8A1-FDD5-A537-7198C6469475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03D72238-2215-1AB5-1BAD-B70A777199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33D5A5E1-F4B7-C159-F01F-FFAF16D61E3A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4CAA60C-D608-0EA4-B6B7-0B92579B01F1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3D2CC18-EEEA-DF82-3F60-0FA9E2A66731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C90D94-3B3C-250D-CA5E-E8F5A62B7748}"/>
              </a:ext>
            </a:extLst>
          </p:cNvPr>
          <p:cNvSpPr txBox="1"/>
          <p:nvPr/>
        </p:nvSpPr>
        <p:spPr>
          <a:xfrm>
            <a:off x="4773863" y="948790"/>
            <a:ext cx="4796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可视化对比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C23CFF-757A-71B5-13DA-582B5CCEB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38" y="1434886"/>
            <a:ext cx="10202779" cy="343384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CCB4AF-548F-542A-1173-A5E2D9510DD3}"/>
              </a:ext>
            </a:extLst>
          </p:cNvPr>
          <p:cNvSpPr txBox="1"/>
          <p:nvPr/>
        </p:nvSpPr>
        <p:spPr>
          <a:xfrm>
            <a:off x="2085474" y="5173873"/>
            <a:ext cx="7484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基线 (Faster R-CNN) vs. 仅多样化 (Diversification) vs. 本文方法 (Ours)。</a:t>
            </a:r>
          </a:p>
        </p:txBody>
      </p:sp>
    </p:spTree>
    <p:extLst>
      <p:ext uri="{BB962C8B-B14F-4D97-AF65-F5344CB8AC3E}">
        <p14:creationId xmlns:p14="http://schemas.microsoft.com/office/powerpoint/2010/main" val="2030027717"/>
      </p:ext>
    </p:extLst>
  </p:cSld>
  <p:clrMapOvr>
    <a:masterClrMapping/>
  </p:clrMapOvr>
  <p:transition spd="slow" advClick="0" advTm="1000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D269-1E08-FD76-9179-FAB07992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C4AA515-15DB-1811-5480-1A1CE469C6CE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66D8B1BA-C055-21EB-A12F-E6ED687B4F5C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Experiment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4CEA48D-2BD2-0AFE-C564-18DB25BEBDB6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254DD7EF-A0C8-2EE7-E9FF-CFB4BED0B64B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7E89959F-1627-8029-B4A0-4054EC409F79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8A63C2E2-A381-A2DA-C71B-AF5F13457F85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C71ABB85-D64D-55D2-2A6E-FBFA8262172C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90D7E93E-3916-DA0D-66D0-2D129AA71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6E0CE349-2A0C-2D1B-8777-E873B9D6E7AE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3A43D85-E521-1E5A-4214-124FE58A58F8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7ABE069-D86F-86B0-22A1-B4F2E3A08D15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08810-F3F9-219C-81B4-58AFB3B901D4}"/>
              </a:ext>
            </a:extLst>
          </p:cNvPr>
          <p:cNvSpPr txBox="1"/>
          <p:nvPr/>
        </p:nvSpPr>
        <p:spPr>
          <a:xfrm>
            <a:off x="4773863" y="948790"/>
            <a:ext cx="4796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模型校准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6A5C0E-57EE-D182-5917-DBA92872BFE1}"/>
              </a:ext>
            </a:extLst>
          </p:cNvPr>
          <p:cNvSpPr txBox="1"/>
          <p:nvPr/>
        </p:nvSpPr>
        <p:spPr>
          <a:xfrm>
            <a:off x="792589" y="1748662"/>
            <a:ext cx="61935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模型校准用于衡量模型的</a:t>
            </a:r>
            <a:r>
              <a:rPr lang="zh-CN" altLang="en-US" sz="2000" b="1" i="0" dirty="0">
                <a:solidFill>
                  <a:srgbClr val="1A1C1E"/>
                </a:solidFill>
                <a:effectLst/>
                <a:latin typeface="Inter"/>
              </a:rPr>
              <a:t>置信度 </a:t>
            </a:r>
            <a:r>
              <a:rPr lang="en-US" altLang="zh-CN" sz="2000" b="1" i="0" dirty="0">
                <a:solidFill>
                  <a:srgbClr val="1A1C1E"/>
                </a:solidFill>
                <a:effectLst/>
                <a:latin typeface="Inter"/>
              </a:rPr>
              <a:t>(Confidence)</a:t>
            </a:r>
            <a:r>
              <a:rPr lang="en-US" altLang="zh-CN" sz="2000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与 </a:t>
            </a:r>
            <a:r>
              <a:rPr lang="zh-CN" altLang="en-US" sz="2000" b="1" i="0" dirty="0">
                <a:solidFill>
                  <a:srgbClr val="1A1C1E"/>
                </a:solidFill>
                <a:effectLst/>
                <a:latin typeface="Inter"/>
              </a:rPr>
              <a:t>真实准确率 </a:t>
            </a:r>
            <a:r>
              <a:rPr lang="en-US" altLang="zh-CN" sz="2000" b="1" i="0" dirty="0">
                <a:solidFill>
                  <a:srgbClr val="1A1C1E"/>
                </a:solidFill>
                <a:effectLst/>
                <a:latin typeface="Inter"/>
              </a:rPr>
              <a:t>(Accuracy)</a:t>
            </a:r>
            <a:r>
              <a:rPr lang="en-US" altLang="zh-CN" sz="2000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zh-CN" altLang="en-US" sz="2000" b="0" i="0" dirty="0">
                <a:solidFill>
                  <a:srgbClr val="1A1C1E"/>
                </a:solidFill>
                <a:effectLst/>
                <a:latin typeface="Inter"/>
              </a:rPr>
              <a:t>是否匹配。</a:t>
            </a:r>
          </a:p>
          <a:p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A0A8A5-8DCB-164F-DCD8-FCCFA79B6C5C}"/>
              </a:ext>
            </a:extLst>
          </p:cNvPr>
          <p:cNvSpPr txBox="1"/>
          <p:nvPr/>
        </p:nvSpPr>
        <p:spPr>
          <a:xfrm>
            <a:off x="851338" y="3102533"/>
            <a:ext cx="61935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单纯做 多样化 (Diversification) 虽然提高了 mAP，但会导致模型对错误预测也给出高置信度。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D50FAC-73B0-6D0C-D910-6F60B53D3DC0}"/>
              </a:ext>
            </a:extLst>
          </p:cNvPr>
          <p:cNvSpPr txBox="1"/>
          <p:nvPr/>
        </p:nvSpPr>
        <p:spPr>
          <a:xfrm>
            <a:off x="744616" y="4540638"/>
            <a:ext cx="579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作者认为对齐机制 (Alignment) 隐式地抑制了过度自信。从结果来看： 降低了 D-ECE (检测预期校准误差)，使预测更加可靠。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BC29836-17BA-C516-9A5D-D1EA58BE6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888" y="950702"/>
            <a:ext cx="4269012" cy="539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70933"/>
      </p:ext>
    </p:extLst>
  </p:cSld>
  <p:clrMapOvr>
    <a:masterClrMapping/>
  </p:clrMapOvr>
  <p:transition spd="slow" advClick="0" advTm="100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EB05-6E96-8F5D-4CD3-DD342205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B2E5A69-F9C7-2234-CE1B-90D0C8D8EB38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D7DD412F-FB3A-D643-F553-FC04C70D01C7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Experiment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F9336D6-D29D-439B-1B00-F386FC010D6A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AAA75B0D-0A70-AAE3-82F7-2C83D0F40BD5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D51647-06D5-788E-CD36-98E6EB3E71B1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3691BF64-46BD-DD95-9517-D46A31E7246E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041F9BC5-6396-8261-6A33-849351682159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81F0D760-5F53-6DDE-E8D0-4D8D5081D0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F8F605FA-153E-5550-B6D8-B3DD36E7A59F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C50AC91-D156-008F-58DF-0965B703D60B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A70CBEE-CE09-E109-A44D-856EEAFF453C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84BFE2-0E03-DFF7-B7BE-FA093E7DA0D0}"/>
              </a:ext>
            </a:extLst>
          </p:cNvPr>
          <p:cNvSpPr txBox="1"/>
          <p:nvPr/>
        </p:nvSpPr>
        <p:spPr>
          <a:xfrm>
            <a:off x="4501147" y="948790"/>
            <a:ext cx="4796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350"/>
              </a:spcAft>
            </a:pPr>
            <a:r>
              <a:rPr lang="zh-CN" altLang="en-US" sz="2400" b="1" i="0" dirty="0">
                <a:solidFill>
                  <a:srgbClr val="1A1C1E"/>
                </a:solidFill>
                <a:effectLst/>
                <a:latin typeface="Inter"/>
              </a:rPr>
              <a:t>对比实验：与域自适应方法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66D647-A9D4-23CD-F501-EEB0541D4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152" y="2092972"/>
            <a:ext cx="7965127" cy="316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91507"/>
      </p:ext>
    </p:extLst>
  </p:cSld>
  <p:clrMapOvr>
    <a:masterClrMapping/>
  </p:clrMapOvr>
  <p:transition spd="slow" advClick="0" advTm="1000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FiMjRlYjRkODg2ZDk0OTllN2NiNzAxMTIyNjEzMmYifQ=="/>
</p:tagLst>
</file>

<file path=ppt/theme/theme1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41925</TotalTime>
  <Words>2593</Words>
  <Application>Microsoft Office PowerPoint</Application>
  <PresentationFormat>宽屏</PresentationFormat>
  <Paragraphs>162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-apple-system</vt:lpstr>
      <vt:lpstr>Helvetica Neue</vt:lpstr>
      <vt:lpstr>Inter</vt:lpstr>
      <vt:lpstr>KaTeX_Main</vt:lpstr>
      <vt:lpstr>PingFang SC</vt:lpstr>
      <vt:lpstr>system-ui</vt:lpstr>
      <vt:lpstr>等线</vt:lpstr>
      <vt:lpstr>微软雅黑</vt:lpstr>
      <vt:lpstr>Arial</vt:lpstr>
      <vt:lpstr>Calibri</vt:lpstr>
      <vt:lpstr>Calibri Light</vt:lpstr>
      <vt:lpstr>Georgia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lenovo</dc:creator>
  <cp:lastModifiedBy>smh</cp:lastModifiedBy>
  <cp:revision>345</cp:revision>
  <dcterms:created xsi:type="dcterms:W3CDTF">2019-03-09T08:01:00Z</dcterms:created>
  <dcterms:modified xsi:type="dcterms:W3CDTF">2025-12-15T02:00:21Z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3E6360C6DCCC423D98F5DA1985ABB2C1_12</vt:lpwstr>
  </property>
</Properties>
</file>