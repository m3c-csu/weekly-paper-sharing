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329" r:id="rId6"/>
    <p:sldId id="455" r:id="rId7"/>
    <p:sldId id="373" r:id="rId8"/>
    <p:sldId id="454" r:id="rId9"/>
    <p:sldId id="449" r:id="rId10"/>
    <p:sldId id="457" r:id="rId11"/>
    <p:sldId id="456" r:id="rId12"/>
    <p:sldId id="458" r:id="rId13"/>
    <p:sldId id="460" r:id="rId14"/>
    <p:sldId id="474" r:id="rId15"/>
    <p:sldId id="486"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E79"/>
    <a:srgbClr val="3D74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86" autoAdjust="0"/>
    <p:restoredTop sz="95387" autoAdjust="0"/>
  </p:normalViewPr>
  <p:slideViewPr>
    <p:cSldViewPr snapToGrid="0" showGuides="1">
      <p:cViewPr varScale="1">
        <p:scale>
          <a:sx n="84" d="100"/>
          <a:sy n="84" d="100"/>
        </p:scale>
        <p:origin x="285" y="42"/>
      </p:cViewPr>
      <p:guideLst>
        <p:guide orient="horz" pos="2159"/>
        <p:guide pos="3840"/>
      </p:guideLst>
    </p:cSldViewPr>
  </p:slideViewPr>
  <p:notesTextViewPr>
    <p:cViewPr>
      <p:scale>
        <a:sx n="1" d="1"/>
        <a:sy n="1" d="1"/>
      </p:scale>
      <p:origin x="0" y="0"/>
    </p:cViewPr>
  </p:notesTextViewPr>
  <p:notesViewPr>
    <p:cSldViewPr snapToGrid="0">
      <p:cViewPr varScale="1">
        <p:scale>
          <a:sx n="67" d="100"/>
          <a:sy n="67" d="100"/>
        </p:scale>
        <p:origin x="2829" y="27"/>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01BD9-4243-4367-977C-650CCA5948F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ACFBAA-4F33-4BF6-B348-50D59E4A3B0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9E5E627-AC3B-4BB5-A330-7F7F083169B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4547F0A5-1087-41D0-863F-D517773395D3}"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r>
              <a:rPr lang="zh-CN" altLang="en-US" dirty="0"/>
              <a:t>第</a:t>
            </a:r>
            <a:fld id="{18C8E5C5-05D3-4171-9F3F-370131363719}" type="slidenum">
              <a:rPr lang="zh-CN" altLang="en-US" smtClean="0"/>
            </a:fld>
            <a:r>
              <a:rPr lang="zh-CN" altLang="en-US" dirty="0"/>
              <a:t>页，共</a:t>
            </a:r>
            <a:r>
              <a:rPr lang="en-US" altLang="zh-CN" dirty="0"/>
              <a:t>15</a:t>
            </a:r>
            <a:r>
              <a:rPr lang="zh-CN" altLang="en-US" dirty="0"/>
              <a:t>页</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E42F8BE-5063-4F34-92EA-B3FA843CFEA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C8E5C5-05D3-4171-9F3F-370131363719}" type="slidenum">
              <a:rPr lang="zh-CN" altLang="en-US" smtClean="0"/>
            </a:fld>
            <a:r>
              <a:rPr lang="en-US" altLang="zh-CN" dirty="0"/>
              <a:t>/18</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0F02B46-BFB9-4CEF-93EC-34E5AD6D0033}"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A6C5AA0C-B1BD-4BCF-A3B8-708428A52EE6}"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1E93D6-D454-43F6-A870-BD41E383CC80}"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F268832-DD79-4DDD-BB66-19DFD0E3EA84}"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6209E26-EE57-44FC-858A-1B70E672902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061F654-30F8-442A-AC99-FC9623976293}"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B74CBED-1363-4FDB-B4C8-A06ACFE08A33}"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F65E6C-173D-433B-A34A-167DC24B4260}"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1A9766-F52F-4A3F-8A78-9B1927FC31F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r>
              <a:rPr lang="zh-CN" altLang="en-US" dirty="0"/>
              <a:t>第</a:t>
            </a:r>
            <a:fld id="{18C8E5C5-05D3-4171-9F3F-370131363719}" type="slidenum">
              <a:rPr lang="zh-CN" altLang="en-US" smtClean="0"/>
            </a:fld>
            <a:r>
              <a:rPr lang="zh-CN" altLang="en-US" dirty="0"/>
              <a:t>页，共</a:t>
            </a:r>
            <a:r>
              <a:rPr lang="en-US" altLang="zh-CN" dirty="0"/>
              <a:t>18</a:t>
            </a:r>
            <a:r>
              <a:rPr lang="zh-CN" altLang="en-US" dirty="0"/>
              <a:t>页</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11085" cy="6857999"/>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1880915" y="0"/>
            <a:ext cx="311085"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2662096" y="3074347"/>
            <a:ext cx="741103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765140" y="4965545"/>
            <a:ext cx="741103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5095186" y="173212"/>
            <a:ext cx="2123437" cy="2123436"/>
          </a:xfrm>
          <a:prstGeom prst="ellipse">
            <a:avLst/>
          </a:prstGeom>
          <a:gradFill flip="none" rotWithShape="1">
            <a:gsLst>
              <a:gs pos="0">
                <a:srgbClr val="BFBFBF"/>
              </a:gs>
              <a:gs pos="52000">
                <a:srgbClr val="FFFFFF"/>
              </a:gs>
              <a:gs pos="100000">
                <a:srgbClr val="0070C0">
                  <a:tint val="0"/>
                </a:srgbClr>
              </a:gs>
            </a:gsLst>
            <a:lin ang="2700000" scaled="1"/>
            <a:tileRect/>
          </a:gradFill>
          <a:ln w="73025" cap="flat" cmpd="sng" algn="ctr">
            <a:solidFill>
              <a:srgbClr val="F2F2F2"/>
            </a:solidFill>
            <a:prstDash val="solid"/>
          </a:ln>
          <a:effectLst>
            <a:outerShdw blurRad="190500" dist="254000" dir="2699985" rotWithShape="0">
              <a:scrgbClr r="0" g="0" b="0">
                <a:alpha val="23000"/>
              </a:scrgbClr>
            </a:outerShdw>
          </a:effectLst>
        </p:spPr>
        <p:txBody>
          <a:bodyPr rtlCol="0" anchor="ctr"/>
          <a:lstStyle/>
          <a:p>
            <a:pPr algn="ctr" defTabSz="1088390">
              <a:defRPr/>
            </a:pPr>
            <a:endParaRPr lang="zh-CN" altLang="en-US" sz="3200" kern="0">
              <a:solidFill>
                <a:srgbClr val="000000"/>
              </a:solidFill>
              <a:latin typeface="Impact" panose="020B0806030902050204"/>
              <a:ea typeface="方正姚体" panose="02010601030101010101" charset="-122"/>
              <a:cs typeface="+mn-ea"/>
              <a:sym typeface="+mn-lt"/>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192056" y="270081"/>
            <a:ext cx="2005547" cy="2005547"/>
          </a:xfrm>
          <a:prstGeom prst="rect">
            <a:avLst/>
          </a:prstGeom>
        </p:spPr>
      </p:pic>
      <p:sp>
        <p:nvSpPr>
          <p:cNvPr id="11" name="灯片编号占位符 10"/>
          <p:cNvSpPr>
            <a:spLocks noGrp="1"/>
          </p:cNvSpPr>
          <p:nvPr>
            <p:ph type="sldNum" sz="quarter" idx="12"/>
          </p:nvPr>
        </p:nvSpPr>
        <p:spPr/>
        <p:txBody>
          <a:bodyPr/>
          <a:lstStyle/>
          <a:p>
            <a:r>
              <a:rPr lang="zh-CN" altLang="en-US" dirty="0"/>
              <a:t>第</a:t>
            </a:r>
            <a:fld id="{18C8E5C5-05D3-4171-9F3F-370131363719}" type="slidenum">
              <a:rPr lang="zh-CN" altLang="en-US" smtClean="0"/>
            </a:fld>
            <a:r>
              <a:rPr lang="zh-CN" altLang="en-US" dirty="0"/>
              <a:t>页，共</a:t>
            </a:r>
            <a:r>
              <a:rPr lang="en-US" altLang="zh-CN" dirty="0"/>
              <a:t>15</a:t>
            </a:r>
            <a:r>
              <a:rPr lang="zh-CN" altLang="en-US" dirty="0"/>
              <a:t>页</a:t>
            </a:r>
            <a:endParaRPr lang="zh-CN" altLang="en-US" dirty="0"/>
          </a:p>
        </p:txBody>
      </p:sp>
      <p:sp>
        <p:nvSpPr>
          <p:cNvPr id="2" name="文本框 1"/>
          <p:cNvSpPr txBox="1"/>
          <p:nvPr/>
        </p:nvSpPr>
        <p:spPr>
          <a:xfrm>
            <a:off x="1107440" y="2556510"/>
            <a:ext cx="10349230" cy="2079625"/>
          </a:xfrm>
          <a:prstGeom prst="rect">
            <a:avLst/>
          </a:prstGeom>
          <a:solidFill>
            <a:schemeClr val="bg1"/>
          </a:solidFill>
        </p:spPr>
        <p:txBody>
          <a:bodyPr wrap="square" rtlCol="0">
            <a:noAutofit/>
          </a:bodyPr>
          <a:p>
            <a:r>
              <a:rPr lang="en-US" altLang="zh-CN" sz="4800"/>
              <a:t> Beyond Adapting SAM: Towards End-to-End Ultrasound Image Segmentation via </a:t>
            </a:r>
            <a:r>
              <a:rPr lang="en-US" altLang="zh-CN" sz="4800">
                <a:highlight>
                  <a:srgbClr val="FFFF00"/>
                </a:highlight>
              </a:rPr>
              <a:t>Auto Prompting</a:t>
            </a:r>
            <a:endParaRPr lang="en-US" altLang="zh-CN" sz="4800"/>
          </a:p>
          <a:p>
            <a:endParaRPr lang="en-US" altLang="zh-CN"/>
          </a:p>
          <a:p>
            <a:r>
              <a:rPr lang="en-US" altLang="zh-CN"/>
              <a:t> </a:t>
            </a:r>
            <a:endParaRPr lang="en-US" altLang="zh-CN"/>
          </a:p>
          <a:p>
            <a:r>
              <a:rPr lang="en-US" altLang="zh-CN"/>
              <a:t>                                                                                  </a:t>
            </a:r>
            <a:r>
              <a:rPr lang="zh-CN" altLang="en-US"/>
              <a:t>来源：</a:t>
            </a:r>
            <a:r>
              <a:rPr lang="en-US" altLang="zh-CN"/>
              <a:t>MICCAI2024</a:t>
            </a:r>
            <a:endParaRPr lang="en-US" altLang="zh-CN"/>
          </a:p>
          <a:p>
            <a:endParaRPr lang="en-US" altLang="zh-CN"/>
          </a:p>
          <a:p>
            <a:r>
              <a:rPr lang="en-US" altLang="zh-CN"/>
              <a:t>                                                          Xian Lin,Yangyang Xiang,Li Yu,and Zengqiang Yan</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8800" y="283371"/>
            <a:ext cx="2780907" cy="52322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作者</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sp>
        <p:nvSpPr>
          <p:cNvPr id="13" name="灯片编号占位符 12"/>
          <p:cNvSpPr>
            <a:spLocks noGrp="1"/>
          </p:cNvSpPr>
          <p:nvPr>
            <p:ph type="sldNum" sz="quarter" idx="12"/>
          </p:nvPr>
        </p:nvSpPr>
        <p:spPr/>
        <p:txBody>
          <a:bodyPr/>
          <a:lstStyle/>
          <a:p>
            <a:r>
              <a:rPr lang="zh-CN" altLang="en-US" dirty="0"/>
              <a:t>第</a:t>
            </a:r>
            <a:fld id="{18C8E5C5-05D3-4171-9F3F-370131363719}" type="slidenum">
              <a:rPr lang="zh-CN" altLang="en-US" smtClean="0"/>
            </a:fld>
            <a:r>
              <a:rPr lang="zh-CN" altLang="en-US" dirty="0"/>
              <a:t>页，共</a:t>
            </a:r>
            <a:r>
              <a:rPr lang="en-US" altLang="zh-CN" dirty="0"/>
              <a:t>15</a:t>
            </a:r>
            <a:r>
              <a:rPr lang="zh-CN" altLang="en-US" dirty="0"/>
              <a:t>页</a:t>
            </a:r>
            <a:endParaRPr lang="zh-CN" altLang="en-US" dirty="0"/>
          </a:p>
        </p:txBody>
      </p:sp>
      <p:pic>
        <p:nvPicPr>
          <p:cNvPr id="3" name="图片 2"/>
          <p:cNvPicPr>
            <a:picLocks noChangeAspect="1"/>
          </p:cNvPicPr>
          <p:nvPr/>
        </p:nvPicPr>
        <p:blipFill>
          <a:blip r:embed="rId3"/>
          <a:stretch>
            <a:fillRect/>
          </a:stretch>
        </p:blipFill>
        <p:spPr>
          <a:xfrm>
            <a:off x="4984750" y="867410"/>
            <a:ext cx="7115175" cy="5800725"/>
          </a:xfrm>
          <a:prstGeom prst="rect">
            <a:avLst/>
          </a:prstGeom>
        </p:spPr>
      </p:pic>
      <p:pic>
        <p:nvPicPr>
          <p:cNvPr id="7" name="图片 6"/>
          <p:cNvPicPr>
            <a:picLocks noChangeAspect="1"/>
          </p:cNvPicPr>
          <p:nvPr/>
        </p:nvPicPr>
        <p:blipFill>
          <a:blip r:embed="rId4"/>
          <a:stretch>
            <a:fillRect/>
          </a:stretch>
        </p:blipFill>
        <p:spPr>
          <a:xfrm>
            <a:off x="108585" y="1268730"/>
            <a:ext cx="4706620" cy="1555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8165" y="264321"/>
            <a:ext cx="2780907"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问题</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描述</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sp>
        <p:nvSpPr>
          <p:cNvPr id="10" name="文本框 9"/>
          <p:cNvSpPr txBox="1"/>
          <p:nvPr/>
        </p:nvSpPr>
        <p:spPr>
          <a:xfrm>
            <a:off x="242570" y="998220"/>
            <a:ext cx="11506835" cy="5262245"/>
          </a:xfrm>
          <a:prstGeom prst="rect">
            <a:avLst/>
          </a:prstGeom>
          <a:noFill/>
        </p:spPr>
        <p:txBody>
          <a:bodyPr wrap="square">
            <a:spAutoFit/>
          </a:bodyPr>
          <a:lstStyle/>
          <a:p>
            <a:r>
              <a:rPr lang="zh-CN" altLang="en-US" sz="2400" b="1" dirty="0"/>
              <a:t>问题</a:t>
            </a:r>
            <a:r>
              <a:rPr lang="zh-CN" altLang="en-US" sz="2400" dirty="0"/>
              <a:t>：</a:t>
            </a:r>
            <a:endParaRPr lang="en-US" altLang="zh-CN" sz="2400" dirty="0"/>
          </a:p>
          <a:p>
            <a:endParaRPr lang="zh-CN" altLang="en-US" sz="2400" dirty="0"/>
          </a:p>
          <a:p>
            <a:pPr marL="342900" indent="-342900">
              <a:buFont typeface="Wingdings" panose="05000000000000000000" pitchFamily="2" charset="2"/>
              <a:buChar char="l"/>
            </a:pPr>
            <a:r>
              <a:rPr lang="zh-CN" altLang="en-US" sz="3600" dirty="0"/>
              <a:t>端到端的医学图像分割通常存在</a:t>
            </a:r>
            <a:r>
              <a:rPr lang="zh-CN" altLang="en-US" sz="3600" dirty="0">
                <a:solidFill>
                  <a:srgbClr val="FF0000"/>
                </a:solidFill>
              </a:rPr>
              <a:t>泛化能力较差</a:t>
            </a:r>
            <a:r>
              <a:rPr lang="zh-CN" altLang="en-US" sz="3600" dirty="0"/>
              <a:t>的问题</a:t>
            </a:r>
            <a:endParaRPr lang="zh-CN" altLang="en-US" sz="3600" dirty="0"/>
          </a:p>
          <a:p>
            <a:pPr marL="342900" indent="-342900">
              <a:buFont typeface="Wingdings" panose="05000000000000000000" pitchFamily="2" charset="2"/>
              <a:buChar char="l"/>
            </a:pPr>
            <a:endParaRPr lang="zh-CN" altLang="en-US" sz="3600" dirty="0"/>
          </a:p>
          <a:p>
            <a:pPr marL="342900" indent="-342900">
              <a:buFont typeface="Wingdings" panose="05000000000000000000" pitchFamily="2" charset="2"/>
              <a:buChar char="l"/>
            </a:pPr>
            <a:r>
              <a:rPr lang="zh-CN" altLang="en-US" sz="3600" dirty="0"/>
              <a:t>通用图像分割模型</a:t>
            </a:r>
            <a:r>
              <a:rPr lang="en-US" altLang="zh-CN" sz="3600" dirty="0"/>
              <a:t>“Segment Anything Model ”</a:t>
            </a:r>
            <a:r>
              <a:rPr lang="zh-CN" altLang="en-US" sz="3600" dirty="0"/>
              <a:t>，面临两大主要问题：</a:t>
            </a:r>
            <a:endParaRPr lang="zh-CN" altLang="en-US" sz="3600" dirty="0"/>
          </a:p>
          <a:p>
            <a:pPr indent="0">
              <a:buFont typeface="Wingdings" panose="05000000000000000000" pitchFamily="2" charset="2"/>
              <a:buNone/>
            </a:pPr>
            <a:r>
              <a:rPr lang="en-US" altLang="zh-CN" sz="3600" dirty="0"/>
              <a:t>    1) </a:t>
            </a:r>
            <a:r>
              <a:rPr lang="zh-CN" altLang="en-US" sz="3600" dirty="0"/>
              <a:t>若无适当调整，会出现严重的</a:t>
            </a:r>
            <a:r>
              <a:rPr lang="zh-CN" altLang="en-US" sz="3600" dirty="0">
                <a:solidFill>
                  <a:srgbClr val="FF0000"/>
                </a:solidFill>
              </a:rPr>
              <a:t>性能下降和泛化</a:t>
            </a:r>
            <a:r>
              <a:rPr lang="zh-CN" altLang="en-US" sz="3600" dirty="0"/>
              <a:t>能力受限；</a:t>
            </a:r>
            <a:endParaRPr lang="zh-CN" altLang="en-US" sz="3600" dirty="0"/>
          </a:p>
          <a:p>
            <a:pPr indent="0">
              <a:buFont typeface="Wingdings" panose="05000000000000000000" pitchFamily="2" charset="2"/>
              <a:buNone/>
            </a:pPr>
            <a:r>
              <a:rPr lang="en-US" altLang="zh-CN" sz="3600" dirty="0"/>
              <a:t>    2) </a:t>
            </a:r>
            <a:r>
              <a:rPr lang="zh-CN" altLang="en-US" sz="3600" dirty="0"/>
              <a:t>半自动分割</a:t>
            </a:r>
            <a:r>
              <a:rPr lang="zh-CN" altLang="en-US" sz="3600" dirty="0">
                <a:solidFill>
                  <a:srgbClr val="FF0000"/>
                </a:solidFill>
              </a:rPr>
              <a:t>依赖于精确的人工提示</a:t>
            </a:r>
            <a:r>
              <a:rPr lang="zh-CN" altLang="en-US" sz="3600" dirty="0"/>
              <a:t>（</a:t>
            </a:r>
            <a:r>
              <a:rPr lang="en-US" altLang="zh-CN" sz="3600" dirty="0"/>
              <a:t>prompts</a:t>
            </a:r>
            <a:r>
              <a:rPr lang="zh-CN" altLang="en-US" sz="3600" dirty="0"/>
              <a:t>）进行交互</a:t>
            </a:r>
            <a:r>
              <a:rPr lang="en-US" altLang="zh-CN" sz="3600" dirty="0"/>
              <a:t> </a:t>
            </a:r>
            <a:r>
              <a:rPr lang="zh-CN" altLang="en-US" sz="3600" dirty="0"/>
              <a:t>。</a:t>
            </a:r>
            <a:endParaRPr lang="zh-CN" altLang="en-US" sz="3600" dirty="0"/>
          </a:p>
        </p:txBody>
      </p:sp>
      <p:sp>
        <p:nvSpPr>
          <p:cNvPr id="11" name="灯片编号占位符 10"/>
          <p:cNvSpPr>
            <a:spLocks noGrp="1"/>
          </p:cNvSpPr>
          <p:nvPr>
            <p:ph type="sldNum" sz="quarter" idx="12"/>
          </p:nvPr>
        </p:nvSpPr>
        <p:spPr/>
        <p:txBody>
          <a:bodyPr/>
          <a:lstStyle/>
          <a:p>
            <a:r>
              <a:rPr lang="zh-CN" altLang="en-US" dirty="0"/>
              <a:t>第</a:t>
            </a:r>
            <a:fld id="{18C8E5C5-05D3-4171-9F3F-370131363719}" type="slidenum">
              <a:rPr lang="zh-CN" altLang="en-US" smtClean="0"/>
            </a:fld>
            <a:r>
              <a:rPr lang="zh-CN" altLang="en-US" dirty="0"/>
              <a:t>页，共</a:t>
            </a:r>
            <a:r>
              <a:rPr lang="en-US" altLang="zh-CN" dirty="0"/>
              <a:t>15</a:t>
            </a:r>
            <a:r>
              <a:rPr lang="zh-CN" altLang="en-US" dirty="0"/>
              <a:t>页</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nvSpPr>
        <p:spPr>
          <a:xfrm>
            <a:off x="602615" y="1294765"/>
            <a:ext cx="2447925" cy="117602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8165" y="264321"/>
            <a:ext cx="2780907"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创新点</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sp>
        <p:nvSpPr>
          <p:cNvPr id="11" name="灯片编号占位符 10"/>
          <p:cNvSpPr>
            <a:spLocks noGrp="1"/>
          </p:cNvSpPr>
          <p:nvPr>
            <p:ph type="sldNum" sz="quarter" idx="12"/>
          </p:nvPr>
        </p:nvSpPr>
        <p:spPr/>
        <p:txBody>
          <a:bodyPr/>
          <a:lstStyle/>
          <a:p>
            <a:r>
              <a:rPr lang="zh-CN" altLang="en-US" dirty="0"/>
              <a:t>第</a:t>
            </a:r>
            <a:fld id="{18C8E5C5-05D3-4171-9F3F-370131363719}" type="slidenum">
              <a:rPr lang="zh-CN" altLang="en-US" smtClean="0"/>
            </a:fld>
            <a:r>
              <a:rPr lang="zh-CN" altLang="en-US" dirty="0"/>
              <a:t>页，共</a:t>
            </a:r>
            <a:r>
              <a:rPr lang="en-US" altLang="zh-CN" dirty="0"/>
              <a:t>15</a:t>
            </a:r>
            <a:r>
              <a:rPr lang="zh-CN" altLang="en-US" dirty="0"/>
              <a:t>页</a:t>
            </a:r>
            <a:endParaRPr lang="zh-CN" altLang="en-US" dirty="0"/>
          </a:p>
        </p:txBody>
      </p:sp>
      <p:sp>
        <p:nvSpPr>
          <p:cNvPr id="2" name="文本框 1"/>
          <p:cNvSpPr txBox="1"/>
          <p:nvPr/>
        </p:nvSpPr>
        <p:spPr>
          <a:xfrm>
            <a:off x="674370" y="1329690"/>
            <a:ext cx="2412365" cy="1140460"/>
          </a:xfrm>
          <a:prstGeom prst="rect">
            <a:avLst/>
          </a:prstGeom>
          <a:noFill/>
        </p:spPr>
        <p:txBody>
          <a:bodyPr wrap="square" rtlCol="0">
            <a:noAutofit/>
          </a:bodyPr>
          <a:p>
            <a:r>
              <a:rPr lang="en-US" altLang="zh-CN" sz="3200"/>
              <a:t>SAM </a:t>
            </a:r>
            <a:r>
              <a:rPr lang="zh-CN" altLang="en-US" sz="3200"/>
              <a:t>强大特征表示能力</a:t>
            </a:r>
            <a:endParaRPr lang="zh-CN" altLang="en-US" sz="3200"/>
          </a:p>
        </p:txBody>
      </p:sp>
      <p:sp>
        <p:nvSpPr>
          <p:cNvPr id="3" name="文本框 2"/>
          <p:cNvSpPr txBox="1"/>
          <p:nvPr/>
        </p:nvSpPr>
        <p:spPr>
          <a:xfrm>
            <a:off x="3873500" y="1329690"/>
            <a:ext cx="2632710" cy="991235"/>
          </a:xfrm>
          <a:prstGeom prst="rect">
            <a:avLst/>
          </a:prstGeom>
          <a:noFill/>
        </p:spPr>
        <p:txBody>
          <a:bodyPr wrap="square" rtlCol="0">
            <a:noAutofit/>
          </a:bodyPr>
          <a:p>
            <a:pPr algn="ctr">
              <a:buClrTx/>
              <a:buSzTx/>
              <a:buFontTx/>
            </a:pPr>
            <a:r>
              <a:rPr lang="zh-CN" altLang="en-US" sz="3200"/>
              <a:t>端到端</a:t>
            </a:r>
            <a:r>
              <a:rPr lang="zh-CN" altLang="en-US" sz="3200">
                <a:solidFill>
                  <a:schemeClr val="accent1">
                    <a:lumMod val="50000"/>
                  </a:schemeClr>
                </a:solidFill>
              </a:rPr>
              <a:t>自动</a:t>
            </a:r>
            <a:r>
              <a:rPr lang="zh-CN" altLang="en-US" sz="3200"/>
              <a:t>分割</a:t>
            </a:r>
            <a:endParaRPr lang="zh-CN" altLang="en-US" sz="3200"/>
          </a:p>
        </p:txBody>
      </p:sp>
      <p:sp>
        <p:nvSpPr>
          <p:cNvPr id="7" name="文本框 6"/>
          <p:cNvSpPr txBox="1"/>
          <p:nvPr/>
        </p:nvSpPr>
        <p:spPr>
          <a:xfrm>
            <a:off x="7556500" y="1371600"/>
            <a:ext cx="2679065" cy="806450"/>
          </a:xfrm>
          <a:prstGeom prst="rect">
            <a:avLst/>
          </a:prstGeom>
          <a:noFill/>
        </p:spPr>
        <p:txBody>
          <a:bodyPr wrap="square" rtlCol="0">
            <a:noAutofit/>
          </a:bodyPr>
          <a:p>
            <a:pPr algn="ctr">
              <a:buClrTx/>
              <a:buSzTx/>
              <a:buFontTx/>
            </a:pPr>
            <a:r>
              <a:rPr lang="zh-CN" altLang="en-US" sz="3200"/>
              <a:t>超声图像分割通用模型</a:t>
            </a:r>
            <a:endParaRPr lang="zh-CN" altLang="en-US" sz="3200"/>
          </a:p>
        </p:txBody>
      </p:sp>
      <p:sp>
        <p:nvSpPr>
          <p:cNvPr id="8" name="文本框 7"/>
          <p:cNvSpPr txBox="1"/>
          <p:nvPr/>
        </p:nvSpPr>
        <p:spPr>
          <a:xfrm>
            <a:off x="355600" y="3864610"/>
            <a:ext cx="2731770" cy="1109980"/>
          </a:xfrm>
          <a:prstGeom prst="rect">
            <a:avLst/>
          </a:prstGeom>
          <a:noFill/>
        </p:spPr>
        <p:txBody>
          <a:bodyPr wrap="square" rtlCol="0">
            <a:noAutofit/>
          </a:bodyPr>
          <a:p>
            <a:r>
              <a:rPr lang="zh-CN" altLang="en-US" sz="2400"/>
              <a:t>沿用特征提取分支</a:t>
            </a:r>
            <a:r>
              <a:rPr lang="en-US" altLang="zh-CN" sz="2400"/>
              <a:t>VIT</a:t>
            </a:r>
            <a:r>
              <a:rPr lang="zh-CN" altLang="en-US" sz="2400"/>
              <a:t>和掩码解码器</a:t>
            </a:r>
            <a:endParaRPr lang="zh-CN" altLang="en-US" sz="2400"/>
          </a:p>
        </p:txBody>
      </p:sp>
      <p:sp>
        <p:nvSpPr>
          <p:cNvPr id="9" name="文本框 8"/>
          <p:cNvSpPr txBox="1"/>
          <p:nvPr/>
        </p:nvSpPr>
        <p:spPr>
          <a:xfrm>
            <a:off x="3908425" y="3742055"/>
            <a:ext cx="2779395" cy="1522095"/>
          </a:xfrm>
          <a:prstGeom prst="rect">
            <a:avLst/>
          </a:prstGeom>
          <a:noFill/>
        </p:spPr>
        <p:txBody>
          <a:bodyPr wrap="square" rtlCol="0">
            <a:noAutofit/>
          </a:bodyPr>
          <a:p>
            <a:r>
              <a:rPr lang="zh-CN" altLang="en-US" sz="2400"/>
              <a:t>引入自动提示生成器（APG）替代 SAMUS 的人工提示编码器</a:t>
            </a:r>
            <a:endParaRPr lang="zh-CN" altLang="en-US" sz="2400"/>
          </a:p>
        </p:txBody>
      </p:sp>
      <p:sp>
        <p:nvSpPr>
          <p:cNvPr id="12" name="文本框 11"/>
          <p:cNvSpPr txBox="1"/>
          <p:nvPr/>
        </p:nvSpPr>
        <p:spPr>
          <a:xfrm>
            <a:off x="7204075" y="3749040"/>
            <a:ext cx="4064000" cy="1567815"/>
          </a:xfrm>
          <a:prstGeom prst="rect">
            <a:avLst/>
          </a:prstGeom>
          <a:noFill/>
        </p:spPr>
        <p:txBody>
          <a:bodyPr wrap="square" rtlCol="0">
            <a:noAutofit/>
          </a:bodyPr>
          <a:p>
            <a:pPr algn="l">
              <a:buClrTx/>
              <a:buSzTx/>
              <a:buFontTx/>
            </a:pPr>
            <a:r>
              <a:rPr lang="zh-CN" altLang="en-US" sz="2400"/>
              <a:t>引入并行 CNN 分支补充局部信息；使用特征适配器和位置适配器，将 SAM 从自然图像域适配到超声域</a:t>
            </a:r>
            <a:endParaRPr lang="zh-CN" altLang="en-US" sz="2400"/>
          </a:p>
        </p:txBody>
      </p:sp>
      <p:sp>
        <p:nvSpPr>
          <p:cNvPr id="14" name="圆角矩形 13"/>
          <p:cNvSpPr/>
          <p:nvPr/>
        </p:nvSpPr>
        <p:spPr>
          <a:xfrm>
            <a:off x="3811905" y="1294765"/>
            <a:ext cx="2839720" cy="1122045"/>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圆角矩形 14"/>
          <p:cNvSpPr/>
          <p:nvPr/>
        </p:nvSpPr>
        <p:spPr>
          <a:xfrm>
            <a:off x="7571105" y="1294130"/>
            <a:ext cx="2839720" cy="1122045"/>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圆角矩形 15"/>
          <p:cNvSpPr/>
          <p:nvPr/>
        </p:nvSpPr>
        <p:spPr>
          <a:xfrm>
            <a:off x="7209155" y="3749040"/>
            <a:ext cx="3909695" cy="156972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 name="圆角矩形 16"/>
          <p:cNvSpPr/>
          <p:nvPr/>
        </p:nvSpPr>
        <p:spPr>
          <a:xfrm>
            <a:off x="3729990" y="3742055"/>
            <a:ext cx="2957195" cy="1522095"/>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圆角矩形 18"/>
          <p:cNvSpPr/>
          <p:nvPr/>
        </p:nvSpPr>
        <p:spPr>
          <a:xfrm>
            <a:off x="355600" y="3771900"/>
            <a:ext cx="2839720" cy="149225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下箭头 19"/>
          <p:cNvSpPr/>
          <p:nvPr/>
        </p:nvSpPr>
        <p:spPr>
          <a:xfrm>
            <a:off x="1237615" y="2816225"/>
            <a:ext cx="935355" cy="90043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下箭头 20"/>
          <p:cNvSpPr/>
          <p:nvPr/>
        </p:nvSpPr>
        <p:spPr>
          <a:xfrm>
            <a:off x="8517255" y="2804795"/>
            <a:ext cx="935355" cy="90043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下箭头 21"/>
          <p:cNvSpPr/>
          <p:nvPr/>
        </p:nvSpPr>
        <p:spPr>
          <a:xfrm>
            <a:off x="4695825" y="2758440"/>
            <a:ext cx="935355" cy="90043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加号 22"/>
          <p:cNvSpPr/>
          <p:nvPr/>
        </p:nvSpPr>
        <p:spPr>
          <a:xfrm>
            <a:off x="3297555" y="1719580"/>
            <a:ext cx="207645" cy="276860"/>
          </a:xfrm>
          <a:prstGeom prst="mathPlus">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加号 24"/>
          <p:cNvSpPr/>
          <p:nvPr/>
        </p:nvSpPr>
        <p:spPr>
          <a:xfrm>
            <a:off x="7021195" y="1778000"/>
            <a:ext cx="193040" cy="276860"/>
          </a:xfrm>
          <a:prstGeom prst="mathPlus">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8165" y="264321"/>
            <a:ext cx="2780907"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整体网络</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模型</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pic>
        <p:nvPicPr>
          <p:cNvPr id="3" name="图片 2"/>
          <p:cNvPicPr>
            <a:picLocks noChangeAspect="1"/>
          </p:cNvPicPr>
          <p:nvPr/>
        </p:nvPicPr>
        <p:blipFill>
          <a:blip r:embed="rId3"/>
          <a:stretch>
            <a:fillRect/>
          </a:stretch>
        </p:blipFill>
        <p:spPr>
          <a:xfrm>
            <a:off x="438150" y="1051560"/>
            <a:ext cx="11315700" cy="3600450"/>
          </a:xfrm>
          <a:prstGeom prst="rect">
            <a:avLst/>
          </a:prstGeom>
        </p:spPr>
      </p:pic>
      <p:sp>
        <p:nvSpPr>
          <p:cNvPr id="7" name="文本框 6"/>
          <p:cNvSpPr txBox="1"/>
          <p:nvPr/>
        </p:nvSpPr>
        <p:spPr>
          <a:xfrm>
            <a:off x="3994150" y="4989830"/>
            <a:ext cx="4064000" cy="368300"/>
          </a:xfrm>
          <a:prstGeom prst="rect">
            <a:avLst/>
          </a:prstGeom>
          <a:noFill/>
        </p:spPr>
        <p:txBody>
          <a:bodyPr wrap="square" rtlCol="0">
            <a:spAutoFit/>
          </a:bodyPr>
          <a:p>
            <a:r>
              <a:rPr lang="zh-CN" altLang="en-US"/>
              <a:t>特征适配器公式：</a:t>
            </a:r>
            <a:endParaRPr lang="zh-CN" altLang="en-US"/>
          </a:p>
        </p:txBody>
      </p:sp>
      <p:pic>
        <p:nvPicPr>
          <p:cNvPr id="8" name="图片 7"/>
          <p:cNvPicPr>
            <a:picLocks noChangeAspect="1"/>
          </p:cNvPicPr>
          <p:nvPr/>
        </p:nvPicPr>
        <p:blipFill>
          <a:blip r:embed="rId4"/>
          <a:stretch>
            <a:fillRect/>
          </a:stretch>
        </p:blipFill>
        <p:spPr>
          <a:xfrm>
            <a:off x="5707380" y="4785995"/>
            <a:ext cx="2486025" cy="571500"/>
          </a:xfrm>
          <a:prstGeom prst="rect">
            <a:avLst/>
          </a:prstGeom>
        </p:spPr>
      </p:pic>
      <p:sp>
        <p:nvSpPr>
          <p:cNvPr id="9" name="文本框 8"/>
          <p:cNvSpPr txBox="1"/>
          <p:nvPr/>
        </p:nvSpPr>
        <p:spPr>
          <a:xfrm>
            <a:off x="2724150" y="5942965"/>
            <a:ext cx="4064000" cy="368300"/>
          </a:xfrm>
          <a:prstGeom prst="rect">
            <a:avLst/>
          </a:prstGeom>
          <a:noFill/>
        </p:spPr>
        <p:txBody>
          <a:bodyPr wrap="square" rtlCol="0">
            <a:spAutoFit/>
          </a:bodyPr>
          <a:p>
            <a:r>
              <a:rPr lang="zh-CN" altLang="en-US"/>
              <a:t>交叉注意力：</a:t>
            </a:r>
            <a:endParaRPr lang="zh-CN" altLang="en-US"/>
          </a:p>
        </p:txBody>
      </p:sp>
      <p:pic>
        <p:nvPicPr>
          <p:cNvPr id="10" name="图片 9"/>
          <p:cNvPicPr>
            <a:picLocks noChangeAspect="1"/>
          </p:cNvPicPr>
          <p:nvPr/>
        </p:nvPicPr>
        <p:blipFill>
          <a:blip r:embed="rId5"/>
          <a:stretch>
            <a:fillRect/>
          </a:stretch>
        </p:blipFill>
        <p:spPr>
          <a:xfrm>
            <a:off x="4006850" y="5740400"/>
            <a:ext cx="5743575" cy="10572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7890" y="264160"/>
            <a:ext cx="4442460"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自动提示生成：</a:t>
            </a:r>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 APG</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模块</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pic>
        <p:nvPicPr>
          <p:cNvPr id="3" name="图片 2"/>
          <p:cNvPicPr>
            <a:picLocks noChangeAspect="1"/>
          </p:cNvPicPr>
          <p:nvPr/>
        </p:nvPicPr>
        <p:blipFill>
          <a:blip r:embed="rId3"/>
          <a:stretch>
            <a:fillRect/>
          </a:stretch>
        </p:blipFill>
        <p:spPr>
          <a:xfrm>
            <a:off x="268605" y="1399540"/>
            <a:ext cx="11628120" cy="1905000"/>
          </a:xfrm>
          <a:prstGeom prst="rect">
            <a:avLst/>
          </a:prstGeom>
        </p:spPr>
      </p:pic>
      <p:pic>
        <p:nvPicPr>
          <p:cNvPr id="9" name="图片 8"/>
          <p:cNvPicPr>
            <a:picLocks noChangeAspect="1"/>
          </p:cNvPicPr>
          <p:nvPr/>
        </p:nvPicPr>
        <p:blipFill>
          <a:blip r:embed="rId4"/>
          <a:stretch>
            <a:fillRect/>
          </a:stretch>
        </p:blipFill>
        <p:spPr>
          <a:xfrm>
            <a:off x="3200400" y="3583940"/>
            <a:ext cx="6229350" cy="13049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500">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7890" y="264160"/>
            <a:ext cx="7364730"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对比实验</a:t>
            </a:r>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-SAMUS</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和通用模型</a:t>
            </a:r>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可见数据集</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sp>
        <p:nvSpPr>
          <p:cNvPr id="2" name="文本框 1"/>
          <p:cNvSpPr txBox="1"/>
          <p:nvPr/>
        </p:nvSpPr>
        <p:spPr>
          <a:xfrm>
            <a:off x="3966845" y="5476875"/>
            <a:ext cx="4797425" cy="460375"/>
          </a:xfrm>
          <a:prstGeom prst="rect">
            <a:avLst/>
          </a:prstGeom>
          <a:noFill/>
        </p:spPr>
        <p:txBody>
          <a:bodyPr wrap="square" rtlCol="0">
            <a:spAutoFit/>
          </a:bodyPr>
          <a:p>
            <a:r>
              <a:rPr lang="zh-CN" altLang="en-US" sz="2400"/>
              <a:t>评估</a:t>
            </a:r>
            <a:r>
              <a:rPr lang="en-US" altLang="zh-CN" sz="2400"/>
              <a:t>SAMUS</a:t>
            </a:r>
            <a:r>
              <a:rPr lang="zh-CN" altLang="en-US" sz="2400"/>
              <a:t>在</a:t>
            </a:r>
            <a:r>
              <a:rPr lang="zh-CN" altLang="en-US" sz="2400">
                <a:solidFill>
                  <a:srgbClr val="FF0000"/>
                </a:solidFill>
              </a:rPr>
              <a:t>已知领域</a:t>
            </a:r>
            <a:r>
              <a:rPr lang="zh-CN" altLang="en-US" sz="2400"/>
              <a:t>的表现</a:t>
            </a:r>
            <a:endParaRPr lang="zh-CN" altLang="en-US" sz="2400"/>
          </a:p>
        </p:txBody>
      </p:sp>
      <p:pic>
        <p:nvPicPr>
          <p:cNvPr id="7" name="图片 6"/>
          <p:cNvPicPr>
            <a:picLocks noChangeAspect="1"/>
          </p:cNvPicPr>
          <p:nvPr/>
        </p:nvPicPr>
        <p:blipFill>
          <a:blip r:embed="rId3"/>
          <a:stretch>
            <a:fillRect/>
          </a:stretch>
        </p:blipFill>
        <p:spPr>
          <a:xfrm>
            <a:off x="409575" y="1277620"/>
            <a:ext cx="11372850" cy="3865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7890" y="264160"/>
            <a:ext cx="7486015"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对比实验</a:t>
            </a:r>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-SAMUS</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和通用模型</a:t>
            </a:r>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未见数据集</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sp>
        <p:nvSpPr>
          <p:cNvPr id="3" name="文本框 2"/>
          <p:cNvSpPr txBox="1"/>
          <p:nvPr/>
        </p:nvSpPr>
        <p:spPr>
          <a:xfrm>
            <a:off x="3871595" y="5114925"/>
            <a:ext cx="4482465" cy="460375"/>
          </a:xfrm>
          <a:prstGeom prst="rect">
            <a:avLst/>
          </a:prstGeom>
          <a:noFill/>
        </p:spPr>
        <p:txBody>
          <a:bodyPr wrap="square" rtlCol="0">
            <a:spAutoFit/>
          </a:bodyPr>
          <a:p>
            <a:r>
              <a:rPr lang="zh-CN" altLang="en-US" sz="2400"/>
              <a:t>评估</a:t>
            </a:r>
            <a:r>
              <a:rPr lang="en-US" altLang="zh-CN" sz="2400"/>
              <a:t>SAMUS</a:t>
            </a:r>
            <a:r>
              <a:rPr lang="zh-CN" altLang="en-US" sz="2400"/>
              <a:t>在</a:t>
            </a:r>
            <a:r>
              <a:rPr lang="zh-CN" altLang="en-US" sz="2400">
                <a:solidFill>
                  <a:srgbClr val="FF0000"/>
                </a:solidFill>
              </a:rPr>
              <a:t>未知领域</a:t>
            </a:r>
            <a:r>
              <a:rPr lang="zh-CN" altLang="en-US" sz="2400"/>
              <a:t>的表现</a:t>
            </a:r>
            <a:endParaRPr lang="zh-CN" altLang="en-US" sz="2400"/>
          </a:p>
        </p:txBody>
      </p:sp>
      <p:pic>
        <p:nvPicPr>
          <p:cNvPr id="7" name="图片 6"/>
          <p:cNvPicPr>
            <a:picLocks noChangeAspect="1"/>
          </p:cNvPicPr>
          <p:nvPr/>
        </p:nvPicPr>
        <p:blipFill>
          <a:blip r:embed="rId3"/>
          <a:stretch>
            <a:fillRect/>
          </a:stretch>
        </p:blipFill>
        <p:spPr>
          <a:xfrm>
            <a:off x="146685" y="1547495"/>
            <a:ext cx="11825605" cy="2946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pic>
        <p:nvPicPr>
          <p:cNvPr id="7" name="图片 6"/>
          <p:cNvPicPr>
            <a:picLocks noChangeAspect="1"/>
          </p:cNvPicPr>
          <p:nvPr/>
        </p:nvPicPr>
        <p:blipFill>
          <a:blip r:embed="rId3"/>
          <a:stretch>
            <a:fillRect/>
          </a:stretch>
        </p:blipFill>
        <p:spPr>
          <a:xfrm>
            <a:off x="224790" y="1432560"/>
            <a:ext cx="11742420" cy="2955925"/>
          </a:xfrm>
          <a:prstGeom prst="rect">
            <a:avLst/>
          </a:prstGeom>
        </p:spPr>
      </p:pic>
      <p:sp>
        <p:nvSpPr>
          <p:cNvPr id="9" name="文本框 8"/>
          <p:cNvSpPr txBox="1"/>
          <p:nvPr/>
        </p:nvSpPr>
        <p:spPr>
          <a:xfrm>
            <a:off x="2035175" y="264160"/>
            <a:ext cx="7584440"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对比实验</a:t>
            </a:r>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-SAMUS</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和任务特定模型</a:t>
            </a:r>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未见数据集</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366645" y="5086350"/>
            <a:ext cx="7911465" cy="460375"/>
          </a:xfrm>
          <a:prstGeom prst="rect">
            <a:avLst/>
          </a:prstGeom>
          <a:noFill/>
        </p:spPr>
        <p:txBody>
          <a:bodyPr wrap="square" rtlCol="0">
            <a:spAutoFit/>
          </a:bodyPr>
          <a:p>
            <a:r>
              <a:rPr lang="zh-CN" altLang="en-US" sz="2400"/>
              <a:t>评估</a:t>
            </a:r>
            <a:r>
              <a:rPr lang="en-US" altLang="zh-CN" sz="2400"/>
              <a:t>SAMUS</a:t>
            </a:r>
            <a:r>
              <a:rPr lang="zh-CN" altLang="en-US" sz="2400"/>
              <a:t>作为</a:t>
            </a:r>
            <a:r>
              <a:rPr lang="en-US" altLang="zh-CN" sz="2400"/>
              <a:t>foundation model</a:t>
            </a:r>
            <a:r>
              <a:rPr lang="zh-CN" altLang="en-US" sz="2400"/>
              <a:t>在</a:t>
            </a:r>
            <a:r>
              <a:rPr lang="zh-CN" altLang="en-US" sz="2400">
                <a:solidFill>
                  <a:srgbClr val="FF0000"/>
                </a:solidFill>
              </a:rPr>
              <a:t>单任务微调</a:t>
            </a:r>
            <a:r>
              <a:rPr lang="zh-CN" altLang="en-US" sz="2400"/>
              <a:t>后的表现</a:t>
            </a:r>
            <a:endParaRPr lang="zh-CN"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932305" y="264160"/>
            <a:ext cx="7745095" cy="953135"/>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对比实验</a:t>
            </a:r>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-AutoSAMUS</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和任务特定模型</a:t>
            </a:r>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可见数据集微调</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pic>
        <p:nvPicPr>
          <p:cNvPr id="2" name="图片 1"/>
          <p:cNvPicPr>
            <a:picLocks noChangeAspect="1"/>
          </p:cNvPicPr>
          <p:nvPr/>
        </p:nvPicPr>
        <p:blipFill>
          <a:blip r:embed="rId3"/>
          <a:stretch>
            <a:fillRect/>
          </a:stretch>
        </p:blipFill>
        <p:spPr>
          <a:xfrm>
            <a:off x="485775" y="2366645"/>
            <a:ext cx="11220450" cy="2124075"/>
          </a:xfrm>
          <a:prstGeom prst="rect">
            <a:avLst/>
          </a:prstGeom>
        </p:spPr>
      </p:pic>
      <p:sp>
        <p:nvSpPr>
          <p:cNvPr id="7" name="文本框 6"/>
          <p:cNvSpPr txBox="1"/>
          <p:nvPr/>
        </p:nvSpPr>
        <p:spPr>
          <a:xfrm>
            <a:off x="2592070" y="5410200"/>
            <a:ext cx="7085330" cy="460375"/>
          </a:xfrm>
          <a:prstGeom prst="rect">
            <a:avLst/>
          </a:prstGeom>
          <a:noFill/>
        </p:spPr>
        <p:txBody>
          <a:bodyPr wrap="square" rtlCol="0">
            <a:spAutoFit/>
          </a:bodyPr>
          <a:p>
            <a:r>
              <a:rPr lang="zh-CN" altLang="en-US" sz="2400"/>
              <a:t>评估</a:t>
            </a:r>
            <a:r>
              <a:rPr lang="en-US" altLang="zh-CN" sz="2400"/>
              <a:t>AutoSAMUS</a:t>
            </a:r>
            <a:r>
              <a:rPr lang="zh-CN" altLang="en-US" sz="2400"/>
              <a:t>（端到端自动分割版本）的表现</a:t>
            </a:r>
            <a:endParaRPr lang="zh-CN"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7890" y="264160"/>
            <a:ext cx="4149725"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消融实验</a:t>
            </a:r>
            <a:endParaRPr lang="en-US" altLang="zh-CN"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pic>
        <p:nvPicPr>
          <p:cNvPr id="2" name="图片 1"/>
          <p:cNvPicPr>
            <a:picLocks noChangeAspect="1"/>
          </p:cNvPicPr>
          <p:nvPr/>
        </p:nvPicPr>
        <p:blipFill>
          <a:blip r:embed="rId3"/>
          <a:stretch>
            <a:fillRect/>
          </a:stretch>
        </p:blipFill>
        <p:spPr>
          <a:xfrm>
            <a:off x="485775" y="1504950"/>
            <a:ext cx="11220450" cy="3848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8165" y="264321"/>
            <a:ext cx="2780907"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总结</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sp>
        <p:nvSpPr>
          <p:cNvPr id="2" name="文本框 1"/>
          <p:cNvSpPr txBox="1"/>
          <p:nvPr/>
        </p:nvSpPr>
        <p:spPr>
          <a:xfrm>
            <a:off x="1035050" y="1250315"/>
            <a:ext cx="10304780" cy="4316730"/>
          </a:xfrm>
          <a:prstGeom prst="rect">
            <a:avLst/>
          </a:prstGeom>
        </p:spPr>
        <p:txBody>
          <a:bodyPr>
            <a:noAutofit/>
          </a:bodyPr>
          <a:p>
            <a:r>
              <a:rPr lang="zh-CN" altLang="en-US" sz="2400"/>
              <a:t>提出了一种新的超声图像分割通用模型，即超声图像分割模型（</a:t>
            </a:r>
            <a:r>
              <a:rPr lang="en-US" altLang="zh-CN" sz="2400"/>
              <a:t>SAMUS</a:t>
            </a:r>
            <a:r>
              <a:rPr lang="zh-CN" altLang="en-US" sz="2400"/>
              <a:t>）及其端到端自动分割版本（</a:t>
            </a:r>
            <a:r>
              <a:rPr lang="en-US" altLang="zh-CN" sz="2400"/>
              <a:t>AutoSAMUS</a:t>
            </a:r>
            <a:r>
              <a:rPr lang="zh-CN" altLang="en-US" sz="2400"/>
              <a:t>）。</a:t>
            </a:r>
            <a:endParaRPr lang="zh-CN" altLang="en-US" sz="2400"/>
          </a:p>
          <a:p>
            <a:endParaRPr lang="zh-CN" altLang="en-US" sz="2000"/>
          </a:p>
          <a:p>
            <a:r>
              <a:rPr lang="zh-CN" altLang="en-US" sz="2800">
                <a:latin typeface="微软雅黑" panose="020B0503020204020204" pitchFamily="34" charset="-122"/>
                <a:ea typeface="微软雅黑" panose="020B0503020204020204" pitchFamily="34" charset="-122"/>
                <a:sym typeface="+mn-ea"/>
              </a:rPr>
              <a:t>•</a:t>
            </a:r>
            <a:r>
              <a:rPr lang="en-US" altLang="zh-CN" sz="2800"/>
              <a:t>SAMUS</a:t>
            </a:r>
            <a:r>
              <a:rPr lang="zh-CN" altLang="en-US" sz="2800"/>
              <a:t>通过引入并行</a:t>
            </a:r>
            <a:r>
              <a:rPr lang="en-US" altLang="zh-CN" sz="2800"/>
              <a:t>CNN</a:t>
            </a:r>
            <a:r>
              <a:rPr lang="zh-CN" altLang="en-US" sz="2800"/>
              <a:t>分支和跨分支注意力机制（</a:t>
            </a:r>
            <a:r>
              <a:rPr lang="en-US" altLang="zh-CN" sz="2800"/>
              <a:t>CBA</a:t>
            </a:r>
            <a:r>
              <a:rPr lang="zh-CN" altLang="en-US" sz="2800"/>
              <a:t>）补充了</a:t>
            </a:r>
            <a:r>
              <a:rPr lang="en-US" altLang="zh-CN" sz="2800"/>
              <a:t>SAM</a:t>
            </a:r>
            <a:r>
              <a:rPr lang="zh-CN" altLang="en-US" sz="2800"/>
              <a:t>缺失的局部信息，并联合使用特征适配器和位置适配器实现从自然图像域到超声医学图像域的有效迁移。</a:t>
            </a:r>
            <a:endParaRPr lang="zh-CN" altLang="en-US" sz="2800"/>
          </a:p>
          <a:p>
            <a:endParaRPr lang="zh-CN" altLang="en-US" sz="2800"/>
          </a:p>
          <a:p>
            <a:r>
              <a:rPr lang="zh-CN" altLang="en-US" sz="2800">
                <a:latin typeface="微软雅黑" panose="020B0503020204020204" pitchFamily="34" charset="-122"/>
                <a:ea typeface="微软雅黑" panose="020B0503020204020204" pitchFamily="34" charset="-122"/>
                <a:sym typeface="+mn-ea"/>
              </a:rPr>
              <a:t>•</a:t>
            </a:r>
            <a:r>
              <a:rPr lang="en-US" altLang="zh-CN" sz="2800"/>
              <a:t>AutoSAMUS</a:t>
            </a:r>
            <a:r>
              <a:rPr lang="zh-CN" altLang="en-US" sz="2800"/>
              <a:t>通过引入自动提示生成器（</a:t>
            </a:r>
            <a:r>
              <a:rPr lang="en-US" altLang="zh-CN" sz="2800"/>
              <a:t>APG</a:t>
            </a:r>
            <a:r>
              <a:rPr lang="zh-CN" altLang="en-US" sz="2800"/>
              <a:t>）替代传统</a:t>
            </a:r>
            <a:r>
              <a:rPr lang="en-US" altLang="zh-CN" sz="2800"/>
              <a:t>SAM</a:t>
            </a:r>
            <a:r>
              <a:rPr lang="zh-CN" altLang="en-US" sz="2800"/>
              <a:t>人工提示编码器，利用可学习的任务</a:t>
            </a:r>
            <a:r>
              <a:rPr lang="en-US" altLang="zh-CN" sz="2800"/>
              <a:t>tokens</a:t>
            </a:r>
            <a:r>
              <a:rPr lang="zh-CN" altLang="en-US" sz="2800"/>
              <a:t>与图像嵌入进行交叉注意力交互，自动生成稀疏和密集提示嵌入，实现了真正的端到端自动分割。 </a:t>
            </a:r>
            <a:endParaRPr lang="zh-CN" altLang="en-US" sz="2800"/>
          </a:p>
          <a:p>
            <a:endParaRPr lang="zh-CN" altLang="en-US" sz="2000"/>
          </a:p>
          <a:p>
            <a:endParaRPr lang="zh-CN" altLang="en-US" sz="2000"/>
          </a:p>
          <a:p>
            <a:endParaRPr lang="zh-CN"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932495"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168165" y="264321"/>
            <a:ext cx="2780907" cy="52197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结语</a:t>
            </a:r>
            <a:endParaRPr lang="zh-CN" altLang="en-US" sz="2800" b="1"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244" y="0"/>
            <a:ext cx="1789251" cy="1051863"/>
          </a:xfrm>
          <a:prstGeom prst="rect">
            <a:avLst/>
          </a:prstGeom>
        </p:spPr>
      </p:pic>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50675" y="71847"/>
            <a:ext cx="2336220" cy="673654"/>
          </a:xfrm>
          <a:prstGeom prst="rect">
            <a:avLst/>
          </a:prstGeom>
        </p:spPr>
      </p:pic>
      <p:sp>
        <p:nvSpPr>
          <p:cNvPr id="3" name="文本框 2"/>
          <p:cNvSpPr txBox="1"/>
          <p:nvPr/>
        </p:nvSpPr>
        <p:spPr>
          <a:xfrm>
            <a:off x="4028440" y="2969260"/>
            <a:ext cx="4064000" cy="1014730"/>
          </a:xfrm>
          <a:prstGeom prst="rect">
            <a:avLst/>
          </a:prstGeom>
          <a:noFill/>
        </p:spPr>
        <p:txBody>
          <a:bodyPr wrap="square" rtlCol="0">
            <a:spAutoFit/>
          </a:bodyPr>
          <a:p>
            <a:r>
              <a:rPr lang="zh-CN" altLang="en-US" sz="6000"/>
              <a:t>感谢聆听！</a:t>
            </a:r>
            <a:endParaRPr lang="zh-CN" altLang="en-US" sz="600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1065</Words>
  <Application>WPS 演示</Application>
  <PresentationFormat>宽屏</PresentationFormat>
  <Paragraphs>82</Paragraphs>
  <Slides>13</Slides>
  <Notes>15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宋体</vt:lpstr>
      <vt:lpstr>Wingdings</vt:lpstr>
      <vt:lpstr>Impact</vt:lpstr>
      <vt:lpstr>方正姚体</vt:lpstr>
      <vt:lpstr>微软雅黑</vt:lpstr>
      <vt:lpstr>Calibri</vt:lpstr>
      <vt:lpstr>Arial Unicode MS</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演示文稿3</dc:title>
  <dc:creator>LYK</dc:creator>
  <cp:lastModifiedBy>月色</cp:lastModifiedBy>
  <cp:revision>266</cp:revision>
  <dcterms:created xsi:type="dcterms:W3CDTF">2016-04-09T13:02:00Z</dcterms:created>
  <dcterms:modified xsi:type="dcterms:W3CDTF">2025-12-13T10:53:48Z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B5CC9B3014534934B8927105366829CF_12</vt:lpwstr>
  </property>
</Properties>
</file>