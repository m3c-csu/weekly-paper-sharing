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260" r:id="rId4"/>
    <p:sldId id="368" r:id="rId5"/>
    <p:sldId id="323" r:id="rId6"/>
    <p:sldId id="356" r:id="rId7"/>
    <p:sldId id="370" r:id="rId8"/>
    <p:sldId id="310" r:id="rId9"/>
    <p:sldId id="324" r:id="rId10"/>
    <p:sldId id="359" r:id="rId11"/>
    <p:sldId id="357" r:id="rId12"/>
    <p:sldId id="371" r:id="rId13"/>
    <p:sldId id="346" r:id="rId14"/>
    <p:sldId id="347" r:id="rId15"/>
    <p:sldId id="372" r:id="rId16"/>
    <p:sldId id="362" r:id="rId17"/>
    <p:sldId id="373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3D74A7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1" autoAdjust="0"/>
    <p:restoredTop sz="89697" autoAdjust="0"/>
  </p:normalViewPr>
  <p:slideViewPr>
    <p:cSldViewPr snapToGrid="0" showGuides="1">
      <p:cViewPr varScale="1">
        <p:scale>
          <a:sx n="86" d="100"/>
          <a:sy n="86" d="100"/>
        </p:scale>
        <p:origin x="675" y="51"/>
      </p:cViewPr>
      <p:guideLst>
        <p:guide orient="horz" pos="22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mcheng.net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本文的主要任务是多模态的肺癌分割，模型主要是通过</a:t>
            </a:r>
            <a:r>
              <a:rPr lang="en-US" altLang="zh-CN" dirty="0" err="1"/>
              <a:t>manba</a:t>
            </a:r>
            <a:r>
              <a:rPr lang="zh-CN" altLang="en-US" dirty="0"/>
              <a:t>模块进行多模态的特征交互感知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作者现在是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南开大学</a:t>
            </a:r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媒体计算实验室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的博士生</a:t>
            </a:r>
            <a:r>
              <a:rPr lang="zh-CN" altLang="en-US" dirty="0"/>
              <a:t>，研究方向是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计算机视觉，机器学习，遥感图像。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本文所利用的两个模态特点互补，但是现在的两个模态的图像存在这问题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BF06C-66A7-AD31-6D78-A514650D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316F90-1286-2AE6-698D-7531B4C8E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CDEC40-9D1B-7C73-1FE5-1E2FA06C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所解决问题并不是很明确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225A0-D522-B17D-07FF-48A9D6D27A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664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8E03-1759-814F-EB34-A555234C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5348E8-F22B-78F5-4D27-BBB628372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0FB6D5-3BED-A8C6-CBAE-E989FB63C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针对两个问题作者提出了相应的解决方法。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E929D7-8DC8-7A7C-78AC-A538B6292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262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F2D8-2CB1-789B-B61B-7627F4463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5FCE0E-88D5-F9A5-B9C0-3A67E6D7A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0B31CA-617A-64F0-E29C-7334E392A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4504A0-857C-ECDB-7FB0-A347B1FD6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31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A7414-9C1B-43DC-C973-DDD03A2C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B4F4E0-DB79-9870-72DA-4830A7E7A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0971B4-C8DA-99C4-69EB-370D2C6C1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/>
              <a:t>Mamba</a:t>
            </a:r>
            <a:r>
              <a:rPr lang="zh-CN" altLang="en-US" sz="1200" b="0" dirty="0"/>
              <a:t>模型提出是和</a:t>
            </a:r>
            <a:r>
              <a:rPr lang="en-US" altLang="zh-CN" sz="1200" b="0" dirty="0"/>
              <a:t>transformer</a:t>
            </a:r>
            <a:r>
              <a:rPr lang="zh-CN" altLang="en-US" sz="1200" b="0" dirty="0"/>
              <a:t>模型一样用于序列任务，但是相对于</a:t>
            </a:r>
            <a:r>
              <a:rPr lang="en-US" altLang="zh-CN" sz="1200" b="0" dirty="0"/>
              <a:t>transformer</a:t>
            </a:r>
            <a:r>
              <a:rPr lang="zh-CN" altLang="en-US" sz="1200" b="0" dirty="0"/>
              <a:t>，</a:t>
            </a:r>
            <a:r>
              <a:rPr lang="en-US" altLang="zh-CN" sz="1200" b="0" dirty="0"/>
              <a:t>mamba</a:t>
            </a:r>
            <a:r>
              <a:rPr lang="zh-CN" altLang="en-US" sz="1200" b="0" dirty="0"/>
              <a:t>具有线性的复杂度，由于状态空间模型的参数和时间以及输入无关，于是</a:t>
            </a:r>
            <a:r>
              <a:rPr lang="en-US" altLang="zh-CN" sz="1200" b="0" dirty="0"/>
              <a:t>Mamba</a:t>
            </a:r>
            <a:r>
              <a:rPr lang="zh-CN" altLang="en-US" sz="1200" b="0" dirty="0"/>
              <a:t>的核心思想就是有选择状态空间模型，将参数能够根据输入进行线性变化。通过隐藏函数记忆和混合现在状态和历史状态。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9BC52-D491-5DAC-2B5B-EBC5BAB73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474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模型主要有三部分组成，第一个是双分支特征提取框架，作者用的是</a:t>
            </a:r>
            <a:r>
              <a:rPr lang="en-US" altLang="zh-CN" dirty="0" err="1"/>
              <a:t>Vmamba</a:t>
            </a:r>
            <a:r>
              <a:rPr lang="zh-CN" altLang="en-US" dirty="0"/>
              <a:t>来进行特征提取，第二个是通道矫正模块</a:t>
            </a:r>
            <a:r>
              <a:rPr lang="en-US" altLang="zh-CN" dirty="0"/>
              <a:t>CRM</a:t>
            </a:r>
            <a:r>
              <a:rPr lang="zh-CN" altLang="en-US" dirty="0"/>
              <a:t>学习相关表示，过来模式特异性噪声，最后是动态跨膜太交互模块</a:t>
            </a:r>
            <a:r>
              <a:rPr lang="en-US" altLang="zh-CN" dirty="0"/>
              <a:t>DCIM</a:t>
            </a:r>
            <a:r>
              <a:rPr lang="zh-CN" altLang="en-US" dirty="0"/>
              <a:t>，整合位置和上下文信息，利用</a:t>
            </a:r>
            <a:r>
              <a:rPr lang="en-US" altLang="zh-CN" dirty="0"/>
              <a:t>PET</a:t>
            </a:r>
            <a:r>
              <a:rPr lang="zh-CN" altLang="en-US" dirty="0"/>
              <a:t>的区域位置信息辅助建模</a:t>
            </a:r>
            <a:r>
              <a:rPr lang="en-US" altLang="zh-CN" dirty="0"/>
              <a:t>CT</a:t>
            </a:r>
            <a:r>
              <a:rPr lang="zh-CN" altLang="en-US" dirty="0"/>
              <a:t>图像局部特征之间的关系。接下来详细讲。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594D-5A9D-C572-51A2-7FDD8104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5C3C4B-4879-54DB-0AC2-7F27C52E8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53F913-AE3C-1BE0-398C-B6FA5ACA6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CD608C-E71A-41E6-DD26-1B8E8D029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614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A7414-9C1B-43DC-C973-DDD03A2C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B4F4E0-DB79-9870-72DA-4830A7E7A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0971B4-C8DA-99C4-69EB-370D2C6C1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/>
              <a:t>为了解决通道信息被忽略的问题，作者提出了通道矫正模块，首先特征按通道拼接，转置，片平滑，将整个特征图用来作为序列的一个元素从而计算通道间关联，通过扫描两个模态的通道映射表示，有效混合和记忆相关性特征。线性投影</a:t>
            </a:r>
            <a:r>
              <a:rPr lang="en-US" altLang="zh-CN" sz="1200" b="0" dirty="0"/>
              <a:t>——sigmoid</a:t>
            </a:r>
            <a:r>
              <a:rPr lang="zh-CN" altLang="en-US" sz="1200" b="0" dirty="0"/>
              <a:t>函数得到两个模态中每个通道的权重，并拆分。后对原始如数缩放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9BC52-D491-5DAC-2B5B-EBC5BAB73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474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992E5-C916-C3F0-4373-979A350C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891502-21CF-63A8-9A44-1637DE276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614AD8-DA1A-1DD5-06D8-A4B1E03AA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本模块解决的问题是：，他的解决思路是：，具体做法如下，首先将前面通道矫正模块生成的特征图分别经过</a:t>
            </a:r>
            <a:r>
              <a:rPr lang="en-US" altLang="zh-CN" b="0" dirty="0"/>
              <a:t>3*3</a:t>
            </a:r>
            <a:r>
              <a:rPr lang="zh-CN" altLang="en-US" b="0" dirty="0"/>
              <a:t>卷积，使其形状分别变为，至于这里两个特征图的分辨率和通道层数都不一样，结合以下一部理解，后面第二部就是将两个特征图进行分</a:t>
            </a:r>
            <a:r>
              <a:rPr lang="en-US" altLang="zh-CN" b="0" dirty="0"/>
              <a:t>PATCH</a:t>
            </a:r>
            <a:r>
              <a:rPr lang="zh-CN" altLang="en-US" b="0" dirty="0"/>
              <a:t>，两个特征图的</a:t>
            </a:r>
            <a:r>
              <a:rPr lang="en-US" altLang="zh-CN" b="0" dirty="0"/>
              <a:t>patch</a:t>
            </a:r>
            <a:r>
              <a:rPr lang="zh-CN" altLang="en-US" b="0" dirty="0"/>
              <a:t>要一一对应，大小也应该一样。应为</a:t>
            </a:r>
            <a:r>
              <a:rPr lang="en-US" altLang="zh-CN" b="0" dirty="0"/>
              <a:t>CT</a:t>
            </a:r>
            <a:r>
              <a:rPr lang="zh-CN" altLang="en-US" b="0" dirty="0"/>
              <a:t>细节比较丰富所以将</a:t>
            </a:r>
            <a:r>
              <a:rPr lang="en-US" altLang="zh-CN" b="0" dirty="0"/>
              <a:t>CT</a:t>
            </a:r>
            <a:r>
              <a:rPr lang="zh-CN" altLang="en-US" b="0" dirty="0"/>
              <a:t>进一步分片，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侧若也只用同一个区域的“单向量”，两者粒度相同，就只能做简单的向量相加或拼接，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失去“用代谢信息去精修每个像素”的机会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。让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能用“低分辨率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区域向量”去逐像素指导“高分辨率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局部向量”，实现代谢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结构的优势互补，同时保持计算轻量化。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BA8DA0-1021-F52D-B742-BC6DD73EF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290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A7CB-440E-9FC5-66AF-BBBF3477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4ED3AF-068F-27BE-3D1F-8AC59D3C5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ED65DE-E04E-C19D-DF1C-A4C17CC56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第三步就是把分割好的区域和局部</a:t>
            </a:r>
            <a:r>
              <a:rPr lang="en-US" altLang="zh-CN" b="0" dirty="0"/>
              <a:t>token</a:t>
            </a:r>
            <a:r>
              <a:rPr lang="zh-CN" altLang="en-US" b="0" dirty="0"/>
              <a:t>分别输入</a:t>
            </a:r>
            <a:r>
              <a:rPr lang="en-US" altLang="zh-CN" b="0" dirty="0"/>
              <a:t>Mamba</a:t>
            </a:r>
            <a:r>
              <a:rPr lang="zh-CN" altLang="en-US" b="0" dirty="0"/>
              <a:t>模块进行全局信息和局部信息的增强，最后</a:t>
            </a:r>
            <a:r>
              <a:rPr lang="zh-CN" altLang="en-US" sz="1200" dirty="0"/>
              <a:t>将</a:t>
            </a:r>
            <a:r>
              <a:rPr lang="en-US" altLang="zh-CN" sz="1200" dirty="0"/>
              <a:t>PET</a:t>
            </a:r>
            <a:r>
              <a:rPr lang="zh-CN" altLang="en-US" sz="1200" dirty="0"/>
              <a:t>区域</a:t>
            </a:r>
            <a:r>
              <a:rPr lang="en-US" altLang="zh-CN" sz="1200" dirty="0"/>
              <a:t>token</a:t>
            </a:r>
            <a:r>
              <a:rPr lang="zh-CN" altLang="en-US" sz="1200" dirty="0"/>
              <a:t>和同一区域内的</a:t>
            </a:r>
            <a:r>
              <a:rPr lang="en-US" altLang="zh-CN" sz="1200" dirty="0"/>
              <a:t>CT</a:t>
            </a:r>
            <a:r>
              <a:rPr lang="zh-CN" altLang="en-US" sz="1200" dirty="0"/>
              <a:t>局部</a:t>
            </a:r>
            <a:r>
              <a:rPr lang="en-US" altLang="zh-CN" dirty="0"/>
              <a:t>token</a:t>
            </a:r>
            <a:r>
              <a:rPr lang="zh-CN" altLang="en-US" dirty="0"/>
              <a:t>整合，将</a:t>
            </a:r>
            <a:r>
              <a:rPr lang="en-US" altLang="zh-CN" dirty="0"/>
              <a:t>PET</a:t>
            </a:r>
            <a:r>
              <a:rPr lang="zh-CN" altLang="en-US" dirty="0"/>
              <a:t>区域标记添加到相应区域的每个</a:t>
            </a:r>
            <a:r>
              <a:rPr lang="en-US" altLang="zh-CN" dirty="0"/>
              <a:t>CT</a:t>
            </a:r>
            <a:r>
              <a:rPr lang="zh-CN" altLang="en-US" dirty="0"/>
              <a:t>局部标记中，在进行整合的时候，对一个同一区域的</a:t>
            </a:r>
            <a:r>
              <a:rPr lang="en-US" altLang="zh-CN" dirty="0"/>
              <a:t>PET</a:t>
            </a:r>
            <a:r>
              <a:rPr lang="zh-CN" altLang="en-US" dirty="0"/>
              <a:t>特征图，将</a:t>
            </a:r>
            <a:r>
              <a:rPr lang="en-US" altLang="zh-CN" dirty="0"/>
              <a:t>PET</a:t>
            </a:r>
            <a:r>
              <a:rPr lang="zh-CN" altLang="en-US" dirty="0"/>
              <a:t>特征图复制成</a:t>
            </a:r>
            <a:r>
              <a:rPr lang="en-US" altLang="zh-CN" dirty="0"/>
              <a:t>m</a:t>
            </a:r>
            <a:r>
              <a:rPr lang="zh-CN" altLang="en-US" dirty="0"/>
              <a:t>份。</a:t>
            </a: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3DDFFD-CE20-143A-1F62-7402DC1DB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694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02FC-9D72-42A3-64BD-AC182132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8F4BFD-78EF-3CA9-28FB-1A21197BC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9B2BA1-810D-00C9-C48D-019E9FC77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在不同</a:t>
            </a:r>
            <a:r>
              <a:rPr lang="en-US" altLang="zh-CN" b="1" dirty="0"/>
              <a:t>Backbone</a:t>
            </a:r>
            <a:r>
              <a:rPr lang="zh-CN" altLang="en-US" b="1" dirty="0"/>
              <a:t>下</a:t>
            </a:r>
            <a:r>
              <a:rPr lang="en-US" altLang="zh-CN" b="1" dirty="0" err="1"/>
              <a:t>Vmamba</a:t>
            </a:r>
            <a:r>
              <a:rPr lang="zh-CN" altLang="en-US" b="1" dirty="0"/>
              <a:t>参数更少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2844FA-17FD-1875-32FB-09E09E0E1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217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1D2E-3FA7-AC0F-4DCC-47E4E497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4D995D-3CFF-49D1-B3A4-520FA082E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206550-4407-1DD6-06AE-EAE981CF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更好的定位和分割，产生更少的假阳性病灶</a:t>
            </a: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26ED5F-F70D-47D9-ABA6-00F8C801F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677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24BE-0FF7-F97E-780C-0C9FB167D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486F6F-20BB-0E72-AA62-BC17082AC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DD251F-940D-B47C-AFC3-3E3FE6C6E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D7C53-2599-632B-E8A8-7295AED10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977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80D1-784E-3454-8610-E06B0D4C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51B7D1-F84A-FC05-446A-F091E41A8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2F300F-7A45-F462-C270-F2689454B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982077-CC60-2680-7CA1-C7913ED12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433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17F8-00F8-486F-B657-478FD2C4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D58705-29EA-0978-B516-C0144477B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DB1DCB-6EAF-77A0-F1D2-F921E0A5E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融合后的结构更清晰，综合特征显示出更明显的肺结构和病变区域的描述。</a:t>
            </a: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9149A-E8BF-BE2F-1F20-B77AEB2E4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73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.xml"/><Relationship Id="rId7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11085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80915" y="0"/>
            <a:ext cx="3110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975337" y="152956"/>
            <a:ext cx="2123437" cy="2123436"/>
          </a:xfrm>
          <a:prstGeom prst="ellipse">
            <a:avLst/>
          </a:prstGeom>
          <a:gradFill flip="none" rotWithShape="1">
            <a:gsLst>
              <a:gs pos="0">
                <a:srgbClr val="BFBFBF"/>
              </a:gs>
              <a:gs pos="52000">
                <a:srgbClr val="FFFFFF"/>
              </a:gs>
              <a:gs pos="100000">
                <a:srgbClr val="0070C0">
                  <a:tint val="0"/>
                </a:srgbClr>
              </a:gs>
            </a:gsLst>
            <a:lin ang="2700000" scaled="1"/>
            <a:tileRect/>
          </a:gradFill>
          <a:ln w="73025" cap="flat" cmpd="sng" algn="ctr">
            <a:solidFill>
              <a:srgbClr val="F2F2F2"/>
            </a:solidFill>
            <a:prstDash val="solid"/>
          </a:ln>
          <a:effectLst>
            <a:outerShdw blurRad="190500" dist="254000" dir="2699985" rotWithShape="0">
              <a:scrgbClr r="0" g="0" b="0">
                <a:alpha val="23000"/>
              </a:scrgbClr>
            </a:outerShdw>
          </a:effectLst>
        </p:spPr>
        <p:txBody>
          <a:bodyPr rtlCol="0" anchor="ctr"/>
          <a:lstStyle/>
          <a:p>
            <a:pPr algn="ctr" defTabSz="1088390">
              <a:defRPr/>
            </a:pPr>
            <a:endParaRPr lang="zh-CN" altLang="en-US" sz="3200" kern="0">
              <a:solidFill>
                <a:srgbClr val="000000"/>
              </a:solidFill>
              <a:latin typeface="Impact" panose="020B0806030902050204"/>
              <a:ea typeface="方正姚体" panose="02010601030101010101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281" y="211900"/>
            <a:ext cx="2005547" cy="2005547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7039828" y="5236421"/>
            <a:ext cx="4841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来源：</a:t>
            </a:r>
            <a:r>
              <a:rPr lang="en-US" altLang="zh-CN" sz="2400" dirty="0"/>
              <a:t>CVPR 2025</a:t>
            </a:r>
            <a:endParaRPr lang="zh-CN" altLang="en-US" sz="2400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F3F88EFB-71DD-E5CB-E975-528012E2B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266" y="2470088"/>
            <a:ext cx="9569036" cy="2462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98EBC59-B87B-229D-2E2E-E0B4A1DF1E87}"/>
              </a:ext>
            </a:extLst>
          </p:cNvPr>
          <p:cNvSpPr/>
          <p:nvPr/>
        </p:nvSpPr>
        <p:spPr>
          <a:xfrm>
            <a:off x="4910138" y="4586288"/>
            <a:ext cx="505744" cy="13335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BFCF1B-B33B-E330-C5B7-D1E6FE628FEE}"/>
              </a:ext>
            </a:extLst>
          </p:cNvPr>
          <p:cNvSpPr/>
          <p:nvPr/>
        </p:nvSpPr>
        <p:spPr>
          <a:xfrm>
            <a:off x="3961883" y="3616960"/>
            <a:ext cx="874277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9FEDF8-7D82-361E-1628-D9027E7420F8}"/>
              </a:ext>
            </a:extLst>
          </p:cNvPr>
          <p:cNvSpPr/>
          <p:nvPr/>
        </p:nvSpPr>
        <p:spPr>
          <a:xfrm>
            <a:off x="3951464" y="4815010"/>
            <a:ext cx="874277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C36C599-1282-A07A-4D5C-D878DB75A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668" y="4037769"/>
            <a:ext cx="5055980" cy="116599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746A2B3-D7C2-0767-51C5-14D953B74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667" y="5162541"/>
            <a:ext cx="4977207" cy="1206050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47F1341-B0D0-0832-8C4D-3920A866D2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9883" y="908352"/>
            <a:ext cx="9890596" cy="5569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TextBox 7"/>
          <p:cNvSpPr txBox="1"/>
          <p:nvPr>
            <p:custDataLst>
              <p:tags r:id="rId1"/>
            </p:custDataLst>
          </p:nvPr>
        </p:nvSpPr>
        <p:spPr>
          <a:xfrm>
            <a:off x="1119937" y="2849505"/>
            <a:ext cx="6460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/>
              <a:t>多模态检测任务图像问题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B43EB5-EAE0-CEE4-A682-5151FE153DF7}"/>
              </a:ext>
            </a:extLst>
          </p:cNvPr>
          <p:cNvSpPr txBox="1"/>
          <p:nvPr/>
        </p:nvSpPr>
        <p:spPr>
          <a:xfrm>
            <a:off x="1378553" y="3477114"/>
            <a:ext cx="2816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肺部肿瘤复杂，图像多变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C50996-2C81-3D1E-E23C-F128C16C58B1}"/>
              </a:ext>
            </a:extLst>
          </p:cNvPr>
          <p:cNvSpPr txBox="1"/>
          <p:nvPr/>
        </p:nvSpPr>
        <p:spPr>
          <a:xfrm>
            <a:off x="1378553" y="4250616"/>
            <a:ext cx="3891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图像质量差，噪声，形态复杂，形状不规则，边界不清晰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DA2BDBDF-BF46-6C5C-C26F-CCCC27E33B57}"/>
              </a:ext>
            </a:extLst>
          </p:cNvPr>
          <p:cNvSpPr/>
          <p:nvPr/>
        </p:nvSpPr>
        <p:spPr>
          <a:xfrm>
            <a:off x="2675703" y="3826809"/>
            <a:ext cx="321035" cy="44344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C3FB1A8-74F1-4963-E82A-DD0889CA4207}"/>
              </a:ext>
            </a:extLst>
          </p:cNvPr>
          <p:cNvSpPr txBox="1"/>
          <p:nvPr/>
        </p:nvSpPr>
        <p:spPr>
          <a:xfrm>
            <a:off x="1336973" y="5457945"/>
            <a:ext cx="383916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依赖数据，数据集规模小，不公开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B0B2A0C-746F-842C-F635-25D8D9A975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19937" y="1219372"/>
            <a:ext cx="1036825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2400" b="1" dirty="0"/>
              <a:t>PET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CT</a:t>
            </a:r>
            <a:r>
              <a:rPr lang="zh-CN" altLang="en-US" sz="2400" b="1" dirty="0"/>
              <a:t>模态特点</a:t>
            </a:r>
            <a:endParaRPr lang="en-US" altLang="zh-CN" sz="2400" dirty="0"/>
          </a:p>
          <a:p>
            <a:pPr marL="720000" indent="-342900" fontAlgn="auto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PET</a:t>
            </a:r>
            <a:r>
              <a:rPr lang="zh-CN" altLang="en-US" sz="2400" dirty="0"/>
              <a:t>：代谢活动增加会出现更明亮的视觉，</a:t>
            </a:r>
            <a:r>
              <a:rPr lang="zh-CN" altLang="en-US" sz="2400" dirty="0">
                <a:solidFill>
                  <a:srgbClr val="FF0000"/>
                </a:solidFill>
              </a:rPr>
              <a:t>分辨率低，肿瘤边界模糊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720000" indent="-342900" fontAlgn="auto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/>
              <a:t>CT</a:t>
            </a:r>
            <a:r>
              <a:rPr lang="zh-CN" altLang="en-US" sz="2400" dirty="0"/>
              <a:t>：分辨率高，肿瘤结构详细，但</a:t>
            </a:r>
            <a:r>
              <a:rPr lang="zh-CN" altLang="en-US" sz="2400" dirty="0">
                <a:solidFill>
                  <a:srgbClr val="FF0000"/>
                </a:solidFill>
              </a:rPr>
              <a:t>病灶与背景区域之间的对比度较低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DDE7F5-4132-3707-1CD4-AFC0F7BFD550}"/>
              </a:ext>
            </a:extLst>
          </p:cNvPr>
          <p:cNvSpPr txBox="1"/>
          <p:nvPr/>
        </p:nvSpPr>
        <p:spPr>
          <a:xfrm>
            <a:off x="1336973" y="6184438"/>
            <a:ext cx="383916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限制模型泛化性，鲁棒性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35CCBA-A208-11B7-A99B-91656D99DFAE}"/>
              </a:ext>
            </a:extLst>
          </p:cNvPr>
          <p:cNvSpPr txBox="1"/>
          <p:nvPr/>
        </p:nvSpPr>
        <p:spPr>
          <a:xfrm>
            <a:off x="2847859" y="4908005"/>
            <a:ext cx="1217789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E78B2342-5B4F-3EB6-2306-F4529A73A0C8}"/>
              </a:ext>
            </a:extLst>
          </p:cNvPr>
          <p:cNvSpPr/>
          <p:nvPr/>
        </p:nvSpPr>
        <p:spPr>
          <a:xfrm>
            <a:off x="2634123" y="4896947"/>
            <a:ext cx="321035" cy="586825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表格&#10;&#10;AI 生成的内容可能不正确。">
            <a:extLst>
              <a:ext uri="{FF2B5EF4-FFF2-40B4-BE49-F238E27FC236}">
                <a16:creationId xmlns:a16="http://schemas.microsoft.com/office/drawing/2014/main" id="{78357D84-3CC1-48E0-518B-9F76A6855E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8473" y="2849505"/>
            <a:ext cx="6525536" cy="3781953"/>
          </a:xfrm>
          <a:prstGeom prst="rect">
            <a:avLst/>
          </a:prstGeom>
        </p:spPr>
      </p:pic>
      <p:sp>
        <p:nvSpPr>
          <p:cNvPr id="29" name="箭头: 下 28">
            <a:extLst>
              <a:ext uri="{FF2B5EF4-FFF2-40B4-BE49-F238E27FC236}">
                <a16:creationId xmlns:a16="http://schemas.microsoft.com/office/drawing/2014/main" id="{DFBB56BD-23B1-2EA7-B081-78728AE3A871}"/>
              </a:ext>
            </a:extLst>
          </p:cNvPr>
          <p:cNvSpPr/>
          <p:nvPr/>
        </p:nvSpPr>
        <p:spPr>
          <a:xfrm>
            <a:off x="2660446" y="5874167"/>
            <a:ext cx="321035" cy="44344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E9C3-2016-1A75-DFBA-7E9CA024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CD7D26-A268-752F-D630-ED5FC4524937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8F342E1-3112-7BB1-8DAA-62FA759AA6D7}"/>
              </a:ext>
            </a:extLst>
          </p:cNvPr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2E2A70-3E4C-210C-383F-2A88DBCD1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9735397-00D2-C3B4-2560-0669058DAE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172AEB7D-489C-2083-8E3D-C2E45887865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98264" y="1321255"/>
            <a:ext cx="6460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/>
              <a:t>多模态检测分割任务挑战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92E51C-8F2B-BD6E-4990-71C28400CA20}"/>
              </a:ext>
            </a:extLst>
          </p:cNvPr>
          <p:cNvSpPr txBox="1"/>
          <p:nvPr/>
        </p:nvSpPr>
        <p:spPr>
          <a:xfrm>
            <a:off x="1597593" y="2052312"/>
            <a:ext cx="641878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图像对比度低，分辨率低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肿瘤结构不规则，复杂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肿瘤大小，位置，形态差异大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部分肿瘤浸润性生长，弥漫性侵犯周围组织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Mamba 2D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选择扫描机制，缺少通道间信息的建模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C440C2-F0C7-F762-71BC-484B28993A7A}"/>
              </a:ext>
            </a:extLst>
          </p:cNvPr>
          <p:cNvSpPr txBox="1"/>
          <p:nvPr/>
        </p:nvSpPr>
        <p:spPr>
          <a:xfrm>
            <a:off x="898264" y="4305639"/>
            <a:ext cx="967783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Mamba</a:t>
            </a:r>
          </a:p>
          <a:p>
            <a:pPr marL="72000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优势：线性复杂度，轻量级，能够有效建模长距离特征关系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-285750" fontAlgn="auto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缺点：由于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2D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选择扫描机制，难以有效挖掘多模态图像间的区域相关性和互补信息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AB68C57A-AF71-1201-F27F-24A30441C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37" y="1136739"/>
            <a:ext cx="4924670" cy="258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2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655D2-13A0-CC63-2D2D-270E35F9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C3F6BDE-062F-2837-1994-DF24F45A8E4A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155C896-B195-E162-C62E-C58A46CD506A}"/>
              </a:ext>
            </a:extLst>
          </p:cNvPr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4FD444-7D2E-153A-A750-F53A2B462D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25A911-AF4C-1411-34F2-3F1100A96BD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7DD97D9E-3AA8-BCEF-9B2D-EE6045CA0F4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13066" y="2007555"/>
            <a:ext cx="178925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zh-CN" altLang="en-US" sz="2400" dirty="0"/>
              <a:t>问题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fontAlgn="auto">
              <a:spcBef>
                <a:spcPts val="1200"/>
              </a:spcBef>
            </a:pPr>
            <a:r>
              <a:rPr lang="zh-CN" altLang="en-US" sz="2400" dirty="0"/>
              <a:t>图像问题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C6F0CDD-9B1E-2549-D0E4-C43ED1919C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10242" y="4039521"/>
            <a:ext cx="395671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1200"/>
              </a:spcBef>
            </a:pPr>
            <a:r>
              <a:rPr lang="zh-CN" altLang="en-US" sz="2400" dirty="0"/>
              <a:t>问题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algn="ctr" fontAlgn="auto">
              <a:spcBef>
                <a:spcPts val="1200"/>
              </a:spcBef>
            </a:pPr>
            <a:r>
              <a:rPr lang="en-US" altLang="zh-CN" sz="2400" dirty="0"/>
              <a:t>Mamba</a:t>
            </a:r>
            <a:r>
              <a:rPr lang="zh-CN" altLang="en-US" sz="2400" dirty="0"/>
              <a:t>无法建立通道间关联；</a:t>
            </a:r>
            <a:endParaRPr lang="en-US" altLang="zh-CN" sz="2400" dirty="0"/>
          </a:p>
          <a:p>
            <a:pPr algn="ctr" fontAlgn="auto">
              <a:spcBef>
                <a:spcPts val="1200"/>
              </a:spcBef>
            </a:pPr>
            <a:r>
              <a:rPr lang="zh-CN" altLang="en-US" sz="2400" dirty="0"/>
              <a:t>难以有效挖掘多模态图像之间的区域相关性和互补信息。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308524B-80EA-B52D-C0E0-7066CDE9BB3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00964" y="4099198"/>
            <a:ext cx="717490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400" dirty="0"/>
              <a:t>1</a:t>
            </a:r>
            <a:r>
              <a:rPr lang="zh-CN" altLang="en-US" sz="2400" dirty="0"/>
              <a:t>，使用基于</a:t>
            </a:r>
            <a:r>
              <a:rPr lang="en-US" altLang="zh-CN" sz="2400" dirty="0"/>
              <a:t>Mamba</a:t>
            </a:r>
            <a:r>
              <a:rPr lang="zh-CN" altLang="en-US" sz="2400" dirty="0"/>
              <a:t>的骨干提取特征；</a:t>
            </a:r>
            <a:endParaRPr lang="en-US" altLang="zh-CN" sz="2400" dirty="0"/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2</a:t>
            </a:r>
            <a:r>
              <a:rPr lang="zh-CN" altLang="en-US" sz="2400" dirty="0"/>
              <a:t>，通道智能矫正模块</a:t>
            </a:r>
            <a:r>
              <a:rPr lang="en-US" altLang="zh-CN" sz="2400" dirty="0"/>
              <a:t>CRM</a:t>
            </a:r>
            <a:r>
              <a:rPr lang="zh-CN" altLang="en-US" sz="2400" dirty="0"/>
              <a:t>，建模通道信息；</a:t>
            </a:r>
            <a:endParaRPr lang="en-US" altLang="zh-CN" sz="2400" dirty="0"/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3</a:t>
            </a:r>
            <a:r>
              <a:rPr lang="zh-CN" altLang="en-US" sz="2400" dirty="0"/>
              <a:t>，动态跨模态交互模块</a:t>
            </a:r>
            <a:r>
              <a:rPr lang="en-US" altLang="zh-CN" sz="2400" dirty="0"/>
              <a:t>DCIM</a:t>
            </a:r>
            <a:r>
              <a:rPr lang="zh-CN" altLang="en-US" sz="2400" dirty="0"/>
              <a:t>，高效结合互补信息。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FB1A3501-F340-505D-F3EB-3506F2988B85}"/>
              </a:ext>
            </a:extLst>
          </p:cNvPr>
          <p:cNvSpPr/>
          <p:nvPr/>
        </p:nvSpPr>
        <p:spPr>
          <a:xfrm rot="16200000">
            <a:off x="4041018" y="1985991"/>
            <a:ext cx="321035" cy="1028010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B972FF56-18F2-DE4E-061C-CEBD2D9BA01A}"/>
              </a:ext>
            </a:extLst>
          </p:cNvPr>
          <p:cNvSpPr/>
          <p:nvPr/>
        </p:nvSpPr>
        <p:spPr>
          <a:xfrm rot="16200000">
            <a:off x="4099281" y="4076219"/>
            <a:ext cx="321035" cy="91148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0A5FD6D3-C0B8-8866-149B-44E2910A7E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15541" y="2173517"/>
            <a:ext cx="6616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zh-CN" altLang="en-US" sz="2400" dirty="0"/>
              <a:t>提出自己的数据集</a:t>
            </a:r>
            <a:r>
              <a:rPr lang="en-US" altLang="zh-CN" sz="2400" dirty="0"/>
              <a:t>PCLT20K</a:t>
            </a:r>
            <a:r>
              <a:rPr lang="zh-CN" altLang="en-US" sz="2400" dirty="0"/>
              <a:t>，规模大，注释详细</a:t>
            </a:r>
          </a:p>
        </p:txBody>
      </p:sp>
    </p:spTree>
    <p:extLst>
      <p:ext uri="{BB962C8B-B14F-4D97-AF65-F5344CB8AC3E}">
        <p14:creationId xmlns:p14="http://schemas.microsoft.com/office/powerpoint/2010/main" val="277261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9" grpId="0"/>
      <p:bldP spid="12" grpId="0" animBg="1"/>
      <p:bldP spid="13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C16C-A4B3-019F-2611-99D63F92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E01D21-0256-D1CB-5E29-9127601DEC8D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D50EC37-9EB2-38C4-B6E6-7BFF37D9D14A}"/>
              </a:ext>
            </a:extLst>
          </p:cNvPr>
          <p:cNvSpPr txBox="1"/>
          <p:nvPr/>
        </p:nvSpPr>
        <p:spPr>
          <a:xfrm>
            <a:off x="2168165" y="264321"/>
            <a:ext cx="3406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PCLT20K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828FFA-104C-49DE-EB03-FD6878ED3B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2D8516E-0F41-CF50-CD57-3290BFEBB2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E94A6648-AD50-CED3-2FE6-0EBA7AED460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16196" y="1442020"/>
            <a:ext cx="527980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zh-CN" altLang="en-US" sz="2400" dirty="0"/>
              <a:t>数据三阶段注释：</a:t>
            </a:r>
            <a:endParaRPr lang="en-US" altLang="zh-CN" sz="2400" dirty="0"/>
          </a:p>
          <a:p>
            <a:pPr marL="720000" indent="-457200" fontAlgn="auto"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000" dirty="0">
                <a:sym typeface="Wingdings" panose="05000000000000000000" pitchFamily="2" charset="2"/>
              </a:rPr>
              <a:t>医生诊断时，大致位置，外观，类型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720000" indent="-457200" fontAlgn="auto"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000" dirty="0">
                <a:sym typeface="Wingdings" panose="05000000000000000000" pitchFamily="2" charset="2"/>
              </a:rPr>
              <a:t>参考</a:t>
            </a:r>
            <a:r>
              <a:rPr lang="en-US" altLang="zh-CN" sz="2000" dirty="0">
                <a:sym typeface="Wingdings" panose="05000000000000000000" pitchFamily="2" charset="2"/>
              </a:rPr>
              <a:t>1</a:t>
            </a:r>
            <a:r>
              <a:rPr lang="zh-CN" altLang="en-US" sz="2000" dirty="0">
                <a:sym typeface="Wingdings" panose="05000000000000000000" pitchFamily="2" charset="2"/>
              </a:rPr>
              <a:t>逐层详细标注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720000" indent="-457200" fontAlgn="auto"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000" dirty="0">
                <a:sym typeface="Wingdings" panose="05000000000000000000" pitchFamily="2" charset="2"/>
              </a:rPr>
              <a:t>详细审核、精华</a:t>
            </a:r>
            <a:endParaRPr lang="zh-CN" altLang="en-US" sz="2000" dirty="0"/>
          </a:p>
        </p:txBody>
      </p:sp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2A0AB9AB-B449-7D70-65D7-E60014B4E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544" y="934757"/>
            <a:ext cx="4467041" cy="2448756"/>
          </a:xfrm>
          <a:prstGeom prst="rect">
            <a:avLst/>
          </a:prstGeom>
        </p:spPr>
      </p:pic>
      <p:pic>
        <p:nvPicPr>
          <p:cNvPr id="13" name="图片 12" descr="图表, 散点图&#10;&#10;AI 生成的内容可能不正确。">
            <a:extLst>
              <a:ext uri="{FF2B5EF4-FFF2-40B4-BE49-F238E27FC236}">
                <a16:creationId xmlns:a16="http://schemas.microsoft.com/office/drawing/2014/main" id="{39D62857-6931-D6DD-BD9E-D4441690BF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5086" y="3509429"/>
            <a:ext cx="5953956" cy="3181794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125EE2D9-FAC1-F0C0-F0A1-DEBD4D3148A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55573" y="4265139"/>
            <a:ext cx="5734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zh-CN" altLang="en-US" sz="2400" dirty="0"/>
              <a:t>数据特点：</a:t>
            </a:r>
            <a:endParaRPr lang="en-US" altLang="zh-CN" sz="2400" dirty="0"/>
          </a:p>
          <a:p>
            <a:pPr marL="720000" indent="-457200" fontAlgn="auto"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000" dirty="0">
                <a:sym typeface="Wingdings" panose="05000000000000000000" pitchFamily="2" charset="2"/>
              </a:rPr>
              <a:t>小像素肿瘤较多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720000" indent="-457200" fontAlgn="auto"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000" dirty="0"/>
              <a:t>肿瘤位置分布随机</a:t>
            </a:r>
          </a:p>
        </p:txBody>
      </p:sp>
    </p:spTree>
    <p:extLst>
      <p:ext uri="{BB962C8B-B14F-4D97-AF65-F5344CB8AC3E}">
        <p14:creationId xmlns:p14="http://schemas.microsoft.com/office/powerpoint/2010/main" val="89360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4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3221-6BDD-6F16-5C23-2D416E3B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5AA109-C5C9-71B6-1509-E664560791E7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CFBEE2C-39BF-A4FC-0149-1E4502485C76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Mamba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E0F832-B861-C821-050E-F447C1298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26EE284-E9B2-4B68-269C-864F18766F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2" name="文本框 19">
            <a:extLst>
              <a:ext uri="{FF2B5EF4-FFF2-40B4-BE49-F238E27FC236}">
                <a16:creationId xmlns:a16="http://schemas.microsoft.com/office/drawing/2014/main" id="{99632B66-A084-97A8-AD3C-0414F28E3EFA}"/>
              </a:ext>
            </a:extLst>
          </p:cNvPr>
          <p:cNvSpPr txBox="1"/>
          <p:nvPr/>
        </p:nvSpPr>
        <p:spPr>
          <a:xfrm>
            <a:off x="726171" y="1168321"/>
            <a:ext cx="6666614" cy="2347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 dirty="0"/>
              <a:t>Mamba</a:t>
            </a:r>
            <a:r>
              <a:rPr lang="zh-CN" altLang="en-US" sz="2000" b="1" dirty="0"/>
              <a:t>模型：</a:t>
            </a:r>
            <a:endParaRPr lang="en-US" altLang="zh-CN" sz="2000" b="1" dirty="0"/>
          </a:p>
          <a:p>
            <a:pPr indent="457200">
              <a:lnSpc>
                <a:spcPct val="150000"/>
              </a:lnSpc>
            </a:pPr>
            <a:r>
              <a:rPr lang="zh-CN" altLang="en-US" sz="2000" dirty="0"/>
              <a:t>由于状态空间模型的参数独立于数据和时间，限制了隐藏状态信息表达能力</a:t>
            </a:r>
            <a:endParaRPr lang="en-US" altLang="zh-CN" sz="2000" dirty="0"/>
          </a:p>
          <a:p>
            <a:pPr indent="457200">
              <a:lnSpc>
                <a:spcPct val="150000"/>
              </a:lnSpc>
            </a:pPr>
            <a:r>
              <a:rPr lang="zh-CN" altLang="en-US" sz="2000" dirty="0"/>
              <a:t>需要连续的输入，相比于</a:t>
            </a:r>
            <a:r>
              <a:rPr lang="en-US" altLang="zh-CN" sz="2000" dirty="0"/>
              <a:t>Transformer</a:t>
            </a:r>
            <a:r>
              <a:rPr lang="zh-CN" altLang="en-US" sz="2000" dirty="0"/>
              <a:t>具有线性复杂度</a:t>
            </a:r>
            <a:endParaRPr lang="en-US" altLang="zh-CN" sz="2000" dirty="0"/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核心思想</a:t>
            </a:r>
            <a:r>
              <a:rPr lang="zh-CN" altLang="en-US" sz="2000" dirty="0"/>
              <a:t>是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</a:rPr>
              <a:t>有选择</a:t>
            </a:r>
            <a:r>
              <a:rPr lang="zh-CN" altLang="en-US" sz="2000" dirty="0"/>
              <a:t>的使用状态空间模型（</a:t>
            </a:r>
            <a:r>
              <a:rPr lang="en-US" altLang="zh-CN" sz="2000" dirty="0"/>
              <a:t>SSM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3" name="文本框 19">
            <a:extLst>
              <a:ext uri="{FF2B5EF4-FFF2-40B4-BE49-F238E27FC236}">
                <a16:creationId xmlns:a16="http://schemas.microsoft.com/office/drawing/2014/main" id="{07C2F7E6-C214-C18A-1196-C33599FDF065}"/>
              </a:ext>
            </a:extLst>
          </p:cNvPr>
          <p:cNvSpPr txBox="1"/>
          <p:nvPr/>
        </p:nvSpPr>
        <p:spPr>
          <a:xfrm>
            <a:off x="781282" y="3483507"/>
            <a:ext cx="5358747" cy="5012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状态空间模型（</a:t>
            </a:r>
            <a:r>
              <a:rPr lang="en-US" altLang="zh-CN" sz="2000" b="1" dirty="0"/>
              <a:t>SSM</a:t>
            </a:r>
            <a:r>
              <a:rPr lang="zh-CN" altLang="en-US" sz="2000" b="1" dirty="0"/>
              <a:t>）：</a:t>
            </a:r>
            <a:endParaRPr lang="en-US" altLang="zh-CN" sz="20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D5BCCC5-7A0C-A89A-7B19-AD28644D1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250" y="4019484"/>
            <a:ext cx="4800224" cy="20319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6014C26-1B9D-4134-0595-B6DB3ED2D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536" y="955693"/>
            <a:ext cx="3646024" cy="293145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6443D19-3592-B63C-0EEE-5821927951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683" y="4019484"/>
            <a:ext cx="2616681" cy="83511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BF39EC9-15D9-059A-D07E-D38D5773AF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4182" y="5741502"/>
            <a:ext cx="2512305" cy="95081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F8A321B-65DB-443B-41CD-09A767DCF9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3531" y="4955644"/>
            <a:ext cx="2992089" cy="684809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278C2F06-01AC-B974-7BB8-0DE46F2CC1EE}"/>
              </a:ext>
            </a:extLst>
          </p:cNvPr>
          <p:cNvSpPr/>
          <p:nvPr/>
        </p:nvSpPr>
        <p:spPr>
          <a:xfrm rot="5400000">
            <a:off x="2377915" y="5090220"/>
            <a:ext cx="748165" cy="41565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0B902B-009B-00CB-57BA-C74929BF2714}"/>
              </a:ext>
            </a:extLst>
          </p:cNvPr>
          <p:cNvSpPr txBox="1"/>
          <p:nvPr/>
        </p:nvSpPr>
        <p:spPr>
          <a:xfrm>
            <a:off x="1830669" y="5113381"/>
            <a:ext cx="921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离散化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1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5202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D9C43FE8-55F2-DE12-89A6-6ED3346E2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602" y="970282"/>
            <a:ext cx="9737611" cy="2765001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7F8089D0-08E8-0309-15DA-9388877DF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9989" y="3735283"/>
            <a:ext cx="6551938" cy="24120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2C067-C19C-C487-E2A2-EEFDA214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41FA72D-E0FD-83BF-D560-9AD7746CFB58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C7655C1-A782-FC45-2138-BEB926B5890F}"/>
              </a:ext>
            </a:extLst>
          </p:cNvPr>
          <p:cNvSpPr txBox="1"/>
          <p:nvPr/>
        </p:nvSpPr>
        <p:spPr>
          <a:xfrm>
            <a:off x="2167890" y="264160"/>
            <a:ext cx="6031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E8CFD4-3119-98CF-1277-E78E2848A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D25CAA3-4255-2BEC-6BB9-1824D5BEAB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7B14C1-72EA-3E6B-7170-03ECC6BDF579}"/>
              </a:ext>
            </a:extLst>
          </p:cNvPr>
          <p:cNvSpPr txBox="1"/>
          <p:nvPr/>
        </p:nvSpPr>
        <p:spPr>
          <a:xfrm>
            <a:off x="929676" y="1320100"/>
            <a:ext cx="3703284" cy="234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 err="1"/>
              <a:t>VSSBlock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四个</a:t>
            </a:r>
            <a:r>
              <a:rPr lang="zh-CN" altLang="en-US" sz="2000" dirty="0"/>
              <a:t>具有下采样操作的视觉状态空间模型，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提取特征，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双编码器</a:t>
            </a:r>
            <a:r>
              <a:rPr lang="zh-CN" altLang="en-US" sz="2000" dirty="0">
                <a:solidFill>
                  <a:srgbClr val="FF0000"/>
                </a:solidFill>
              </a:rPr>
              <a:t>共享权重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C6CCA70-1352-AFD5-FCCD-F5E4CDEE1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031" y="1320100"/>
            <a:ext cx="7570717" cy="214971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7573CE4-1437-9DA5-777A-D4088206622F}"/>
              </a:ext>
            </a:extLst>
          </p:cNvPr>
          <p:cNvSpPr txBox="1"/>
          <p:nvPr/>
        </p:nvSpPr>
        <p:spPr>
          <a:xfrm>
            <a:off x="835465" y="4015358"/>
            <a:ext cx="370328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通道智能矫正模块</a:t>
            </a:r>
            <a:r>
              <a:rPr lang="en-US" altLang="zh-CN" sz="2000" b="1" dirty="0"/>
              <a:t>CRM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学习模态相关表示；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过滤模式特异性噪声；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建模通道间信息关联</a:t>
            </a:r>
            <a:endParaRPr lang="en-U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65B8EB-DCDF-CDEA-9E2A-B070AE7D97D0}"/>
              </a:ext>
            </a:extLst>
          </p:cNvPr>
          <p:cNvSpPr txBox="1"/>
          <p:nvPr/>
        </p:nvSpPr>
        <p:spPr>
          <a:xfrm>
            <a:off x="4856054" y="3983322"/>
            <a:ext cx="370328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动态跨模态交互模块</a:t>
            </a:r>
            <a:r>
              <a:rPr lang="en-US" altLang="zh-CN" sz="2000" b="1" dirty="0"/>
              <a:t>DCIM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跨模态交互；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跨模态融合；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更全面和协同的特征表示。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0377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3221-6BDD-6F16-5C23-2D416E3B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5AA109-C5C9-71B6-1509-E664560791E7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CFBEE2C-39BF-A4FC-0149-1E4502485C76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通道智能矫正模块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E0F832-B861-C821-050E-F447C1298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26EE284-E9B2-4B68-269C-864F18766F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2" name="文本框 19">
            <a:extLst>
              <a:ext uri="{FF2B5EF4-FFF2-40B4-BE49-F238E27FC236}">
                <a16:creationId xmlns:a16="http://schemas.microsoft.com/office/drawing/2014/main" id="{99632B66-A084-97A8-AD3C-0414F28E3EFA}"/>
              </a:ext>
            </a:extLst>
          </p:cNvPr>
          <p:cNvSpPr txBox="1"/>
          <p:nvPr/>
        </p:nvSpPr>
        <p:spPr>
          <a:xfrm>
            <a:off x="726171" y="1168321"/>
            <a:ext cx="4139545" cy="18862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解决问题：</a:t>
            </a:r>
            <a:endParaRPr lang="en-US" altLang="zh-CN" sz="2000" b="1" dirty="0"/>
          </a:p>
          <a:p>
            <a:pPr indent="457200">
              <a:lnSpc>
                <a:spcPct val="150000"/>
              </a:lnSpc>
            </a:pPr>
            <a:r>
              <a:rPr lang="zh-CN" altLang="en-US" sz="2000" dirty="0"/>
              <a:t>扫描图像特征捕获上下文，</a:t>
            </a:r>
            <a:r>
              <a:rPr lang="zh-CN" altLang="en-US" sz="2000" dirty="0">
                <a:solidFill>
                  <a:srgbClr val="FF0000"/>
                </a:solidFill>
              </a:rPr>
              <a:t>同道信息</a:t>
            </a:r>
            <a:r>
              <a:rPr lang="zh-CN" altLang="en-US" sz="2000" dirty="0"/>
              <a:t>特别是跨不同模态的通道信息</a:t>
            </a:r>
            <a:r>
              <a:rPr lang="zh-CN" altLang="en-US" sz="2000" dirty="0">
                <a:solidFill>
                  <a:srgbClr val="FF0000"/>
                </a:solidFill>
              </a:rPr>
              <a:t>被忽略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BBD96EF4-931A-8DF4-09A1-D41E0851D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9843" y="1420061"/>
            <a:ext cx="6551938" cy="2412041"/>
          </a:xfrm>
          <a:prstGeom prst="rect">
            <a:avLst/>
          </a:prstGeom>
        </p:spPr>
      </p:pic>
      <p:sp>
        <p:nvSpPr>
          <p:cNvPr id="9" name="文本框 19">
            <a:extLst>
              <a:ext uri="{FF2B5EF4-FFF2-40B4-BE49-F238E27FC236}">
                <a16:creationId xmlns:a16="http://schemas.microsoft.com/office/drawing/2014/main" id="{1A3C3BD0-DD08-3BB5-65A5-B8B880075EFB}"/>
              </a:ext>
            </a:extLst>
          </p:cNvPr>
          <p:cNvSpPr txBox="1"/>
          <p:nvPr/>
        </p:nvSpPr>
        <p:spPr>
          <a:xfrm>
            <a:off x="598359" y="3079280"/>
            <a:ext cx="4139545" cy="14246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方法：</a:t>
            </a:r>
            <a:endParaRPr lang="en-US" altLang="zh-CN" sz="2000" b="1" dirty="0"/>
          </a:p>
          <a:p>
            <a:pPr indent="457200">
              <a:lnSpc>
                <a:spcPct val="150000"/>
              </a:lnSpc>
            </a:pPr>
            <a:r>
              <a:rPr lang="zh-CN" altLang="en-US" sz="2000" dirty="0"/>
              <a:t>集成多模态特征学习共享表示，增强两个模态之间的相关特征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12" name="图片 11" descr="图片包含 形状&#10;&#10;AI 生成的内容可能不正确。">
            <a:extLst>
              <a:ext uri="{FF2B5EF4-FFF2-40B4-BE49-F238E27FC236}">
                <a16:creationId xmlns:a16="http://schemas.microsoft.com/office/drawing/2014/main" id="{16636E0E-893B-A49C-4B46-23B6E2F5D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572" y="4557908"/>
            <a:ext cx="2757016" cy="59971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E8AED37-B101-38DF-BA66-A13ECCBE45EE}"/>
              </a:ext>
            </a:extLst>
          </p:cNvPr>
          <p:cNvSpPr txBox="1"/>
          <p:nvPr/>
        </p:nvSpPr>
        <p:spPr>
          <a:xfrm>
            <a:off x="5279843" y="4058370"/>
            <a:ext cx="3737955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用</a:t>
            </a:r>
            <a:r>
              <a:rPr lang="zh-CN" altLang="en-US" sz="1800" dirty="0">
                <a:solidFill>
                  <a:srgbClr val="FF0000"/>
                </a:solidFill>
              </a:rPr>
              <a:t>扁平化</a:t>
            </a:r>
            <a:r>
              <a:rPr lang="zh-CN" altLang="en-US" sz="1800" dirty="0"/>
              <a:t>的特征像素作为通道表示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F0250A47-0751-5C7E-2522-00925A54243F}"/>
              </a:ext>
            </a:extLst>
          </p:cNvPr>
          <p:cNvCxnSpPr>
            <a:cxnSpLocks/>
            <a:endCxn id="15" idx="0"/>
          </p:cNvCxnSpPr>
          <p:nvPr/>
        </p:nvCxnSpPr>
        <p:spPr>
          <a:xfrm rot="5400000">
            <a:off x="6674179" y="3223385"/>
            <a:ext cx="1309628" cy="360343"/>
          </a:xfrm>
          <a:prstGeom prst="curved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片包含 文本&#10;&#10;AI 生成的内容可能不正确。">
            <a:extLst>
              <a:ext uri="{FF2B5EF4-FFF2-40B4-BE49-F238E27FC236}">
                <a16:creationId xmlns:a16="http://schemas.microsoft.com/office/drawing/2014/main" id="{7A1EB8EB-529E-7507-227B-C378A0577A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401" y="5037375"/>
            <a:ext cx="3371463" cy="652304"/>
          </a:xfrm>
          <a:prstGeom prst="rect">
            <a:avLst/>
          </a:prstGeom>
        </p:spPr>
      </p:pic>
      <p:pic>
        <p:nvPicPr>
          <p:cNvPr id="29" name="图片 28" descr="文本&#10;&#10;AI 生成的内容可能不正确。">
            <a:extLst>
              <a:ext uri="{FF2B5EF4-FFF2-40B4-BE49-F238E27FC236}">
                <a16:creationId xmlns:a16="http://schemas.microsoft.com/office/drawing/2014/main" id="{50904F17-D8AA-5774-FD2F-550A7C9AE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401" y="5689679"/>
            <a:ext cx="5687219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831D-2307-C191-DE1C-04500C2A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72C46B-5ECB-6C04-2C50-2E0CFCEEE299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830F654-D0E6-2395-64AA-795CD94DE082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动态跨模态交互模块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DCIM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B1026A-8BAE-D7D7-5154-EBF92AF44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ED9B673-4435-31AB-D7A1-AB9650B0F9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9" name="文本框 19">
            <a:extLst>
              <a:ext uri="{FF2B5EF4-FFF2-40B4-BE49-F238E27FC236}">
                <a16:creationId xmlns:a16="http://schemas.microsoft.com/office/drawing/2014/main" id="{1CC51AC4-9442-597F-7155-3C40B8F2127F}"/>
              </a:ext>
            </a:extLst>
          </p:cNvPr>
          <p:cNvSpPr txBox="1"/>
          <p:nvPr/>
        </p:nvSpPr>
        <p:spPr>
          <a:xfrm>
            <a:off x="341571" y="1087298"/>
            <a:ext cx="4723651" cy="9629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解决问题：</a:t>
            </a:r>
            <a:r>
              <a:rPr lang="en-US" altLang="zh-CN" sz="2000" dirty="0" err="1"/>
              <a:t>VMamba</a:t>
            </a:r>
            <a:r>
              <a:rPr lang="en-US" altLang="zh-CN" sz="2000" dirty="0"/>
              <a:t> 2D</a:t>
            </a:r>
            <a:r>
              <a:rPr lang="zh-CN" altLang="en-US" sz="2000" dirty="0"/>
              <a:t>扫描无法有效结合互补信息</a:t>
            </a:r>
            <a:endParaRPr lang="en-US" altLang="zh-CN" sz="2000" dirty="0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4ECAE6F8-4E65-21B5-8748-1A57026429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551"/>
          <a:stretch>
            <a:fillRect/>
          </a:stretch>
        </p:blipFill>
        <p:spPr>
          <a:xfrm>
            <a:off x="5251988" y="808760"/>
            <a:ext cx="6585001" cy="3046701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019D5183-38F0-C636-4EC5-65B2F7581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761" y="4952954"/>
            <a:ext cx="5182323" cy="5715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328171-6B56-1C46-BC63-A6FFB48619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1184" y="4952954"/>
            <a:ext cx="1495634" cy="4572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FC313D8-83E1-4F1A-9D0E-026639C464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6818" y="4948228"/>
            <a:ext cx="1524213" cy="4001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2458B22-086D-D0E4-F8D0-8A3E472CA5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69" y="5590561"/>
            <a:ext cx="1181265" cy="33342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E492B77-FC84-6531-7145-2E04C99A38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9084" y="5604258"/>
            <a:ext cx="4391638" cy="409632"/>
          </a:xfrm>
          <a:prstGeom prst="rect">
            <a:avLst/>
          </a:prstGeom>
        </p:spPr>
      </p:pic>
      <p:pic>
        <p:nvPicPr>
          <p:cNvPr id="21" name="图片 20" descr="文本&#10;&#10;AI 生成的内容可能不正确。">
            <a:extLst>
              <a:ext uri="{FF2B5EF4-FFF2-40B4-BE49-F238E27FC236}">
                <a16:creationId xmlns:a16="http://schemas.microsoft.com/office/drawing/2014/main" id="{3C041A6B-54F5-22D1-B4D7-2B89EB782E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3589" y="5474262"/>
            <a:ext cx="3410426" cy="60968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9599413-DFC1-F61A-C6CF-EB2F5873CC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9749" y="5524534"/>
            <a:ext cx="1276528" cy="457264"/>
          </a:xfrm>
          <a:prstGeom prst="rect">
            <a:avLst/>
          </a:prstGeom>
        </p:spPr>
      </p:pic>
      <p:sp>
        <p:nvSpPr>
          <p:cNvPr id="2" name="文本框 19">
            <a:extLst>
              <a:ext uri="{FF2B5EF4-FFF2-40B4-BE49-F238E27FC236}">
                <a16:creationId xmlns:a16="http://schemas.microsoft.com/office/drawing/2014/main" id="{93F6D9FF-5ED5-1847-2F08-7FE032BB40BA}"/>
              </a:ext>
            </a:extLst>
          </p:cNvPr>
          <p:cNvSpPr txBox="1"/>
          <p:nvPr/>
        </p:nvSpPr>
        <p:spPr>
          <a:xfrm>
            <a:off x="341570" y="2029626"/>
            <a:ext cx="4723652" cy="9629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思路：</a:t>
            </a:r>
            <a:r>
              <a:rPr lang="zh-CN" altLang="en-US" sz="2000" dirty="0"/>
              <a:t>利用高对比度的</a:t>
            </a:r>
            <a:r>
              <a:rPr lang="en-US" altLang="zh-CN" sz="2000" dirty="0"/>
              <a:t>PET</a:t>
            </a:r>
            <a:r>
              <a:rPr lang="zh-CN" altLang="en-US" sz="2000" dirty="0"/>
              <a:t>引导高分辨率的</a:t>
            </a:r>
            <a:r>
              <a:rPr lang="en-US" altLang="zh-CN" sz="2000" dirty="0"/>
              <a:t>CT</a:t>
            </a:r>
            <a:r>
              <a:rPr lang="zh-CN" altLang="en-US" sz="2000" dirty="0"/>
              <a:t>图像进行融合</a:t>
            </a:r>
            <a:endParaRPr lang="en-US" altLang="zh-CN" sz="2000" dirty="0"/>
          </a:p>
        </p:txBody>
      </p:sp>
      <p:sp>
        <p:nvSpPr>
          <p:cNvPr id="7" name="文本框 19">
            <a:extLst>
              <a:ext uri="{FF2B5EF4-FFF2-40B4-BE49-F238E27FC236}">
                <a16:creationId xmlns:a16="http://schemas.microsoft.com/office/drawing/2014/main" id="{E41DA009-35AB-22BD-5C74-5775FCBB9BAC}"/>
              </a:ext>
            </a:extLst>
          </p:cNvPr>
          <p:cNvSpPr txBox="1"/>
          <p:nvPr/>
        </p:nvSpPr>
        <p:spPr>
          <a:xfrm>
            <a:off x="660411" y="3890283"/>
            <a:ext cx="5816971" cy="5012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，通过</a:t>
            </a:r>
            <a:r>
              <a:rPr lang="en-US" altLang="zh-CN" sz="2000" b="1" dirty="0"/>
              <a:t>3*3</a:t>
            </a:r>
            <a:r>
              <a:rPr lang="zh-CN" altLang="en-US" sz="2000" b="1" dirty="0"/>
              <a:t>卷积使得</a:t>
            </a:r>
            <a:r>
              <a:rPr lang="en-US" altLang="zh-CN" sz="2000" b="1" dirty="0"/>
              <a:t>PET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CT</a:t>
            </a:r>
            <a:r>
              <a:rPr lang="zh-CN" altLang="en-US" sz="2000" b="1" dirty="0"/>
              <a:t>的形状变为</a:t>
            </a:r>
            <a:endParaRPr lang="en-US" altLang="zh-CN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51E0B5-4380-02F1-1F2C-81BCF04D58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8038" y="3959927"/>
            <a:ext cx="2238687" cy="3620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4DC5D80-C055-F2BE-FCE5-323A2F64AD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1038" y="4018175"/>
            <a:ext cx="2048161" cy="304843"/>
          </a:xfrm>
          <a:prstGeom prst="rect">
            <a:avLst/>
          </a:prstGeom>
        </p:spPr>
      </p:pic>
      <p:sp>
        <p:nvSpPr>
          <p:cNvPr id="17" name="文本框 19">
            <a:extLst>
              <a:ext uri="{FF2B5EF4-FFF2-40B4-BE49-F238E27FC236}">
                <a16:creationId xmlns:a16="http://schemas.microsoft.com/office/drawing/2014/main" id="{828BCB98-7354-4B4A-8F06-7A8A77788854}"/>
              </a:ext>
            </a:extLst>
          </p:cNvPr>
          <p:cNvSpPr txBox="1"/>
          <p:nvPr/>
        </p:nvSpPr>
        <p:spPr>
          <a:xfrm>
            <a:off x="934263" y="4305991"/>
            <a:ext cx="10570128" cy="4962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形状为什么不一样？</a:t>
            </a:r>
            <a:r>
              <a:rPr lang="zh-CN" altLang="en-US" b="1" dirty="0">
                <a:solidFill>
                  <a:srgbClr val="FF0000"/>
                </a:solidFill>
              </a:rPr>
              <a:t>分辨率差 </a:t>
            </a:r>
            <a:r>
              <a:rPr lang="zh-CN" altLang="en-US" b="1" dirty="0"/>
              <a:t>→ 为“区域</a:t>
            </a:r>
            <a:r>
              <a:rPr lang="en-US" altLang="zh-CN" b="1" dirty="0"/>
              <a:t>-</a:t>
            </a:r>
            <a:r>
              <a:rPr lang="zh-CN" altLang="en-US" b="1" dirty="0"/>
              <a:t>局部”交互创造条件；</a:t>
            </a:r>
            <a:r>
              <a:rPr lang="zh-CN" altLang="en-US" b="1" dirty="0">
                <a:solidFill>
                  <a:srgbClr val="FF0000"/>
                </a:solidFill>
              </a:rPr>
              <a:t>通道差 </a:t>
            </a:r>
            <a:r>
              <a:rPr lang="zh-CN" altLang="en-US" b="1" dirty="0"/>
              <a:t>→ 功能容量与计算量的权衡</a:t>
            </a:r>
            <a:endParaRPr lang="en-US" altLang="zh-CN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AF1DF9-1DC4-3D92-6195-31AA11DBD1AA}"/>
              </a:ext>
            </a:extLst>
          </p:cNvPr>
          <p:cNvSpPr txBox="1"/>
          <p:nvPr/>
        </p:nvSpPr>
        <p:spPr>
          <a:xfrm>
            <a:off x="660411" y="5027358"/>
            <a:ext cx="547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2</a:t>
            </a:r>
            <a:r>
              <a:rPr lang="zh-CN" altLang="en-US" sz="1800" b="1" dirty="0"/>
              <a:t>，</a:t>
            </a:r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95128D-F281-1E43-A21B-45C7ADBCA1C8}"/>
              </a:ext>
            </a:extLst>
          </p:cNvPr>
          <p:cNvSpPr/>
          <p:nvPr/>
        </p:nvSpPr>
        <p:spPr>
          <a:xfrm>
            <a:off x="2348193" y="5050848"/>
            <a:ext cx="703811" cy="101340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19050">
                <a:solidFill>
                  <a:srgbClr val="C00000"/>
                </a:solidFill>
              </a:ln>
              <a:noFill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D22FF4D-1F24-9D1B-82F3-FCF83D45CBCC}"/>
              </a:ext>
            </a:extLst>
          </p:cNvPr>
          <p:cNvSpPr txBox="1"/>
          <p:nvPr/>
        </p:nvSpPr>
        <p:spPr>
          <a:xfrm>
            <a:off x="2219084" y="6207930"/>
            <a:ext cx="1094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形状相同</a:t>
            </a:r>
          </a:p>
        </p:txBody>
      </p:sp>
    </p:spTree>
    <p:extLst>
      <p:ext uri="{BB962C8B-B14F-4D97-AF65-F5344CB8AC3E}">
        <p14:creationId xmlns:p14="http://schemas.microsoft.com/office/powerpoint/2010/main" val="10880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7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D046-4E07-6720-561A-70ABCD7C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0A5211F-5C33-1C50-2699-652E4A82569C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DD7DE3F-E023-D5DC-57EC-F3797F86C285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动态跨模态交互模块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DCIM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345C89-F719-3F67-2365-1FF03549D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5069908-147C-D07D-B5FA-B18645C25F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DCA5A719-B14D-1DA9-3F0A-28CF93BB0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74" y="899242"/>
            <a:ext cx="8502421" cy="30467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8A00444-573F-3D11-AD08-1CDA8DCE5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705" y="4038597"/>
            <a:ext cx="5153744" cy="390580"/>
          </a:xfrm>
          <a:prstGeom prst="rect">
            <a:avLst/>
          </a:prstGeom>
        </p:spPr>
      </p:pic>
      <p:pic>
        <p:nvPicPr>
          <p:cNvPr id="12" name="图片 11" descr="徽标, 公司名称&#10;&#10;AI 生成的内容可能不正确。">
            <a:extLst>
              <a:ext uri="{FF2B5EF4-FFF2-40B4-BE49-F238E27FC236}">
                <a16:creationId xmlns:a16="http://schemas.microsoft.com/office/drawing/2014/main" id="{978032AD-3419-B0D1-1AED-02CA5642E4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7705" y="4400081"/>
            <a:ext cx="4677428" cy="543001"/>
          </a:xfrm>
          <a:prstGeom prst="rect">
            <a:avLst/>
          </a:prstGeom>
        </p:spPr>
      </p:pic>
      <p:pic>
        <p:nvPicPr>
          <p:cNvPr id="15" name="图片 14" descr="图示, 文本, 信件&#10;&#10;AI 生成的内容可能不正确。">
            <a:extLst>
              <a:ext uri="{FF2B5EF4-FFF2-40B4-BE49-F238E27FC236}">
                <a16:creationId xmlns:a16="http://schemas.microsoft.com/office/drawing/2014/main" id="{ECD207BF-BCF9-3F2C-C9E7-D1B3C825A0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7705" y="5159999"/>
            <a:ext cx="6163822" cy="1611804"/>
          </a:xfrm>
          <a:prstGeom prst="rect">
            <a:avLst/>
          </a:prstGeom>
        </p:spPr>
      </p:pic>
      <p:sp>
        <p:nvSpPr>
          <p:cNvPr id="2" name="文本框 19">
            <a:extLst>
              <a:ext uri="{FF2B5EF4-FFF2-40B4-BE49-F238E27FC236}">
                <a16:creationId xmlns:a16="http://schemas.microsoft.com/office/drawing/2014/main" id="{8EE0B6B3-24C2-4C59-C5A2-2ACE611FB7FA}"/>
              </a:ext>
            </a:extLst>
          </p:cNvPr>
          <p:cNvSpPr txBox="1"/>
          <p:nvPr/>
        </p:nvSpPr>
        <p:spPr>
          <a:xfrm>
            <a:off x="177498" y="972228"/>
            <a:ext cx="3509994" cy="9629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/>
              <a:t>思路：</a:t>
            </a:r>
            <a:r>
              <a:rPr lang="zh-CN" altLang="en-US" sz="2000" dirty="0"/>
              <a:t>利用高对比度的</a:t>
            </a:r>
            <a:r>
              <a:rPr lang="en-US" altLang="zh-CN" sz="2000" dirty="0"/>
              <a:t>PET</a:t>
            </a:r>
            <a:r>
              <a:rPr lang="zh-CN" altLang="en-US" sz="2000" dirty="0"/>
              <a:t>引导高分辨率的</a:t>
            </a:r>
            <a:r>
              <a:rPr lang="en-US" altLang="zh-CN" sz="2000" dirty="0"/>
              <a:t>CT</a:t>
            </a:r>
            <a:r>
              <a:rPr lang="zh-CN" altLang="en-US" sz="2000" dirty="0"/>
              <a:t>图像进行融合</a:t>
            </a:r>
            <a:endParaRPr lang="en-US" altLang="zh-CN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C9094F-E9EF-C265-8749-6094413CD07B}"/>
              </a:ext>
            </a:extLst>
          </p:cNvPr>
          <p:cNvSpPr txBox="1"/>
          <p:nvPr/>
        </p:nvSpPr>
        <p:spPr>
          <a:xfrm>
            <a:off x="6903270" y="4038597"/>
            <a:ext cx="1641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增强全局信息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057ECF-D3AB-6DCB-416D-BA16CC6C8A41}"/>
              </a:ext>
            </a:extLst>
          </p:cNvPr>
          <p:cNvSpPr txBox="1"/>
          <p:nvPr/>
        </p:nvSpPr>
        <p:spPr>
          <a:xfrm>
            <a:off x="6903271" y="4486915"/>
            <a:ext cx="1641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增强局部信息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8494BC7-BEB9-1A4D-8102-C2A0ED140A37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6471449" y="4223263"/>
            <a:ext cx="431821" cy="1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74AFE5F-4FA3-78E8-2143-9517DC315C06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5995133" y="4671581"/>
            <a:ext cx="9081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AFC7836-94CA-7041-C5D8-82086C0F3F14}"/>
              </a:ext>
            </a:extLst>
          </p:cNvPr>
          <p:cNvSpPr txBox="1"/>
          <p:nvPr/>
        </p:nvSpPr>
        <p:spPr>
          <a:xfrm>
            <a:off x="335836" y="3955142"/>
            <a:ext cx="1046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3</a:t>
            </a:r>
            <a:r>
              <a:rPr lang="zh-CN" altLang="en-US" sz="1800" b="1" dirty="0"/>
              <a:t>，</a:t>
            </a:r>
            <a:r>
              <a:rPr lang="zh-CN" altLang="en-US" b="1" dirty="0"/>
              <a:t>交互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B7A9822-BF18-95A9-7262-40E1DC87A641}"/>
              </a:ext>
            </a:extLst>
          </p:cNvPr>
          <p:cNvSpPr txBox="1"/>
          <p:nvPr/>
        </p:nvSpPr>
        <p:spPr>
          <a:xfrm>
            <a:off x="335836" y="4845623"/>
            <a:ext cx="1159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4</a:t>
            </a:r>
            <a:r>
              <a:rPr lang="zh-CN" altLang="en-US" sz="1800" b="1" dirty="0"/>
              <a:t>，</a:t>
            </a:r>
            <a:r>
              <a:rPr lang="zh-CN" altLang="en-US" sz="1800" dirty="0"/>
              <a:t>将</a:t>
            </a:r>
            <a:r>
              <a:rPr lang="en-US" altLang="zh-CN" sz="1800" dirty="0"/>
              <a:t>PET</a:t>
            </a:r>
            <a:r>
              <a:rPr lang="zh-CN" altLang="en-US" sz="1800" dirty="0"/>
              <a:t>区域</a:t>
            </a:r>
            <a:r>
              <a:rPr lang="en-US" altLang="zh-CN" sz="1800" dirty="0"/>
              <a:t>token</a:t>
            </a:r>
            <a:r>
              <a:rPr lang="zh-CN" altLang="en-US" sz="1800" dirty="0"/>
              <a:t>和同一区域内的</a:t>
            </a:r>
            <a:r>
              <a:rPr lang="en-US" altLang="zh-CN" sz="1800" dirty="0"/>
              <a:t>CT</a:t>
            </a:r>
            <a:r>
              <a:rPr lang="zh-CN" altLang="en-US" sz="1800" dirty="0"/>
              <a:t>局部</a:t>
            </a:r>
            <a:r>
              <a:rPr lang="en-US" altLang="zh-CN" dirty="0"/>
              <a:t>token</a:t>
            </a:r>
            <a:r>
              <a:rPr lang="zh-CN" altLang="en-US" dirty="0"/>
              <a:t>整合，将</a:t>
            </a:r>
            <a:r>
              <a:rPr lang="en-US" altLang="zh-CN" dirty="0"/>
              <a:t>PET</a:t>
            </a:r>
            <a:r>
              <a:rPr lang="zh-CN" altLang="en-US" dirty="0"/>
              <a:t>区域标记添加到相应区域的每个</a:t>
            </a:r>
            <a:r>
              <a:rPr lang="en-US" altLang="zh-CN" dirty="0"/>
              <a:t>CT</a:t>
            </a:r>
            <a:r>
              <a:rPr lang="zh-CN" altLang="en-US" dirty="0"/>
              <a:t>局部标记中</a:t>
            </a:r>
          </a:p>
        </p:txBody>
      </p:sp>
    </p:spTree>
    <p:extLst>
      <p:ext uri="{BB962C8B-B14F-4D97-AF65-F5344CB8AC3E}">
        <p14:creationId xmlns:p14="http://schemas.microsoft.com/office/powerpoint/2010/main" val="48569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D67D-FC3B-F0D8-5B14-4BE16245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40C4174-2871-896D-07B8-750A2DD94653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ADEE354-7179-93CB-8B67-B70A2379471A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6D9C85-E9A6-80D8-7938-7570A733C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9EA46D3-B15E-A517-2F2D-B1E90B659D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070DD9BB-C96A-7612-1E6C-9386CDEF25CC}"/>
              </a:ext>
            </a:extLst>
          </p:cNvPr>
          <p:cNvSpPr txBox="1"/>
          <p:nvPr/>
        </p:nvSpPr>
        <p:spPr>
          <a:xfrm>
            <a:off x="1065801" y="1051863"/>
            <a:ext cx="1733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实验设置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7B6F1D-8133-DBF9-3908-2B72EEBBF779}"/>
              </a:ext>
            </a:extLst>
          </p:cNvPr>
          <p:cNvSpPr txBox="1"/>
          <p:nvPr/>
        </p:nvSpPr>
        <p:spPr>
          <a:xfrm>
            <a:off x="2898371" y="1087298"/>
            <a:ext cx="55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Backbone</a:t>
            </a:r>
            <a:r>
              <a:rPr lang="zh-CN" altLang="en-US" dirty="0"/>
              <a:t>为</a:t>
            </a:r>
            <a:r>
              <a:rPr lang="en-US" altLang="zh-CN" dirty="0" err="1"/>
              <a:t>Vmamba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AdaW,50epochs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85DA8A-08C3-937B-2D04-E192F5E0D481}"/>
              </a:ext>
            </a:extLst>
          </p:cNvPr>
          <p:cNvSpPr txBox="1"/>
          <p:nvPr/>
        </p:nvSpPr>
        <p:spPr>
          <a:xfrm>
            <a:off x="1065801" y="1952408"/>
            <a:ext cx="1733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对比实验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049FBF3A-564A-3606-7C92-FA088863D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049" y="1952408"/>
            <a:ext cx="6058421" cy="419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0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E11E-E71F-8F53-88B6-183BB454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325DBD7-615F-288B-FE33-B73A8C062FF2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7DA0AA9-54FA-1D7A-A250-8063D77F0E95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605818-C76A-67F8-0DE5-2F9040B2E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C9EC062-0B4C-29C9-2A20-FA187B26BC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A068C71-9090-D488-891C-AC4F4A122D17}"/>
              </a:ext>
            </a:extLst>
          </p:cNvPr>
          <p:cNvSpPr txBox="1"/>
          <p:nvPr/>
        </p:nvSpPr>
        <p:spPr>
          <a:xfrm>
            <a:off x="655483" y="1087298"/>
            <a:ext cx="1733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定性比较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pic>
        <p:nvPicPr>
          <p:cNvPr id="11" name="图片 10" descr="图片包含 应用程序&#10;&#10;AI 生成的内容可能不正确。">
            <a:extLst>
              <a:ext uri="{FF2B5EF4-FFF2-40B4-BE49-F238E27FC236}">
                <a16:creationId xmlns:a16="http://schemas.microsoft.com/office/drawing/2014/main" id="{B13BA191-3D3F-D070-549C-7630AAE80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29" y="1548963"/>
            <a:ext cx="10879068" cy="461074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AF829F0-FF20-8B60-532C-05C6EF74A6AF}"/>
              </a:ext>
            </a:extLst>
          </p:cNvPr>
          <p:cNvSpPr txBox="1"/>
          <p:nvPr/>
        </p:nvSpPr>
        <p:spPr>
          <a:xfrm>
            <a:off x="2388871" y="6252039"/>
            <a:ext cx="610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绿色</a:t>
            </a:r>
            <a:r>
              <a:rPr lang="zh-CN" altLang="en-US" dirty="0"/>
              <a:t>：真阳性，</a:t>
            </a:r>
            <a:r>
              <a:rPr lang="zh-CN" altLang="en-US" dirty="0">
                <a:solidFill>
                  <a:srgbClr val="FF0000"/>
                </a:solidFill>
              </a:rPr>
              <a:t>红色</a:t>
            </a:r>
            <a:r>
              <a:rPr lang="zh-CN" altLang="en-US" dirty="0"/>
              <a:t>：假阳性，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蓝色</a:t>
            </a:r>
            <a:r>
              <a:rPr lang="zh-CN" altLang="en-US" dirty="0"/>
              <a:t>：假阴性。</a:t>
            </a:r>
          </a:p>
        </p:txBody>
      </p:sp>
    </p:spTree>
    <p:extLst>
      <p:ext uri="{BB962C8B-B14F-4D97-AF65-F5344CB8AC3E}">
        <p14:creationId xmlns:p14="http://schemas.microsoft.com/office/powerpoint/2010/main" val="108468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1807-DD88-427A-F62C-E0DDFB51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E1BC44D-0FB5-D64E-048A-528865253F2C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A4EEE39-2590-BC89-4DF1-8B281F08A47F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28A266-8594-0164-C6FB-DBD7B2E9A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2299730-6F6D-19EF-8AC0-F8C39CBA64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74AA6CB-E815-696B-CBAD-98D3838FA511}"/>
              </a:ext>
            </a:extLst>
          </p:cNvPr>
          <p:cNvSpPr txBox="1"/>
          <p:nvPr/>
        </p:nvSpPr>
        <p:spPr>
          <a:xfrm>
            <a:off x="655482" y="1087298"/>
            <a:ext cx="5795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在公共数据集（</a:t>
            </a:r>
            <a:r>
              <a:rPr lang="en-US" altLang="zh-CN" sz="2400" dirty="0"/>
              <a:t>STS</a:t>
            </a:r>
            <a:r>
              <a:rPr lang="zh-CN" altLang="en-US" sz="2400" dirty="0"/>
              <a:t>）上对比实验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DAAAD7B2-1D89-C86B-277E-902D195D6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9733" y="1735874"/>
            <a:ext cx="6824931" cy="294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6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7C3A-4F6A-AA90-761A-E2B804D1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C9B7E8-44AA-0175-B4A9-86DBC5EE27BB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79BCF3F-200B-8B29-3AA2-D155A4CCD634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7B2D14-3C79-62DB-861D-60D047CF8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0B58D90-E45F-CAE2-96D2-E00A53010A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9AB341BD-3BF6-B1D7-0A50-03EB6F8A0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923" y="1015451"/>
            <a:ext cx="6382641" cy="15813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0B0E49D-50A3-C2DC-4E97-731DE3FC4C3B}"/>
              </a:ext>
            </a:extLst>
          </p:cNvPr>
          <p:cNvSpPr txBox="1"/>
          <p:nvPr/>
        </p:nvSpPr>
        <p:spPr>
          <a:xfrm>
            <a:off x="1115454" y="2712377"/>
            <a:ext cx="5795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DCIM</a:t>
            </a:r>
            <a:r>
              <a:rPr lang="zh-CN" altLang="en-US" sz="2400" dirty="0"/>
              <a:t>的有效性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pic>
        <p:nvPicPr>
          <p:cNvPr id="11" name="图片 10" descr="表格&#10;&#10;AI 生成的内容可能不正确。">
            <a:extLst>
              <a:ext uri="{FF2B5EF4-FFF2-40B4-BE49-F238E27FC236}">
                <a16:creationId xmlns:a16="http://schemas.microsoft.com/office/drawing/2014/main" id="{BF948E97-3A8C-7F00-3D4F-5CCD8EEAB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0600" y="3178874"/>
            <a:ext cx="6430272" cy="1143160"/>
          </a:xfrm>
          <a:prstGeom prst="rect">
            <a:avLst/>
          </a:prstGeom>
        </p:spPr>
      </p:pic>
      <p:pic>
        <p:nvPicPr>
          <p:cNvPr id="14" name="图片 13" descr="文本, 表格&#10;&#10;AI 生成的内容可能不正确。">
            <a:extLst>
              <a:ext uri="{FF2B5EF4-FFF2-40B4-BE49-F238E27FC236}">
                <a16:creationId xmlns:a16="http://schemas.microsoft.com/office/drawing/2014/main" id="{89DF03AC-2171-87EB-D239-5781D5523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0600" y="4448559"/>
            <a:ext cx="6354062" cy="192431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54F91FB-F21A-D72C-A46C-D91AE8A0FA36}"/>
              </a:ext>
            </a:extLst>
          </p:cNvPr>
          <p:cNvSpPr txBox="1"/>
          <p:nvPr/>
        </p:nvSpPr>
        <p:spPr>
          <a:xfrm>
            <a:off x="8060455" y="3465677"/>
            <a:ext cx="30202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一个</a:t>
            </a:r>
            <a:r>
              <a:rPr lang="en-US" altLang="zh-CN" dirty="0"/>
              <a:t>PET</a:t>
            </a:r>
            <a:r>
              <a:rPr lang="zh-CN" altLang="en-US" dirty="0"/>
              <a:t>区域</a:t>
            </a:r>
            <a:r>
              <a:rPr lang="en-US" altLang="zh-CN" dirty="0"/>
              <a:t>patch</a:t>
            </a:r>
            <a:r>
              <a:rPr lang="zh-CN" altLang="en-US" dirty="0"/>
              <a:t>中对应多少个</a:t>
            </a:r>
            <a:r>
              <a:rPr lang="en-US" altLang="zh-CN" dirty="0"/>
              <a:t>CT</a:t>
            </a:r>
            <a:r>
              <a:rPr lang="zh-CN" altLang="en-US" dirty="0"/>
              <a:t>部分</a:t>
            </a:r>
          </a:p>
        </p:txBody>
      </p:sp>
    </p:spTree>
    <p:extLst>
      <p:ext uri="{BB962C8B-B14F-4D97-AF65-F5344CB8AC3E}">
        <p14:creationId xmlns:p14="http://schemas.microsoft.com/office/powerpoint/2010/main" val="274962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87E1-9863-43C9-BC0F-8DF754B6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B9B0E46-24DD-EA7D-3572-C298F61F66DC}"/>
              </a:ext>
            </a:extLst>
          </p:cNvPr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2C1DE3F-B5F8-BD68-0C9B-8728DDD65375}"/>
              </a:ext>
            </a:extLst>
          </p:cNvPr>
          <p:cNvSpPr txBox="1"/>
          <p:nvPr/>
        </p:nvSpPr>
        <p:spPr>
          <a:xfrm>
            <a:off x="1871814" y="282039"/>
            <a:ext cx="7878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8C1796-3E23-9000-D98B-77F22B986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21F0C63-F06F-58F6-DBA6-87A6140EF0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0EF4887-2DF7-5745-5FB3-E1C3F5C6A521}"/>
              </a:ext>
            </a:extLst>
          </p:cNvPr>
          <p:cNvSpPr txBox="1"/>
          <p:nvPr/>
        </p:nvSpPr>
        <p:spPr>
          <a:xfrm>
            <a:off x="1037869" y="1554137"/>
            <a:ext cx="5795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DCIM</a:t>
            </a:r>
            <a:r>
              <a:rPr lang="zh-CN" altLang="en-US" sz="2400" dirty="0"/>
              <a:t>中间特征的可视化</a:t>
            </a:r>
            <a:r>
              <a:rPr lang="zh-CN" altLang="en-US" dirty="0"/>
              <a:t>：</a:t>
            </a:r>
            <a:endParaRPr lang="zh-CN" altLang="en-US" sz="1800" dirty="0"/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5C9E19F-0C7D-39DC-AC12-ABCE7D57B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575" y="2166762"/>
            <a:ext cx="4626061" cy="2165912"/>
          </a:xfrm>
          <a:prstGeom prst="rect">
            <a:avLst/>
          </a:prstGeom>
        </p:spPr>
      </p:pic>
      <p:pic>
        <p:nvPicPr>
          <p:cNvPr id="10" name="图片 9" descr="图形用户界面, 图示&#10;&#10;AI 生成的内容可能不正确。">
            <a:extLst>
              <a:ext uri="{FF2B5EF4-FFF2-40B4-BE49-F238E27FC236}">
                <a16:creationId xmlns:a16="http://schemas.microsoft.com/office/drawing/2014/main" id="{65570B1F-1D84-47DE-CF40-538D4856E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11" y="4332674"/>
            <a:ext cx="4775690" cy="212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4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E4NjcwZDJjMzQyNDRkZGU0ZGUyNTQxODU3YTkyN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3124</TotalTime>
  <Words>1278</Words>
  <Application>Microsoft Office PowerPoint</Application>
  <PresentationFormat>宽屏</PresentationFormat>
  <Paragraphs>125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微软雅黑</vt:lpstr>
      <vt:lpstr>Arial</vt:lpstr>
      <vt:lpstr>Calibri</vt:lpstr>
      <vt:lpstr>Calibri Light</vt:lpstr>
      <vt:lpstr>Impact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演示文稿3</dc:title>
  <dc:creator>LYK</dc:creator>
  <cp:lastModifiedBy>靖 杨</cp:lastModifiedBy>
  <cp:revision>90</cp:revision>
  <dcterms:created xsi:type="dcterms:W3CDTF">2016-04-09T13:02:00Z</dcterms:created>
  <dcterms:modified xsi:type="dcterms:W3CDTF">2025-12-20T10:45:27Z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34961F330F204F538F23F5D1B1D149DE_12</vt:lpwstr>
  </property>
</Properties>
</file>