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7" r:id="rId8"/>
    <p:sldId id="3449" r:id="rId9"/>
    <p:sldId id="3459" r:id="rId10"/>
    <p:sldId id="3460" r:id="rId11"/>
    <p:sldId id="3461" r:id="rId12"/>
    <p:sldId id="3462" r:id="rId13"/>
    <p:sldId id="3467" r:id="rId14"/>
    <p:sldId id="3465" r:id="rId15"/>
    <p:sldId id="3486" r:id="rId16"/>
    <p:sldId id="3488" r:id="rId17"/>
    <p:sldId id="3231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87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20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《源自神经元的概念：通过剖析不透明神经网络构建可解释的医学影像诊断模型》</a:t>
            </a:r>
            <a:endParaRPr lang="zh-CN" altLang="en-US" dirty="0"/>
          </a:p>
          <a:p>
            <a:r>
              <a:rPr lang="zh-CN" altLang="en-US" dirty="0"/>
              <a:t>Information Processing in Medical Imaging</a:t>
            </a:r>
            <a:endParaRPr lang="zh-CN" altLang="en-US" dirty="0"/>
          </a:p>
          <a:p>
            <a:r>
              <a:rPr lang="zh-CN" altLang="en-US" dirty="0"/>
              <a:t>中文译名：医学影像信息处理大会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龚世展，是香港中文大学的博士生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，研究方向是可解释计算机视觉及其在医学图像分析中的应用</a:t>
            </a:r>
            <a:endParaRPr 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7.png"/><Relationship Id="rId2" Type="http://schemas.openxmlformats.org/officeDocument/2006/relationships/tags" Target="../tags/tag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tags" Target="../tags/tag4.xml"/><Relationship Id="rId3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8.xml"/><Relationship Id="rId7" Type="http://schemas.openxmlformats.org/officeDocument/2006/relationships/image" Target="../media/image14.png"/><Relationship Id="rId6" Type="http://schemas.openxmlformats.org/officeDocument/2006/relationships/tags" Target="../tags/tag7.xml"/><Relationship Id="rId5" Type="http://schemas.openxmlformats.org/officeDocument/2006/relationships/image" Target="../media/image13.png"/><Relationship Id="rId4" Type="http://schemas.openxmlformats.org/officeDocument/2006/relationships/tags" Target="../tags/tag6.xml"/><Relationship Id="rId3" Type="http://schemas.openxmlformats.org/officeDocument/2006/relationships/image" Target="../media/image12.png"/><Relationship Id="rId2" Type="http://schemas.openxmlformats.org/officeDocument/2006/relationships/tags" Target="../tags/tag5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10" Type="http://schemas.openxmlformats.org/officeDocument/2006/relationships/tags" Target="../tags/tag9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13.xml"/><Relationship Id="rId7" Type="http://schemas.openxmlformats.org/officeDocument/2006/relationships/image" Target="../media/image19.png"/><Relationship Id="rId6" Type="http://schemas.openxmlformats.org/officeDocument/2006/relationships/tags" Target="../tags/tag12.xml"/><Relationship Id="rId5" Type="http://schemas.openxmlformats.org/officeDocument/2006/relationships/image" Target="../media/image18.png"/><Relationship Id="rId4" Type="http://schemas.openxmlformats.org/officeDocument/2006/relationships/tags" Target="../tags/tag11.xml"/><Relationship Id="rId3" Type="http://schemas.openxmlformats.org/officeDocument/2006/relationships/image" Target="../media/image17.png"/><Relationship Id="rId2" Type="http://schemas.openxmlformats.org/officeDocument/2006/relationships/tags" Target="../tags/tag10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tags" Target="../tags/tag15.xml"/><Relationship Id="rId3" Type="http://schemas.openxmlformats.org/officeDocument/2006/relationships/image" Target="../media/image21.png"/><Relationship Id="rId2" Type="http://schemas.openxmlformats.org/officeDocument/2006/relationships/tags" Target="../tags/tag14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tags" Target="../tags/tag1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tags" Target="../tags/tag1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tags" Target="../tags/tag18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tags" Target="../tags/tag19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49373" y="2546254"/>
            <a:ext cx="839814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Concepts from Neurons: Building Interpretable Medical Image Diagnostic Models by Dissecting Opaque Neural Networks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IPMI 2025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56335" y="869950"/>
            <a:ext cx="9702800" cy="554799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988060"/>
            <a:ext cx="1136586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、目前存在的问题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）不可解释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深度学习模型在医学影像分析中虽准确率高，但缺乏透明度，临床医生难以信任其预测逻辑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现有可解释模型（如概念瓶颈模型 CBMs）存在缺陷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人工标注概念，而医学概念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复杂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，难以用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纯文本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描述。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3725" y="3429000"/>
            <a:ext cx="1047305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1535" y="4036060"/>
            <a:ext cx="107765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600"/>
              </a:spcAft>
            </a:pPr>
            <a:r>
              <a:rPr dirty="0">
                <a:cs typeface="宋体" panose="02010600030101010101" pitchFamily="2" charset="-122"/>
                <a:sym typeface="+mn-ea"/>
              </a:rPr>
              <a:t>希望通过剖析不透明模型，提取其中的临床相关概念，构建兼具高准确率与强可解释性的</a:t>
            </a:r>
            <a:r>
              <a:rPr lang="zh-CN" dirty="0">
                <a:cs typeface="宋体" panose="02010600030101010101" pitchFamily="2" charset="-122"/>
                <a:sym typeface="+mn-ea"/>
              </a:rPr>
              <a:t>概念瓶颈模型</a:t>
            </a:r>
            <a:r>
              <a:rPr dirty="0">
                <a:cs typeface="宋体" panose="02010600030101010101" pitchFamily="2" charset="-122"/>
                <a:sym typeface="+mn-ea"/>
              </a:rPr>
              <a:t>。</a:t>
            </a:r>
            <a:endParaRPr dirty="0"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9205" y="950595"/>
            <a:ext cx="9064625" cy="544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：通过剖析不透明模型进行概念提取</a:t>
            </a:r>
            <a:endParaRPr lang="zh-CN" altLang="en-US" sz="2000" b="1" dirty="0"/>
          </a:p>
          <a:p>
            <a:pPr indent="0" fontAlgn="auto">
              <a:lnSpc>
                <a:spcPct val="150000"/>
              </a:lnSpc>
            </a:pP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4360" y="1624965"/>
            <a:ext cx="9041765" cy="23882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8005" y="4787265"/>
            <a:ext cx="7820025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0"/>
            <a:ext cx="10925175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500"/>
              </a:spcAft>
            </a:pPr>
            <a:r>
              <a:rPr lang="zh-CN" sz="2000" b="1" dirty="0"/>
              <a:t>模块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：概念嵌入生成与选择</a:t>
            </a:r>
            <a:endParaRPr lang="zh-CN" altLang="en-US" sz="2000" b="1" dirty="0"/>
          </a:p>
          <a:p>
            <a:pPr indent="0" fontAlgn="auto">
              <a:lnSpc>
                <a:spcPct val="150000"/>
              </a:lnSpc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1623060"/>
            <a:ext cx="8512810" cy="16694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4360" y="362331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/>
              <a:t>子模优化：</a:t>
            </a:r>
            <a:endParaRPr lang="zh-CN" altLang="en-US" sz="20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911985" y="3556000"/>
            <a:ext cx="4984750" cy="1592580"/>
            <a:chOff x="10918" y="5126"/>
            <a:chExt cx="7850" cy="2508"/>
          </a:xfrm>
        </p:grpSpPr>
        <p:sp>
          <p:nvSpPr>
            <p:cNvPr id="9" name="文本框 8"/>
            <p:cNvSpPr txBox="1"/>
            <p:nvPr/>
          </p:nvSpPr>
          <p:spPr>
            <a:xfrm>
              <a:off x="10918" y="5126"/>
              <a:ext cx="785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概念池：</a:t>
              </a: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𝐶</a:t>
              </a:r>
              <a:r>
                <a:rPr lang="en-US" altLang="zh-CN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={c1,...,cn</a:t>
              </a: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}</a:t>
              </a:r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目标：选</a:t>
              </a:r>
              <a:r>
                <a:rPr lang="en-US" altLang="zh-CN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k</a:t>
              </a: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个概念，使得能覆盖整个概念空间</a:t>
              </a:r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918" y="6782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覆盖函数：</a:t>
              </a:r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698" y="6578"/>
              <a:ext cx="5531" cy="1056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1941830" y="534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怎么选？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对每个没选的概念： c：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309870" y="5237480"/>
            <a:ext cx="3449320" cy="5549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403215" y="5751195"/>
            <a:ext cx="1750695" cy="4730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483860" y="6224270"/>
            <a:ext cx="1234440" cy="33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2"/>
            <a:ext cx="1047326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：类与概念通过表示分解进行关联</a:t>
            </a:r>
            <a:endParaRPr lang="zh-CN" altLang="en-US" sz="2000" b="1" dirty="0"/>
          </a:p>
          <a:p>
            <a:pPr indent="0" fontAlgn="auto">
              <a:lnSpc>
                <a:spcPct val="150000"/>
              </a:lnSpc>
            </a:pP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573530"/>
            <a:ext cx="7566660" cy="1898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7865" y="3902075"/>
            <a:ext cx="90271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把图像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通过稀疏分解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表示成几个概念向量的加权和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​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81370" y="3749675"/>
            <a:ext cx="1617980" cy="7543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7865" y="4885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训线性分类器：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372360" y="4856480"/>
            <a:ext cx="2831465" cy="3968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59525" y="4562475"/>
            <a:ext cx="3768725" cy="93091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5362575" y="5045710"/>
            <a:ext cx="996950" cy="1016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4360" y="1127760"/>
            <a:ext cx="8139430" cy="3432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0400" y="890270"/>
            <a:ext cx="6096000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本文CBMs与其对应的不透明模型的比较：</a:t>
            </a:r>
            <a:endParaRPr lang="zh-CN" altLang="en-US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9095" y="4850130"/>
            <a:ext cx="9153525" cy="11639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0400" y="4678680"/>
            <a:ext cx="464947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本文</a:t>
            </a:r>
            <a:r>
              <a:rPr lang="en-US" altLang="zh-CN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CBM与多个CBM类基线的比较</a:t>
            </a:r>
            <a:endParaRPr lang="en-US" altLang="zh-CN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概念提取图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89785" y="893445"/>
            <a:ext cx="8074025" cy="5595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解释示例</a:t>
            </a:r>
            <a:endParaRPr lang="en-US" altLang="zh-CN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87345" y="779145"/>
            <a:ext cx="6042660" cy="5722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06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对模型预测进行干涉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25245" y="1485900"/>
            <a:ext cx="9541510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06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0195" y="1443990"/>
            <a:ext cx="11616690" cy="3970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WPS 演示</Application>
  <PresentationFormat>宽屏</PresentationFormat>
  <Paragraphs>179</Paragraphs>
  <Slides>13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Arial Unicode MS</vt:lpstr>
      <vt:lpstr>等线 Light</vt:lpstr>
      <vt:lpstr>Calibri Light</vt:lpstr>
      <vt:lpstr>BatangChe</vt:lpstr>
      <vt:lpstr>Segoe Print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秦佳瑶</cp:lastModifiedBy>
  <cp:revision>954</cp:revision>
  <dcterms:created xsi:type="dcterms:W3CDTF">2019-03-09T08:01:00Z</dcterms:created>
  <dcterms:modified xsi:type="dcterms:W3CDTF">2025-12-27T13:54:51Z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0C95BC188EFC487BA7C01F2F718226AD_13</vt:lpwstr>
  </property>
</Properties>
</file>