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3" r:id="rId1"/>
    <p:sldMasterId id="2147483666" r:id="rId2"/>
  </p:sldMasterIdLst>
  <p:notesMasterIdLst>
    <p:notesMasterId r:id="rId18"/>
  </p:notesMasterIdLst>
  <p:sldIdLst>
    <p:sldId id="3228" r:id="rId3"/>
    <p:sldId id="3233" r:id="rId4"/>
    <p:sldId id="3262" r:id="rId5"/>
    <p:sldId id="3282" r:id="rId6"/>
    <p:sldId id="3283" r:id="rId7"/>
    <p:sldId id="3281" r:id="rId8"/>
    <p:sldId id="3284" r:id="rId9"/>
    <p:sldId id="3286" r:id="rId10"/>
    <p:sldId id="3285" r:id="rId11"/>
    <p:sldId id="3267" r:id="rId12"/>
    <p:sldId id="3287" r:id="rId13"/>
    <p:sldId id="3288" r:id="rId14"/>
    <p:sldId id="3289" r:id="rId15"/>
    <p:sldId id="3290" r:id="rId16"/>
    <p:sldId id="3291" r:id="rId17"/>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54DC"/>
    <a:srgbClr val="5B9BD5"/>
    <a:srgbClr val="FF0000"/>
    <a:srgbClr val="1A78C2"/>
    <a:srgbClr val="1A78C3"/>
    <a:srgbClr val="1B6299"/>
    <a:srgbClr val="8609AD"/>
    <a:srgbClr val="1C6299"/>
    <a:srgbClr val="1B6298"/>
    <a:srgbClr val="96C4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83039" autoAdjust="0"/>
  </p:normalViewPr>
  <p:slideViewPr>
    <p:cSldViewPr snapToGrid="0" showGuides="1">
      <p:cViewPr varScale="1">
        <p:scale>
          <a:sx n="94" d="100"/>
          <a:sy n="94" d="100"/>
        </p:scale>
        <p:origin x="1236" y="1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893C12-D317-442F-945E-D6517EECB5C8}" type="datetimeFigureOut">
              <a:rPr lang="zh-CN" altLang="en-US" smtClean="0"/>
              <a:t>2025/9/27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933A62-8780-4CAA-8D19-25292B7F568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1" i="0" dirty="0">
              <a:solidFill>
                <a:srgbClr val="191B1F"/>
              </a:solidFill>
              <a:effectLst/>
              <a:latin typeface="-apple-system"/>
            </a:endParaRPr>
          </a:p>
        </p:txBody>
      </p:sp>
      <p:sp>
        <p:nvSpPr>
          <p:cNvPr id="4" name="灯片编号占位符 3"/>
          <p:cNvSpPr>
            <a:spLocks noGrp="1"/>
          </p:cNvSpPr>
          <p:nvPr>
            <p:ph type="sldNum" sz="quarter" idx="5"/>
          </p:nvPr>
        </p:nvSpPr>
        <p:spPr/>
        <p:txBody>
          <a:bodyPr/>
          <a:lstStyle/>
          <a:p>
            <a:fld id="{BB933A62-8780-4CAA-8D19-25292B7F5684}" type="slidenum">
              <a:rPr lang="zh-CN" altLang="en-US" smtClean="0"/>
              <a:t>1</a:t>
            </a:fld>
            <a:endParaRPr lang="zh-CN" altLang="en-US"/>
          </a:p>
        </p:txBody>
      </p:sp>
    </p:spTree>
    <p:extLst>
      <p:ext uri="{BB962C8B-B14F-4D97-AF65-F5344CB8AC3E}">
        <p14:creationId xmlns:p14="http://schemas.microsoft.com/office/powerpoint/2010/main" val="1066131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1" i="0" dirty="0">
              <a:solidFill>
                <a:srgbClr val="527BBD"/>
              </a:solidFill>
              <a:effectLst/>
              <a:latin typeface="Georgia" panose="02040502050405020303" pitchFamily="18"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037150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163677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996744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4285754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912041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2038502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110972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9</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5783395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10</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236522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11</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0968412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12</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6190861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13</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0346517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14</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9767772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15</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832545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2" y="1122364"/>
            <a:ext cx="9144000" cy="2387600"/>
          </a:xfrm>
        </p:spPr>
        <p:txBody>
          <a:bodyPr anchor="b"/>
          <a:lstStyle>
            <a:lvl1pPr algn="ctr">
              <a:defRPr sz="5995"/>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2" y="3602038"/>
            <a:ext cx="9144000" cy="1655763"/>
          </a:xfrm>
        </p:spPr>
        <p:txBody>
          <a:bodyPr/>
          <a:lstStyle>
            <a:lvl1pPr marL="0" indent="0" algn="ctr">
              <a:buNone/>
              <a:defRPr sz="2400"/>
            </a:lvl1pPr>
            <a:lvl2pPr marL="457200" indent="0" algn="ctr">
              <a:buNone/>
              <a:defRPr sz="2000"/>
            </a:lvl2pPr>
            <a:lvl3pPr marL="913765" indent="0" algn="ctr">
              <a:buNone/>
              <a:defRPr sz="1800"/>
            </a:lvl3pPr>
            <a:lvl4pPr marL="1370965" indent="0" algn="ctr">
              <a:buNone/>
              <a:defRPr sz="1600"/>
            </a:lvl4pPr>
            <a:lvl5pPr marL="1827530" indent="0" algn="ctr">
              <a:buNone/>
              <a:defRPr sz="1600"/>
            </a:lvl5pPr>
            <a:lvl6pPr marL="2284730" indent="0" algn="ctr">
              <a:buNone/>
              <a:defRPr sz="1600"/>
            </a:lvl6pPr>
            <a:lvl7pPr marL="2741930" indent="0" algn="ctr">
              <a:buNone/>
              <a:defRPr sz="1600"/>
            </a:lvl7pPr>
            <a:lvl8pPr marL="3198495" indent="0" algn="ctr">
              <a:buNone/>
              <a:defRPr sz="1600"/>
            </a:lvl8pPr>
            <a:lvl9pPr marL="3655695"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C5B72DE3-FE0A-428A-AB10-325226F2F564}" type="datetimeFigureOut">
              <a:rPr lang="zh-CN" altLang="en-US" smtClean="0"/>
              <a:t>2025/9/27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5B72DE3-FE0A-428A-AB10-325226F2F564}" type="datetimeFigureOut">
              <a:rPr lang="zh-CN" altLang="en-US" smtClean="0"/>
              <a:t>2025/9/27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1"/>
            <a:ext cx="10515600" cy="2852737"/>
          </a:xfrm>
        </p:spPr>
        <p:txBody>
          <a:bodyPr anchor="b"/>
          <a:lstStyle>
            <a:lvl1pPr>
              <a:defRPr sz="5995"/>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3765" indent="0">
              <a:buNone/>
              <a:defRPr sz="1800">
                <a:solidFill>
                  <a:schemeClr val="tx1">
                    <a:tint val="75000"/>
                  </a:schemeClr>
                </a:solidFill>
              </a:defRPr>
            </a:lvl3pPr>
            <a:lvl4pPr marL="1370965" indent="0">
              <a:buNone/>
              <a:defRPr sz="1600">
                <a:solidFill>
                  <a:schemeClr val="tx1">
                    <a:tint val="75000"/>
                  </a:schemeClr>
                </a:solidFill>
              </a:defRPr>
            </a:lvl4pPr>
            <a:lvl5pPr marL="1827530" indent="0">
              <a:buNone/>
              <a:defRPr sz="1600">
                <a:solidFill>
                  <a:schemeClr val="tx1">
                    <a:tint val="75000"/>
                  </a:schemeClr>
                </a:solidFill>
              </a:defRPr>
            </a:lvl5pPr>
            <a:lvl6pPr marL="2284730" indent="0">
              <a:buNone/>
              <a:defRPr sz="1600">
                <a:solidFill>
                  <a:schemeClr val="tx1">
                    <a:tint val="75000"/>
                  </a:schemeClr>
                </a:solidFill>
              </a:defRPr>
            </a:lvl6pPr>
            <a:lvl7pPr marL="2741930" indent="0">
              <a:buNone/>
              <a:defRPr sz="1600">
                <a:solidFill>
                  <a:schemeClr val="tx1">
                    <a:tint val="75000"/>
                  </a:schemeClr>
                </a:solidFill>
              </a:defRPr>
            </a:lvl7pPr>
            <a:lvl8pPr marL="3198495" indent="0">
              <a:buNone/>
              <a:defRPr sz="1600">
                <a:solidFill>
                  <a:schemeClr val="tx1">
                    <a:tint val="75000"/>
                  </a:schemeClr>
                </a:solidFill>
              </a:defRPr>
            </a:lvl8pPr>
            <a:lvl9pPr marL="3655695"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C5B72DE3-FE0A-428A-AB10-325226F2F564}" type="datetimeFigureOut">
              <a:rPr lang="zh-CN" altLang="en-US" smtClean="0"/>
              <a:t>2025/9/27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1" y="1825627"/>
            <a:ext cx="5181600" cy="435133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6172201" y="1825627"/>
            <a:ext cx="5181600" cy="435133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C5B72DE3-FE0A-428A-AB10-325226F2F564}" type="datetimeFigureOut">
              <a:rPr lang="zh-CN" altLang="en-US" smtClean="0"/>
              <a:t>2025/9/27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90" y="1681163"/>
            <a:ext cx="5157786" cy="82391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7530" indent="0">
              <a:buNone/>
              <a:defRPr sz="1600" b="1"/>
            </a:lvl5pPr>
            <a:lvl6pPr marL="2284730" indent="0">
              <a:buNone/>
              <a:defRPr sz="1600" b="1"/>
            </a:lvl6pPr>
            <a:lvl7pPr marL="2741930" indent="0">
              <a:buNone/>
              <a:defRPr sz="1600" b="1"/>
            </a:lvl7pPr>
            <a:lvl8pPr marL="3198495" indent="0">
              <a:buNone/>
              <a:defRPr sz="1600" b="1"/>
            </a:lvl8pPr>
            <a:lvl9pPr marL="3655695"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839790" y="2505076"/>
            <a:ext cx="5157786"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6172201" y="1681163"/>
            <a:ext cx="5183189" cy="82391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7530" indent="0">
              <a:buNone/>
              <a:defRPr sz="1600" b="1"/>
            </a:lvl5pPr>
            <a:lvl6pPr marL="2284730" indent="0">
              <a:buNone/>
              <a:defRPr sz="1600" b="1"/>
            </a:lvl6pPr>
            <a:lvl7pPr marL="2741930" indent="0">
              <a:buNone/>
              <a:defRPr sz="1600" b="1"/>
            </a:lvl7pPr>
            <a:lvl8pPr marL="3198495" indent="0">
              <a:buNone/>
              <a:defRPr sz="1600" b="1"/>
            </a:lvl8pPr>
            <a:lvl9pPr marL="3655695"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6172201" y="2505076"/>
            <a:ext cx="5183189"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5B72DE3-FE0A-428A-AB10-325226F2F564}" type="datetimeFigureOut">
              <a:rPr lang="zh-CN" altLang="en-US" smtClean="0"/>
              <a:t>2025/9/27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5B72DE3-FE0A-428A-AB10-325226F2F564}" type="datetimeFigureOut">
              <a:rPr lang="zh-CN" altLang="en-US" smtClean="0"/>
              <a:t>2025/9/27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B72DE3-FE0A-428A-AB10-325226F2F564}" type="datetimeFigureOut">
              <a:rPr lang="zh-CN" altLang="en-US" smtClean="0"/>
              <a:t>2025/9/27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1"/>
            <a:ext cx="3932238" cy="1600199"/>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90" y="987428"/>
            <a:ext cx="6172199"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1"/>
            <a:ext cx="3932238" cy="3811588"/>
          </a:xfrm>
        </p:spPr>
        <p:txBody>
          <a:bodyPr/>
          <a:lstStyle>
            <a:lvl1pPr marL="0" indent="0">
              <a:buNone/>
              <a:defRPr sz="1600"/>
            </a:lvl1pPr>
            <a:lvl2pPr marL="457200" indent="0">
              <a:buNone/>
              <a:defRPr sz="1400"/>
            </a:lvl2pPr>
            <a:lvl3pPr marL="913765" indent="0">
              <a:buNone/>
              <a:defRPr sz="1200"/>
            </a:lvl3pPr>
            <a:lvl4pPr marL="1370965" indent="0">
              <a:buNone/>
              <a:defRPr sz="1000"/>
            </a:lvl4pPr>
            <a:lvl5pPr marL="1827530" indent="0">
              <a:buNone/>
              <a:defRPr sz="1000"/>
            </a:lvl5pPr>
            <a:lvl6pPr marL="2284730" indent="0">
              <a:buNone/>
              <a:defRPr sz="1000"/>
            </a:lvl6pPr>
            <a:lvl7pPr marL="2741930" indent="0">
              <a:buNone/>
              <a:defRPr sz="1000"/>
            </a:lvl7pPr>
            <a:lvl8pPr marL="3198495" indent="0">
              <a:buNone/>
              <a:defRPr sz="1000"/>
            </a:lvl8pPr>
            <a:lvl9pPr marL="3655695"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5B72DE3-FE0A-428A-AB10-325226F2F564}" type="datetimeFigureOut">
              <a:rPr lang="zh-CN" altLang="en-US" smtClean="0"/>
              <a:t>2025/9/27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1"/>
            <a:ext cx="3932238" cy="1600199"/>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90" y="987428"/>
            <a:ext cx="6172199" cy="4873625"/>
          </a:xfrm>
        </p:spPr>
        <p:txBody>
          <a:bodyPr anchor="t"/>
          <a:lstStyle>
            <a:lvl1pPr marL="0" indent="0">
              <a:buNone/>
              <a:defRPr sz="3200"/>
            </a:lvl1pPr>
            <a:lvl2pPr marL="457200" indent="0">
              <a:buNone/>
              <a:defRPr sz="2800"/>
            </a:lvl2pPr>
            <a:lvl3pPr marL="913765" indent="0">
              <a:buNone/>
              <a:defRPr sz="2400"/>
            </a:lvl3pPr>
            <a:lvl4pPr marL="1370965" indent="0">
              <a:buNone/>
              <a:defRPr sz="2000"/>
            </a:lvl4pPr>
            <a:lvl5pPr marL="1827530" indent="0">
              <a:buNone/>
              <a:defRPr sz="2000"/>
            </a:lvl5pPr>
            <a:lvl6pPr marL="2284730" indent="0">
              <a:buNone/>
              <a:defRPr sz="2000"/>
            </a:lvl6pPr>
            <a:lvl7pPr marL="2741930" indent="0">
              <a:buNone/>
              <a:defRPr sz="2000"/>
            </a:lvl7pPr>
            <a:lvl8pPr marL="3198495" indent="0">
              <a:buNone/>
              <a:defRPr sz="2000"/>
            </a:lvl8pPr>
            <a:lvl9pPr marL="3655695"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1"/>
            <a:ext cx="3932238" cy="3811588"/>
          </a:xfrm>
        </p:spPr>
        <p:txBody>
          <a:bodyPr/>
          <a:lstStyle>
            <a:lvl1pPr marL="0" indent="0">
              <a:buNone/>
              <a:defRPr sz="1600"/>
            </a:lvl1pPr>
            <a:lvl2pPr marL="457200" indent="0">
              <a:buNone/>
              <a:defRPr sz="1400"/>
            </a:lvl2pPr>
            <a:lvl3pPr marL="913765" indent="0">
              <a:buNone/>
              <a:defRPr sz="1200"/>
            </a:lvl3pPr>
            <a:lvl4pPr marL="1370965" indent="0">
              <a:buNone/>
              <a:defRPr sz="1000"/>
            </a:lvl4pPr>
            <a:lvl5pPr marL="1827530" indent="0">
              <a:buNone/>
              <a:defRPr sz="1000"/>
            </a:lvl5pPr>
            <a:lvl6pPr marL="2284730" indent="0">
              <a:buNone/>
              <a:defRPr sz="1000"/>
            </a:lvl6pPr>
            <a:lvl7pPr marL="2741930" indent="0">
              <a:buNone/>
              <a:defRPr sz="1000"/>
            </a:lvl7pPr>
            <a:lvl8pPr marL="3198495" indent="0">
              <a:buNone/>
              <a:defRPr sz="1000"/>
            </a:lvl8pPr>
            <a:lvl9pPr marL="3655695"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5B72DE3-FE0A-428A-AB10-325226F2F564}" type="datetimeFigureOut">
              <a:rPr lang="zh-CN" altLang="en-US" smtClean="0"/>
              <a:t>2025/9/27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5B72DE3-FE0A-428A-AB10-325226F2F564}" type="datetimeFigureOut">
              <a:rPr lang="zh-CN" altLang="en-US" smtClean="0"/>
              <a:t>2025/9/27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8"/>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2" y="365128"/>
            <a:ext cx="7734301"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5B72DE3-FE0A-428A-AB10-325226F2F564}" type="datetimeFigureOut">
              <a:rPr lang="zh-CN" altLang="en-US" smtClean="0"/>
              <a:t>2025/9/27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2C7F20-4EEE-4847-AC76-B538472E8A39}" type="slidenum">
              <a:rPr lang="zh-CN" altLang="en-US" smtClean="0"/>
              <a:t>‹#›</a:t>
            </a:fld>
            <a:endParaRPr lang="zh-CN" altLang="en-US"/>
          </a:p>
        </p:txBody>
      </p:sp>
    </p:spTree>
  </p:cSld>
  <p:clrMapOvr>
    <a:masterClrMapping/>
  </p:clrMapOvr>
  <p:transition spd="slow" advClick="0" advTm="1000">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Tree>
  </p:cSld>
  <p:clrMapOvr>
    <a:masterClrMapping/>
  </p:clrMapOvr>
  <p:transition spd="slow" advClick="0" advTm="1000">
    <p:randomBar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3_空白">
    <p:bg>
      <p:bgRef idx="1001">
        <a:schemeClr val="bg1"/>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1" y="1825627"/>
            <a:ext cx="10515600" cy="4351339"/>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B72DE3-FE0A-428A-AB10-325226F2F564}" type="datetimeFigureOut">
              <a:rPr lang="zh-CN" altLang="en-US" smtClean="0"/>
              <a:t>2025/9/27</a:t>
            </a:fld>
            <a:endParaRPr lang="zh-CN" altLang="en-US"/>
          </a:p>
        </p:txBody>
      </p:sp>
      <p:sp>
        <p:nvSpPr>
          <p:cNvPr id="5" name="Footer Placeholder 4"/>
          <p:cNvSpPr>
            <a:spLocks noGrp="1"/>
          </p:cNvSpPr>
          <p:nvPr>
            <p:ph type="ftr" sz="quarter" idx="3"/>
          </p:nvPr>
        </p:nvSpPr>
        <p:spPr>
          <a:xfrm>
            <a:off x="4038601"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2C7F20-4EEE-4847-AC76-B538472E8A3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Lst>
  <p:transition spd="slow" advClick="0" advTm="1000">
    <p:randomBar dir="vert"/>
  </p:transition>
  <p:txStyles>
    <p:titleStyle>
      <a:lvl1pPr algn="l" defTabSz="913765" rtl="0" eaLnBrk="1" latinLnBrk="0" hangingPunct="1">
        <a:lnSpc>
          <a:spcPct val="90000"/>
        </a:lnSpc>
        <a:spcBef>
          <a:spcPct val="0"/>
        </a:spcBef>
        <a:buNone/>
        <a:defRPr sz="4395"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165"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1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09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29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7530" algn="l" defTabSz="913765" rtl="0" eaLnBrk="1" latinLnBrk="0" hangingPunct="1">
        <a:defRPr sz="1800" kern="1200">
          <a:solidFill>
            <a:schemeClr val="tx1"/>
          </a:solidFill>
          <a:latin typeface="+mn-lt"/>
          <a:ea typeface="+mn-ea"/>
          <a:cs typeface="+mn-cs"/>
        </a:defRPr>
      </a:lvl5pPr>
      <a:lvl6pPr marL="2284730"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8495" algn="l" defTabSz="913765" rtl="0" eaLnBrk="1" latinLnBrk="0" hangingPunct="1">
        <a:defRPr sz="1800" kern="1200">
          <a:solidFill>
            <a:schemeClr val="tx1"/>
          </a:solidFill>
          <a:latin typeface="+mn-lt"/>
          <a:ea typeface="+mn-ea"/>
          <a:cs typeface="+mn-cs"/>
        </a:defRPr>
      </a:lvl8pPr>
      <a:lvl9pPr marL="3655695" algn="l" defTabSz="91376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389" y="365780"/>
            <a:ext cx="10515224" cy="1324636"/>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389" y="1825890"/>
            <a:ext cx="10515224" cy="4351729"/>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389" y="6356747"/>
            <a:ext cx="2742447" cy="364275"/>
          </a:xfrm>
          <a:prstGeom prst="rect">
            <a:avLst/>
          </a:prstGeom>
        </p:spPr>
        <p:txBody>
          <a:bodyPr vert="horz" lIns="91440" tIns="45720" rIns="91440" bIns="45720" rtlCol="0" anchor="ctr"/>
          <a:lstStyle>
            <a:lvl1pPr algn="l">
              <a:defRPr sz="1140">
                <a:solidFill>
                  <a:schemeClr val="tx1">
                    <a:tint val="75000"/>
                  </a:schemeClr>
                </a:solidFill>
                <a:ea typeface="等线" panose="02010600030101010101" pitchFamily="2" charset="-122"/>
              </a:defRPr>
            </a:lvl1pPr>
          </a:lstStyle>
          <a:p>
            <a:fld id="{43A93E93-166D-47F5-9EF1-ACEABE24AEEA}" type="datetimeFigureOut">
              <a:rPr lang="zh-CN" altLang="en-US" smtClean="0"/>
              <a:pPr/>
              <a:t>2025/9/27</a:t>
            </a:fld>
            <a:endParaRPr lang="zh-CN" altLang="en-US" dirty="0"/>
          </a:p>
        </p:txBody>
      </p:sp>
      <p:sp>
        <p:nvSpPr>
          <p:cNvPr id="5" name="页脚占位符 4"/>
          <p:cNvSpPr>
            <a:spLocks noGrp="1"/>
          </p:cNvSpPr>
          <p:nvPr>
            <p:ph type="ftr" sz="quarter" idx="3"/>
          </p:nvPr>
        </p:nvSpPr>
        <p:spPr>
          <a:xfrm>
            <a:off x="4038413" y="6356747"/>
            <a:ext cx="4115176" cy="364275"/>
          </a:xfrm>
          <a:prstGeom prst="rect">
            <a:avLst/>
          </a:prstGeom>
        </p:spPr>
        <p:txBody>
          <a:bodyPr vert="horz" lIns="91440" tIns="45720" rIns="91440" bIns="45720" rtlCol="0" anchor="ctr"/>
          <a:lstStyle>
            <a:lvl1pPr algn="ctr">
              <a:defRPr sz="1140">
                <a:solidFill>
                  <a:schemeClr val="tx1">
                    <a:tint val="75000"/>
                  </a:schemeClr>
                </a:solidFill>
                <a:ea typeface="等线" panose="02010600030101010101" pitchFamily="2" charset="-122"/>
              </a:defRPr>
            </a:lvl1pPr>
          </a:lstStyle>
          <a:p>
            <a:endParaRPr lang="zh-CN" altLang="en-US" dirty="0"/>
          </a:p>
        </p:txBody>
      </p:sp>
      <p:sp>
        <p:nvSpPr>
          <p:cNvPr id="6" name="灯片编号占位符 5"/>
          <p:cNvSpPr>
            <a:spLocks noGrp="1"/>
          </p:cNvSpPr>
          <p:nvPr>
            <p:ph type="sldNum" sz="quarter" idx="4"/>
          </p:nvPr>
        </p:nvSpPr>
        <p:spPr>
          <a:xfrm>
            <a:off x="8611166" y="6356747"/>
            <a:ext cx="2742447" cy="364275"/>
          </a:xfrm>
          <a:prstGeom prst="rect">
            <a:avLst/>
          </a:prstGeom>
        </p:spPr>
        <p:txBody>
          <a:bodyPr vert="horz" lIns="91440" tIns="45720" rIns="91440" bIns="45720" rtlCol="0" anchor="ctr"/>
          <a:lstStyle>
            <a:lvl1pPr algn="r">
              <a:defRPr sz="1140">
                <a:solidFill>
                  <a:schemeClr val="tx1">
                    <a:tint val="75000"/>
                  </a:schemeClr>
                </a:solidFill>
                <a:ea typeface="等线" panose="02010600030101010101" pitchFamily="2" charset="-122"/>
              </a:defRPr>
            </a:lvl1pPr>
          </a:lstStyle>
          <a:p>
            <a:fld id="{118D5ACA-62CA-46DB-AD6B-12EDD6D51A23}"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866775" rtl="0" eaLnBrk="1" latinLnBrk="0" hangingPunct="1">
        <a:lnSpc>
          <a:spcPct val="90000"/>
        </a:lnSpc>
        <a:spcBef>
          <a:spcPct val="0"/>
        </a:spcBef>
        <a:buNone/>
        <a:defRPr sz="4170" kern="1200">
          <a:solidFill>
            <a:schemeClr val="tx1"/>
          </a:solidFill>
          <a:latin typeface="+mj-lt"/>
          <a:ea typeface="等线" panose="02010600030101010101" pitchFamily="2" charset="-122"/>
          <a:cs typeface="+mj-cs"/>
        </a:defRPr>
      </a:lvl1pPr>
    </p:titleStyle>
    <p:bodyStyle>
      <a:lvl1pPr marL="216535" indent="-216535" algn="l" defTabSz="866775" rtl="0" eaLnBrk="1" latinLnBrk="0" hangingPunct="1">
        <a:lnSpc>
          <a:spcPct val="90000"/>
        </a:lnSpc>
        <a:spcBef>
          <a:spcPts val="950"/>
        </a:spcBef>
        <a:buFont typeface="Arial" panose="020B0604020202020204" pitchFamily="34" charset="0"/>
        <a:buChar char="•"/>
        <a:defRPr sz="2655" kern="1200">
          <a:solidFill>
            <a:schemeClr val="tx1"/>
          </a:solidFill>
          <a:latin typeface="+mn-lt"/>
          <a:ea typeface="等线" panose="02010600030101010101" pitchFamily="2" charset="-122"/>
          <a:cs typeface="+mn-cs"/>
        </a:defRPr>
      </a:lvl1pPr>
      <a:lvl2pPr marL="650240" indent="-216535" algn="l" defTabSz="866775" rtl="0" eaLnBrk="1" latinLnBrk="0" hangingPunct="1">
        <a:lnSpc>
          <a:spcPct val="90000"/>
        </a:lnSpc>
        <a:spcBef>
          <a:spcPts val="475"/>
        </a:spcBef>
        <a:buFont typeface="Arial" panose="020B0604020202020204" pitchFamily="34" charset="0"/>
        <a:buChar char="•"/>
        <a:defRPr sz="2275" kern="1200">
          <a:solidFill>
            <a:schemeClr val="tx1"/>
          </a:solidFill>
          <a:latin typeface="+mn-lt"/>
          <a:ea typeface="等线" panose="02010600030101010101" pitchFamily="2" charset="-122"/>
          <a:cs typeface="+mn-cs"/>
        </a:defRPr>
      </a:lvl2pPr>
      <a:lvl3pPr marL="1083945" indent="-216535" algn="l" defTabSz="866775" rtl="0" eaLnBrk="1" latinLnBrk="0" hangingPunct="1">
        <a:lnSpc>
          <a:spcPct val="90000"/>
        </a:lnSpc>
        <a:spcBef>
          <a:spcPts val="475"/>
        </a:spcBef>
        <a:buFont typeface="Arial" panose="020B0604020202020204" pitchFamily="34" charset="0"/>
        <a:buChar char="•"/>
        <a:defRPr sz="1895" kern="1200">
          <a:solidFill>
            <a:schemeClr val="tx1"/>
          </a:solidFill>
          <a:latin typeface="+mn-lt"/>
          <a:ea typeface="等线" panose="02010600030101010101" pitchFamily="2" charset="-122"/>
          <a:cs typeface="+mn-cs"/>
        </a:defRPr>
      </a:lvl3pPr>
      <a:lvl4pPr marL="1517015"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等线" panose="02010600030101010101" pitchFamily="2" charset="-122"/>
          <a:cs typeface="+mn-cs"/>
        </a:defRPr>
      </a:lvl4pPr>
      <a:lvl5pPr marL="195072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等线" panose="02010600030101010101" pitchFamily="2" charset="-122"/>
          <a:cs typeface="+mn-cs"/>
        </a:defRPr>
      </a:lvl5pPr>
      <a:lvl6pPr marL="238379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6pPr>
      <a:lvl7pPr marL="2817495"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7pPr>
      <a:lvl8pPr marL="325120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8pPr>
      <a:lvl9pPr marL="368427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9pPr>
    </p:bodyStyle>
    <p:otherStyle>
      <a:defPPr>
        <a:defRPr lang="zh-CN"/>
      </a:defPPr>
      <a:lvl1pPr marL="0" algn="l" defTabSz="866775" rtl="0" eaLnBrk="1" latinLnBrk="0" hangingPunct="1">
        <a:defRPr sz="1705" kern="1200">
          <a:solidFill>
            <a:schemeClr val="tx1"/>
          </a:solidFill>
          <a:latin typeface="+mn-lt"/>
          <a:ea typeface="+mn-ea"/>
          <a:cs typeface="+mn-cs"/>
        </a:defRPr>
      </a:lvl1pPr>
      <a:lvl2pPr marL="433705" algn="l" defTabSz="866775" rtl="0" eaLnBrk="1" latinLnBrk="0" hangingPunct="1">
        <a:defRPr sz="1705" kern="1200">
          <a:solidFill>
            <a:schemeClr val="tx1"/>
          </a:solidFill>
          <a:latin typeface="+mn-lt"/>
          <a:ea typeface="+mn-ea"/>
          <a:cs typeface="+mn-cs"/>
        </a:defRPr>
      </a:lvl2pPr>
      <a:lvl3pPr marL="866775" algn="l" defTabSz="866775" rtl="0" eaLnBrk="1" latinLnBrk="0" hangingPunct="1">
        <a:defRPr sz="1705" kern="1200">
          <a:solidFill>
            <a:schemeClr val="tx1"/>
          </a:solidFill>
          <a:latin typeface="+mn-lt"/>
          <a:ea typeface="+mn-ea"/>
          <a:cs typeface="+mn-cs"/>
        </a:defRPr>
      </a:lvl3pPr>
      <a:lvl4pPr marL="1300480" algn="l" defTabSz="866775" rtl="0" eaLnBrk="1" latinLnBrk="0" hangingPunct="1">
        <a:defRPr sz="1705" kern="1200">
          <a:solidFill>
            <a:schemeClr val="tx1"/>
          </a:solidFill>
          <a:latin typeface="+mn-lt"/>
          <a:ea typeface="+mn-ea"/>
          <a:cs typeface="+mn-cs"/>
        </a:defRPr>
      </a:lvl4pPr>
      <a:lvl5pPr marL="1734185" algn="l" defTabSz="866775" rtl="0" eaLnBrk="1" latinLnBrk="0" hangingPunct="1">
        <a:defRPr sz="1705" kern="1200">
          <a:solidFill>
            <a:schemeClr val="tx1"/>
          </a:solidFill>
          <a:latin typeface="+mn-lt"/>
          <a:ea typeface="+mn-ea"/>
          <a:cs typeface="+mn-cs"/>
        </a:defRPr>
      </a:lvl5pPr>
      <a:lvl6pPr marL="2167255" algn="l" defTabSz="866775" rtl="0" eaLnBrk="1" latinLnBrk="0" hangingPunct="1">
        <a:defRPr sz="1705" kern="1200">
          <a:solidFill>
            <a:schemeClr val="tx1"/>
          </a:solidFill>
          <a:latin typeface="+mn-lt"/>
          <a:ea typeface="+mn-ea"/>
          <a:cs typeface="+mn-cs"/>
        </a:defRPr>
      </a:lvl6pPr>
      <a:lvl7pPr marL="2600960" algn="l" defTabSz="866775" rtl="0" eaLnBrk="1" latinLnBrk="0" hangingPunct="1">
        <a:defRPr sz="1705" kern="1200">
          <a:solidFill>
            <a:schemeClr val="tx1"/>
          </a:solidFill>
          <a:latin typeface="+mn-lt"/>
          <a:ea typeface="+mn-ea"/>
          <a:cs typeface="+mn-cs"/>
        </a:defRPr>
      </a:lvl7pPr>
      <a:lvl8pPr marL="3034030" algn="l" defTabSz="866775" rtl="0" eaLnBrk="1" latinLnBrk="0" hangingPunct="1">
        <a:defRPr sz="1705" kern="1200">
          <a:solidFill>
            <a:schemeClr val="tx1"/>
          </a:solidFill>
          <a:latin typeface="+mn-lt"/>
          <a:ea typeface="+mn-ea"/>
          <a:cs typeface="+mn-cs"/>
        </a:defRPr>
      </a:lvl8pPr>
      <a:lvl9pPr marL="3467735" algn="l" defTabSz="866775" rtl="0" eaLnBrk="1" latinLnBrk="0" hangingPunct="1">
        <a:defRPr sz="17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wd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5" name="矩形 4"/>
          <p:cNvSpPr/>
          <p:nvPr/>
        </p:nvSpPr>
        <p:spPr>
          <a:xfrm>
            <a:off x="0" y="2546580"/>
            <a:ext cx="12191331" cy="1838567"/>
          </a:xfrm>
          <a:prstGeom prst="rect">
            <a:avLst/>
          </a:prstGeom>
          <a:solidFill>
            <a:srgbClr val="1A78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dirty="0">
              <a:solidFill>
                <a:prstClr val="white"/>
              </a:solidFill>
              <a:latin typeface="Calibri" panose="020F0502020204030204"/>
              <a:ea typeface="等线" panose="02010600030101010101" pitchFamily="2" charset="-122"/>
            </a:endParaRPr>
          </a:p>
        </p:txBody>
      </p:sp>
      <p:sp>
        <p:nvSpPr>
          <p:cNvPr id="12" name="椭圆 11"/>
          <p:cNvSpPr/>
          <p:nvPr/>
        </p:nvSpPr>
        <p:spPr>
          <a:xfrm>
            <a:off x="1524353" y="2153727"/>
            <a:ext cx="2624273" cy="2624273"/>
          </a:xfrm>
          <a:prstGeom prst="ellipse">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prstClr val="white"/>
              </a:solidFill>
              <a:latin typeface="Calibri" panose="020F0502020204030204"/>
              <a:ea typeface="等线" panose="02010600030101010101" pitchFamily="2" charset="-122"/>
            </a:endParaRPr>
          </a:p>
        </p:txBody>
      </p:sp>
      <p:pic>
        <p:nvPicPr>
          <p:cNvPr id="9" name="图片 8"/>
          <p:cNvPicPr>
            <a:picLocks noChangeAspect="1"/>
          </p:cNvPicPr>
          <p:nvPr/>
        </p:nvPicPr>
        <p:blipFill>
          <a:blip r:embed="rId3">
            <a:extLst>
              <a:ext uri="{BEBA8EAE-BF5A-486C-A8C5-ECC9F3942E4B}">
                <a14:imgProps xmlns:a14="http://schemas.microsoft.com/office/drawing/2010/main">
                  <a14:imgLayer r:embed="rId4">
                    <a14:imgEffect>
                      <a14:brightnessContrast bright="14000" contrast="21000"/>
                    </a14:imgEffect>
                    <a14:imgEffect>
                      <a14:colorTemperature colorTemp="6700"/>
                    </a14:imgEffect>
                  </a14:imgLayer>
                </a14:imgProps>
              </a:ext>
              <a:ext uri="{28A0092B-C50C-407E-A947-70E740481C1C}">
                <a14:useLocalDpi xmlns:a14="http://schemas.microsoft.com/office/drawing/2010/main" val="0"/>
              </a:ext>
            </a:extLst>
          </a:blip>
          <a:stretch>
            <a:fillRect/>
          </a:stretch>
        </p:blipFill>
        <p:spPr>
          <a:xfrm>
            <a:off x="1266181" y="2014069"/>
            <a:ext cx="3140616" cy="2903588"/>
          </a:xfrm>
          <a:prstGeom prst="rect">
            <a:avLst/>
          </a:prstGeom>
        </p:spPr>
      </p:pic>
      <p:pic>
        <p:nvPicPr>
          <p:cNvPr id="10" name="图片 9"/>
          <p:cNvPicPr>
            <a:picLocks noChangeAspect="1"/>
          </p:cNvPicPr>
          <p:nvPr/>
        </p:nvPicPr>
        <p:blipFill>
          <a:blip r:embed="rId5" cstate="print">
            <a:extLst>
              <a:ext uri="{BEBA8EAE-BF5A-486C-A8C5-ECC9F3942E4B}">
                <a14:imgProps xmlns:a14="http://schemas.microsoft.com/office/drawing/2010/main">
                  <a14:imgLayer r:embed="rId6">
                    <a14:imgEffect>
                      <a14:brightnessContrast bright="14000" contrast="21000"/>
                    </a14:imgEffect>
                    <a14:imgEffect>
                      <a14:colorTemperature colorTemp="6700"/>
                    </a14:imgEffect>
                    <a14:imgEffect>
                      <a14:sharpenSoften amount="3000"/>
                    </a14:imgEffect>
                  </a14:imgLayer>
                </a14:imgProps>
              </a:ext>
              <a:ext uri="{28A0092B-C50C-407E-A947-70E740481C1C}">
                <a14:useLocalDpi xmlns:a14="http://schemas.microsoft.com/office/drawing/2010/main" val="0"/>
              </a:ext>
            </a:extLst>
          </a:blip>
          <a:stretch>
            <a:fillRect/>
          </a:stretch>
        </p:blipFill>
        <p:spPr>
          <a:xfrm>
            <a:off x="9897401" y="150150"/>
            <a:ext cx="1966449" cy="575997"/>
          </a:xfrm>
          <a:prstGeom prst="rect">
            <a:avLst/>
          </a:prstGeom>
        </p:spPr>
      </p:pic>
      <p:sp>
        <p:nvSpPr>
          <p:cNvPr id="17" name="文本占位符 13"/>
          <p:cNvSpPr txBox="1"/>
          <p:nvPr/>
        </p:nvSpPr>
        <p:spPr>
          <a:xfrm>
            <a:off x="4581189" y="6441819"/>
            <a:ext cx="3028952" cy="29627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endParaRPr lang="zh-CN" altLang="en-US" dirty="0">
              <a:solidFill>
                <a:sysClr val="windowText" lastClr="000000"/>
              </a:solidFill>
              <a:latin typeface="Arial" panose="020B0604020202020204"/>
              <a:ea typeface="微软雅黑" panose="020B0503020204020204" pitchFamily="34" charset="-122"/>
            </a:endParaRPr>
          </a:p>
        </p:txBody>
      </p:sp>
      <p:sp>
        <p:nvSpPr>
          <p:cNvPr id="11" name="文本占位符 13">
            <a:extLst>
              <a:ext uri="{FF2B5EF4-FFF2-40B4-BE49-F238E27FC236}">
                <a16:creationId xmlns:a16="http://schemas.microsoft.com/office/drawing/2014/main" id="{F3FB24F5-63D6-4DE8-8E4D-977EB21B2EFE}"/>
              </a:ext>
            </a:extLst>
          </p:cNvPr>
          <p:cNvSpPr txBox="1"/>
          <p:nvPr/>
        </p:nvSpPr>
        <p:spPr>
          <a:xfrm>
            <a:off x="4723426" y="4168877"/>
            <a:ext cx="4294797" cy="1218245"/>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ltLang="zh-CN" sz="2400" dirty="0">
                <a:solidFill>
                  <a:sysClr val="windowText" lastClr="000000"/>
                </a:solidFill>
                <a:latin typeface="Arial" panose="020B0604020202020204"/>
                <a:ea typeface="微软雅黑" panose="020B0503020204020204" pitchFamily="34" charset="-122"/>
              </a:rPr>
              <a:t>CVPR 2025</a:t>
            </a:r>
            <a:endParaRPr lang="zh-CN" altLang="en-US" sz="2400" dirty="0">
              <a:solidFill>
                <a:sysClr val="windowText" lastClr="000000"/>
              </a:solidFill>
              <a:latin typeface="Arial" panose="020B0604020202020204"/>
              <a:ea typeface="微软雅黑" panose="020B0503020204020204" pitchFamily="34" charset="-122"/>
            </a:endParaRPr>
          </a:p>
        </p:txBody>
      </p:sp>
      <p:sp>
        <p:nvSpPr>
          <p:cNvPr id="2" name="文本框 1">
            <a:extLst>
              <a:ext uri="{FF2B5EF4-FFF2-40B4-BE49-F238E27FC236}">
                <a16:creationId xmlns:a16="http://schemas.microsoft.com/office/drawing/2014/main" id="{9034A569-0106-4697-8005-3AEC5A4670C3}"/>
              </a:ext>
            </a:extLst>
          </p:cNvPr>
          <p:cNvSpPr txBox="1"/>
          <p:nvPr/>
        </p:nvSpPr>
        <p:spPr>
          <a:xfrm>
            <a:off x="4312519" y="2726359"/>
            <a:ext cx="7596684" cy="1569660"/>
          </a:xfrm>
          <a:prstGeom prst="rect">
            <a:avLst/>
          </a:prstGeom>
          <a:noFill/>
        </p:spPr>
        <p:txBody>
          <a:bodyPr wrap="square" rtlCol="0">
            <a:spAutoFit/>
          </a:bodyPr>
          <a:lstStyle/>
          <a:p>
            <a:r>
              <a:rPr lang="en-US" altLang="zh-CN" sz="3200" dirty="0">
                <a:solidFill>
                  <a:schemeClr val="bg1"/>
                </a:solidFill>
              </a:rPr>
              <a:t>Seeking Consistent Flat Minima for Better Domain Generalization via Refining Loss Landscapes</a:t>
            </a:r>
            <a:endParaRPr lang="zh-CN" altLang="en-US" sz="3200" dirty="0">
              <a:solidFill>
                <a:schemeClr val="bg1"/>
              </a:solidFill>
            </a:endParaRPr>
          </a:p>
        </p:txBody>
      </p:sp>
    </p:spTree>
  </p:cSld>
  <p:clrMapOvr>
    <a:masterClrMapping/>
  </p:clrMapOvr>
  <p:transition spd="slow" advClick="0" advTm="1000">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a:solidFill>
                  <a:sysClr val="windowText" lastClr="000000"/>
                </a:solidFill>
                <a:latin typeface="Arial" panose="020B0604020202020204"/>
                <a:ea typeface="微软雅黑" panose="020B0503020204020204" pitchFamily="34" charset="-122"/>
              </a:rPr>
              <a:t>Authors</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3" name="图片 2">
            <a:extLst>
              <a:ext uri="{FF2B5EF4-FFF2-40B4-BE49-F238E27FC236}">
                <a16:creationId xmlns:a16="http://schemas.microsoft.com/office/drawing/2014/main" id="{75966BAB-F5A1-401A-A081-C7CAF46038E1}"/>
              </a:ext>
            </a:extLst>
          </p:cNvPr>
          <p:cNvPicPr>
            <a:picLocks noChangeAspect="1"/>
          </p:cNvPicPr>
          <p:nvPr/>
        </p:nvPicPr>
        <p:blipFill>
          <a:blip r:embed="rId4"/>
          <a:stretch>
            <a:fillRect/>
          </a:stretch>
        </p:blipFill>
        <p:spPr>
          <a:xfrm>
            <a:off x="851338" y="788544"/>
            <a:ext cx="9717858" cy="5664521"/>
          </a:xfrm>
          <a:prstGeom prst="rect">
            <a:avLst/>
          </a:prstGeom>
        </p:spPr>
      </p:pic>
    </p:spTree>
    <p:extLst>
      <p:ext uri="{BB962C8B-B14F-4D97-AF65-F5344CB8AC3E}">
        <p14:creationId xmlns:p14="http://schemas.microsoft.com/office/powerpoint/2010/main" val="1806357746"/>
      </p:ext>
    </p:extLst>
  </p:cSld>
  <p:clrMapOvr>
    <a:masterClrMapping/>
  </p:clrMapOvr>
  <p:transition spd="slow" advClick="0" advTm="1000">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zh-CN" sz="2600" b="1" dirty="0">
                <a:solidFill>
                  <a:sysClr val="windowText" lastClr="000000"/>
                </a:solidFill>
                <a:latin typeface="Arial" panose="020B0604020202020204"/>
                <a:ea typeface="微软雅黑" panose="020B0503020204020204" pitchFamily="34" charset="-122"/>
              </a:rPr>
              <a:t>Introduction</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D49E0841-8CB6-4025-85AA-6F4D289AAE90}"/>
              </a:ext>
            </a:extLst>
          </p:cNvPr>
          <p:cNvSpPr txBox="1"/>
          <p:nvPr/>
        </p:nvSpPr>
        <p:spPr>
          <a:xfrm>
            <a:off x="696782" y="1722504"/>
            <a:ext cx="5128793" cy="3693319"/>
          </a:xfrm>
          <a:prstGeom prst="rect">
            <a:avLst/>
          </a:prstGeom>
          <a:noFill/>
        </p:spPr>
        <p:txBody>
          <a:bodyPr wrap="square" rtlCol="0">
            <a:spAutoFit/>
          </a:bodyPr>
          <a:lstStyle/>
          <a:p>
            <a:r>
              <a:rPr lang="zh-CN" altLang="en-US" b="1" dirty="0">
                <a:latin typeface="等线" panose="02010600030101010101" pitchFamily="2" charset="-122"/>
                <a:ea typeface="等线" panose="02010600030101010101" pitchFamily="2" charset="-122"/>
              </a:rPr>
              <a:t>定义：</a:t>
            </a:r>
            <a:r>
              <a:rPr lang="zh-CN" altLang="en-US" dirty="0">
                <a:effectLst/>
                <a:latin typeface="等线" panose="02010600030101010101" pitchFamily="2" charset="-122"/>
                <a:ea typeface="等线" panose="02010600030101010101" pitchFamily="2" charset="-122"/>
              </a:rPr>
              <a:t>域泛化（</a:t>
            </a:r>
            <a:r>
              <a:rPr lang="en-US" altLang="zh-CN" dirty="0">
                <a:effectLst/>
                <a:latin typeface="等线" panose="02010600030101010101" pitchFamily="2" charset="-122"/>
                <a:ea typeface="等线" panose="02010600030101010101" pitchFamily="2" charset="-122"/>
              </a:rPr>
              <a:t>DG</a:t>
            </a:r>
            <a:r>
              <a:rPr lang="zh-CN" altLang="en-US" dirty="0">
                <a:effectLst/>
                <a:latin typeface="等线" panose="02010600030101010101" pitchFamily="2" charset="-122"/>
                <a:ea typeface="等线" panose="02010600030101010101" pitchFamily="2" charset="-122"/>
              </a:rPr>
              <a:t>）旨在从多个用于训练的源域（</a:t>
            </a:r>
            <a:r>
              <a:rPr lang="en-US" altLang="zh-CN" dirty="0">
                <a:effectLst/>
                <a:latin typeface="等线" panose="02010600030101010101" pitchFamily="2" charset="-122"/>
                <a:ea typeface="等线" panose="02010600030101010101" pitchFamily="2" charset="-122"/>
              </a:rPr>
              <a:t>Source Domains</a:t>
            </a:r>
            <a:r>
              <a:rPr lang="zh-CN" altLang="en-US" dirty="0">
                <a:effectLst/>
                <a:latin typeface="等线" panose="02010600030101010101" pitchFamily="2" charset="-122"/>
                <a:ea typeface="等线" panose="02010600030101010101" pitchFamily="2" charset="-122"/>
              </a:rPr>
              <a:t>）中学习一个单一且稳健的模型 。这个模型的目标是能够很好地泛化到从未在训练中见过的、全新的目标域（</a:t>
            </a:r>
            <a:r>
              <a:rPr lang="en-US" altLang="zh-CN" dirty="0">
                <a:effectLst/>
                <a:latin typeface="等线" panose="02010600030101010101" pitchFamily="2" charset="-122"/>
                <a:ea typeface="等线" panose="02010600030101010101" pitchFamily="2" charset="-122"/>
              </a:rPr>
              <a:t>Target Domain</a:t>
            </a:r>
            <a:r>
              <a:rPr lang="zh-CN" altLang="en-US" dirty="0">
                <a:effectLst/>
                <a:latin typeface="等线" panose="02010600030101010101" pitchFamily="2" charset="-122"/>
                <a:ea typeface="等线" panose="02010600030101010101" pitchFamily="2" charset="-122"/>
              </a:rPr>
              <a:t>）</a:t>
            </a:r>
            <a:endParaRPr lang="en-US" altLang="zh-CN" dirty="0">
              <a:effectLst/>
              <a:latin typeface="等线" panose="02010600030101010101" pitchFamily="2" charset="-122"/>
              <a:ea typeface="等线" panose="02010600030101010101" pitchFamily="2" charset="-122"/>
            </a:endParaRPr>
          </a:p>
          <a:p>
            <a:endParaRPr lang="en-US" altLang="zh-CN" dirty="0">
              <a:latin typeface="等线" panose="02010600030101010101" pitchFamily="2" charset="-122"/>
              <a:ea typeface="等线" panose="02010600030101010101" pitchFamily="2" charset="-122"/>
            </a:endParaRPr>
          </a:p>
          <a:p>
            <a:endParaRPr lang="en-US" altLang="zh-CN" dirty="0">
              <a:effectLst/>
              <a:latin typeface="等线" panose="02010600030101010101" pitchFamily="2" charset="-122"/>
              <a:ea typeface="等线" panose="02010600030101010101" pitchFamily="2" charset="-122"/>
            </a:endParaRPr>
          </a:p>
          <a:p>
            <a:r>
              <a:rPr lang="zh-CN" altLang="en-US" b="1" dirty="0">
                <a:latin typeface="等线" panose="02010600030101010101" pitchFamily="2" charset="-122"/>
                <a:ea typeface="等线" panose="02010600030101010101" pitchFamily="2" charset="-122"/>
              </a:rPr>
              <a:t>核心挑战</a:t>
            </a:r>
            <a:r>
              <a:rPr lang="zh-CN" altLang="en-US" dirty="0">
                <a:latin typeface="等线" panose="02010600030101010101" pitchFamily="2" charset="-122"/>
                <a:ea typeface="等线" panose="02010600030101010101" pitchFamily="2" charset="-122"/>
              </a:rPr>
              <a:t>：</a:t>
            </a:r>
            <a:r>
              <a:rPr lang="zh-CN" altLang="en-US" dirty="0">
                <a:effectLst/>
                <a:latin typeface="等线" panose="02010600030101010101" pitchFamily="2" charset="-122"/>
                <a:ea typeface="等线" panose="02010600030101010101" pitchFamily="2" charset="-122"/>
              </a:rPr>
              <a:t>传统深度学习假设训练和测试数据是独立同分布的（</a:t>
            </a:r>
            <a:r>
              <a:rPr lang="en-US" altLang="zh-CN" dirty="0">
                <a:effectLst/>
                <a:latin typeface="等线" panose="02010600030101010101" pitchFamily="2" charset="-122"/>
                <a:ea typeface="等线" panose="02010600030101010101" pitchFamily="2" charset="-122"/>
              </a:rPr>
              <a:t>IID</a:t>
            </a:r>
            <a:r>
              <a:rPr lang="zh-CN" altLang="en-US" dirty="0">
                <a:effectLst/>
                <a:latin typeface="等线" panose="02010600030101010101" pitchFamily="2" charset="-122"/>
                <a:ea typeface="等线" panose="02010600030101010101" pitchFamily="2" charset="-122"/>
              </a:rPr>
              <a:t>）但在现实应用中，由于数据风格、采集环境等因素造成的“域偏移”（</a:t>
            </a:r>
            <a:r>
              <a:rPr lang="en-US" altLang="zh-CN" dirty="0">
                <a:effectLst/>
                <a:latin typeface="等线" panose="02010600030101010101" pitchFamily="2" charset="-122"/>
                <a:ea typeface="等线" panose="02010600030101010101" pitchFamily="2" charset="-122"/>
              </a:rPr>
              <a:t>Domain Shift</a:t>
            </a:r>
            <a:r>
              <a:rPr lang="zh-CN" altLang="en-US" dirty="0">
                <a:effectLst/>
                <a:latin typeface="等线" panose="02010600030101010101" pitchFamily="2" charset="-122"/>
                <a:ea typeface="等线" panose="02010600030101010101" pitchFamily="2" charset="-122"/>
              </a:rPr>
              <a:t>），这个假设经常被打破，从而严重降低模型性能 。</a:t>
            </a:r>
          </a:p>
          <a:p>
            <a:endParaRPr lang="zh-CN" altLang="en-US" dirty="0">
              <a:effectLst/>
              <a:latin typeface="等线" panose="02010600030101010101" pitchFamily="2" charset="-122"/>
              <a:ea typeface="等线" panose="02010600030101010101" pitchFamily="2" charset="-122"/>
            </a:endParaRPr>
          </a:p>
          <a:p>
            <a:endParaRPr lang="zh-CN" altLang="en-US" dirty="0"/>
          </a:p>
        </p:txBody>
      </p:sp>
      <p:sp>
        <p:nvSpPr>
          <p:cNvPr id="5" name="文本框 4">
            <a:extLst>
              <a:ext uri="{FF2B5EF4-FFF2-40B4-BE49-F238E27FC236}">
                <a16:creationId xmlns:a16="http://schemas.microsoft.com/office/drawing/2014/main" id="{D5E28D26-2C72-4DF4-AEC7-3FB41500A399}"/>
              </a:ext>
            </a:extLst>
          </p:cNvPr>
          <p:cNvSpPr txBox="1"/>
          <p:nvPr/>
        </p:nvSpPr>
        <p:spPr>
          <a:xfrm>
            <a:off x="3754161" y="850235"/>
            <a:ext cx="4594528" cy="738664"/>
          </a:xfrm>
          <a:prstGeom prst="rect">
            <a:avLst/>
          </a:prstGeom>
          <a:noFill/>
        </p:spPr>
        <p:txBody>
          <a:bodyPr wrap="none" rtlCol="0">
            <a:spAutoFit/>
          </a:bodyPr>
          <a:lstStyle/>
          <a:p>
            <a:r>
              <a:rPr lang="zh-CN" altLang="en-US" sz="2400" b="1" dirty="0">
                <a:latin typeface="等线" panose="02010600030101010101" pitchFamily="2" charset="-122"/>
                <a:ea typeface="等线" panose="02010600030101010101" pitchFamily="2" charset="-122"/>
              </a:rPr>
              <a:t>域泛化</a:t>
            </a:r>
            <a:r>
              <a:rPr lang="en-US" altLang="zh-CN" sz="2400" b="1" dirty="0">
                <a:latin typeface="等线" panose="02010600030101010101" pitchFamily="2" charset="-122"/>
                <a:ea typeface="等线" panose="02010600030101010101" pitchFamily="2" charset="-122"/>
              </a:rPr>
              <a:t>(Domain Generalization)</a:t>
            </a:r>
            <a:r>
              <a:rPr lang="zh-CN" altLang="en-US" sz="2400" b="1" dirty="0">
                <a:latin typeface="等线" panose="02010600030101010101" pitchFamily="2" charset="-122"/>
                <a:ea typeface="等线" panose="02010600030101010101" pitchFamily="2" charset="-122"/>
              </a:rPr>
              <a:t> </a:t>
            </a:r>
            <a:endParaRPr lang="en-US" altLang="zh-CN" sz="2400" b="1" dirty="0">
              <a:latin typeface="等线" panose="02010600030101010101" pitchFamily="2" charset="-122"/>
              <a:ea typeface="等线" panose="02010600030101010101" pitchFamily="2" charset="-122"/>
            </a:endParaRPr>
          </a:p>
          <a:p>
            <a:endParaRPr lang="zh-CN" altLang="en-US" dirty="0"/>
          </a:p>
        </p:txBody>
      </p:sp>
      <p:pic>
        <p:nvPicPr>
          <p:cNvPr id="1028" name="Picture 4" descr="小猫图片 的图像结果">
            <a:extLst>
              <a:ext uri="{FF2B5EF4-FFF2-40B4-BE49-F238E27FC236}">
                <a16:creationId xmlns:a16="http://schemas.microsoft.com/office/drawing/2014/main" id="{0F956A76-3B20-466D-8585-6BA0083F30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5385" y="1445777"/>
            <a:ext cx="3398455" cy="2261886"/>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88E7C064-F816-4908-964A-7CB73921903D}"/>
              </a:ext>
            </a:extLst>
          </p:cNvPr>
          <p:cNvPicPr>
            <a:picLocks noChangeAspect="1"/>
          </p:cNvPicPr>
          <p:nvPr/>
        </p:nvPicPr>
        <p:blipFill>
          <a:blip r:embed="rId5"/>
          <a:stretch>
            <a:fillRect/>
          </a:stretch>
        </p:blipFill>
        <p:spPr>
          <a:xfrm>
            <a:off x="7275385" y="4047874"/>
            <a:ext cx="3483362" cy="2261883"/>
          </a:xfrm>
          <a:prstGeom prst="rect">
            <a:avLst/>
          </a:prstGeom>
        </p:spPr>
      </p:pic>
    </p:spTree>
    <p:extLst>
      <p:ext uri="{BB962C8B-B14F-4D97-AF65-F5344CB8AC3E}">
        <p14:creationId xmlns:p14="http://schemas.microsoft.com/office/powerpoint/2010/main" val="2142665457"/>
      </p:ext>
    </p:extLst>
  </p:cSld>
  <p:clrMapOvr>
    <a:masterClrMapping/>
  </p:clrMapOvr>
  <p:transition spd="slow" advClick="0" advTm="1000">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zh-CN" sz="2600" b="1" dirty="0">
                <a:solidFill>
                  <a:sysClr val="windowText" lastClr="000000"/>
                </a:solidFill>
                <a:latin typeface="Arial" panose="020B0604020202020204"/>
                <a:ea typeface="微软雅黑" panose="020B0503020204020204" pitchFamily="34" charset="-122"/>
              </a:rPr>
              <a:t>Introduction</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3" name="文本框 2">
            <a:extLst>
              <a:ext uri="{FF2B5EF4-FFF2-40B4-BE49-F238E27FC236}">
                <a16:creationId xmlns:a16="http://schemas.microsoft.com/office/drawing/2014/main" id="{BA5AF01A-F327-4C31-87CC-A3C31C851500}"/>
              </a:ext>
            </a:extLst>
          </p:cNvPr>
          <p:cNvSpPr txBox="1"/>
          <p:nvPr/>
        </p:nvSpPr>
        <p:spPr>
          <a:xfrm>
            <a:off x="2517365" y="920659"/>
            <a:ext cx="6882012" cy="461665"/>
          </a:xfrm>
          <a:prstGeom prst="rect">
            <a:avLst/>
          </a:prstGeom>
          <a:noFill/>
        </p:spPr>
        <p:txBody>
          <a:bodyPr wrap="none" rtlCol="0">
            <a:spAutoFit/>
          </a:bodyPr>
          <a:lstStyle/>
          <a:p>
            <a:r>
              <a:rPr lang="zh-CN" altLang="en-US" sz="2400" b="1" dirty="0">
                <a:latin typeface="等线" panose="02010600030101010101" pitchFamily="2" charset="-122"/>
                <a:ea typeface="等线" panose="02010600030101010101" pitchFamily="2" charset="-122"/>
              </a:rPr>
              <a:t>核心动机 </a:t>
            </a:r>
            <a:r>
              <a:rPr lang="en-US" altLang="zh-CN" sz="2400" b="1" dirty="0">
                <a:latin typeface="等线" panose="02010600030101010101" pitchFamily="2" charset="-122"/>
                <a:ea typeface="等线" panose="02010600030101010101" pitchFamily="2" charset="-122"/>
              </a:rPr>
              <a:t>- </a:t>
            </a:r>
            <a:r>
              <a:rPr lang="zh-CN" altLang="en-US" sz="2400" b="1" dirty="0">
                <a:latin typeface="等线" panose="02010600030101010101" pitchFamily="2" charset="-122"/>
                <a:ea typeface="等线" panose="02010600030101010101" pitchFamily="2" charset="-122"/>
              </a:rPr>
              <a:t>从“平坦最小值”到“一致的平坦最小值”</a:t>
            </a:r>
          </a:p>
        </p:txBody>
      </p:sp>
      <p:sp>
        <p:nvSpPr>
          <p:cNvPr id="19" name="文本框 18">
            <a:extLst>
              <a:ext uri="{FF2B5EF4-FFF2-40B4-BE49-F238E27FC236}">
                <a16:creationId xmlns:a16="http://schemas.microsoft.com/office/drawing/2014/main" id="{77B6035E-F0BA-4619-A84E-A0BC8662F29C}"/>
              </a:ext>
            </a:extLst>
          </p:cNvPr>
          <p:cNvSpPr txBox="1"/>
          <p:nvPr/>
        </p:nvSpPr>
        <p:spPr>
          <a:xfrm>
            <a:off x="379973" y="1845086"/>
            <a:ext cx="7014055" cy="3970318"/>
          </a:xfrm>
          <a:prstGeom prst="rect">
            <a:avLst/>
          </a:prstGeom>
          <a:noFill/>
        </p:spPr>
        <p:txBody>
          <a:bodyPr wrap="square">
            <a:spAutoFit/>
          </a:bodyPr>
          <a:lstStyle/>
          <a:p>
            <a:r>
              <a:rPr lang="zh-CN" altLang="en-US" b="1" dirty="0">
                <a:latin typeface="等线" panose="02010600030101010101" pitchFamily="2" charset="-122"/>
                <a:ea typeface="等线" panose="02010600030101010101" pitchFamily="2" charset="-122"/>
              </a:rPr>
              <a:t>已知理论 ：</a:t>
            </a:r>
            <a:br>
              <a:rPr lang="en-US" altLang="zh-CN" dirty="0">
                <a:latin typeface="等线" panose="02010600030101010101" pitchFamily="2" charset="-122"/>
                <a:ea typeface="等线" panose="02010600030101010101" pitchFamily="2" charset="-122"/>
              </a:rPr>
            </a:br>
            <a:r>
              <a:rPr lang="zh-CN" altLang="en-US" dirty="0">
                <a:effectLst/>
                <a:latin typeface="等线" panose="02010600030101010101" pitchFamily="2" charset="-122"/>
                <a:ea typeface="等线" panose="02010600030101010101" pitchFamily="2" charset="-122"/>
              </a:rPr>
              <a:t>大量研究表明，模型参数如果位于损失景观的“平坦最小值” 区域，通常会具备更好的泛化能力 。因此，像 </a:t>
            </a:r>
            <a:r>
              <a:rPr lang="en-US" altLang="zh-CN" dirty="0">
                <a:effectLst/>
                <a:latin typeface="等线" panose="02010600030101010101" pitchFamily="2" charset="-122"/>
                <a:ea typeface="等线" panose="02010600030101010101" pitchFamily="2" charset="-122"/>
              </a:rPr>
              <a:t>SAM (Sharpness-Aware Minimization) </a:t>
            </a:r>
            <a:r>
              <a:rPr lang="zh-CN" altLang="en-US" dirty="0">
                <a:effectLst/>
                <a:latin typeface="等线" panose="02010600030101010101" pitchFamily="2" charset="-122"/>
                <a:ea typeface="等线" panose="02010600030101010101" pitchFamily="2" charset="-122"/>
              </a:rPr>
              <a:t>这样的先进方法，其核心思想就是去寻找这种平坦、宽阔的损失区域，而不是尖锐、狭窄的区域 。</a:t>
            </a:r>
            <a:endParaRPr lang="en-US" altLang="zh-CN" dirty="0">
              <a:effectLst/>
              <a:latin typeface="等线" panose="02010600030101010101" pitchFamily="2" charset="-122"/>
              <a:ea typeface="等线" panose="02010600030101010101" pitchFamily="2" charset="-122"/>
            </a:endParaRPr>
          </a:p>
          <a:p>
            <a:endParaRPr lang="en-US" altLang="zh-CN" dirty="0">
              <a:latin typeface="等线" panose="02010600030101010101" pitchFamily="2" charset="-122"/>
              <a:ea typeface="等线" panose="02010600030101010101" pitchFamily="2" charset="-122"/>
            </a:endParaRPr>
          </a:p>
          <a:p>
            <a:endParaRPr lang="en-US" altLang="zh-CN" b="1" dirty="0">
              <a:latin typeface="等线" panose="02010600030101010101" pitchFamily="2" charset="-122"/>
              <a:ea typeface="等线" panose="02010600030101010101" pitchFamily="2" charset="-122"/>
            </a:endParaRPr>
          </a:p>
          <a:p>
            <a:r>
              <a:rPr lang="zh-CN" altLang="en-US" b="1" dirty="0">
                <a:effectLst/>
                <a:latin typeface="等线" panose="02010600030101010101" pitchFamily="2" charset="-122"/>
                <a:ea typeface="等线" panose="02010600030101010101" pitchFamily="2" charset="-122"/>
              </a:rPr>
              <a:t>本文发现的关键问题 ：</a:t>
            </a:r>
          </a:p>
          <a:p>
            <a:r>
              <a:rPr lang="zh-CN" altLang="en-US" dirty="0">
                <a:effectLst/>
                <a:latin typeface="等线" panose="02010600030101010101" pitchFamily="2" charset="-122"/>
                <a:ea typeface="等线" panose="02010600030101010101" pitchFamily="2" charset="-122"/>
              </a:rPr>
              <a:t>然而，在域泛化场景下，这些方法忽略了一个致命问题：由于“域偏移”的存在，不同域的损失景观本身就是不一致的。这意味着，在一个域上找到的“平坦最小值”，在另一个域上可能是一个损失很高、甚至很尖锐的区域，这极大地限制了模型的泛化能力 。</a:t>
            </a:r>
          </a:p>
          <a:p>
            <a:endParaRPr lang="en-US" altLang="zh-CN" dirty="0"/>
          </a:p>
          <a:p>
            <a:endParaRPr lang="zh-CN" altLang="en-US" dirty="0"/>
          </a:p>
        </p:txBody>
      </p:sp>
      <p:pic>
        <p:nvPicPr>
          <p:cNvPr id="8" name="图片 7">
            <a:extLst>
              <a:ext uri="{FF2B5EF4-FFF2-40B4-BE49-F238E27FC236}">
                <a16:creationId xmlns:a16="http://schemas.microsoft.com/office/drawing/2014/main" id="{DB92AE71-9CC6-48F0-B6CD-ED22488AAFFD}"/>
              </a:ext>
            </a:extLst>
          </p:cNvPr>
          <p:cNvPicPr>
            <a:picLocks noChangeAspect="1"/>
          </p:cNvPicPr>
          <p:nvPr/>
        </p:nvPicPr>
        <p:blipFill>
          <a:blip r:embed="rId4"/>
          <a:stretch>
            <a:fillRect/>
          </a:stretch>
        </p:blipFill>
        <p:spPr>
          <a:xfrm>
            <a:off x="7896491" y="2136918"/>
            <a:ext cx="3186667" cy="2459883"/>
          </a:xfrm>
          <a:prstGeom prst="rect">
            <a:avLst/>
          </a:prstGeom>
        </p:spPr>
      </p:pic>
      <p:pic>
        <p:nvPicPr>
          <p:cNvPr id="10" name="图片 9">
            <a:extLst>
              <a:ext uri="{FF2B5EF4-FFF2-40B4-BE49-F238E27FC236}">
                <a16:creationId xmlns:a16="http://schemas.microsoft.com/office/drawing/2014/main" id="{8F712AF3-EFCB-4A6E-AED6-916CFD92E6AF}"/>
              </a:ext>
            </a:extLst>
          </p:cNvPr>
          <p:cNvPicPr>
            <a:picLocks noChangeAspect="1"/>
          </p:cNvPicPr>
          <p:nvPr/>
        </p:nvPicPr>
        <p:blipFill>
          <a:blip r:embed="rId5"/>
          <a:stretch>
            <a:fillRect/>
          </a:stretch>
        </p:blipFill>
        <p:spPr>
          <a:xfrm>
            <a:off x="8280300" y="4651822"/>
            <a:ext cx="2419048" cy="238095"/>
          </a:xfrm>
          <a:prstGeom prst="rect">
            <a:avLst/>
          </a:prstGeom>
        </p:spPr>
      </p:pic>
    </p:spTree>
    <p:extLst>
      <p:ext uri="{BB962C8B-B14F-4D97-AF65-F5344CB8AC3E}">
        <p14:creationId xmlns:p14="http://schemas.microsoft.com/office/powerpoint/2010/main" val="2923148439"/>
      </p:ext>
    </p:extLst>
  </p:cSld>
  <p:clrMapOvr>
    <a:masterClrMapping/>
  </p:clrMapOvr>
  <p:transition spd="slow" advClick="0" advTm="1000">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zh-CN" sz="2600" b="1" dirty="0">
                <a:solidFill>
                  <a:sysClr val="windowText" lastClr="000000"/>
                </a:solidFill>
                <a:latin typeface="Arial" panose="020B0604020202020204"/>
                <a:ea typeface="微软雅黑" panose="020B0503020204020204" pitchFamily="34" charset="-122"/>
              </a:rPr>
              <a:t>Introduction</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14" name="文本框 13">
            <a:extLst>
              <a:ext uri="{FF2B5EF4-FFF2-40B4-BE49-F238E27FC236}">
                <a16:creationId xmlns:a16="http://schemas.microsoft.com/office/drawing/2014/main" id="{3F85BD6E-9426-4964-AF17-0F2489DDBC92}"/>
              </a:ext>
            </a:extLst>
          </p:cNvPr>
          <p:cNvSpPr txBox="1"/>
          <p:nvPr/>
        </p:nvSpPr>
        <p:spPr>
          <a:xfrm>
            <a:off x="4891251" y="948790"/>
            <a:ext cx="6093372" cy="461665"/>
          </a:xfrm>
          <a:prstGeom prst="rect">
            <a:avLst/>
          </a:prstGeom>
          <a:noFill/>
        </p:spPr>
        <p:txBody>
          <a:bodyPr wrap="square">
            <a:spAutoFit/>
          </a:bodyPr>
          <a:lstStyle/>
          <a:p>
            <a:r>
              <a:rPr lang="zh-CN" altLang="en-US" sz="2400" b="1" dirty="0">
                <a:effectLst/>
                <a:latin typeface="等线" panose="02010600030101010101" pitchFamily="2" charset="-122"/>
                <a:ea typeface="等线" panose="02010600030101010101" pitchFamily="2" charset="-122"/>
              </a:rPr>
              <a:t>本文目标与贡献</a:t>
            </a:r>
            <a:endParaRPr lang="zh-CN" altLang="en-US" sz="2400" b="1" dirty="0">
              <a:latin typeface="等线" panose="02010600030101010101" pitchFamily="2" charset="-122"/>
              <a:ea typeface="等线" panose="02010600030101010101" pitchFamily="2" charset="-122"/>
            </a:endParaRPr>
          </a:p>
        </p:txBody>
      </p:sp>
      <p:pic>
        <p:nvPicPr>
          <p:cNvPr id="4" name="图片 3">
            <a:extLst>
              <a:ext uri="{FF2B5EF4-FFF2-40B4-BE49-F238E27FC236}">
                <a16:creationId xmlns:a16="http://schemas.microsoft.com/office/drawing/2014/main" id="{BA355E8B-680B-4BD2-AA44-8EAC40077B3B}"/>
              </a:ext>
            </a:extLst>
          </p:cNvPr>
          <p:cNvPicPr>
            <a:picLocks noChangeAspect="1"/>
          </p:cNvPicPr>
          <p:nvPr/>
        </p:nvPicPr>
        <p:blipFill>
          <a:blip r:embed="rId4"/>
          <a:stretch>
            <a:fillRect/>
          </a:stretch>
        </p:blipFill>
        <p:spPr>
          <a:xfrm>
            <a:off x="929104" y="1727272"/>
            <a:ext cx="3474677" cy="2639772"/>
          </a:xfrm>
          <a:prstGeom prst="rect">
            <a:avLst/>
          </a:prstGeom>
        </p:spPr>
      </p:pic>
      <p:pic>
        <p:nvPicPr>
          <p:cNvPr id="6" name="图片 5">
            <a:extLst>
              <a:ext uri="{FF2B5EF4-FFF2-40B4-BE49-F238E27FC236}">
                <a16:creationId xmlns:a16="http://schemas.microsoft.com/office/drawing/2014/main" id="{A5DE396E-92C8-4A0E-BFE9-14BA076B91E9}"/>
              </a:ext>
            </a:extLst>
          </p:cNvPr>
          <p:cNvPicPr>
            <a:picLocks noChangeAspect="1"/>
          </p:cNvPicPr>
          <p:nvPr/>
        </p:nvPicPr>
        <p:blipFill>
          <a:blip r:embed="rId5"/>
          <a:stretch>
            <a:fillRect/>
          </a:stretch>
        </p:blipFill>
        <p:spPr>
          <a:xfrm>
            <a:off x="1206312" y="4380693"/>
            <a:ext cx="2920260" cy="285900"/>
          </a:xfrm>
          <a:prstGeom prst="rect">
            <a:avLst/>
          </a:prstGeom>
        </p:spPr>
      </p:pic>
      <p:sp>
        <p:nvSpPr>
          <p:cNvPr id="20" name="文本框 19">
            <a:extLst>
              <a:ext uri="{FF2B5EF4-FFF2-40B4-BE49-F238E27FC236}">
                <a16:creationId xmlns:a16="http://schemas.microsoft.com/office/drawing/2014/main" id="{BA7000A3-CBED-4CDF-A781-052B785035B0}"/>
              </a:ext>
            </a:extLst>
          </p:cNvPr>
          <p:cNvSpPr txBox="1"/>
          <p:nvPr/>
        </p:nvSpPr>
        <p:spPr>
          <a:xfrm>
            <a:off x="1206312" y="4786390"/>
            <a:ext cx="3354114" cy="1200329"/>
          </a:xfrm>
          <a:prstGeom prst="rect">
            <a:avLst/>
          </a:prstGeom>
          <a:noFill/>
        </p:spPr>
        <p:txBody>
          <a:bodyPr wrap="square">
            <a:spAutoFit/>
          </a:bodyPr>
          <a:lstStyle/>
          <a:p>
            <a:r>
              <a:rPr lang="zh-CN" altLang="en-US" dirty="0">
                <a:effectLst/>
              </a:rPr>
              <a:t>本文的</a:t>
            </a:r>
            <a:r>
              <a:rPr lang="zh-CN" altLang="en-US" b="1" dirty="0">
                <a:effectLst/>
              </a:rPr>
              <a:t>核心目标</a:t>
            </a:r>
            <a:r>
              <a:rPr lang="zh-CN" altLang="en-US" dirty="0">
                <a:effectLst/>
              </a:rPr>
              <a:t>是主动地优化损失景观，以解决不同域之间的不一致性问题，最终寻求一个跨域一致的平坦最小值。</a:t>
            </a:r>
            <a:endParaRPr lang="zh-CN" altLang="en-US" dirty="0"/>
          </a:p>
        </p:txBody>
      </p:sp>
      <p:sp>
        <p:nvSpPr>
          <p:cNvPr id="22" name="文本框 21">
            <a:extLst>
              <a:ext uri="{FF2B5EF4-FFF2-40B4-BE49-F238E27FC236}">
                <a16:creationId xmlns:a16="http://schemas.microsoft.com/office/drawing/2014/main" id="{7524C85C-B0A3-480E-9761-F8F5A407B161}"/>
              </a:ext>
            </a:extLst>
          </p:cNvPr>
          <p:cNvSpPr txBox="1"/>
          <p:nvPr/>
        </p:nvSpPr>
        <p:spPr>
          <a:xfrm>
            <a:off x="5018744" y="1906777"/>
            <a:ext cx="6093372" cy="3970318"/>
          </a:xfrm>
          <a:prstGeom prst="rect">
            <a:avLst/>
          </a:prstGeom>
          <a:noFill/>
        </p:spPr>
        <p:txBody>
          <a:bodyPr wrap="square">
            <a:spAutoFit/>
          </a:bodyPr>
          <a:lstStyle/>
          <a:p>
            <a:r>
              <a:rPr lang="zh-CN" altLang="en-US" dirty="0">
                <a:effectLst/>
                <a:latin typeface="等线" panose="02010600030101010101" pitchFamily="2" charset="-122"/>
                <a:ea typeface="等线" panose="02010600030101010101" pitchFamily="2" charset="-122"/>
              </a:rPr>
              <a:t>主要贡献：</a:t>
            </a:r>
          </a:p>
          <a:p>
            <a:r>
              <a:rPr lang="en-US" altLang="zh-CN" dirty="0">
                <a:effectLst/>
                <a:latin typeface="等线" panose="02010600030101010101" pitchFamily="2" charset="-122"/>
                <a:ea typeface="等线" panose="02010600030101010101" pitchFamily="2" charset="-122"/>
              </a:rPr>
              <a:t>1. </a:t>
            </a:r>
            <a:r>
              <a:rPr lang="zh-CN" altLang="en-US" dirty="0">
                <a:effectLst/>
                <a:latin typeface="等线" panose="02010600030101010101" pitchFamily="2" charset="-122"/>
                <a:ea typeface="等线" panose="02010600030101010101" pitchFamily="2" charset="-122"/>
              </a:rPr>
              <a:t>提出新颖的训练框架</a:t>
            </a:r>
          </a:p>
          <a:p>
            <a:r>
              <a:rPr lang="zh-CN" altLang="en-US" dirty="0">
                <a:effectLst/>
                <a:latin typeface="等线" panose="02010600030101010101" pitchFamily="2" charset="-122"/>
                <a:ea typeface="等线" panose="02010600030101010101" pitchFamily="2" charset="-122"/>
              </a:rPr>
              <a:t>提出了一个名为“自反馈训练” </a:t>
            </a:r>
            <a:r>
              <a:rPr lang="en-US" altLang="zh-CN" dirty="0">
                <a:effectLst/>
                <a:latin typeface="等线" panose="02010600030101010101" pitchFamily="2" charset="-122"/>
                <a:ea typeface="等线" panose="02010600030101010101" pitchFamily="2" charset="-122"/>
              </a:rPr>
              <a:t>(Self-Feedback Training, SFT) </a:t>
            </a:r>
            <a:r>
              <a:rPr lang="zh-CN" altLang="en-US" dirty="0">
                <a:effectLst/>
                <a:latin typeface="等线" panose="02010600030101010101" pitchFamily="2" charset="-122"/>
                <a:ea typeface="等线" panose="02010600030101010101" pitchFamily="2" charset="-122"/>
              </a:rPr>
              <a:t>的迭代式框架 。它通过“反馈”和“优化”两个阶段的交替进行，能够逐步提升损失景观的一致性。</a:t>
            </a:r>
          </a:p>
          <a:p>
            <a:r>
              <a:rPr lang="en-US" altLang="zh-CN" dirty="0">
                <a:effectLst/>
                <a:latin typeface="等线" panose="02010600030101010101" pitchFamily="2" charset="-122"/>
                <a:ea typeface="等线" panose="02010600030101010101" pitchFamily="2" charset="-122"/>
              </a:rPr>
              <a:t>2. </a:t>
            </a:r>
            <a:r>
              <a:rPr lang="zh-CN" altLang="en-US" dirty="0">
                <a:effectLst/>
                <a:latin typeface="等线" panose="02010600030101010101" pitchFamily="2" charset="-122"/>
                <a:ea typeface="等线" panose="02010600030101010101" pitchFamily="2" charset="-122"/>
              </a:rPr>
              <a:t>引入创新的优化方法</a:t>
            </a:r>
          </a:p>
          <a:p>
            <a:r>
              <a:rPr lang="zh-CN" altLang="en-US" dirty="0">
                <a:effectLst/>
                <a:latin typeface="等线" panose="02010600030101010101" pitchFamily="2" charset="-122"/>
                <a:ea typeface="等线" panose="02010600030101010101" pitchFamily="2" charset="-122"/>
              </a:rPr>
              <a:t>引入了一种“景观优化器” </a:t>
            </a:r>
            <a:r>
              <a:rPr lang="en-US" altLang="zh-CN" dirty="0">
                <a:effectLst/>
                <a:latin typeface="等线" panose="02010600030101010101" pitchFamily="2" charset="-122"/>
                <a:ea typeface="等线" panose="02010600030101010101" pitchFamily="2" charset="-122"/>
              </a:rPr>
              <a:t>(Landscape Refiner) </a:t>
            </a:r>
            <a:r>
              <a:rPr lang="zh-CN" altLang="en-US" dirty="0">
                <a:effectLst/>
                <a:latin typeface="等线" panose="02010600030101010101" pitchFamily="2" charset="-122"/>
                <a:ea typeface="等线" panose="02010600030101010101" pitchFamily="2" charset="-122"/>
              </a:rPr>
              <a:t>。这是首次从“生成动态软标签”的视角出发，来高效地、动态地调整损失景观的几何形状，而非依赖于修改模型结构或设计复杂的损失函数。</a:t>
            </a:r>
          </a:p>
          <a:p>
            <a:r>
              <a:rPr lang="en-US" altLang="zh-CN" dirty="0">
                <a:effectLst/>
                <a:latin typeface="等线" panose="02010600030101010101" pitchFamily="2" charset="-122"/>
                <a:ea typeface="等线" panose="02010600030101010101" pitchFamily="2" charset="-122"/>
              </a:rPr>
              <a:t>3. </a:t>
            </a:r>
            <a:r>
              <a:rPr lang="zh-CN" altLang="en-US" dirty="0">
                <a:effectLst/>
                <a:latin typeface="等线" panose="02010600030101010101" pitchFamily="2" charset="-122"/>
                <a:ea typeface="等线" panose="02010600030101010101" pitchFamily="2" charset="-122"/>
              </a:rPr>
              <a:t>取得</a:t>
            </a:r>
            <a:r>
              <a:rPr lang="en-US" altLang="zh-CN" dirty="0">
                <a:effectLst/>
                <a:latin typeface="等线" panose="02010600030101010101" pitchFamily="2" charset="-122"/>
                <a:ea typeface="等线" panose="02010600030101010101" pitchFamily="2" charset="-122"/>
              </a:rPr>
              <a:t>SOTA</a:t>
            </a:r>
            <a:r>
              <a:rPr lang="zh-CN" altLang="en-US" dirty="0">
                <a:effectLst/>
                <a:latin typeface="等线" panose="02010600030101010101" pitchFamily="2" charset="-122"/>
                <a:ea typeface="等线" panose="02010600030101010101" pitchFamily="2" charset="-122"/>
              </a:rPr>
              <a:t>的实验性能</a:t>
            </a:r>
          </a:p>
          <a:p>
            <a:r>
              <a:rPr lang="zh-CN" altLang="en-US" dirty="0">
                <a:effectLst/>
                <a:latin typeface="等线" panose="02010600030101010101" pitchFamily="2" charset="-122"/>
                <a:ea typeface="等线" panose="02010600030101010101" pitchFamily="2" charset="-122"/>
              </a:rPr>
              <a:t>在五个主流的域泛化（</a:t>
            </a:r>
            <a:r>
              <a:rPr lang="en-US" altLang="zh-CN" dirty="0">
                <a:effectLst/>
                <a:latin typeface="等线" panose="02010600030101010101" pitchFamily="2" charset="-122"/>
                <a:ea typeface="等线" panose="02010600030101010101" pitchFamily="2" charset="-122"/>
              </a:rPr>
              <a:t>DG</a:t>
            </a:r>
            <a:r>
              <a:rPr lang="zh-CN" altLang="en-US" dirty="0">
                <a:effectLst/>
                <a:latin typeface="等线" panose="02010600030101010101" pitchFamily="2" charset="-122"/>
                <a:ea typeface="等线" panose="02010600030101010101" pitchFamily="2" charset="-122"/>
              </a:rPr>
              <a:t>）基准数据集上的大量实验证明，</a:t>
            </a:r>
            <a:r>
              <a:rPr lang="en-US" altLang="zh-CN" dirty="0">
                <a:effectLst/>
                <a:latin typeface="等线" panose="02010600030101010101" pitchFamily="2" charset="-122"/>
                <a:ea typeface="等线" panose="02010600030101010101" pitchFamily="2" charset="-122"/>
              </a:rPr>
              <a:t>SFT</a:t>
            </a:r>
            <a:r>
              <a:rPr lang="zh-CN" altLang="en-US" dirty="0">
                <a:effectLst/>
                <a:latin typeface="等线" panose="02010600030101010101" pitchFamily="2" charset="-122"/>
                <a:ea typeface="等线" panose="02010600030101010101" pitchFamily="2" charset="-122"/>
              </a:rPr>
              <a:t>的性能显著优于当前先进的锐度感知方法（如</a:t>
            </a:r>
            <a:r>
              <a:rPr lang="en-US" altLang="zh-CN" dirty="0">
                <a:effectLst/>
                <a:latin typeface="等线" panose="02010600030101010101" pitchFamily="2" charset="-122"/>
                <a:ea typeface="等线" panose="02010600030101010101" pitchFamily="2" charset="-122"/>
              </a:rPr>
              <a:t>SAM</a:t>
            </a:r>
            <a:r>
              <a:rPr lang="zh-CN" altLang="en-US" dirty="0">
                <a:effectLst/>
                <a:latin typeface="等线" panose="02010600030101010101" pitchFamily="2" charset="-122"/>
                <a:ea typeface="等线" panose="02010600030101010101" pitchFamily="2" charset="-122"/>
              </a:rPr>
              <a:t>）和其他主流</a:t>
            </a:r>
            <a:r>
              <a:rPr lang="en-US" altLang="zh-CN" dirty="0">
                <a:effectLst/>
                <a:latin typeface="等线" panose="02010600030101010101" pitchFamily="2" charset="-122"/>
                <a:ea typeface="等线" panose="02010600030101010101" pitchFamily="2" charset="-122"/>
              </a:rPr>
              <a:t>DG</a:t>
            </a:r>
            <a:r>
              <a:rPr lang="zh-CN" altLang="en-US" dirty="0">
                <a:effectLst/>
                <a:latin typeface="等线" panose="02010600030101010101" pitchFamily="2" charset="-122"/>
                <a:ea typeface="等线" panose="02010600030101010101" pitchFamily="2" charset="-122"/>
              </a:rPr>
              <a:t>基准。</a:t>
            </a:r>
          </a:p>
        </p:txBody>
      </p:sp>
    </p:spTree>
    <p:extLst>
      <p:ext uri="{BB962C8B-B14F-4D97-AF65-F5344CB8AC3E}">
        <p14:creationId xmlns:p14="http://schemas.microsoft.com/office/powerpoint/2010/main" val="324190454"/>
      </p:ext>
    </p:extLst>
  </p:cSld>
  <p:clrMapOvr>
    <a:masterClrMapping/>
  </p:clrMapOvr>
  <p:transition spd="slow" advClick="0" advTm="1000">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a:solidFill>
                  <a:sysClr val="windowText" lastClr="000000"/>
                </a:solidFill>
                <a:latin typeface="Arial" panose="020B0604020202020204"/>
                <a:ea typeface="微软雅黑" panose="020B0503020204020204" pitchFamily="34" charset="-122"/>
              </a:rPr>
              <a:t>Method</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6" name="文本框 5">
            <a:extLst>
              <a:ext uri="{FF2B5EF4-FFF2-40B4-BE49-F238E27FC236}">
                <a16:creationId xmlns:a16="http://schemas.microsoft.com/office/drawing/2014/main" id="{CBE57A05-AAE4-4F50-962B-06145D48FAEE}"/>
              </a:ext>
            </a:extLst>
          </p:cNvPr>
          <p:cNvSpPr txBox="1"/>
          <p:nvPr/>
        </p:nvSpPr>
        <p:spPr>
          <a:xfrm>
            <a:off x="4179639" y="944113"/>
            <a:ext cx="3209533" cy="461665"/>
          </a:xfrm>
          <a:prstGeom prst="rect">
            <a:avLst/>
          </a:prstGeom>
          <a:noFill/>
        </p:spPr>
        <p:txBody>
          <a:bodyPr wrap="none" rtlCol="0">
            <a:spAutoFit/>
          </a:bodyPr>
          <a:lstStyle/>
          <a:p>
            <a:r>
              <a:rPr lang="zh-CN" altLang="en-US" sz="2400" b="1" dirty="0">
                <a:effectLst/>
                <a:latin typeface="等线" panose="02010600030101010101" pitchFamily="2" charset="-122"/>
                <a:ea typeface="等线" panose="02010600030101010101" pitchFamily="2" charset="-122"/>
              </a:rPr>
              <a:t>自反馈训练 </a:t>
            </a:r>
            <a:r>
              <a:rPr lang="en-US" altLang="zh-CN" sz="2400" b="1" dirty="0">
                <a:effectLst/>
                <a:latin typeface="等线" panose="02010600030101010101" pitchFamily="2" charset="-122"/>
                <a:ea typeface="等线" panose="02010600030101010101" pitchFamily="2" charset="-122"/>
              </a:rPr>
              <a:t>(SFT) </a:t>
            </a:r>
            <a:r>
              <a:rPr lang="zh-CN" altLang="en-US" sz="2400" b="1" dirty="0">
                <a:effectLst/>
                <a:latin typeface="等线" panose="02010600030101010101" pitchFamily="2" charset="-122"/>
                <a:ea typeface="等线" panose="02010600030101010101" pitchFamily="2" charset="-122"/>
              </a:rPr>
              <a:t>框架</a:t>
            </a:r>
            <a:endParaRPr lang="zh-CN" altLang="en-US" sz="2400" b="1" dirty="0">
              <a:latin typeface="等线" panose="02010600030101010101" pitchFamily="2" charset="-122"/>
              <a:ea typeface="等线" panose="02010600030101010101" pitchFamily="2" charset="-122"/>
            </a:endParaRPr>
          </a:p>
        </p:txBody>
      </p:sp>
      <p:sp>
        <p:nvSpPr>
          <p:cNvPr id="7" name="文本框 6">
            <a:extLst>
              <a:ext uri="{FF2B5EF4-FFF2-40B4-BE49-F238E27FC236}">
                <a16:creationId xmlns:a16="http://schemas.microsoft.com/office/drawing/2014/main" id="{7A7683FC-A8E2-4FE0-A9A4-ABA90163AC68}"/>
              </a:ext>
            </a:extLst>
          </p:cNvPr>
          <p:cNvSpPr txBox="1"/>
          <p:nvPr/>
        </p:nvSpPr>
        <p:spPr>
          <a:xfrm>
            <a:off x="1574170" y="1886029"/>
            <a:ext cx="9298251" cy="923330"/>
          </a:xfrm>
          <a:prstGeom prst="rect">
            <a:avLst/>
          </a:prstGeom>
          <a:noFill/>
        </p:spPr>
        <p:txBody>
          <a:bodyPr wrap="none" rtlCol="0">
            <a:spAutoFit/>
          </a:bodyPr>
          <a:lstStyle/>
          <a:p>
            <a:r>
              <a:rPr lang="zh-CN" altLang="en-US" dirty="0">
                <a:effectLst/>
              </a:rPr>
              <a:t>本文提出了一种迭代式的自反馈训练（</a:t>
            </a:r>
            <a:r>
              <a:rPr lang="en-US" altLang="zh-CN" dirty="0">
                <a:effectLst/>
              </a:rPr>
              <a:t>Self-Feedback Training, SFT</a:t>
            </a:r>
            <a:r>
              <a:rPr lang="zh-CN" altLang="en-US" dirty="0">
                <a:effectLst/>
              </a:rPr>
              <a:t>）框架 。</a:t>
            </a:r>
          </a:p>
          <a:p>
            <a:r>
              <a:rPr lang="zh-CN" altLang="en-US" dirty="0">
                <a:effectLst/>
              </a:rPr>
              <a:t>其目标是在训练过程中逐步优化损失景观，以寻求跨不同域共享的一致性平坦最小值 。</a:t>
            </a:r>
          </a:p>
          <a:p>
            <a:endParaRPr lang="zh-CN" altLang="en-US" dirty="0"/>
          </a:p>
        </p:txBody>
      </p:sp>
      <p:pic>
        <p:nvPicPr>
          <p:cNvPr id="21" name="图片 20">
            <a:extLst>
              <a:ext uri="{FF2B5EF4-FFF2-40B4-BE49-F238E27FC236}">
                <a16:creationId xmlns:a16="http://schemas.microsoft.com/office/drawing/2014/main" id="{C1D59B67-09B3-4D27-A873-6D45E5B6C8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8596" y="3053963"/>
            <a:ext cx="11782107" cy="2557429"/>
          </a:xfrm>
          <a:prstGeom prst="rect">
            <a:avLst/>
          </a:prstGeom>
        </p:spPr>
      </p:pic>
    </p:spTree>
    <p:extLst>
      <p:ext uri="{BB962C8B-B14F-4D97-AF65-F5344CB8AC3E}">
        <p14:creationId xmlns:p14="http://schemas.microsoft.com/office/powerpoint/2010/main" val="3586004567"/>
      </p:ext>
    </p:extLst>
  </p:cSld>
  <p:clrMapOvr>
    <a:masterClrMapping/>
  </p:clrMapOvr>
  <p:transition spd="slow" advClick="0" advTm="1000">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a:solidFill>
                  <a:sysClr val="windowText" lastClr="000000"/>
                </a:solidFill>
                <a:latin typeface="Arial" panose="020B0604020202020204"/>
                <a:ea typeface="微软雅黑" panose="020B0503020204020204" pitchFamily="34" charset="-122"/>
              </a:rPr>
              <a:t>Method</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E2996C84-1EB1-4AF9-96C0-0BA04C656BC7}"/>
              </a:ext>
            </a:extLst>
          </p:cNvPr>
          <p:cNvSpPr txBox="1"/>
          <p:nvPr/>
        </p:nvSpPr>
        <p:spPr>
          <a:xfrm>
            <a:off x="5555972" y="948790"/>
            <a:ext cx="1415772" cy="461665"/>
          </a:xfrm>
          <a:prstGeom prst="rect">
            <a:avLst/>
          </a:prstGeom>
          <a:noFill/>
        </p:spPr>
        <p:txBody>
          <a:bodyPr wrap="none" rtlCol="0">
            <a:spAutoFit/>
          </a:bodyPr>
          <a:lstStyle/>
          <a:p>
            <a:r>
              <a:rPr lang="zh-CN" altLang="en-US" sz="2400" dirty="0">
                <a:latin typeface="等线" panose="02010600030101010101" pitchFamily="2" charset="-122"/>
                <a:ea typeface="等线" panose="02010600030101010101" pitchFamily="2" charset="-122"/>
              </a:rPr>
              <a:t>反馈阶段</a:t>
            </a:r>
          </a:p>
        </p:txBody>
      </p:sp>
      <p:sp>
        <p:nvSpPr>
          <p:cNvPr id="3" name="文本框 2">
            <a:extLst>
              <a:ext uri="{FF2B5EF4-FFF2-40B4-BE49-F238E27FC236}">
                <a16:creationId xmlns:a16="http://schemas.microsoft.com/office/drawing/2014/main" id="{99407F55-22AD-42D9-B0AA-EEA0D0BAF1EC}"/>
              </a:ext>
            </a:extLst>
          </p:cNvPr>
          <p:cNvSpPr txBox="1"/>
          <p:nvPr/>
        </p:nvSpPr>
        <p:spPr>
          <a:xfrm>
            <a:off x="2105508" y="1598831"/>
            <a:ext cx="8316700" cy="369332"/>
          </a:xfrm>
          <a:prstGeom prst="rect">
            <a:avLst/>
          </a:prstGeom>
          <a:noFill/>
        </p:spPr>
        <p:txBody>
          <a:bodyPr wrap="none" rtlCol="0">
            <a:spAutoFit/>
          </a:bodyPr>
          <a:lstStyle/>
          <a:p>
            <a:r>
              <a:rPr lang="zh-CN" altLang="en-US" dirty="0"/>
              <a:t>本阶段的主要任务是检测不同损失景观之间的不一致性，并生成一个反馈信号 。</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F2C2262-2E8D-40B6-8289-C33E4FE8D92A}"/>
                  </a:ext>
                </a:extLst>
              </p:cNvPr>
              <p:cNvSpPr txBox="1"/>
              <p:nvPr/>
            </p:nvSpPr>
            <p:spPr>
              <a:xfrm>
                <a:off x="965200" y="2385987"/>
                <a:ext cx="4622799" cy="1350691"/>
              </a:xfrm>
              <a:prstGeom prst="rect">
                <a:avLst/>
              </a:prstGeom>
              <a:noFill/>
            </p:spPr>
            <p:txBody>
              <a:bodyPr wrap="square" rtlCol="0">
                <a:spAutoFit/>
              </a:bodyPr>
              <a:lstStyle/>
              <a:p>
                <a:r>
                  <a:rPr lang="zh-CN" altLang="en-US" sz="1600" dirty="0"/>
                  <a:t>在每次训练迭代中，</a:t>
                </a:r>
                <a:r>
                  <a:rPr lang="en-US" altLang="zh-CN" sz="1600" dirty="0"/>
                  <a:t>SFT</a:t>
                </a:r>
                <a:r>
                  <a:rPr lang="zh-CN" altLang="en-US" sz="1600" dirty="0"/>
                  <a:t>框架会实施一种“训练域拆分”方案，即从所有训练域中随机选择两个域，分别记为</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i="1">
                            <a:latin typeface="Cambria Math" panose="02040503050406030204" pitchFamily="18" charset="0"/>
                          </a:rPr>
                          <m:t>𝐷</m:t>
                        </m:r>
                      </m:e>
                      <m:sub>
                        <m:r>
                          <a:rPr lang="en-US" altLang="zh-CN" sz="1600" i="1">
                            <a:latin typeface="Cambria Math" panose="02040503050406030204" pitchFamily="18" charset="0"/>
                          </a:rPr>
                          <m:t>𝑑</m:t>
                        </m:r>
                      </m:sub>
                    </m:sSub>
                    <m:r>
                      <a:rPr lang="zh-CN" altLang="en-US" sz="1600" i="1">
                        <a:latin typeface="Cambria Math" panose="02040503050406030204" pitchFamily="18" charset="0"/>
                      </a:rPr>
                      <m:t>和</m:t>
                    </m:r>
                    <m:sSub>
                      <m:sSubPr>
                        <m:ctrlPr>
                          <a:rPr lang="en-US" altLang="zh-CN" sz="1600" i="1" smtClean="0">
                            <a:latin typeface="Cambria Math" panose="02040503050406030204" pitchFamily="18" charset="0"/>
                          </a:rPr>
                        </m:ctrlPr>
                      </m:sSubPr>
                      <m:e>
                        <m:r>
                          <a:rPr lang="en-US" altLang="zh-CN" sz="1600" i="1">
                            <a:latin typeface="Cambria Math" panose="02040503050406030204" pitchFamily="18" charset="0"/>
                          </a:rPr>
                          <m:t>𝐷</m:t>
                        </m:r>
                      </m:e>
                      <m:sub>
                        <m:sSup>
                          <m:sSupPr>
                            <m:ctrlPr>
                              <a:rPr lang="en-US" altLang="zh-CN" sz="1600" i="1" smtClean="0">
                                <a:latin typeface="Cambria Math" panose="02040503050406030204" pitchFamily="18" charset="0"/>
                              </a:rPr>
                            </m:ctrlPr>
                          </m:sSupPr>
                          <m:e>
                            <m:r>
                              <a:rPr lang="en-US" altLang="zh-CN" sz="1600" i="1">
                                <a:latin typeface="Cambria Math" panose="02040503050406030204" pitchFamily="18" charset="0"/>
                              </a:rPr>
                              <m:t>𝑑</m:t>
                            </m:r>
                          </m:e>
                          <m:sup>
                            <m:r>
                              <a:rPr lang="en-US" altLang="zh-CN" sz="1600" b="0" i="1" smtClean="0">
                                <a:latin typeface="Cambria Math" panose="02040503050406030204" pitchFamily="18" charset="0"/>
                              </a:rPr>
                              <m:t>′</m:t>
                            </m:r>
                          </m:sup>
                        </m:sSup>
                      </m:sub>
                    </m:sSub>
                  </m:oMath>
                </a14:m>
                <a:r>
                  <a:rPr lang="en-US" altLang="zh-CN" sz="1600" dirty="0"/>
                  <a:t>,</a:t>
                </a:r>
                <a:r>
                  <a:rPr lang="zh-CN" altLang="en-US" sz="1600" dirty="0"/>
                  <a:t>其中</a:t>
                </a:r>
                <a14:m>
                  <m:oMath xmlns:m="http://schemas.openxmlformats.org/officeDocument/2006/math">
                    <m:r>
                      <a:rPr lang="zh-CN" altLang="en-US" sz="1600" i="1" dirty="0">
                        <a:latin typeface="Cambria Math" panose="02040503050406030204" pitchFamily="18" charset="0"/>
                      </a:rPr>
                      <m:t>域</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𝐷</m:t>
                        </m:r>
                      </m:e>
                      <m:sub>
                        <m:r>
                          <a:rPr lang="en-US" altLang="zh-CN" sz="1600" i="1">
                            <a:latin typeface="Cambria Math" panose="02040503050406030204" pitchFamily="18" charset="0"/>
                          </a:rPr>
                          <m:t>𝑑</m:t>
                        </m:r>
                      </m:sub>
                    </m:sSub>
                  </m:oMath>
                </a14:m>
                <a:r>
                  <a:rPr lang="zh-CN" altLang="en-US" sz="1600" dirty="0"/>
                  <a:t>被用来训练模型，另一个域</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𝐷</m:t>
                        </m:r>
                      </m:e>
                      <m:sub>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𝑑</m:t>
                            </m:r>
                          </m:e>
                          <m:sup>
                            <m:r>
                              <a:rPr lang="en-US" altLang="zh-CN" sz="1600" i="1">
                                <a:latin typeface="Cambria Math" panose="02040503050406030204" pitchFamily="18" charset="0"/>
                              </a:rPr>
                              <m:t>′</m:t>
                            </m:r>
                          </m:sup>
                        </m:sSup>
                      </m:sub>
                    </m:sSub>
                  </m:oMath>
                </a14:m>
                <a:r>
                  <a:rPr lang="zh-CN" altLang="en-US" sz="1600" dirty="0"/>
                  <a:t>则用作参照组，用来和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𝑑</m:t>
                        </m:r>
                      </m:sub>
                    </m:sSub>
                  </m:oMath>
                </a14:m>
                <a:r>
                  <a:rPr lang="zh-CN" altLang="en-US" sz="1600" dirty="0"/>
                  <a:t>作比较，以评估景观的不一致性</a:t>
                </a:r>
              </a:p>
            </p:txBody>
          </p:sp>
        </mc:Choice>
        <mc:Fallback xmlns="">
          <p:sp>
            <p:nvSpPr>
              <p:cNvPr id="4" name="文本框 3">
                <a:extLst>
                  <a:ext uri="{FF2B5EF4-FFF2-40B4-BE49-F238E27FC236}">
                    <a16:creationId xmlns:a16="http://schemas.microsoft.com/office/drawing/2014/main" id="{FF2C2262-2E8D-40B6-8289-C33E4FE8D92A}"/>
                  </a:ext>
                </a:extLst>
              </p:cNvPr>
              <p:cNvSpPr txBox="1">
                <a:spLocks noRot="1" noChangeAspect="1" noMove="1" noResize="1" noEditPoints="1" noAdjustHandles="1" noChangeArrowheads="1" noChangeShapeType="1" noTextEdit="1"/>
              </p:cNvSpPr>
              <p:nvPr/>
            </p:nvSpPr>
            <p:spPr>
              <a:xfrm>
                <a:off x="965200" y="2385987"/>
                <a:ext cx="4622799" cy="1350691"/>
              </a:xfrm>
              <a:prstGeom prst="rect">
                <a:avLst/>
              </a:prstGeom>
              <a:blipFill>
                <a:blip r:embed="rId4"/>
                <a:stretch>
                  <a:fillRect l="-659" t="-1351" b="-4955"/>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C0DB6346-85D3-477C-8167-0AC28D49E5FF}"/>
              </a:ext>
            </a:extLst>
          </p:cNvPr>
          <p:cNvSpPr txBox="1"/>
          <p:nvPr/>
        </p:nvSpPr>
        <p:spPr>
          <a:xfrm>
            <a:off x="6096000" y="2370689"/>
            <a:ext cx="4813300" cy="1600438"/>
          </a:xfrm>
          <a:prstGeom prst="rect">
            <a:avLst/>
          </a:prstGeom>
          <a:noFill/>
        </p:spPr>
        <p:txBody>
          <a:bodyPr wrap="square" rtlCol="0">
            <a:spAutoFit/>
          </a:bodyPr>
          <a:lstStyle/>
          <a:p>
            <a:r>
              <a:rPr lang="zh-CN" altLang="en-US" sz="1600" dirty="0">
                <a:effectLst/>
              </a:rPr>
              <a:t>论文指出，相比仅反映一阶信息的损失值，</a:t>
            </a:r>
          </a:p>
          <a:p>
            <a:r>
              <a:rPr lang="zh-CN" altLang="en-US" sz="1600" dirty="0">
                <a:effectLst/>
              </a:rPr>
              <a:t>损失锐度 </a:t>
            </a:r>
            <a:r>
              <a:rPr lang="en-US" altLang="zh-CN" sz="1600" dirty="0">
                <a:effectLst/>
              </a:rPr>
              <a:t>(Loss Sharpness) </a:t>
            </a:r>
            <a:r>
              <a:rPr lang="zh-CN" altLang="en-US" sz="1600" dirty="0">
                <a:effectLst/>
              </a:rPr>
              <a:t>能够反映损失景观的二阶信息，是更好的衡量指标 。因此，</a:t>
            </a:r>
            <a:r>
              <a:rPr lang="en-US" altLang="zh-CN" sz="1600" dirty="0">
                <a:effectLst/>
              </a:rPr>
              <a:t>SFT</a:t>
            </a:r>
            <a:r>
              <a:rPr lang="zh-CN" altLang="en-US" sz="1600" dirty="0">
                <a:effectLst/>
              </a:rPr>
              <a:t>使用两个域上损失锐度的差异来量化景观的一致性，这个差异值就作为反馈信号被传递到下一阶段 </a:t>
            </a:r>
          </a:p>
          <a:p>
            <a:endParaRPr lang="zh-CN" altLang="en-US" dirty="0"/>
          </a:p>
        </p:txBody>
      </p:sp>
      <p:sp>
        <p:nvSpPr>
          <p:cNvPr id="9" name="文本框 8">
            <a:extLst>
              <a:ext uri="{FF2B5EF4-FFF2-40B4-BE49-F238E27FC236}">
                <a16:creationId xmlns:a16="http://schemas.microsoft.com/office/drawing/2014/main" id="{3BD9376A-366F-4299-B3E4-6BA601FB6868}"/>
              </a:ext>
            </a:extLst>
          </p:cNvPr>
          <p:cNvSpPr txBox="1"/>
          <p:nvPr/>
        </p:nvSpPr>
        <p:spPr>
          <a:xfrm>
            <a:off x="1346199" y="4889837"/>
            <a:ext cx="1800493" cy="369332"/>
          </a:xfrm>
          <a:prstGeom prst="rect">
            <a:avLst/>
          </a:prstGeom>
          <a:noFill/>
        </p:spPr>
        <p:txBody>
          <a:bodyPr wrap="none" rtlCol="0">
            <a:spAutoFit/>
          </a:bodyPr>
          <a:lstStyle/>
          <a:p>
            <a:r>
              <a:rPr lang="zh-CN" altLang="en-US" dirty="0"/>
              <a:t>反馈信号公式：</a:t>
            </a:r>
          </a:p>
        </p:txBody>
      </p:sp>
      <p:pic>
        <p:nvPicPr>
          <p:cNvPr id="11" name="图片 10">
            <a:extLst>
              <a:ext uri="{FF2B5EF4-FFF2-40B4-BE49-F238E27FC236}">
                <a16:creationId xmlns:a16="http://schemas.microsoft.com/office/drawing/2014/main" id="{9040EF09-F6DF-4232-A9F9-A0454903DD29}"/>
              </a:ext>
            </a:extLst>
          </p:cNvPr>
          <p:cNvPicPr>
            <a:picLocks noChangeAspect="1"/>
          </p:cNvPicPr>
          <p:nvPr/>
        </p:nvPicPr>
        <p:blipFill>
          <a:blip r:embed="rId5"/>
          <a:stretch>
            <a:fillRect/>
          </a:stretch>
        </p:blipFill>
        <p:spPr>
          <a:xfrm>
            <a:off x="2867467" y="4905029"/>
            <a:ext cx="3533333" cy="409524"/>
          </a:xfrm>
          <a:prstGeom prst="rect">
            <a:avLst/>
          </a:prstGeom>
        </p:spPr>
      </p:pic>
    </p:spTree>
    <p:extLst>
      <p:ext uri="{BB962C8B-B14F-4D97-AF65-F5344CB8AC3E}">
        <p14:creationId xmlns:p14="http://schemas.microsoft.com/office/powerpoint/2010/main" val="1602940295"/>
      </p:ext>
    </p:extLst>
  </p:cSld>
  <p:clrMapOvr>
    <a:masterClrMapping/>
  </p:clrMapOvr>
  <p:transition spd="slow" advClick="0" advTm="1000">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a:solidFill>
                  <a:sysClr val="windowText" lastClr="000000"/>
                </a:solidFill>
                <a:latin typeface="Arial" panose="020B0604020202020204"/>
                <a:ea typeface="微软雅黑" panose="020B0503020204020204" pitchFamily="34" charset="-122"/>
              </a:rPr>
              <a:t>Method</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E2996C84-1EB1-4AF9-96C0-0BA04C656BC7}"/>
              </a:ext>
            </a:extLst>
          </p:cNvPr>
          <p:cNvSpPr txBox="1"/>
          <p:nvPr/>
        </p:nvSpPr>
        <p:spPr>
          <a:xfrm>
            <a:off x="5555972" y="948790"/>
            <a:ext cx="1415772" cy="461665"/>
          </a:xfrm>
          <a:prstGeom prst="rect">
            <a:avLst/>
          </a:prstGeom>
          <a:noFill/>
        </p:spPr>
        <p:txBody>
          <a:bodyPr wrap="none" rtlCol="0">
            <a:spAutoFit/>
          </a:bodyPr>
          <a:lstStyle/>
          <a:p>
            <a:r>
              <a:rPr lang="zh-CN" altLang="en-US" sz="2400" dirty="0">
                <a:latin typeface="等线" panose="02010600030101010101" pitchFamily="2" charset="-122"/>
                <a:ea typeface="等线" panose="02010600030101010101" pitchFamily="2" charset="-122"/>
              </a:rPr>
              <a:t>优化阶段</a:t>
            </a:r>
          </a:p>
        </p:txBody>
      </p:sp>
      <p:sp>
        <p:nvSpPr>
          <p:cNvPr id="4" name="文本框 3">
            <a:extLst>
              <a:ext uri="{FF2B5EF4-FFF2-40B4-BE49-F238E27FC236}">
                <a16:creationId xmlns:a16="http://schemas.microsoft.com/office/drawing/2014/main" id="{FF2C2262-2E8D-40B6-8289-C33E4FE8D92A}"/>
              </a:ext>
            </a:extLst>
          </p:cNvPr>
          <p:cNvSpPr txBox="1"/>
          <p:nvPr/>
        </p:nvSpPr>
        <p:spPr>
          <a:xfrm>
            <a:off x="660400" y="2286025"/>
            <a:ext cx="4622799" cy="830997"/>
          </a:xfrm>
          <a:prstGeom prst="rect">
            <a:avLst/>
          </a:prstGeom>
          <a:noFill/>
        </p:spPr>
        <p:txBody>
          <a:bodyPr wrap="square" rtlCol="0">
            <a:spAutoFit/>
          </a:bodyPr>
          <a:lstStyle/>
          <a:p>
            <a:r>
              <a:rPr lang="zh-CN" altLang="en-US" sz="1600" dirty="0"/>
              <a:t>优化损失景观通常意味着很高的复杂性 。在传统思路中，</a:t>
            </a:r>
            <a:r>
              <a:rPr lang="zh-CN" altLang="en-US" sz="1600" b="1" dirty="0"/>
              <a:t>修改模型架构</a:t>
            </a:r>
            <a:r>
              <a:rPr lang="zh-CN" altLang="en-US" sz="1600" dirty="0"/>
              <a:t>会带来巨大的计算开销，</a:t>
            </a:r>
            <a:r>
              <a:rPr lang="zh-CN" altLang="en-US" sz="1600" b="1" dirty="0"/>
              <a:t>人工设计新损失函数</a:t>
            </a:r>
            <a:r>
              <a:rPr lang="zh-CN" altLang="en-US" sz="1600" dirty="0"/>
              <a:t>极其困难且难以操作。</a:t>
            </a:r>
          </a:p>
        </p:txBody>
      </p:sp>
      <p:sp>
        <p:nvSpPr>
          <p:cNvPr id="8" name="文本框 7">
            <a:extLst>
              <a:ext uri="{FF2B5EF4-FFF2-40B4-BE49-F238E27FC236}">
                <a16:creationId xmlns:a16="http://schemas.microsoft.com/office/drawing/2014/main" id="{C0DB6346-85D3-477C-8167-0AC28D49E5FF}"/>
              </a:ext>
            </a:extLst>
          </p:cNvPr>
          <p:cNvSpPr txBox="1"/>
          <p:nvPr/>
        </p:nvSpPr>
        <p:spPr>
          <a:xfrm>
            <a:off x="660400" y="3385698"/>
            <a:ext cx="4813300" cy="1569660"/>
          </a:xfrm>
          <a:prstGeom prst="rect">
            <a:avLst/>
          </a:prstGeom>
          <a:noFill/>
        </p:spPr>
        <p:txBody>
          <a:bodyPr wrap="square" rtlCol="0">
            <a:spAutoFit/>
          </a:bodyPr>
          <a:lstStyle/>
          <a:p>
            <a:r>
              <a:rPr lang="zh-CN" altLang="en-US" sz="1600" dirty="0"/>
              <a:t>本文引入了一个景观优化器来实现低复杂度的优化，其工作机制：优化器通过在训练过程中生成</a:t>
            </a:r>
            <a:r>
              <a:rPr lang="zh-CN" altLang="en-US" sz="1600" b="1" dirty="0"/>
              <a:t>动态软标签</a:t>
            </a:r>
            <a:r>
              <a:rPr lang="zh-CN" altLang="en-US" sz="1600" dirty="0"/>
              <a:t>，来持续地修改损失景观的几何形状 。这种方法克服了由传统</a:t>
            </a:r>
            <a:r>
              <a:rPr lang="en-US" altLang="zh-CN" sz="1600" dirty="0"/>
              <a:t>one-hot</a:t>
            </a:r>
            <a:r>
              <a:rPr lang="zh-CN" altLang="en-US" sz="1600" dirty="0"/>
              <a:t>标签带来的“过自信”问题 ，而且据作者所知，这是首次从一个基于标签的视角来优化损失景观的工作</a:t>
            </a:r>
          </a:p>
        </p:txBody>
      </p:sp>
    </p:spTree>
    <p:extLst>
      <p:ext uri="{BB962C8B-B14F-4D97-AF65-F5344CB8AC3E}">
        <p14:creationId xmlns:p14="http://schemas.microsoft.com/office/powerpoint/2010/main" val="2560108364"/>
      </p:ext>
    </p:extLst>
  </p:cSld>
  <p:clrMapOvr>
    <a:masterClrMapping/>
  </p:clrMapOvr>
  <p:transition spd="slow" advClick="0" advTm="1000">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a:solidFill>
                  <a:sysClr val="windowText" lastClr="000000"/>
                </a:solidFill>
                <a:latin typeface="Arial" panose="020B0604020202020204"/>
                <a:ea typeface="微软雅黑" panose="020B0503020204020204" pitchFamily="34" charset="-122"/>
              </a:rPr>
              <a:t>Method</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E2996C84-1EB1-4AF9-96C0-0BA04C656BC7}"/>
              </a:ext>
            </a:extLst>
          </p:cNvPr>
          <p:cNvSpPr txBox="1"/>
          <p:nvPr/>
        </p:nvSpPr>
        <p:spPr>
          <a:xfrm>
            <a:off x="5555972" y="948790"/>
            <a:ext cx="1415772" cy="461665"/>
          </a:xfrm>
          <a:prstGeom prst="rect">
            <a:avLst/>
          </a:prstGeom>
          <a:noFill/>
        </p:spPr>
        <p:txBody>
          <a:bodyPr wrap="none" rtlCol="0">
            <a:spAutoFit/>
          </a:bodyPr>
          <a:lstStyle/>
          <a:p>
            <a:r>
              <a:rPr lang="zh-CN" altLang="en-US" sz="2400" dirty="0">
                <a:latin typeface="等线" panose="02010600030101010101" pitchFamily="2" charset="-122"/>
                <a:ea typeface="等线" panose="02010600030101010101" pitchFamily="2" charset="-122"/>
              </a:rPr>
              <a:t>优化阶段</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9407F55-22AD-42D9-B0AA-EEA0D0BAF1EC}"/>
                  </a:ext>
                </a:extLst>
              </p:cNvPr>
              <p:cNvSpPr txBox="1"/>
              <p:nvPr/>
            </p:nvSpPr>
            <p:spPr>
              <a:xfrm>
                <a:off x="2047164" y="1538204"/>
                <a:ext cx="8084972" cy="671081"/>
              </a:xfrm>
              <a:prstGeom prst="rect">
                <a:avLst/>
              </a:prstGeom>
              <a:noFill/>
            </p:spPr>
            <p:txBody>
              <a:bodyPr wrap="square" rtlCol="0">
                <a:spAutoFit/>
              </a:bodyPr>
              <a:lstStyle/>
              <a:p>
                <a:r>
                  <a:rPr lang="zh-CN" altLang="en-US" dirty="0"/>
                  <a:t>本阶段利用“反馈信号”来优化景观优化器</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g</m:t>
                        </m:r>
                      </m:e>
                      <m:sub>
                        <m:r>
                          <a:rPr lang="zh-CN" altLang="en-US" i="1" smtClean="0">
                            <a:latin typeface="Cambria Math" panose="02040503050406030204" pitchFamily="18" charset="0"/>
                          </a:rPr>
                          <m:t>𝜙</m:t>
                        </m:r>
                      </m:sub>
                    </m:sSub>
                  </m:oMath>
                </a14:m>
                <a:r>
                  <a:rPr lang="zh-CN" altLang="en-US" dirty="0"/>
                  <a:t>​，使其生成的软标签能够引导主模型的损失景观趋向</a:t>
                </a:r>
                <a:r>
                  <a:rPr lang="zh-CN" altLang="en-US" b="1" dirty="0"/>
                  <a:t>一致 </a:t>
                </a:r>
                <a:r>
                  <a:rPr lang="zh-CN" altLang="en-US" dirty="0"/>
                  <a:t>且</a:t>
                </a:r>
                <a:r>
                  <a:rPr lang="zh-CN" altLang="en-US" b="1" dirty="0"/>
                  <a:t>平坦 </a:t>
                </a:r>
                <a:r>
                  <a:rPr lang="zh-CN" altLang="en-US" dirty="0"/>
                  <a:t>。</a:t>
                </a:r>
              </a:p>
            </p:txBody>
          </p:sp>
        </mc:Choice>
        <mc:Fallback xmlns="">
          <p:sp>
            <p:nvSpPr>
              <p:cNvPr id="3" name="文本框 2">
                <a:extLst>
                  <a:ext uri="{FF2B5EF4-FFF2-40B4-BE49-F238E27FC236}">
                    <a16:creationId xmlns:a16="http://schemas.microsoft.com/office/drawing/2014/main" id="{99407F55-22AD-42D9-B0AA-EEA0D0BAF1EC}"/>
                  </a:ext>
                </a:extLst>
              </p:cNvPr>
              <p:cNvSpPr txBox="1">
                <a:spLocks noRot="1" noChangeAspect="1" noMove="1" noResize="1" noEditPoints="1" noAdjustHandles="1" noChangeArrowheads="1" noChangeShapeType="1" noTextEdit="1"/>
              </p:cNvSpPr>
              <p:nvPr/>
            </p:nvSpPr>
            <p:spPr>
              <a:xfrm>
                <a:off x="2047164" y="1538204"/>
                <a:ext cx="8084972" cy="671081"/>
              </a:xfrm>
              <a:prstGeom prst="rect">
                <a:avLst/>
              </a:prstGeom>
              <a:blipFill>
                <a:blip r:embed="rId4"/>
                <a:stretch>
                  <a:fillRect l="-679" t="-3636" b="-13636"/>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FBDDBD6B-54AB-40B9-AFA1-5AEBBB06D1A3}"/>
              </a:ext>
            </a:extLst>
          </p:cNvPr>
          <p:cNvSpPr txBox="1"/>
          <p:nvPr/>
        </p:nvSpPr>
        <p:spPr>
          <a:xfrm>
            <a:off x="592554" y="2386773"/>
            <a:ext cx="1569660" cy="369332"/>
          </a:xfrm>
          <a:prstGeom prst="rect">
            <a:avLst/>
          </a:prstGeom>
          <a:noFill/>
        </p:spPr>
        <p:txBody>
          <a:bodyPr wrap="none" rtlCol="0">
            <a:spAutoFit/>
          </a:bodyPr>
          <a:lstStyle/>
          <a:p>
            <a:r>
              <a:rPr lang="zh-CN" altLang="en-US" dirty="0"/>
              <a:t>总损失函数：</a:t>
            </a:r>
          </a:p>
        </p:txBody>
      </p:sp>
      <p:pic>
        <p:nvPicPr>
          <p:cNvPr id="7" name="图片 6">
            <a:extLst>
              <a:ext uri="{FF2B5EF4-FFF2-40B4-BE49-F238E27FC236}">
                <a16:creationId xmlns:a16="http://schemas.microsoft.com/office/drawing/2014/main" id="{8EA6583C-6893-4669-AEED-B074CD164B6B}"/>
              </a:ext>
            </a:extLst>
          </p:cNvPr>
          <p:cNvPicPr>
            <a:picLocks noChangeAspect="1"/>
          </p:cNvPicPr>
          <p:nvPr/>
        </p:nvPicPr>
        <p:blipFill>
          <a:blip r:embed="rId5"/>
          <a:stretch>
            <a:fillRect/>
          </a:stretch>
        </p:blipFill>
        <p:spPr>
          <a:xfrm>
            <a:off x="1881714" y="2370427"/>
            <a:ext cx="8428571" cy="885714"/>
          </a:xfrm>
          <a:prstGeom prst="rect">
            <a:avLst/>
          </a:prstGeom>
        </p:spPr>
      </p:pic>
      <p:cxnSp>
        <p:nvCxnSpPr>
          <p:cNvPr id="12" name="直接箭头连接符 11">
            <a:extLst>
              <a:ext uri="{FF2B5EF4-FFF2-40B4-BE49-F238E27FC236}">
                <a16:creationId xmlns:a16="http://schemas.microsoft.com/office/drawing/2014/main" id="{57361C03-E7E7-4011-B317-212CFF19D981}"/>
              </a:ext>
            </a:extLst>
          </p:cNvPr>
          <p:cNvCxnSpPr/>
          <p:nvPr/>
        </p:nvCxnSpPr>
        <p:spPr>
          <a:xfrm flipH="1">
            <a:off x="2753360" y="3193551"/>
            <a:ext cx="929640" cy="5554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a:extLst>
              <a:ext uri="{FF2B5EF4-FFF2-40B4-BE49-F238E27FC236}">
                <a16:creationId xmlns:a16="http://schemas.microsoft.com/office/drawing/2014/main" id="{C0B66743-EBAA-48E2-928B-85F384EE3440}"/>
              </a:ext>
            </a:extLst>
          </p:cNvPr>
          <p:cNvCxnSpPr/>
          <p:nvPr/>
        </p:nvCxnSpPr>
        <p:spPr>
          <a:xfrm>
            <a:off x="5555972" y="3256141"/>
            <a:ext cx="0" cy="6554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接箭头连接符 15">
            <a:extLst>
              <a:ext uri="{FF2B5EF4-FFF2-40B4-BE49-F238E27FC236}">
                <a16:creationId xmlns:a16="http://schemas.microsoft.com/office/drawing/2014/main" id="{1397A138-DF3F-43D1-8743-E18BC3480D7D}"/>
              </a:ext>
            </a:extLst>
          </p:cNvPr>
          <p:cNvCxnSpPr/>
          <p:nvPr/>
        </p:nvCxnSpPr>
        <p:spPr>
          <a:xfrm>
            <a:off x="8453120" y="3256141"/>
            <a:ext cx="0" cy="6554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文本框 28">
            <a:extLst>
              <a:ext uri="{FF2B5EF4-FFF2-40B4-BE49-F238E27FC236}">
                <a16:creationId xmlns:a16="http://schemas.microsoft.com/office/drawing/2014/main" id="{CE2BBBCC-FF35-4587-968B-6522B674C2C6}"/>
              </a:ext>
            </a:extLst>
          </p:cNvPr>
          <p:cNvSpPr txBox="1"/>
          <p:nvPr/>
        </p:nvSpPr>
        <p:spPr>
          <a:xfrm>
            <a:off x="1970050" y="3825078"/>
            <a:ext cx="1766291" cy="1169551"/>
          </a:xfrm>
          <a:prstGeom prst="rect">
            <a:avLst/>
          </a:prstGeom>
          <a:noFill/>
        </p:spPr>
        <p:txBody>
          <a:bodyPr wrap="square">
            <a:spAutoFit/>
          </a:bodyPr>
          <a:lstStyle/>
          <a:p>
            <a:r>
              <a:rPr lang="zh-CN" altLang="en-US" sz="1400" dirty="0"/>
              <a:t>确保优化器生成的软标签不会偏离真实的标签太远，同时避免</a:t>
            </a:r>
            <a:r>
              <a:rPr lang="en-US" altLang="zh-CN" sz="1400" dirty="0"/>
              <a:t>one-hot</a:t>
            </a:r>
            <a:r>
              <a:rPr lang="zh-CN" altLang="en-US" sz="1400" dirty="0"/>
              <a:t>标签带来的过自信问题</a:t>
            </a:r>
          </a:p>
        </p:txBody>
      </p:sp>
      <p:sp>
        <p:nvSpPr>
          <p:cNvPr id="31" name="文本框 30">
            <a:extLst>
              <a:ext uri="{FF2B5EF4-FFF2-40B4-BE49-F238E27FC236}">
                <a16:creationId xmlns:a16="http://schemas.microsoft.com/office/drawing/2014/main" id="{9C1CE48B-930A-4EB0-8E77-7D8DB69EDE32}"/>
              </a:ext>
            </a:extLst>
          </p:cNvPr>
          <p:cNvSpPr txBox="1"/>
          <p:nvPr/>
        </p:nvSpPr>
        <p:spPr>
          <a:xfrm>
            <a:off x="4738092" y="3963776"/>
            <a:ext cx="1635760" cy="1169551"/>
          </a:xfrm>
          <a:prstGeom prst="rect">
            <a:avLst/>
          </a:prstGeom>
          <a:noFill/>
        </p:spPr>
        <p:txBody>
          <a:bodyPr wrap="square">
            <a:spAutoFit/>
          </a:bodyPr>
          <a:lstStyle/>
          <a:p>
            <a:r>
              <a:rPr lang="zh-CN" altLang="en-US" sz="1400" dirty="0"/>
              <a:t>鼓励优化器生成的软标签，能够使得主模型训练时的整体损失景观变得更加平坦 。</a:t>
            </a:r>
          </a:p>
        </p:txBody>
      </p:sp>
      <p:sp>
        <p:nvSpPr>
          <p:cNvPr id="33" name="文本框 32">
            <a:extLst>
              <a:ext uri="{FF2B5EF4-FFF2-40B4-BE49-F238E27FC236}">
                <a16:creationId xmlns:a16="http://schemas.microsoft.com/office/drawing/2014/main" id="{C4749798-DBDB-4A41-973A-0240C30D5B67}"/>
              </a:ext>
            </a:extLst>
          </p:cNvPr>
          <p:cNvSpPr txBox="1"/>
          <p:nvPr/>
        </p:nvSpPr>
        <p:spPr>
          <a:xfrm>
            <a:off x="7528193" y="3969288"/>
            <a:ext cx="2337166" cy="954107"/>
          </a:xfrm>
          <a:prstGeom prst="rect">
            <a:avLst/>
          </a:prstGeom>
          <a:noFill/>
        </p:spPr>
        <p:txBody>
          <a:bodyPr wrap="square">
            <a:spAutoFit/>
          </a:bodyPr>
          <a:lstStyle/>
          <a:p>
            <a:r>
              <a:rPr lang="zh-CN" altLang="en-US" sz="1400" dirty="0"/>
              <a:t>这是最关键的一项，直接利用上一阶段的“反馈信号”作为惩罚项，驱动优化器去减小不同域之间的景观差异 。</a:t>
            </a:r>
          </a:p>
        </p:txBody>
      </p:sp>
    </p:spTree>
    <p:extLst>
      <p:ext uri="{BB962C8B-B14F-4D97-AF65-F5344CB8AC3E}">
        <p14:creationId xmlns:p14="http://schemas.microsoft.com/office/powerpoint/2010/main" val="1855085386"/>
      </p:ext>
    </p:extLst>
  </p:cSld>
  <p:clrMapOvr>
    <a:masterClrMapping/>
  </p:clrMapOvr>
  <p:transition spd="slow" advClick="0" advTm="1000">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a:solidFill>
                  <a:sysClr val="windowText" lastClr="000000"/>
                </a:solidFill>
                <a:latin typeface="Arial" panose="020B0604020202020204"/>
                <a:ea typeface="微软雅黑" panose="020B0503020204020204" pitchFamily="34" charset="-122"/>
              </a:rPr>
              <a:t>Experiment</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D3FF30BD-2A60-4A8F-9915-16FF26851527}"/>
              </a:ext>
            </a:extLst>
          </p:cNvPr>
          <p:cNvSpPr txBox="1"/>
          <p:nvPr/>
        </p:nvSpPr>
        <p:spPr>
          <a:xfrm>
            <a:off x="4973320" y="893099"/>
            <a:ext cx="2514600" cy="461665"/>
          </a:xfrm>
          <a:prstGeom prst="rect">
            <a:avLst/>
          </a:prstGeom>
          <a:noFill/>
        </p:spPr>
        <p:txBody>
          <a:bodyPr wrap="square" rtlCol="0">
            <a:spAutoFit/>
          </a:bodyPr>
          <a:lstStyle/>
          <a:p>
            <a:r>
              <a:rPr lang="zh-CN" altLang="en-US" sz="2400" dirty="0"/>
              <a:t>玩具数据集实验</a:t>
            </a:r>
          </a:p>
        </p:txBody>
      </p:sp>
      <p:sp>
        <p:nvSpPr>
          <p:cNvPr id="3" name="文本框 2">
            <a:extLst>
              <a:ext uri="{FF2B5EF4-FFF2-40B4-BE49-F238E27FC236}">
                <a16:creationId xmlns:a16="http://schemas.microsoft.com/office/drawing/2014/main" id="{C73A8FEC-5A50-4822-B675-ECE860261BC4}"/>
              </a:ext>
            </a:extLst>
          </p:cNvPr>
          <p:cNvSpPr txBox="1"/>
          <p:nvPr/>
        </p:nvSpPr>
        <p:spPr>
          <a:xfrm>
            <a:off x="1631178" y="2139858"/>
            <a:ext cx="2042159" cy="2862322"/>
          </a:xfrm>
          <a:prstGeom prst="rect">
            <a:avLst/>
          </a:prstGeom>
          <a:noFill/>
        </p:spPr>
        <p:txBody>
          <a:bodyPr wrap="square" rtlCol="0">
            <a:spAutoFit/>
          </a:bodyPr>
          <a:lstStyle/>
          <a:p>
            <a:r>
              <a:rPr lang="zh-CN" altLang="en-US" dirty="0"/>
              <a:t>实验使用了一个分层的二维高斯模型来生成数据 。数据集包含</a:t>
            </a:r>
            <a:r>
              <a:rPr lang="en-US" altLang="zh-CN" dirty="0"/>
              <a:t>3</a:t>
            </a:r>
            <a:r>
              <a:rPr lang="zh-CN" altLang="en-US" dirty="0"/>
              <a:t>个类别和</a:t>
            </a:r>
            <a:r>
              <a:rPr lang="en-US" altLang="zh-CN" dirty="0"/>
              <a:t>4</a:t>
            </a:r>
            <a:r>
              <a:rPr lang="zh-CN" altLang="en-US" dirty="0"/>
              <a:t>个域 。其中前</a:t>
            </a:r>
            <a:r>
              <a:rPr lang="en-US" altLang="zh-CN" dirty="0"/>
              <a:t>3</a:t>
            </a:r>
            <a:r>
              <a:rPr lang="zh-CN" altLang="en-US" dirty="0"/>
              <a:t>个域用于训练，第</a:t>
            </a:r>
            <a:r>
              <a:rPr lang="en-US" altLang="zh-CN" dirty="0"/>
              <a:t>4</a:t>
            </a:r>
            <a:r>
              <a:rPr lang="zh-CN" altLang="en-US" dirty="0"/>
              <a:t>个域用作测试集 。在该玩具实验中，采用了一个线性分类器 。</a:t>
            </a:r>
          </a:p>
        </p:txBody>
      </p:sp>
      <p:pic>
        <p:nvPicPr>
          <p:cNvPr id="6" name="图片 5">
            <a:extLst>
              <a:ext uri="{FF2B5EF4-FFF2-40B4-BE49-F238E27FC236}">
                <a16:creationId xmlns:a16="http://schemas.microsoft.com/office/drawing/2014/main" id="{8F31A705-BB7E-484B-BFFB-308305894900}"/>
              </a:ext>
            </a:extLst>
          </p:cNvPr>
          <p:cNvPicPr>
            <a:picLocks noChangeAspect="1"/>
          </p:cNvPicPr>
          <p:nvPr/>
        </p:nvPicPr>
        <p:blipFill>
          <a:blip r:embed="rId4"/>
          <a:stretch>
            <a:fillRect/>
          </a:stretch>
        </p:blipFill>
        <p:spPr>
          <a:xfrm>
            <a:off x="4673306" y="1801279"/>
            <a:ext cx="5466667" cy="1323810"/>
          </a:xfrm>
          <a:prstGeom prst="rect">
            <a:avLst/>
          </a:prstGeom>
        </p:spPr>
      </p:pic>
      <p:pic>
        <p:nvPicPr>
          <p:cNvPr id="12" name="图片 11">
            <a:extLst>
              <a:ext uri="{FF2B5EF4-FFF2-40B4-BE49-F238E27FC236}">
                <a16:creationId xmlns:a16="http://schemas.microsoft.com/office/drawing/2014/main" id="{E3C11A76-BBC7-46CA-BB34-37C9911A952E}"/>
              </a:ext>
            </a:extLst>
          </p:cNvPr>
          <p:cNvPicPr>
            <a:picLocks noChangeAspect="1"/>
          </p:cNvPicPr>
          <p:nvPr/>
        </p:nvPicPr>
        <p:blipFill>
          <a:blip r:embed="rId5"/>
          <a:stretch>
            <a:fillRect/>
          </a:stretch>
        </p:blipFill>
        <p:spPr>
          <a:xfrm>
            <a:off x="4846025" y="3996946"/>
            <a:ext cx="5390476" cy="1342857"/>
          </a:xfrm>
          <a:prstGeom prst="rect">
            <a:avLst/>
          </a:prstGeom>
        </p:spPr>
      </p:pic>
      <p:sp>
        <p:nvSpPr>
          <p:cNvPr id="25" name="文本框 24">
            <a:extLst>
              <a:ext uri="{FF2B5EF4-FFF2-40B4-BE49-F238E27FC236}">
                <a16:creationId xmlns:a16="http://schemas.microsoft.com/office/drawing/2014/main" id="{D573B90D-A55E-4323-B66B-97585744D563}"/>
              </a:ext>
            </a:extLst>
          </p:cNvPr>
          <p:cNvSpPr txBox="1"/>
          <p:nvPr/>
        </p:nvSpPr>
        <p:spPr>
          <a:xfrm>
            <a:off x="4846025" y="3153220"/>
            <a:ext cx="7051040" cy="307777"/>
          </a:xfrm>
          <a:prstGeom prst="rect">
            <a:avLst/>
          </a:prstGeom>
          <a:noFill/>
        </p:spPr>
        <p:txBody>
          <a:bodyPr wrap="square">
            <a:spAutoFit/>
          </a:bodyPr>
          <a:lstStyle/>
          <a:p>
            <a:r>
              <a:rPr lang="zh-CN" altLang="en-US" sz="1400" dirty="0"/>
              <a:t>第一行显示了使用传统</a:t>
            </a:r>
            <a:r>
              <a:rPr lang="en-US" altLang="zh-CN" sz="1400" dirty="0"/>
              <a:t>one-hot</a:t>
            </a:r>
            <a:r>
              <a:rPr lang="zh-CN" altLang="en-US" sz="1400" dirty="0"/>
              <a:t>标签时的损失表面存在不一致性 。</a:t>
            </a:r>
          </a:p>
        </p:txBody>
      </p:sp>
      <p:sp>
        <p:nvSpPr>
          <p:cNvPr id="27" name="文本框 26">
            <a:extLst>
              <a:ext uri="{FF2B5EF4-FFF2-40B4-BE49-F238E27FC236}">
                <a16:creationId xmlns:a16="http://schemas.microsoft.com/office/drawing/2014/main" id="{92B33D3E-64A0-4B40-9B7F-913082A331A8}"/>
              </a:ext>
            </a:extLst>
          </p:cNvPr>
          <p:cNvSpPr txBox="1"/>
          <p:nvPr/>
        </p:nvSpPr>
        <p:spPr>
          <a:xfrm>
            <a:off x="4516880" y="5367934"/>
            <a:ext cx="6096000" cy="307777"/>
          </a:xfrm>
          <a:prstGeom prst="rect">
            <a:avLst/>
          </a:prstGeom>
          <a:noFill/>
        </p:spPr>
        <p:txBody>
          <a:bodyPr wrap="square">
            <a:spAutoFit/>
          </a:bodyPr>
          <a:lstStyle/>
          <a:p>
            <a:r>
              <a:rPr lang="zh-CN" altLang="en-US" sz="1400" dirty="0"/>
              <a:t>第二行显示了使用景观优化器生成的软标签后，景观一致性得到了改善 。</a:t>
            </a:r>
          </a:p>
        </p:txBody>
      </p:sp>
    </p:spTree>
    <p:extLst>
      <p:ext uri="{BB962C8B-B14F-4D97-AF65-F5344CB8AC3E}">
        <p14:creationId xmlns:p14="http://schemas.microsoft.com/office/powerpoint/2010/main" val="3737080394"/>
      </p:ext>
    </p:extLst>
  </p:cSld>
  <p:clrMapOvr>
    <a:masterClrMapping/>
  </p:clrMapOvr>
  <p:transition spd="slow" advClick="0" advTm="1000">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a:solidFill>
                  <a:sysClr val="windowText" lastClr="000000"/>
                </a:solidFill>
                <a:latin typeface="Arial" panose="020B0604020202020204"/>
                <a:ea typeface="微软雅黑" panose="020B0503020204020204" pitchFamily="34" charset="-122"/>
              </a:rPr>
              <a:t>Experiment</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D3FF30BD-2A60-4A8F-9915-16FF26851527}"/>
              </a:ext>
            </a:extLst>
          </p:cNvPr>
          <p:cNvSpPr txBox="1"/>
          <p:nvPr/>
        </p:nvSpPr>
        <p:spPr>
          <a:xfrm>
            <a:off x="5110480" y="1040231"/>
            <a:ext cx="2286000" cy="461665"/>
          </a:xfrm>
          <a:prstGeom prst="rect">
            <a:avLst/>
          </a:prstGeom>
          <a:noFill/>
        </p:spPr>
        <p:txBody>
          <a:bodyPr wrap="square" rtlCol="0">
            <a:spAutoFit/>
          </a:bodyPr>
          <a:lstStyle/>
          <a:p>
            <a:r>
              <a:rPr lang="zh-CN" altLang="en-US" sz="2400" dirty="0"/>
              <a:t>主要实验设置</a:t>
            </a:r>
          </a:p>
        </p:txBody>
      </p:sp>
      <p:sp>
        <p:nvSpPr>
          <p:cNvPr id="20" name="文本框 19">
            <a:extLst>
              <a:ext uri="{FF2B5EF4-FFF2-40B4-BE49-F238E27FC236}">
                <a16:creationId xmlns:a16="http://schemas.microsoft.com/office/drawing/2014/main" id="{0D1343AF-2B9C-42F8-A47B-55862A59FAA5}"/>
              </a:ext>
            </a:extLst>
          </p:cNvPr>
          <p:cNvSpPr txBox="1"/>
          <p:nvPr/>
        </p:nvSpPr>
        <p:spPr>
          <a:xfrm>
            <a:off x="379973" y="1535337"/>
            <a:ext cx="4826000" cy="2862322"/>
          </a:xfrm>
          <a:prstGeom prst="rect">
            <a:avLst/>
          </a:prstGeom>
          <a:noFill/>
        </p:spPr>
        <p:txBody>
          <a:bodyPr wrap="square">
            <a:spAutoFit/>
          </a:bodyPr>
          <a:lstStyle/>
          <a:p>
            <a:r>
              <a:rPr lang="zh-CN" altLang="en-US" b="1" dirty="0"/>
              <a:t>数据集：</a:t>
            </a:r>
          </a:p>
          <a:p>
            <a:r>
              <a:rPr lang="zh-CN" altLang="en-US" dirty="0"/>
              <a:t>论文在一个包含五个广泛使用且具有挑战性的域泛化数据集上评估了其方法。</a:t>
            </a:r>
            <a:endParaRPr lang="en-US" altLang="zh-CN" dirty="0"/>
          </a:p>
          <a:p>
            <a:endParaRPr lang="zh-CN" altLang="en-US" dirty="0"/>
          </a:p>
          <a:p>
            <a:r>
              <a:rPr lang="zh-CN" altLang="en-US" dirty="0"/>
              <a:t>这些数据集包括：</a:t>
            </a:r>
          </a:p>
          <a:p>
            <a:r>
              <a:rPr lang="en-US" altLang="zh-CN" dirty="0"/>
              <a:t>PACS (4</a:t>
            </a:r>
            <a:r>
              <a:rPr lang="zh-CN" altLang="en-US" dirty="0"/>
              <a:t>个域</a:t>
            </a:r>
            <a:r>
              <a:rPr lang="en-US" altLang="zh-CN" dirty="0"/>
              <a:t>, 7</a:t>
            </a:r>
            <a:r>
              <a:rPr lang="zh-CN" altLang="en-US" dirty="0"/>
              <a:t>个类别</a:t>
            </a:r>
            <a:r>
              <a:rPr lang="en-US" altLang="zh-CN" dirty="0"/>
              <a:t>, 9,991</a:t>
            </a:r>
            <a:r>
              <a:rPr lang="zh-CN" altLang="en-US" dirty="0"/>
              <a:t>个样本</a:t>
            </a:r>
            <a:r>
              <a:rPr lang="en-US" altLang="zh-CN" dirty="0"/>
              <a:t>) </a:t>
            </a:r>
          </a:p>
          <a:p>
            <a:r>
              <a:rPr lang="en-US" altLang="zh-CN" dirty="0"/>
              <a:t>VLCS (4</a:t>
            </a:r>
            <a:r>
              <a:rPr lang="zh-CN" altLang="en-US" dirty="0"/>
              <a:t>个域</a:t>
            </a:r>
            <a:r>
              <a:rPr lang="en-US" altLang="zh-CN" dirty="0"/>
              <a:t>, 5</a:t>
            </a:r>
            <a:r>
              <a:rPr lang="zh-CN" altLang="en-US" dirty="0"/>
              <a:t>个类别</a:t>
            </a:r>
            <a:r>
              <a:rPr lang="en-US" altLang="zh-CN" dirty="0"/>
              <a:t>, 10,729</a:t>
            </a:r>
            <a:r>
              <a:rPr lang="zh-CN" altLang="en-US" dirty="0"/>
              <a:t>个样本</a:t>
            </a:r>
            <a:r>
              <a:rPr lang="en-US" altLang="zh-CN" dirty="0"/>
              <a:t>) </a:t>
            </a:r>
          </a:p>
          <a:p>
            <a:r>
              <a:rPr lang="en-US" altLang="zh-CN" dirty="0" err="1"/>
              <a:t>OfficeHome</a:t>
            </a:r>
            <a:r>
              <a:rPr lang="en-US" altLang="zh-CN" dirty="0"/>
              <a:t> (4</a:t>
            </a:r>
            <a:r>
              <a:rPr lang="zh-CN" altLang="en-US" dirty="0"/>
              <a:t>个域</a:t>
            </a:r>
            <a:r>
              <a:rPr lang="en-US" altLang="zh-CN" dirty="0"/>
              <a:t>, 65</a:t>
            </a:r>
            <a:r>
              <a:rPr lang="zh-CN" altLang="en-US" dirty="0"/>
              <a:t>个类别</a:t>
            </a:r>
            <a:r>
              <a:rPr lang="en-US" altLang="zh-CN" dirty="0"/>
              <a:t>, 15,588</a:t>
            </a:r>
            <a:r>
              <a:rPr lang="zh-CN" altLang="en-US" dirty="0"/>
              <a:t>张图片</a:t>
            </a:r>
            <a:r>
              <a:rPr lang="en-US" altLang="zh-CN" dirty="0"/>
              <a:t>) </a:t>
            </a:r>
          </a:p>
          <a:p>
            <a:r>
              <a:rPr lang="en-US" altLang="zh-CN" dirty="0" err="1"/>
              <a:t>TerraIncognita</a:t>
            </a:r>
            <a:r>
              <a:rPr lang="en-US" altLang="zh-CN" dirty="0"/>
              <a:t> (4</a:t>
            </a:r>
            <a:r>
              <a:rPr lang="zh-CN" altLang="en-US" dirty="0"/>
              <a:t>个域</a:t>
            </a:r>
            <a:r>
              <a:rPr lang="en-US" altLang="zh-CN" dirty="0"/>
              <a:t>, 10</a:t>
            </a:r>
            <a:r>
              <a:rPr lang="zh-CN" altLang="en-US" dirty="0"/>
              <a:t>个类别</a:t>
            </a:r>
            <a:r>
              <a:rPr lang="en-US" altLang="zh-CN" dirty="0"/>
              <a:t>, 24,788</a:t>
            </a:r>
            <a:r>
              <a:rPr lang="zh-CN" altLang="en-US" dirty="0"/>
              <a:t>个样本</a:t>
            </a:r>
            <a:r>
              <a:rPr lang="en-US" altLang="zh-CN" dirty="0"/>
              <a:t>) </a:t>
            </a:r>
          </a:p>
          <a:p>
            <a:r>
              <a:rPr lang="en-US" altLang="zh-CN" dirty="0" err="1"/>
              <a:t>DomainNet</a:t>
            </a:r>
            <a:r>
              <a:rPr lang="en-US" altLang="zh-CN" dirty="0"/>
              <a:t> (6</a:t>
            </a:r>
            <a:r>
              <a:rPr lang="zh-CN" altLang="en-US" dirty="0"/>
              <a:t>个域</a:t>
            </a:r>
            <a:r>
              <a:rPr lang="en-US" altLang="zh-CN" dirty="0"/>
              <a:t>, 345</a:t>
            </a:r>
            <a:r>
              <a:rPr lang="zh-CN" altLang="en-US" dirty="0"/>
              <a:t>个类别</a:t>
            </a:r>
            <a:r>
              <a:rPr lang="en-US" altLang="zh-CN" dirty="0"/>
              <a:t>, 586,575</a:t>
            </a:r>
            <a:r>
              <a:rPr lang="zh-CN" altLang="en-US" dirty="0"/>
              <a:t>个样本</a:t>
            </a:r>
            <a:r>
              <a:rPr lang="en-US" altLang="zh-CN" dirty="0"/>
              <a:t>)</a:t>
            </a:r>
            <a:endParaRPr lang="zh-CN" altLang="en-US" dirty="0"/>
          </a:p>
        </p:txBody>
      </p:sp>
      <p:sp>
        <p:nvSpPr>
          <p:cNvPr id="22" name="文本框 21">
            <a:extLst>
              <a:ext uri="{FF2B5EF4-FFF2-40B4-BE49-F238E27FC236}">
                <a16:creationId xmlns:a16="http://schemas.microsoft.com/office/drawing/2014/main" id="{70D11241-DEB3-4476-91FA-A77C1A862408}"/>
              </a:ext>
            </a:extLst>
          </p:cNvPr>
          <p:cNvSpPr txBox="1"/>
          <p:nvPr/>
        </p:nvSpPr>
        <p:spPr>
          <a:xfrm>
            <a:off x="5716027" y="1755234"/>
            <a:ext cx="6096000" cy="2308324"/>
          </a:xfrm>
          <a:prstGeom prst="rect">
            <a:avLst/>
          </a:prstGeom>
          <a:noFill/>
        </p:spPr>
        <p:txBody>
          <a:bodyPr wrap="square">
            <a:spAutoFit/>
          </a:bodyPr>
          <a:lstStyle/>
          <a:p>
            <a:r>
              <a:rPr lang="zh-CN" altLang="en-US" b="1" dirty="0"/>
              <a:t>评估协议 </a:t>
            </a:r>
            <a:r>
              <a:rPr lang="zh-CN" altLang="en-US" dirty="0"/>
              <a:t>：</a:t>
            </a:r>
          </a:p>
          <a:p>
            <a:r>
              <a:rPr lang="zh-CN" altLang="en-US" dirty="0"/>
              <a:t>实验环境基于著名的DomainBed 基准构建 。遵循DomainBed的训练和评估协议 ，每次实验会选择一个域作为测试集，其余的域作为训练集 。</a:t>
            </a:r>
            <a:endParaRPr lang="en-US" altLang="zh-CN" dirty="0"/>
          </a:p>
          <a:p>
            <a:endParaRPr lang="zh-CN" altLang="en-US" dirty="0"/>
          </a:p>
          <a:p>
            <a:r>
              <a:rPr lang="zh-CN" altLang="en-US" dirty="0"/>
              <a:t>训练域中20%的样本被作为验证集用于模型选择 。</a:t>
            </a:r>
            <a:endParaRPr lang="en-US" altLang="zh-CN" dirty="0"/>
          </a:p>
          <a:p>
            <a:endParaRPr lang="zh-CN" altLang="en-US" dirty="0"/>
          </a:p>
          <a:p>
            <a:r>
              <a:rPr lang="zh-CN" altLang="en-US" dirty="0"/>
              <a:t>模型选择是基于训练域验证集来完成的 。</a:t>
            </a:r>
            <a:endParaRPr lang="en-US" altLang="zh-CN" dirty="0"/>
          </a:p>
        </p:txBody>
      </p:sp>
      <p:sp>
        <p:nvSpPr>
          <p:cNvPr id="24" name="文本框 23">
            <a:extLst>
              <a:ext uri="{FF2B5EF4-FFF2-40B4-BE49-F238E27FC236}">
                <a16:creationId xmlns:a16="http://schemas.microsoft.com/office/drawing/2014/main" id="{C15725EE-21D0-4CC4-BC04-31C931F04276}"/>
              </a:ext>
            </a:extLst>
          </p:cNvPr>
          <p:cNvSpPr txBox="1"/>
          <p:nvPr/>
        </p:nvSpPr>
        <p:spPr>
          <a:xfrm>
            <a:off x="379973" y="4468167"/>
            <a:ext cx="9144000" cy="2031325"/>
          </a:xfrm>
          <a:prstGeom prst="rect">
            <a:avLst/>
          </a:prstGeom>
          <a:noFill/>
        </p:spPr>
        <p:txBody>
          <a:bodyPr wrap="square">
            <a:spAutoFit/>
          </a:bodyPr>
          <a:lstStyle/>
          <a:p>
            <a:r>
              <a:rPr lang="zh-CN" altLang="en-US" b="1" dirty="0"/>
              <a:t>模型与实现细节</a:t>
            </a:r>
            <a:r>
              <a:rPr lang="zh-CN" altLang="en-US" dirty="0"/>
              <a:t>：</a:t>
            </a:r>
          </a:p>
          <a:p>
            <a:r>
              <a:rPr lang="zh-CN" altLang="en-US" dirty="0"/>
              <a:t>为展示方法的广泛适用性，实验在小模型（ImageNet预训练的ResNet-50）和大规模预训练模型（ViT-B/16 和 ViT-L/14）上进行 。</a:t>
            </a:r>
            <a:endParaRPr lang="en-US" altLang="zh-CN" dirty="0"/>
          </a:p>
          <a:p>
            <a:endParaRPr lang="zh-CN" altLang="en-US" dirty="0"/>
          </a:p>
          <a:p>
            <a:r>
              <a:rPr lang="zh-CN" altLang="en-US" dirty="0"/>
              <a:t>除非另有说明，景观优化器与主模型共享相同的架构 。</a:t>
            </a:r>
            <a:endParaRPr lang="en-US" altLang="zh-CN" dirty="0"/>
          </a:p>
          <a:p>
            <a:endParaRPr lang="zh-CN" altLang="en-US" dirty="0"/>
          </a:p>
          <a:p>
            <a:r>
              <a:rPr lang="zh-CN" altLang="en-US" dirty="0"/>
              <a:t>所有实验均使用Adam优化器。</a:t>
            </a:r>
          </a:p>
        </p:txBody>
      </p:sp>
    </p:spTree>
    <p:extLst>
      <p:ext uri="{BB962C8B-B14F-4D97-AF65-F5344CB8AC3E}">
        <p14:creationId xmlns:p14="http://schemas.microsoft.com/office/powerpoint/2010/main" val="1753605514"/>
      </p:ext>
    </p:extLst>
  </p:cSld>
  <p:clrMapOvr>
    <a:masterClrMapping/>
  </p:clrMapOvr>
  <p:transition spd="slow" advClick="0" advTm="1000">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a:solidFill>
                  <a:sysClr val="windowText" lastClr="000000"/>
                </a:solidFill>
                <a:latin typeface="Arial" panose="020B0604020202020204"/>
                <a:ea typeface="微软雅黑" panose="020B0503020204020204" pitchFamily="34" charset="-122"/>
              </a:rPr>
              <a:t>Experiment</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D3FF30BD-2A60-4A8F-9915-16FF26851527}"/>
              </a:ext>
            </a:extLst>
          </p:cNvPr>
          <p:cNvSpPr txBox="1"/>
          <p:nvPr/>
        </p:nvSpPr>
        <p:spPr>
          <a:xfrm>
            <a:off x="5257800" y="948790"/>
            <a:ext cx="2286000" cy="461665"/>
          </a:xfrm>
          <a:prstGeom prst="rect">
            <a:avLst/>
          </a:prstGeom>
          <a:noFill/>
        </p:spPr>
        <p:txBody>
          <a:bodyPr wrap="square" rtlCol="0">
            <a:spAutoFit/>
          </a:bodyPr>
          <a:lstStyle/>
          <a:p>
            <a:r>
              <a:rPr lang="zh-CN" altLang="en-US" sz="2400" dirty="0"/>
              <a:t>实验结果</a:t>
            </a:r>
          </a:p>
        </p:txBody>
      </p:sp>
      <p:sp>
        <p:nvSpPr>
          <p:cNvPr id="18" name="文本框 17">
            <a:extLst>
              <a:ext uri="{FF2B5EF4-FFF2-40B4-BE49-F238E27FC236}">
                <a16:creationId xmlns:a16="http://schemas.microsoft.com/office/drawing/2014/main" id="{9F9DF903-0628-4507-8010-54F3BF9D14D0}"/>
              </a:ext>
            </a:extLst>
          </p:cNvPr>
          <p:cNvSpPr txBox="1"/>
          <p:nvPr/>
        </p:nvSpPr>
        <p:spPr>
          <a:xfrm>
            <a:off x="851338" y="1337849"/>
            <a:ext cx="6096000" cy="369332"/>
          </a:xfrm>
          <a:prstGeom prst="rect">
            <a:avLst/>
          </a:prstGeom>
          <a:noFill/>
        </p:spPr>
        <p:txBody>
          <a:bodyPr wrap="square">
            <a:spAutoFit/>
          </a:bodyPr>
          <a:lstStyle/>
          <a:p>
            <a:r>
              <a:rPr lang="zh-CN" altLang="en-US" dirty="0"/>
              <a:t>在</a:t>
            </a:r>
            <a:r>
              <a:rPr lang="en-US" altLang="zh-CN" dirty="0"/>
              <a:t>ResNet-50</a:t>
            </a:r>
            <a:r>
              <a:rPr lang="zh-CN" altLang="en-US" dirty="0"/>
              <a:t>上的性能：</a:t>
            </a:r>
          </a:p>
        </p:txBody>
      </p:sp>
      <p:pic>
        <p:nvPicPr>
          <p:cNvPr id="5" name="图片 4">
            <a:extLst>
              <a:ext uri="{FF2B5EF4-FFF2-40B4-BE49-F238E27FC236}">
                <a16:creationId xmlns:a16="http://schemas.microsoft.com/office/drawing/2014/main" id="{B3B17A7C-A9CC-4C19-9A67-AEA825464733}"/>
              </a:ext>
            </a:extLst>
          </p:cNvPr>
          <p:cNvPicPr>
            <a:picLocks noChangeAspect="1"/>
          </p:cNvPicPr>
          <p:nvPr/>
        </p:nvPicPr>
        <p:blipFill>
          <a:blip r:embed="rId4"/>
          <a:stretch>
            <a:fillRect/>
          </a:stretch>
        </p:blipFill>
        <p:spPr>
          <a:xfrm>
            <a:off x="1352928" y="1707181"/>
            <a:ext cx="9320912" cy="4668477"/>
          </a:xfrm>
          <a:prstGeom prst="rect">
            <a:avLst/>
          </a:prstGeom>
        </p:spPr>
      </p:pic>
    </p:spTree>
    <p:extLst>
      <p:ext uri="{BB962C8B-B14F-4D97-AF65-F5344CB8AC3E}">
        <p14:creationId xmlns:p14="http://schemas.microsoft.com/office/powerpoint/2010/main" val="2139685847"/>
      </p:ext>
    </p:extLst>
  </p:cSld>
  <p:clrMapOvr>
    <a:masterClrMapping/>
  </p:clrMapOvr>
  <p:transition spd="slow" advClick="0" advTm="1000">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a:solidFill>
                  <a:sysClr val="windowText" lastClr="000000"/>
                </a:solidFill>
                <a:latin typeface="Arial" panose="020B0604020202020204"/>
                <a:ea typeface="微软雅黑" panose="020B0503020204020204" pitchFamily="34" charset="-122"/>
              </a:rPr>
              <a:t>Experiment</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D3FF30BD-2A60-4A8F-9915-16FF26851527}"/>
              </a:ext>
            </a:extLst>
          </p:cNvPr>
          <p:cNvSpPr txBox="1"/>
          <p:nvPr/>
        </p:nvSpPr>
        <p:spPr>
          <a:xfrm>
            <a:off x="5257800" y="948790"/>
            <a:ext cx="2286000" cy="461665"/>
          </a:xfrm>
          <a:prstGeom prst="rect">
            <a:avLst/>
          </a:prstGeom>
          <a:noFill/>
        </p:spPr>
        <p:txBody>
          <a:bodyPr wrap="square" rtlCol="0">
            <a:spAutoFit/>
          </a:bodyPr>
          <a:lstStyle/>
          <a:p>
            <a:r>
              <a:rPr lang="zh-CN" altLang="en-US" sz="2400" dirty="0"/>
              <a:t>实验结果</a:t>
            </a:r>
          </a:p>
        </p:txBody>
      </p:sp>
      <p:sp>
        <p:nvSpPr>
          <p:cNvPr id="18" name="文本框 17">
            <a:extLst>
              <a:ext uri="{FF2B5EF4-FFF2-40B4-BE49-F238E27FC236}">
                <a16:creationId xmlns:a16="http://schemas.microsoft.com/office/drawing/2014/main" id="{9F9DF903-0628-4507-8010-54F3BF9D14D0}"/>
              </a:ext>
            </a:extLst>
          </p:cNvPr>
          <p:cNvSpPr txBox="1"/>
          <p:nvPr/>
        </p:nvSpPr>
        <p:spPr>
          <a:xfrm>
            <a:off x="851338" y="1460351"/>
            <a:ext cx="6096000" cy="369332"/>
          </a:xfrm>
          <a:prstGeom prst="rect">
            <a:avLst/>
          </a:prstGeom>
          <a:noFill/>
        </p:spPr>
        <p:txBody>
          <a:bodyPr wrap="square">
            <a:spAutoFit/>
          </a:bodyPr>
          <a:lstStyle/>
          <a:p>
            <a:r>
              <a:rPr lang="zh-CN" altLang="en-US" dirty="0"/>
              <a:t>在大规模</a:t>
            </a:r>
            <a:r>
              <a:rPr lang="en-US" altLang="zh-CN" dirty="0" err="1"/>
              <a:t>ViT</a:t>
            </a:r>
            <a:r>
              <a:rPr lang="zh-CN" altLang="en-US" dirty="0"/>
              <a:t>上的性能：</a:t>
            </a:r>
          </a:p>
        </p:txBody>
      </p:sp>
      <p:pic>
        <p:nvPicPr>
          <p:cNvPr id="4" name="图片 3">
            <a:extLst>
              <a:ext uri="{FF2B5EF4-FFF2-40B4-BE49-F238E27FC236}">
                <a16:creationId xmlns:a16="http://schemas.microsoft.com/office/drawing/2014/main" id="{2B700749-9221-4D50-8F67-21FC04493E68}"/>
              </a:ext>
            </a:extLst>
          </p:cNvPr>
          <p:cNvPicPr>
            <a:picLocks noChangeAspect="1"/>
          </p:cNvPicPr>
          <p:nvPr/>
        </p:nvPicPr>
        <p:blipFill>
          <a:blip r:embed="rId4"/>
          <a:stretch>
            <a:fillRect/>
          </a:stretch>
        </p:blipFill>
        <p:spPr>
          <a:xfrm>
            <a:off x="718005" y="1844416"/>
            <a:ext cx="10904762" cy="3942857"/>
          </a:xfrm>
          <a:prstGeom prst="rect">
            <a:avLst/>
          </a:prstGeom>
        </p:spPr>
      </p:pic>
    </p:spTree>
    <p:extLst>
      <p:ext uri="{BB962C8B-B14F-4D97-AF65-F5344CB8AC3E}">
        <p14:creationId xmlns:p14="http://schemas.microsoft.com/office/powerpoint/2010/main" val="1586811309"/>
      </p:ext>
    </p:extLst>
  </p:cSld>
  <p:clrMapOvr>
    <a:masterClrMapping/>
  </p:clrMapOvr>
  <p:transition spd="slow" advClick="0" advTm="1000">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a:solidFill>
                  <a:sysClr val="windowText" lastClr="000000"/>
                </a:solidFill>
                <a:latin typeface="Arial" panose="020B0604020202020204"/>
                <a:ea typeface="微软雅黑" panose="020B0503020204020204" pitchFamily="34" charset="-122"/>
              </a:rPr>
              <a:t>Experiment</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D3FF30BD-2A60-4A8F-9915-16FF26851527}"/>
              </a:ext>
            </a:extLst>
          </p:cNvPr>
          <p:cNvSpPr txBox="1"/>
          <p:nvPr/>
        </p:nvSpPr>
        <p:spPr>
          <a:xfrm>
            <a:off x="5257800" y="948790"/>
            <a:ext cx="2286000" cy="461665"/>
          </a:xfrm>
          <a:prstGeom prst="rect">
            <a:avLst/>
          </a:prstGeom>
          <a:noFill/>
        </p:spPr>
        <p:txBody>
          <a:bodyPr wrap="square" rtlCol="0">
            <a:spAutoFit/>
          </a:bodyPr>
          <a:lstStyle/>
          <a:p>
            <a:r>
              <a:rPr lang="zh-CN" altLang="en-US" sz="2400" dirty="0"/>
              <a:t>实验结果</a:t>
            </a:r>
          </a:p>
        </p:txBody>
      </p:sp>
      <p:sp>
        <p:nvSpPr>
          <p:cNvPr id="18" name="文本框 17">
            <a:extLst>
              <a:ext uri="{FF2B5EF4-FFF2-40B4-BE49-F238E27FC236}">
                <a16:creationId xmlns:a16="http://schemas.microsoft.com/office/drawing/2014/main" id="{9F9DF903-0628-4507-8010-54F3BF9D14D0}"/>
              </a:ext>
            </a:extLst>
          </p:cNvPr>
          <p:cNvSpPr txBox="1"/>
          <p:nvPr/>
        </p:nvSpPr>
        <p:spPr>
          <a:xfrm>
            <a:off x="851338" y="1768234"/>
            <a:ext cx="6433382" cy="369332"/>
          </a:xfrm>
          <a:prstGeom prst="rect">
            <a:avLst/>
          </a:prstGeom>
          <a:noFill/>
        </p:spPr>
        <p:txBody>
          <a:bodyPr wrap="square">
            <a:spAutoFit/>
          </a:bodyPr>
          <a:lstStyle/>
          <a:p>
            <a:r>
              <a:rPr lang="zh-CN" altLang="en-US" dirty="0"/>
              <a:t>在</a:t>
            </a:r>
            <a:r>
              <a:rPr lang="en-US" altLang="zh-CN" dirty="0" err="1"/>
              <a:t>OfficeHome</a:t>
            </a:r>
            <a:r>
              <a:rPr lang="zh-CN" altLang="en-US" dirty="0"/>
              <a:t>数据集上，</a:t>
            </a:r>
            <a:r>
              <a:rPr lang="en-US" altLang="zh-CN" dirty="0"/>
              <a:t>SFT</a:t>
            </a:r>
            <a:r>
              <a:rPr lang="zh-CN" altLang="en-US" dirty="0"/>
              <a:t>和</a:t>
            </a:r>
            <a:r>
              <a:rPr lang="en-US" altLang="zh-CN" dirty="0"/>
              <a:t>SAM</a:t>
            </a:r>
            <a:r>
              <a:rPr lang="zh-CN" altLang="en-US" dirty="0"/>
              <a:t>在锐度与准确率上的对比</a:t>
            </a:r>
          </a:p>
        </p:txBody>
      </p:sp>
      <p:pic>
        <p:nvPicPr>
          <p:cNvPr id="5" name="图片 4">
            <a:extLst>
              <a:ext uri="{FF2B5EF4-FFF2-40B4-BE49-F238E27FC236}">
                <a16:creationId xmlns:a16="http://schemas.microsoft.com/office/drawing/2014/main" id="{2D53B1A3-76B6-4E0E-B7F3-86EDCDC5017A}"/>
              </a:ext>
            </a:extLst>
          </p:cNvPr>
          <p:cNvPicPr>
            <a:picLocks noChangeAspect="1"/>
          </p:cNvPicPr>
          <p:nvPr/>
        </p:nvPicPr>
        <p:blipFill>
          <a:blip r:embed="rId4"/>
          <a:stretch>
            <a:fillRect/>
          </a:stretch>
        </p:blipFill>
        <p:spPr>
          <a:xfrm>
            <a:off x="1347471" y="2257781"/>
            <a:ext cx="8880408" cy="3081255"/>
          </a:xfrm>
          <a:prstGeom prst="rect">
            <a:avLst/>
          </a:prstGeom>
        </p:spPr>
      </p:pic>
    </p:spTree>
    <p:extLst>
      <p:ext uri="{BB962C8B-B14F-4D97-AF65-F5344CB8AC3E}">
        <p14:creationId xmlns:p14="http://schemas.microsoft.com/office/powerpoint/2010/main" val="401706401"/>
      </p:ext>
    </p:extLst>
  </p:cSld>
  <p:clrMapOvr>
    <a:masterClrMapping/>
  </p:clrMapOvr>
  <p:transition spd="slow" advClick="0" advTm="1000">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dirty="0">
                <a:solidFill>
                  <a:sysClr val="windowText" lastClr="000000"/>
                </a:solidFill>
                <a:latin typeface="Arial" panose="020B0604020202020204"/>
                <a:ea typeface="微软雅黑" panose="020B0503020204020204" pitchFamily="34" charset="-122"/>
              </a:rPr>
              <a:t>Experiment</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pitchFamily="34" charset="-122"/>
                <a:ea typeface="微软雅黑" panose="020B0503020204020204" pitchFamily="3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pitchFamily="3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D3FF30BD-2A60-4A8F-9915-16FF26851527}"/>
              </a:ext>
            </a:extLst>
          </p:cNvPr>
          <p:cNvSpPr txBox="1"/>
          <p:nvPr/>
        </p:nvSpPr>
        <p:spPr>
          <a:xfrm>
            <a:off x="5257800" y="948790"/>
            <a:ext cx="2286000" cy="461665"/>
          </a:xfrm>
          <a:prstGeom prst="rect">
            <a:avLst/>
          </a:prstGeom>
          <a:noFill/>
        </p:spPr>
        <p:txBody>
          <a:bodyPr wrap="square" rtlCol="0">
            <a:spAutoFit/>
          </a:bodyPr>
          <a:lstStyle/>
          <a:p>
            <a:r>
              <a:rPr lang="zh-CN" altLang="en-US" sz="2400" dirty="0"/>
              <a:t>消融实验</a:t>
            </a:r>
          </a:p>
        </p:txBody>
      </p:sp>
      <p:sp>
        <p:nvSpPr>
          <p:cNvPr id="18" name="文本框 17">
            <a:extLst>
              <a:ext uri="{FF2B5EF4-FFF2-40B4-BE49-F238E27FC236}">
                <a16:creationId xmlns:a16="http://schemas.microsoft.com/office/drawing/2014/main" id="{9F9DF903-0628-4507-8010-54F3BF9D14D0}"/>
              </a:ext>
            </a:extLst>
          </p:cNvPr>
          <p:cNvSpPr txBox="1"/>
          <p:nvPr/>
        </p:nvSpPr>
        <p:spPr>
          <a:xfrm>
            <a:off x="851338" y="1768234"/>
            <a:ext cx="9594488" cy="369332"/>
          </a:xfrm>
          <a:prstGeom prst="rect">
            <a:avLst/>
          </a:prstGeom>
          <a:noFill/>
        </p:spPr>
        <p:txBody>
          <a:bodyPr wrap="square">
            <a:spAutoFit/>
          </a:bodyPr>
          <a:lstStyle/>
          <a:p>
            <a:r>
              <a:rPr lang="zh-CN" altLang="en-US" dirty="0"/>
              <a:t>对</a:t>
            </a:r>
            <a:r>
              <a:rPr lang="en-US" altLang="zh-CN" dirty="0"/>
              <a:t>SFT</a:t>
            </a:r>
            <a:r>
              <a:rPr lang="zh-CN" altLang="en-US" dirty="0"/>
              <a:t>框架的关键组成部分进行了消融研究，实验结果如下表（实验在</a:t>
            </a:r>
            <a:r>
              <a:rPr lang="en-US" altLang="zh-CN" dirty="0" err="1"/>
              <a:t>OfficeHome</a:t>
            </a:r>
            <a:r>
              <a:rPr lang="zh-CN" altLang="en-US" dirty="0"/>
              <a:t>数据集进行）</a:t>
            </a:r>
          </a:p>
        </p:txBody>
      </p:sp>
      <p:pic>
        <p:nvPicPr>
          <p:cNvPr id="4" name="图片 3">
            <a:extLst>
              <a:ext uri="{FF2B5EF4-FFF2-40B4-BE49-F238E27FC236}">
                <a16:creationId xmlns:a16="http://schemas.microsoft.com/office/drawing/2014/main" id="{F793CF89-C1A6-431C-BF7A-C6009EE30C36}"/>
              </a:ext>
            </a:extLst>
          </p:cNvPr>
          <p:cNvPicPr>
            <a:picLocks noChangeAspect="1"/>
          </p:cNvPicPr>
          <p:nvPr/>
        </p:nvPicPr>
        <p:blipFill>
          <a:blip r:embed="rId4"/>
          <a:stretch>
            <a:fillRect/>
          </a:stretch>
        </p:blipFill>
        <p:spPr>
          <a:xfrm>
            <a:off x="1746173" y="2301275"/>
            <a:ext cx="8699653" cy="3607935"/>
          </a:xfrm>
          <a:prstGeom prst="rect">
            <a:avLst/>
          </a:prstGeom>
        </p:spPr>
      </p:pic>
      <p:sp>
        <p:nvSpPr>
          <p:cNvPr id="7" name="矩形 6">
            <a:extLst>
              <a:ext uri="{FF2B5EF4-FFF2-40B4-BE49-F238E27FC236}">
                <a16:creationId xmlns:a16="http://schemas.microsoft.com/office/drawing/2014/main" id="{6D714794-B390-43B2-A362-9573124498B7}"/>
              </a:ext>
            </a:extLst>
          </p:cNvPr>
          <p:cNvSpPr/>
          <p:nvPr/>
        </p:nvSpPr>
        <p:spPr>
          <a:xfrm>
            <a:off x="2143760" y="3751390"/>
            <a:ext cx="365760" cy="21336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B0609C78-58F1-495B-8827-5B4BAC234DE5}"/>
              </a:ext>
            </a:extLst>
          </p:cNvPr>
          <p:cNvSpPr/>
          <p:nvPr/>
        </p:nvSpPr>
        <p:spPr>
          <a:xfrm>
            <a:off x="2143760" y="4642210"/>
            <a:ext cx="365760" cy="21336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69F83D82-C9B7-46EF-AAAD-EEA08F82FAF2}"/>
              </a:ext>
            </a:extLst>
          </p:cNvPr>
          <p:cNvSpPr/>
          <p:nvPr/>
        </p:nvSpPr>
        <p:spPr>
          <a:xfrm>
            <a:off x="2143760" y="4940123"/>
            <a:ext cx="365760" cy="21336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3725E003-FBBE-4C6E-9BF7-3F6DF9EB8F9E}"/>
              </a:ext>
            </a:extLst>
          </p:cNvPr>
          <p:cNvSpPr/>
          <p:nvPr/>
        </p:nvSpPr>
        <p:spPr>
          <a:xfrm>
            <a:off x="2143760" y="5211306"/>
            <a:ext cx="365760" cy="21336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8D99E11A-A4F3-48A2-9E66-0FC4E6C970C7}"/>
              </a:ext>
            </a:extLst>
          </p:cNvPr>
          <p:cNvSpPr/>
          <p:nvPr/>
        </p:nvSpPr>
        <p:spPr>
          <a:xfrm>
            <a:off x="2143760" y="5482489"/>
            <a:ext cx="365760" cy="21336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Tree>
    <p:extLst>
      <p:ext uri="{BB962C8B-B14F-4D97-AF65-F5344CB8AC3E}">
        <p14:creationId xmlns:p14="http://schemas.microsoft.com/office/powerpoint/2010/main" val="2397752678"/>
      </p:ext>
    </p:extLst>
  </p:cSld>
  <p:clrMapOvr>
    <a:masterClrMapping/>
  </p:clrMapOvr>
  <p:transition spd="slow" advClick="0" advTm="1000">
    <p:push dir="u"/>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FiMjRlYjRkODg2ZDk0OTllN2NiNzAxMTIyNjEzMmYifQ=="/>
</p:tagLst>
</file>

<file path=ppt/theme/theme1.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自定义 100">
      <a:dk1>
        <a:sysClr val="windowText" lastClr="000000"/>
      </a:dk1>
      <a:lt1>
        <a:sysClr val="window" lastClr="FFFFFF"/>
      </a:lt1>
      <a:dk2>
        <a:srgbClr val="44546A"/>
      </a:dk2>
      <a:lt2>
        <a:srgbClr val="E7E6E6"/>
      </a:lt2>
      <a:accent1>
        <a:srgbClr val="591B89"/>
      </a:accent1>
      <a:accent2>
        <a:srgbClr val="EEB51A"/>
      </a:accent2>
      <a:accent3>
        <a:srgbClr val="591B89"/>
      </a:accent3>
      <a:accent4>
        <a:srgbClr val="EEB51A"/>
      </a:accent4>
      <a:accent5>
        <a:srgbClr val="591B89"/>
      </a:accent5>
      <a:accent6>
        <a:srgbClr val="EEB51A"/>
      </a:accent6>
      <a:hlink>
        <a:srgbClr val="591B89"/>
      </a:hlink>
      <a:folHlink>
        <a:srgbClr val="EEB51A"/>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40365</TotalTime>
  <Words>1505</Words>
  <Application>Microsoft Office PowerPoint</Application>
  <PresentationFormat>宽屏</PresentationFormat>
  <Paragraphs>159</Paragraphs>
  <Slides>15</Slides>
  <Notes>15</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15</vt:i4>
      </vt:variant>
    </vt:vector>
  </HeadingPairs>
  <TitlesOfParts>
    <vt:vector size="25" baseType="lpstr">
      <vt:lpstr>-apple-system</vt:lpstr>
      <vt:lpstr>等线</vt:lpstr>
      <vt:lpstr>微软雅黑</vt:lpstr>
      <vt:lpstr>Arial</vt:lpstr>
      <vt:lpstr>Calibri</vt:lpstr>
      <vt:lpstr>Calibri Light</vt:lpstr>
      <vt:lpstr>Cambria Math</vt:lpstr>
      <vt:lpstr>Georgia</vt:lpstr>
      <vt:lpstr>2_Office 主题​​</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紫色沉稳简约毕业答辩毕业论文答辩PPT</dc:title>
  <dc:creator>lenovo</dc:creator>
  <cp:lastModifiedBy>man handsome</cp:lastModifiedBy>
  <cp:revision>351</cp:revision>
  <dcterms:created xsi:type="dcterms:W3CDTF">2019-03-09T08:01:00Z</dcterms:created>
  <dcterms:modified xsi:type="dcterms:W3CDTF">2025-09-27T10:20:34Z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3E6360C6DCCC423D98F5DA1985ABB2C1_12</vt:lpwstr>
  </property>
</Properties>
</file>