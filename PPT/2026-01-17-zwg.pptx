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6" r:id="rId3"/>
  </p:sldMasterIdLst>
  <p:notesMasterIdLst>
    <p:notesMasterId r:id="rId15"/>
  </p:notesMasterIdLst>
  <p:sldIdLst>
    <p:sldId id="3228" r:id="rId4"/>
    <p:sldId id="3320" r:id="rId5"/>
    <p:sldId id="3457" r:id="rId6"/>
    <p:sldId id="3449" r:id="rId7"/>
    <p:sldId id="3471" r:id="rId8"/>
    <p:sldId id="3459" r:id="rId9"/>
    <p:sldId id="3467" r:id="rId10"/>
    <p:sldId id="3465" r:id="rId11"/>
    <p:sldId id="3488" r:id="rId12"/>
    <p:sldId id="3486" r:id="rId13"/>
    <p:sldId id="3231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657" autoAdjust="0"/>
  </p:normalViewPr>
  <p:slideViewPr>
    <p:cSldViewPr snapToGrid="0" showGuides="1">
      <p:cViewPr varScale="1">
        <p:scale>
          <a:sx n="106" d="100"/>
          <a:sy n="106" d="100"/>
        </p:scale>
        <p:origin x="883" y="77"/>
      </p:cViewPr>
      <p:guideLst>
        <p:guide orient="horz" pos="2160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TemSAM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：面向数字减影血管造影序列脑血管分割的时序感知（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模型）通用分割模型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华中科技大学教授</a:t>
            </a: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  <a:t>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DSA</a:t>
            </a:r>
            <a:r>
              <a:rPr lang="zh-CN" altLang="en-US" dirty="0"/>
              <a:t>指的就是血管的造影序列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如图所示是本篇论文的整体架构，本文采用双分支编码器，分别提取时间特征和全局特征，然后通过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MGA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模块让全局特征引导时间特征的提取；其中输入是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，其中将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分为当前帧和剩余帧（其中黄色框的为当前帧，绿色框的为剩余帧，类似于滑动窗口）；随后是互补信息融合模块，首先是从剩余帧中选择相似度最小的帧作为互补帧，分为两阶段解码器，第一阶段解码器生成初始掩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，然后使用掩码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在前景中实现互补帧的融合，最后平均每一个当前帧的预测结果得到最终的预测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第一阶段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的原始解码器生成掩码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，然后使用掩码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在前景中实现互补帧的融合</a:t>
            </a: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损失函数用的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BCE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和豪斯多夫（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Hausdorff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）距离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双分支解码器，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MGA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模块使用全局特征作为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，局部特征做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，做交叉注意力，从而让全局特征增强局部特征；其中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T-Adapter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S-Adapter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是用来微调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T-Adapter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，在时间维度上做一个多头注意力；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S-Adapter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就是先降维在升维，这两个都是别的论文中的方法；输出得到全局特征，当前帧特征和剩余帧特征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首先从剩余帧中选择与当前帧最不相似的帧作为互补帧，然后解码器分为两个阶段，第一阶段将当前帧特征和全局特征输入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中，得到一个初始掩码，然后使用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MCTA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模块，也是交叉注意力机制，在前景区域上融合互补信息，最终得到分割结果。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损失函数用的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BCE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和豪斯多夫（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Hausdorff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）距离，对每一个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都进行监督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这些方法都是以序列作为输入，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指标是预测掩码和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groundtruth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的重叠程度，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cldice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系数可以看出细长连续结构分割的效果好不好；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是对小于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像素的血管进行了评估，可以看出本文对细小血管的分割也取得了最好的效果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测试泛化性，在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DIAS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上做训练，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DSCA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上做测试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70B8-435B-EE94-62CC-1518DABD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9312DB-D7F3-2CCE-BE62-1E2D3AA99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B836E1-46A3-5408-2517-8DEA95EA9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可视化结果，白色代表真阳性，绿色代表假阳性，红色代表假阴性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DF5633-302F-FD5D-424F-56CA17DCF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023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没有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MCTA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就是，只有一阶段的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decoder</a:t>
            </a:r>
            <a:b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</a:b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Backbone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就是只有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local temporal branch + decoder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22273" y="2621337"/>
            <a:ext cx="8398143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TemSAM</a:t>
            </a: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Temporal-aware Segment Anything  Model for Cerebrovascular Segmentation in  Digital Subtraction Angiography Sequences</a:t>
            </a: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MICCAI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2025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76D39CA-4508-EED8-D5A9-E51C40C85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06" y="847404"/>
            <a:ext cx="11622088" cy="5620071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EE9EE-76ED-E703-0589-0617D0475800}"/>
              </a:ext>
            </a:extLst>
          </p:cNvPr>
          <p:cNvSpPr txBox="1"/>
          <p:nvPr/>
        </p:nvSpPr>
        <p:spPr>
          <a:xfrm>
            <a:off x="537772" y="893099"/>
            <a:ext cx="609724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DSA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序列的挑战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116B18-5870-FC3F-F674-8205052DF0AA}"/>
              </a:ext>
            </a:extLst>
          </p:cNvPr>
          <p:cNvSpPr txBox="1"/>
          <p:nvPr/>
        </p:nvSpPr>
        <p:spPr>
          <a:xfrm>
            <a:off x="470414" y="1423465"/>
            <a:ext cx="9026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b="1" dirty="0"/>
              <a:t>早期帧：</a:t>
            </a:r>
            <a:r>
              <a:rPr lang="zh-CN" altLang="en-US" dirty="0"/>
              <a:t>缺乏细小血管细节，血管结构显示不完整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b="1" dirty="0"/>
              <a:t>晚期帧：</a:t>
            </a:r>
            <a:r>
              <a:rPr lang="zh-CN" altLang="en-US" dirty="0"/>
              <a:t>遮挡早期可见血管，造影剂分布变化导致血管消失</a:t>
            </a:r>
          </a:p>
          <a:p>
            <a:endParaRPr lang="en-US" altLang="zh-CN" dirty="0"/>
          </a:p>
        </p:txBody>
      </p:sp>
      <p:pic>
        <p:nvPicPr>
          <p:cNvPr id="3" name="图片 2" descr="地图的截图&#10;&#10;AI 生成的内容可能不正确。">
            <a:extLst>
              <a:ext uri="{FF2B5EF4-FFF2-40B4-BE49-F238E27FC236}">
                <a16:creationId xmlns:a16="http://schemas.microsoft.com/office/drawing/2014/main" id="{050871F0-79A0-F0B8-8A55-FC228B589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4735"/>
            <a:ext cx="12029372" cy="299526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C1576D-BF5A-F873-34B4-BCC23CD4EB18}"/>
              </a:ext>
            </a:extLst>
          </p:cNvPr>
          <p:cNvSpPr txBox="1"/>
          <p:nvPr/>
        </p:nvSpPr>
        <p:spPr>
          <a:xfrm>
            <a:off x="554929" y="2242920"/>
            <a:ext cx="8477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现有方法的局限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）单帧分析：忽略时间信息，无法利用帧间的互补性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）对所有帧平等对待，无法精准利用高价值互补帧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2FDC8439-A486-755E-0AD8-56AC05A08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64" y="1681622"/>
            <a:ext cx="11340971" cy="3939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3E7D4D2E-96E9-083F-6306-4D9DC21B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87" y="1640961"/>
            <a:ext cx="3570705" cy="3022771"/>
          </a:xfrm>
          <a:prstGeom prst="rect">
            <a:avLst/>
          </a:prstGeom>
        </p:spPr>
      </p:pic>
      <p:pic>
        <p:nvPicPr>
          <p:cNvPr id="5" name="图片 4" descr="手机屏幕截图&#10;&#10;AI 生成的内容可能不正确。">
            <a:extLst>
              <a:ext uri="{FF2B5EF4-FFF2-40B4-BE49-F238E27FC236}">
                <a16:creationId xmlns:a16="http://schemas.microsoft.com/office/drawing/2014/main" id="{5A8B8B8F-0F8C-2574-2933-3EAFBD55C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592" y="1685417"/>
            <a:ext cx="4575808" cy="23298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320109-E6CC-4783-F851-58ED6B5DE6DF}"/>
              </a:ext>
            </a:extLst>
          </p:cNvPr>
          <p:cNvSpPr txBox="1"/>
          <p:nvPr/>
        </p:nvSpPr>
        <p:spPr>
          <a:xfrm>
            <a:off x="965199" y="1080000"/>
            <a:ext cx="6645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双分支解码器</a:t>
            </a:r>
          </a:p>
        </p:txBody>
      </p:sp>
      <p:pic>
        <p:nvPicPr>
          <p:cNvPr id="9" name="图片 8" descr="文本, 徽标&#10;&#10;AI 生成的内容可能不正确。">
            <a:extLst>
              <a:ext uri="{FF2B5EF4-FFF2-40B4-BE49-F238E27FC236}">
                <a16:creationId xmlns:a16="http://schemas.microsoft.com/office/drawing/2014/main" id="{E7060E82-BB05-01A7-5101-EC5F37C95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287" y="5433326"/>
            <a:ext cx="2600000" cy="3915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439829D-2CEC-5EC8-DF5D-1C91B83EFC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287" y="4880019"/>
            <a:ext cx="6116914" cy="337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FDBFDB7E-3AED-0A5B-985B-EBAD93DEE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28" y="1877076"/>
            <a:ext cx="4057143" cy="3219048"/>
          </a:xfrm>
          <a:prstGeom prst="rect">
            <a:avLst/>
          </a:prstGeom>
        </p:spPr>
      </p:pic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B4BC0D2B-679D-EA9A-1B09-484B23C2D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514" y="2013609"/>
            <a:ext cx="4247086" cy="31545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467E85E-786A-D7D2-E3A2-69A50C23EFD7}"/>
              </a:ext>
            </a:extLst>
          </p:cNvPr>
          <p:cNvSpPr txBox="1"/>
          <p:nvPr/>
        </p:nvSpPr>
        <p:spPr>
          <a:xfrm>
            <a:off x="770400" y="1022400"/>
            <a:ext cx="41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互补信息融合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3295BA2E-5417-18C2-ED66-2EE7B23F2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00" y="1377352"/>
            <a:ext cx="9800000" cy="4333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CA3CF608-EC6E-4264-CFF3-562352AB2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619" y="1310638"/>
            <a:ext cx="9904762" cy="4409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7E560-5011-8803-8535-ADE4D22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>
            <a:extLst>
              <a:ext uri="{FF2B5EF4-FFF2-40B4-BE49-F238E27FC236}">
                <a16:creationId xmlns:a16="http://schemas.microsoft.com/office/drawing/2014/main" id="{5E5B84E5-E1FC-E817-C7DC-4A4E7B433B3F}"/>
              </a:ext>
            </a:extLst>
          </p:cNvPr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A7BE45A-76B2-01B8-8948-A80926A79FCE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E5C39F9-01EC-57DA-A284-2F6772785EDE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A45C6E0-B799-5561-912C-8E791FF09095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61251D5-3561-A431-113C-6FFA239655EC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B12FB0C-19DC-7206-8A4C-72800D8AEF53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A36FB9F2-70C2-2757-D456-026785748355}"/>
              </a:ext>
            </a:extLst>
          </p:cNvPr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807B7E15-2F12-1322-3220-750353D6ED46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C88729F4-D2FB-01FA-7E63-B3491F0876E8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8C262E6D-A736-7FF3-3ADE-4EE396AA765C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>
            <a:extLst>
              <a:ext uri="{FF2B5EF4-FFF2-40B4-BE49-F238E27FC236}">
                <a16:creationId xmlns:a16="http://schemas.microsoft.com/office/drawing/2014/main" id="{5876D859-613C-A904-161B-115E9C37CC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>
            <a:extLst>
              <a:ext uri="{FF2B5EF4-FFF2-40B4-BE49-F238E27FC236}">
                <a16:creationId xmlns:a16="http://schemas.microsoft.com/office/drawing/2014/main" id="{ECBEADA7-0CA7-7681-B9FA-681ED9EA4C2C}"/>
              </a:ext>
            </a:extLst>
          </p:cNvPr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 descr="一些绿色的植物&#10;&#10;AI 生成的内容可能不正确。">
            <a:extLst>
              <a:ext uri="{FF2B5EF4-FFF2-40B4-BE49-F238E27FC236}">
                <a16:creationId xmlns:a16="http://schemas.microsoft.com/office/drawing/2014/main" id="{AD661A41-BE71-E306-2140-9382D443F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00" y="785266"/>
            <a:ext cx="10756800" cy="571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3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7B3CE2E0-D33F-0956-7FFD-E87CAD7A1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238" y="2067095"/>
            <a:ext cx="9609524" cy="27238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8026</TotalTime>
  <Words>765</Words>
  <Application>Microsoft Office PowerPoint</Application>
  <PresentationFormat>宽屏</PresentationFormat>
  <Paragraphs>89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微软雅黑</vt:lpstr>
      <vt:lpstr>Arial</vt:lpstr>
      <vt:lpstr>Calibri</vt:lpstr>
      <vt:lpstr>Calibri Light</vt:lpstr>
      <vt:lpstr>Times New Roman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秦佳瑶</dc:creator>
  <cp:lastModifiedBy>维贵 赵</cp:lastModifiedBy>
  <cp:revision>1254</cp:revision>
  <dcterms:created xsi:type="dcterms:W3CDTF">2019-03-09T08:01:00Z</dcterms:created>
  <dcterms:modified xsi:type="dcterms:W3CDTF">2026-01-17T10:50:50Z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0C95BC188EFC487BA7C01F2F718226AD_13</vt:lpwstr>
  </property>
</Properties>
</file>