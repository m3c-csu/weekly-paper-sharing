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0" r:id="rId4"/>
    <p:sldId id="361" r:id="rId5"/>
    <p:sldId id="306" r:id="rId6"/>
    <p:sldId id="365" r:id="rId7"/>
    <p:sldId id="308" r:id="rId8"/>
    <p:sldId id="359" r:id="rId9"/>
    <p:sldId id="307" r:id="rId10"/>
    <p:sldId id="362" r:id="rId11"/>
    <p:sldId id="366" r:id="rId12"/>
    <p:sldId id="374" r:id="rId13"/>
    <p:sldId id="373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4" userDrawn="1">
          <p15:clr>
            <a:srgbClr val="A4A3A4"/>
          </p15:clr>
        </p15:guide>
        <p15:guide id="2" pos="3895" userDrawn="1">
          <p15:clr>
            <a:srgbClr val="A4A3A4"/>
          </p15:clr>
        </p15:guide>
        <p15:guide id="3" pos="40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27499155" name="272km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B0FC"/>
    <a:srgbClr val="203864"/>
    <a:srgbClr val="D91515"/>
    <a:srgbClr val="EE0000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71" y="106"/>
      </p:cViewPr>
      <p:guideLst>
        <p:guide orient="horz" pos="2284"/>
        <p:guide pos="3895"/>
        <p:guide pos="40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zh-CN" altLang="en-US"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F772-9AF6-740C-C72D-68F3A707B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075C78-4EF3-0EA3-6169-804168249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A5F346-22E2-E908-9597-B8485B144EF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34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81583" y="162128"/>
            <a:ext cx="11815864" cy="653374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304817" y="1"/>
            <a:ext cx="1569396" cy="173152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5304817" y="6634265"/>
            <a:ext cx="1569396" cy="22373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10798227" y="5070856"/>
            <a:ext cx="1197659" cy="1389113"/>
            <a:chOff x="-1356283" y="1212273"/>
            <a:chExt cx="1599245" cy="1854896"/>
          </a:xfrm>
        </p:grpSpPr>
        <p:sp>
          <p:nvSpPr>
            <p:cNvPr id="28" name="等腰三角形 27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94553" y="193560"/>
            <a:ext cx="2019597" cy="1884355"/>
            <a:chOff x="214742" y="270164"/>
            <a:chExt cx="2661150" cy="2482947"/>
          </a:xfrm>
        </p:grpSpPr>
        <p:grpSp>
          <p:nvGrpSpPr>
            <p:cNvPr id="38" name="组合 37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2" name="等腰三角形 41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等腰三角形 38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等腰三角形 40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94341" y="5268976"/>
            <a:ext cx="1197659" cy="1389113"/>
            <a:chOff x="-1356283" y="1212273"/>
            <a:chExt cx="1599245" cy="1854896"/>
          </a:xfrm>
        </p:grpSpPr>
        <p:sp>
          <p:nvSpPr>
            <p:cNvPr id="25" name="等腰三角形 24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4" name="直接连接符 33"/>
          <p:cNvCxnSpPr/>
          <p:nvPr userDrawn="1"/>
        </p:nvCxnSpPr>
        <p:spPr>
          <a:xfrm flipH="1">
            <a:off x="533400" y="6507480"/>
            <a:ext cx="10637520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  <a:t>‹#›</a:t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-14298" y="155435"/>
            <a:ext cx="2957239" cy="2759208"/>
            <a:chOff x="214742" y="270164"/>
            <a:chExt cx="2661150" cy="2482947"/>
          </a:xfrm>
        </p:grpSpPr>
        <p:grpSp>
          <p:nvGrpSpPr>
            <p:cNvPr id="37" name="组合 36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1" name="等腰三角形 40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等腰三角形 37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64127" y="6507480"/>
            <a:ext cx="10706793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  <a:t>‹#›</a:t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1452916" y="5846548"/>
            <a:ext cx="739084" cy="971841"/>
            <a:chOff x="-1164737" y="1521462"/>
            <a:chExt cx="1407699" cy="1851021"/>
          </a:xfrm>
        </p:grpSpPr>
        <p:sp>
          <p:nvSpPr>
            <p:cNvPr id="9" name="等腰三角形 8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6200000" flipH="1">
              <a:off x="-340775" y="2796755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>
              <a:off x="-1192059" y="2894582"/>
              <a:ext cx="396178" cy="341533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0"/>
            <a:ext cx="3581400" cy="3341572"/>
            <a:chOff x="214742" y="270164"/>
            <a:chExt cx="2661150" cy="2482947"/>
          </a:xfrm>
        </p:grpSpPr>
        <p:grpSp>
          <p:nvGrpSpPr>
            <p:cNvPr id="6" name="组合 5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10" name="等腰三角形 9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 userDrawn="1"/>
            </p:nvSpPr>
            <p:spPr>
              <a:xfrm rot="5400000">
                <a:off x="2749326" y="-43017"/>
                <a:ext cx="972885" cy="8386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3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等腰三角形 6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11352349" y="5684214"/>
            <a:ext cx="839651" cy="973875"/>
            <a:chOff x="-1356283" y="1212273"/>
            <a:chExt cx="1599245" cy="1854896"/>
          </a:xfrm>
        </p:grpSpPr>
        <p:sp>
          <p:nvSpPr>
            <p:cNvPr id="23" name="等腰三角形 22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8E6D3-EC10-435A-83A8-4CF3748666B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5640421" y="3947364"/>
            <a:ext cx="91115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5495" y="2424430"/>
            <a:ext cx="10621010" cy="1282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Font typeface="Wingdings" panose="05000000000000000000" charset="0"/>
            </a:pPr>
            <a:r>
              <a:rPr lang="en-US" altLang="zh-CN" sz="3200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Points-Supervised Fundus Vessel Segmentation via Shape Priors and Contrastive Learning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50113" y="4247746"/>
            <a:ext cx="8091771" cy="8914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IEEE TRANSACTIONS ON MEDICAL IMAGING</a:t>
            </a: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, </a:t>
            </a:r>
            <a:endParaRPr lang="en-US" altLang="zh-CN" sz="2400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pPr algn="ctr"/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DECEMBER 2025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216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01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作者</a:t>
            </a:r>
          </a:p>
        </p:txBody>
      </p: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88F45F5-D1FE-6379-BC9E-B5D2E4829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967" y="852991"/>
            <a:ext cx="7306611" cy="55807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问题导入</a:t>
            </a:r>
          </a:p>
        </p:txBody>
      </p:sp>
      <p:pic>
        <p:nvPicPr>
          <p:cNvPr id="6" name="图片 5"/>
          <p:cNvPicPr/>
          <p:nvPr/>
        </p:nvPicPr>
        <p:blipFill>
          <a:blip r:embed="rId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1005840" y="857249"/>
            <a:ext cx="482654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rgbClr val="C00000"/>
                </a:solidFill>
                <a:cs typeface="+mn-ea"/>
                <a:sym typeface="+mn-lt"/>
              </a:rPr>
              <a:t>1.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 标注成本高昂</a:t>
            </a:r>
            <a:endParaRPr lang="en-US" altLang="zh-CN" sz="2000" b="1" dirty="0">
              <a:solidFill>
                <a:srgbClr val="C00000"/>
              </a:solidFill>
              <a:cs typeface="+mn-ea"/>
              <a:sym typeface="+mn-lt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全监督分割依赖大量像素级标注，单张图像的标注通常需 </a:t>
            </a: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35-120 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分钟 。为此可引入点监督 ，标注时间缩短至 </a:t>
            </a: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7-9 </a:t>
            </a:r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分钟。</a:t>
            </a:r>
            <a:endParaRPr lang="zh-CN" altLang="en-US" sz="20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1004474" y="2329180"/>
            <a:ext cx="4778488" cy="250231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2.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 点监督信息稀疏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缺乏形状信息 ：点无法提供血管的宽度和连通性 。</a:t>
            </a:r>
            <a:endParaRPr lang="en-US" altLang="zh-CN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伪标签噪声 ：现有方法易产生假阳性预测 。特征难区分：低对比度区域难以提取判别性特征 。</a:t>
            </a:r>
            <a:endParaRPr lang="en-US" altLang="zh-CN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endParaRPr lang="en-US" altLang="zh-CN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>
            <p:custDataLst>
              <p:tags r:id="rId4"/>
            </p:custDataLst>
          </p:nvPr>
        </p:nvGrpSpPr>
        <p:grpSpPr>
          <a:xfrm>
            <a:off x="1004474" y="4187190"/>
            <a:ext cx="9236377" cy="1242060"/>
            <a:chOff x="9598" y="1349"/>
            <a:chExt cx="7008" cy="1956"/>
          </a:xfrm>
        </p:grpSpPr>
        <p:sp>
          <p:nvSpPr>
            <p:cNvPr id="21" name="矩形 20"/>
            <p:cNvSpPr/>
            <p:nvPr>
              <p:custDataLst>
                <p:tags r:id="rId5"/>
              </p:custDataLst>
            </p:nvPr>
          </p:nvSpPr>
          <p:spPr>
            <a:xfrm>
              <a:off x="9645" y="1349"/>
              <a:ext cx="6961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6"/>
              </p:custDataLst>
            </p:nvPr>
          </p:nvSpPr>
          <p:spPr>
            <a:xfrm>
              <a:off x="9598" y="1887"/>
              <a:ext cx="6962" cy="141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30000"/>
                </a:lnSpc>
              </a:pP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7F393DA3-D60C-A78C-47E7-84E35B42DF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1584" y="902043"/>
            <a:ext cx="5862287" cy="4644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问题导入</a:t>
            </a:r>
          </a:p>
        </p:txBody>
      </p:sp>
      <p:pic>
        <p:nvPicPr>
          <p:cNvPr id="6" name="图片 5"/>
          <p:cNvPicPr/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3194856" y="779926"/>
            <a:ext cx="5538470" cy="5353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针对以上问题给出本文解决方案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188727" y="3556531"/>
            <a:ext cx="3669833" cy="92333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上箭头 1"/>
          <p:cNvSpPr/>
          <p:nvPr/>
        </p:nvSpPr>
        <p:spPr>
          <a:xfrm flipV="1">
            <a:off x="5743574" y="1315231"/>
            <a:ext cx="352426" cy="535305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流程图: 可选过程 1">
            <a:extLst>
              <a:ext uri="{FF2B5EF4-FFF2-40B4-BE49-F238E27FC236}">
                <a16:creationId xmlns:a16="http://schemas.microsoft.com/office/drawing/2014/main" id="{D5EAE054-B4E1-0585-9C78-BD2F0D4CCC58}"/>
              </a:ext>
            </a:extLst>
          </p:cNvPr>
          <p:cNvSpPr/>
          <p:nvPr/>
        </p:nvSpPr>
        <p:spPr>
          <a:xfrm>
            <a:off x="3727675" y="1891167"/>
            <a:ext cx="4699634" cy="67106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8A5841-76BA-D827-6FDB-A0431B85F5F4}"/>
              </a:ext>
            </a:extLst>
          </p:cNvPr>
          <p:cNvSpPr txBox="1"/>
          <p:nvPr/>
        </p:nvSpPr>
        <p:spPr>
          <a:xfrm>
            <a:off x="3858560" y="1921948"/>
            <a:ext cx="4362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PVN (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基于形状先验与对比学习的点监督血管分割网络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)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  <p:sp>
        <p:nvSpPr>
          <p:cNvPr id="4" name="上箭头 1">
            <a:extLst>
              <a:ext uri="{FF2B5EF4-FFF2-40B4-BE49-F238E27FC236}">
                <a16:creationId xmlns:a16="http://schemas.microsoft.com/office/drawing/2014/main" id="{04BB289A-AA9F-52D6-2DD6-C0886C3401D0}"/>
              </a:ext>
            </a:extLst>
          </p:cNvPr>
          <p:cNvSpPr/>
          <p:nvPr/>
        </p:nvSpPr>
        <p:spPr>
          <a:xfrm flipV="1">
            <a:off x="5743574" y="2637856"/>
            <a:ext cx="352426" cy="535305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流程图: 可选过程 4">
            <a:extLst>
              <a:ext uri="{FF2B5EF4-FFF2-40B4-BE49-F238E27FC236}">
                <a16:creationId xmlns:a16="http://schemas.microsoft.com/office/drawing/2014/main" id="{7396C1CF-8418-AFCB-451D-2BC52B45D42F}"/>
              </a:ext>
            </a:extLst>
          </p:cNvPr>
          <p:cNvSpPr/>
          <p:nvPr/>
        </p:nvSpPr>
        <p:spPr>
          <a:xfrm>
            <a:off x="4020717" y="3556531"/>
            <a:ext cx="3439817" cy="92333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可选过程 6">
            <a:extLst>
              <a:ext uri="{FF2B5EF4-FFF2-40B4-BE49-F238E27FC236}">
                <a16:creationId xmlns:a16="http://schemas.microsoft.com/office/drawing/2014/main" id="{D559C80E-7042-9FA3-8D7B-D61E2F8B675D}"/>
              </a:ext>
            </a:extLst>
          </p:cNvPr>
          <p:cNvSpPr/>
          <p:nvPr/>
        </p:nvSpPr>
        <p:spPr>
          <a:xfrm>
            <a:off x="7893701" y="3556531"/>
            <a:ext cx="3554078" cy="97308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3D21A3-4FDA-8FBD-617F-E048ADDF1CF6}"/>
              </a:ext>
            </a:extLst>
          </p:cNvPr>
          <p:cNvSpPr txBox="1"/>
          <p:nvPr/>
        </p:nvSpPr>
        <p:spPr>
          <a:xfrm>
            <a:off x="356993" y="3635835"/>
            <a:ext cx="3333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基于形状先验的软监督</a:t>
            </a:r>
            <a:r>
              <a:rPr lang="zh-CN" altLang="en-US" dirty="0"/>
              <a:t>：利用点激活图估计血管面积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8DCA86-265C-3759-F1A9-B40B043ADB7A}"/>
              </a:ext>
            </a:extLst>
          </p:cNvPr>
          <p:cNvSpPr txBox="1"/>
          <p:nvPr/>
        </p:nvSpPr>
        <p:spPr>
          <a:xfrm>
            <a:off x="4069260" y="3606281"/>
            <a:ext cx="3221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像素与区域混合对比学习</a:t>
            </a:r>
            <a:r>
              <a:rPr lang="zh-CN" altLang="en-US" dirty="0"/>
              <a:t>：结合像素级和区域级特征进行对比。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7ED9488-E30B-5ECC-D912-79E6E17AD2C4}"/>
              </a:ext>
            </a:extLst>
          </p:cNvPr>
          <p:cNvSpPr txBox="1"/>
          <p:nvPr/>
        </p:nvSpPr>
        <p:spPr>
          <a:xfrm>
            <a:off x="7969679" y="3648863"/>
            <a:ext cx="3420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基于位置的权重策略：</a:t>
            </a:r>
            <a:r>
              <a:rPr lang="zh-CN" altLang="en-US" dirty="0">
                <a:cs typeface="+mn-ea"/>
              </a:rPr>
              <a:t>根据像素到标注点的距离赋予不同权重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535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总框架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7724262-B98D-6788-69E2-371465BE5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973"/>
            <a:ext cx="8762896" cy="5701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27CA566-2AE4-0915-699A-0D9A96FE79C2}"/>
                  </a:ext>
                </a:extLst>
              </p:cNvPr>
              <p:cNvSpPr txBox="1"/>
              <p:nvPr/>
            </p:nvSpPr>
            <p:spPr>
              <a:xfrm>
                <a:off x="8816546" y="858793"/>
                <a:ext cx="3293076" cy="2074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损失函数：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𝑝𝑐𝑒</m:t>
                        </m:r>
                      </m:sub>
                    </m:sSub>
                  </m:oMath>
                </a14:m>
                <a:r>
                  <a:rPr lang="en-US" altLang="zh-CN" dirty="0"/>
                  <a:t>(</a:t>
                </a:r>
                <a:r>
                  <a:rPr lang="zh-CN" altLang="en-US" dirty="0"/>
                  <a:t>点监督基础损失）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𝑎𝑟𝑒𝑎</m:t>
                        </m:r>
                      </m:sub>
                    </m:sSub>
                  </m:oMath>
                </a14:m>
                <a:r>
                  <a:rPr lang="zh-CN" altLang="en-US" dirty="0"/>
                  <a:t>（形状先验软监督）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</m:oMath>
                </a14:m>
                <a:r>
                  <a:rPr lang="zh-CN" altLang="en-US" dirty="0"/>
                  <a:t>（对比学习）</a:t>
                </a:r>
                <a:endParaRPr lang="en-US" altLang="zh-CN" dirty="0"/>
              </a:p>
              <a:p>
                <a:endParaRPr lang="en-US" altLang="zh-CN" dirty="0">
                  <a:latin typeface="Cambria Math" panose="02040503050406030204" pitchFamily="18" charset="0"/>
                </a:endParaRPr>
              </a:p>
              <a:p>
                <a:endParaRPr lang="en-US" altLang="zh-CN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dirty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en-US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0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𝑝𝑐𝑒</m:t>
                          </m:r>
                        </m:sub>
                      </m:sSub>
                      <m:r>
                        <a:rPr lang="zh-CN" altLang="en-US" i="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sub>
                      </m:sSub>
                      <m:sSub>
                        <m:sSub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0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sub>
                      </m:sSub>
                      <m:r>
                        <a:rPr lang="zh-CN" altLang="en-US" i="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𝑐𝑙</m:t>
                          </m:r>
                        </m:sub>
                      </m:sSub>
                      <m:sSub>
                        <m:sSub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0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𝑐𝑙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27CA566-2AE4-0915-699A-0D9A96FE7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546" y="858793"/>
                <a:ext cx="3293076" cy="2074158"/>
              </a:xfrm>
              <a:prstGeom prst="rect">
                <a:avLst/>
              </a:prstGeom>
              <a:blipFill>
                <a:blip r:embed="rId5"/>
                <a:stretch>
                  <a:fillRect l="-1481" t="-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97D3130C-09B5-2662-9920-18820535A122}"/>
              </a:ext>
            </a:extLst>
          </p:cNvPr>
          <p:cNvSpPr txBox="1"/>
          <p:nvPr/>
        </p:nvSpPr>
        <p:spPr>
          <a:xfrm>
            <a:off x="8816546" y="3546389"/>
            <a:ext cx="2555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推理阶段：仅使用主模型。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36904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基于形状先验的软监督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3A5615F-131A-52AD-176A-CEFBCDE1C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84" y="1009083"/>
            <a:ext cx="7583267" cy="25901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656089-F6C9-5B59-B93B-63901141762D}"/>
                  </a:ext>
                </a:extLst>
              </p:cNvPr>
              <p:cNvSpPr txBox="1"/>
              <p:nvPr/>
            </p:nvSpPr>
            <p:spPr>
              <a:xfrm>
                <a:off x="8106032" y="1481415"/>
                <a:ext cx="3892379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accent5">
                        <a:lumMod val="50000"/>
                      </a:schemeClr>
                    </a:solidFill>
                    <a:cs typeface="+mn-ea"/>
                  </a:rPr>
                  <a:t>多层级 </a:t>
                </a:r>
                <a:r>
                  <a:rPr lang="en-US" altLang="zh-CN" sz="2000" dirty="0">
                    <a:solidFill>
                      <a:schemeClr val="accent5">
                        <a:lumMod val="50000"/>
                      </a:schemeClr>
                    </a:solidFill>
                    <a:cs typeface="+mn-ea"/>
                  </a:rPr>
                  <a:t>PAM </a:t>
                </a:r>
                <a:r>
                  <a:rPr lang="zh-CN" altLang="en-US" sz="2000" dirty="0">
                    <a:solidFill>
                      <a:schemeClr val="accent5">
                        <a:lumMod val="50000"/>
                      </a:schemeClr>
                    </a:solidFill>
                    <a:cs typeface="+mn-ea"/>
                  </a:rPr>
                  <a:t>生成</a:t>
                </a:r>
                <a:r>
                  <a:rPr lang="zh-CN" altLang="en-US" dirty="0"/>
                  <a:t>：利用梯度加权生成粗略定位图。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sz="2000" dirty="0">
                    <a:solidFill>
                      <a:schemeClr val="accent5">
                        <a:lumMod val="50000"/>
                      </a:schemeClr>
                    </a:solidFill>
                    <a:cs typeface="+mn-ea"/>
                  </a:rPr>
                  <a:t>动量更新策略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sz="2000" dirty="0">
                    <a:solidFill>
                      <a:schemeClr val="accent5">
                        <a:lumMod val="50000"/>
                      </a:schemeClr>
                    </a:solidFill>
                    <a:cs typeface="+mn-ea"/>
                  </a:rPr>
                  <a:t>面积约束损失</a:t>
                </a:r>
                <a:r>
                  <a:rPr lang="zh-CN" altLang="en-US" dirty="0"/>
                  <a:t>：限制主模型预测范围。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656089-F6C9-5B59-B93B-639011417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032" y="1481415"/>
                <a:ext cx="3892379" cy="2677656"/>
              </a:xfrm>
              <a:prstGeom prst="rect">
                <a:avLst/>
              </a:prstGeom>
              <a:blipFill>
                <a:blip r:embed="rId5"/>
                <a:stretch>
                  <a:fillRect l="-1724" t="-1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4B0670B0-7AA9-3899-0E9D-0BC013D08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9605" y="4457422"/>
            <a:ext cx="5525530" cy="9183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B755B80-BC10-E859-ABD3-FF6A01E54E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1" y="3599219"/>
            <a:ext cx="5213914" cy="2849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3998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05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像素和区域混合对比学习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E7CD6F0-523C-1925-EE53-15EFEBA48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14" y="973741"/>
            <a:ext cx="10888295" cy="360764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27CDCFB-738D-4D15-7C56-C8E16F1778C3}"/>
              </a:ext>
            </a:extLst>
          </p:cNvPr>
          <p:cNvSpPr txBox="1"/>
          <p:nvPr/>
        </p:nvSpPr>
        <p:spPr>
          <a:xfrm>
            <a:off x="878656" y="4590536"/>
            <a:ext cx="9639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混合特征采样</a:t>
            </a:r>
            <a:r>
              <a:rPr lang="zh-CN" altLang="en-US" dirty="0"/>
              <a:t>： 融合像素级细节与区域级语义，增强特征的抗噪能力。</a:t>
            </a:r>
            <a:endParaRPr lang="en-US" altLang="zh-CN" dirty="0"/>
          </a:p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动态记忆库</a:t>
            </a:r>
            <a:r>
              <a:rPr lang="zh-CN" altLang="en-US" dirty="0"/>
              <a:t>： 存储海量历史特征，丰富样本多样性。</a:t>
            </a:r>
            <a:endParaRPr lang="en-US" altLang="zh-CN" dirty="0"/>
          </a:p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难例挖掘策略</a:t>
            </a:r>
            <a:r>
              <a:rPr lang="zh-CN" altLang="en-US" dirty="0"/>
              <a:t>： 引入</a:t>
            </a:r>
            <a:r>
              <a:rPr lang="zh-CN" altLang="en-US"/>
              <a:t>位置权重，强化边缘监督。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33826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06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实验部分（主试验）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D5D7A40-6EE8-8490-B5DC-DDBB91699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217" y="793259"/>
            <a:ext cx="7627482" cy="5694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33826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06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实验部分（可视化）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C5FD074-0202-F583-F464-FF096B09D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24" y="912012"/>
            <a:ext cx="10293178" cy="49104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8437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07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消融实验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0369B73-C898-33D4-700A-615BD05C4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80" y="1395458"/>
            <a:ext cx="11883453" cy="37264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1515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08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鲁棒性分析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6F588FD-B310-FBB7-031E-FB96F4973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98" y="1314155"/>
            <a:ext cx="10159668" cy="4052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4742A-7BDE-1984-CC66-3671C163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21EE66D0-109C-0435-D5DE-F69B8AB68449}"/>
              </a:ext>
            </a:extLst>
          </p:cNvPr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FA389A50-D510-7139-034A-F94EB1AC6BEA}"/>
                </a:ext>
              </a:extLst>
            </p:cNvPr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6C804DF2-3EBF-BBEC-1CB3-6FDED42C18A6}"/>
                </a:ext>
              </a:extLst>
            </p:cNvPr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D48C01E6-18A7-3F56-2C70-C7A7A0032C13}"/>
              </a:ext>
            </a:extLst>
          </p:cNvPr>
          <p:cNvSpPr/>
          <p:nvPr/>
        </p:nvSpPr>
        <p:spPr>
          <a:xfrm>
            <a:off x="1006955" y="331594"/>
            <a:ext cx="1228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09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总结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8C8DC4D-4695-87E0-455F-5753EC5DFD38}"/>
              </a:ext>
            </a:extLst>
          </p:cNvPr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75A61E4-CA78-5E94-F16C-46CE62A784A7}"/>
              </a:ext>
            </a:extLst>
          </p:cNvPr>
          <p:cNvSpPr txBox="1"/>
          <p:nvPr/>
        </p:nvSpPr>
        <p:spPr>
          <a:xfrm>
            <a:off x="944385" y="793259"/>
            <a:ext cx="10379641" cy="5548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720000" algn="just">
              <a:lnSpc>
                <a:spcPct val="200000"/>
              </a:lnSpc>
            </a:pPr>
            <a:r>
              <a:rPr lang="zh-CN" altLang="en-US" dirty="0"/>
              <a:t>面对眼底血管分割中“标注成本高昂”与“弱监督信息匮乏”的问题，文章提出了一种“基于点监督的血管分割网络 </a:t>
            </a:r>
            <a:r>
              <a:rPr lang="en-US" altLang="zh-CN" dirty="0"/>
              <a:t>(PVN)</a:t>
            </a:r>
            <a:r>
              <a:rPr lang="zh-CN" altLang="en-US" dirty="0"/>
              <a:t>”，通过引入形状先验和对比学习的双重策略，有效解决了点标注场景下信息稀疏和特征难以区分的问题 。</a:t>
            </a:r>
            <a:endParaRPr lang="en-US" altLang="zh-CN" dirty="0"/>
          </a:p>
          <a:p>
            <a:pPr indent="720000" algn="just">
              <a:lnSpc>
                <a:spcPct val="200000"/>
              </a:lnSpc>
            </a:pPr>
            <a:r>
              <a:rPr lang="zh-CN" altLang="en-US" dirty="0"/>
              <a:t>首先，文章引入了基于形状先验的软监督机制解决标注信息缺失问题。模型利用辅助网络生成的点激活图 </a:t>
            </a:r>
            <a:r>
              <a:rPr lang="en-US" altLang="zh-CN" dirty="0"/>
              <a:t>(PAM) </a:t>
            </a:r>
            <a:r>
              <a:rPr lang="zh-CN" altLang="en-US" dirty="0"/>
              <a:t>来动态估计血管区域面积。这种面积估计作为一种“软监督”约束，迫使分割结果符合血管的几何先验。</a:t>
            </a:r>
            <a:endParaRPr lang="en-US" altLang="zh-CN" dirty="0"/>
          </a:p>
          <a:p>
            <a:pPr indent="720000" algn="just">
              <a:lnSpc>
                <a:spcPct val="200000"/>
              </a:lnSpc>
            </a:pPr>
            <a:r>
              <a:rPr lang="zh-CN" altLang="en-US" dirty="0"/>
              <a:t>其次，为了提升特征的鉴别力，文章设计了像素与区域混合的对比学习模块。 针对稀疏点监督下模型难以区分低对比度血管与背景的问题，该模块不仅对比像素级特征，还引入了区域级特征，并结合位置权重来重点关注血管边缘。这不仅增强了特征空间的类间差异，还显著提升了模型对微细血管和边缘区域的分割精度</a:t>
            </a:r>
          </a:p>
        </p:txBody>
      </p:sp>
    </p:spTree>
    <p:extLst>
      <p:ext uri="{BB962C8B-B14F-4D97-AF65-F5344CB8AC3E}">
        <p14:creationId xmlns:p14="http://schemas.microsoft.com/office/powerpoint/2010/main" val="318322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5640421" y="3947364"/>
            <a:ext cx="91115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85110" y="2649220"/>
            <a:ext cx="6622415" cy="1013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 typeface="Wingdings" panose="05000000000000000000" charset="0"/>
            </a:pPr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请老师同学批评指正！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00031],&quot;70&quot;:[3321880,3315855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3.55,&quot;left&quot;:79.3,&quot;top&quot;:90.75,&quot;width&quot;:736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1ayxfd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3047</TotalTime>
  <Words>542</Words>
  <Application>Microsoft Office PowerPoint</Application>
  <PresentationFormat>宽屏</PresentationFormat>
  <Paragraphs>44</Paragraphs>
  <Slides>13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志洋 彭</cp:lastModifiedBy>
  <cp:revision>228</cp:revision>
  <dcterms:created xsi:type="dcterms:W3CDTF">2021-06-29T08:54:00Z</dcterms:created>
  <dcterms:modified xsi:type="dcterms:W3CDTF">2026-03-14T12:47:07Z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KSOTemplateUUID">
    <vt:lpwstr>v1.0_mb_3/AUWq/N1aYnYRXji2t99Q==</vt:lpwstr>
  </property>
  <property fmtid="{D5CDD505-2E9C-101B-9397-08002B2CF9AE}" pid="4" name="ICV">
    <vt:lpwstr>F3CCCED4F8D6492AB87A4B373DD5B26C_11</vt:lpwstr>
  </property>
</Properties>
</file>