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493" r:id="rId5"/>
    <p:sldId id="488" r:id="rId6"/>
    <p:sldId id="455" r:id="rId7"/>
    <p:sldId id="489" r:id="rId8"/>
    <p:sldId id="490" r:id="rId9"/>
    <p:sldId id="373" r:id="rId10"/>
    <p:sldId id="454" r:id="rId11"/>
    <p:sldId id="449" r:id="rId12"/>
    <p:sldId id="491" r:id="rId13"/>
    <p:sldId id="474" r:id="rId14"/>
    <p:sldId id="486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7" userDrawn="1">
          <p15:clr>
            <a:srgbClr val="A4A3A4"/>
          </p15:clr>
        </p15:guide>
        <p15:guide id="2" pos="3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E79"/>
    <a:srgbClr val="3D74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86" autoAdjust="0"/>
    <p:restoredTop sz="95387" autoAdjust="0"/>
  </p:normalViewPr>
  <p:slideViewPr>
    <p:cSldViewPr snapToGrid="0" showGuides="1">
      <p:cViewPr varScale="1">
        <p:scale>
          <a:sx n="84" d="100"/>
          <a:sy n="84" d="100"/>
        </p:scale>
        <p:origin x="285" y="42"/>
      </p:cViewPr>
      <p:guideLst>
        <p:guide orient="horz" pos="2147"/>
        <p:guide pos="387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2829" y="2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301BD9-4243-4367-977C-650CCA5948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E627-AC3B-4BB5-A330-7F7F083169B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7F0A5-1087-41D0-863F-D517773395D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fld id="{18C8E5C5-05D3-4171-9F3F-370131363719}" type="slidenum">
              <a:rPr lang="zh-CN" altLang="en-US" smtClean="0"/>
            </a:fld>
            <a:r>
              <a:rPr lang="zh-CN" altLang="en-US" dirty="0"/>
              <a:t>页，共</a:t>
            </a:r>
            <a:r>
              <a:rPr lang="en-US" altLang="zh-CN" dirty="0"/>
              <a:t>15</a:t>
            </a:r>
            <a:r>
              <a:rPr lang="zh-CN" altLang="en-US" dirty="0"/>
              <a:t>页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2F8BE-5063-4F34-92EA-B3FA843CFEA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r>
              <a:rPr lang="en-US" altLang="zh-CN" dirty="0"/>
              <a:t>/18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02B46-BFB9-4CEF-93EC-34E5AD6D0033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5AA0C-B1BD-4BCF-A3B8-708428A52EE6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E93D6-D454-43F6-A870-BD41E383CC80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68832-DD79-4DDD-BB66-19DFD0E3EA84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09E26-EE57-44FC-858A-1B70E672902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1F654-30F8-442A-AC99-FC9623976293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4CBED-1363-4FDB-B4C8-A06ACFE08A3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65E6C-173D-433B-A34A-167DC24B426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1A9766-F52F-4A3F-8A78-9B1927FC31F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/>
              <a:t>第</a:t>
            </a:r>
            <a:fld id="{18C8E5C5-05D3-4171-9F3F-370131363719}" type="slidenum">
              <a:rPr lang="zh-CN" altLang="en-US" smtClean="0"/>
            </a:fld>
            <a:r>
              <a:rPr lang="zh-CN" altLang="en-US" dirty="0"/>
              <a:t>页，共</a:t>
            </a:r>
            <a:r>
              <a:rPr lang="en-US" altLang="zh-CN" dirty="0"/>
              <a:t>18</a:t>
            </a:r>
            <a:r>
              <a:rPr lang="zh-CN" altLang="en-US" dirty="0"/>
              <a:t>页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11085" cy="685799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880915" y="0"/>
            <a:ext cx="31108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>
            <a:off x="2662096" y="3074347"/>
            <a:ext cx="741103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2765140" y="4965545"/>
            <a:ext cx="741103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5095186" y="173212"/>
            <a:ext cx="2123437" cy="2123436"/>
          </a:xfrm>
          <a:prstGeom prst="ellipse">
            <a:avLst/>
          </a:prstGeom>
          <a:gradFill flip="none" rotWithShape="1">
            <a:gsLst>
              <a:gs pos="0">
                <a:srgbClr val="BFBFBF"/>
              </a:gs>
              <a:gs pos="52000">
                <a:srgbClr val="FFFFFF"/>
              </a:gs>
              <a:gs pos="100000">
                <a:srgbClr val="0070C0">
                  <a:tint val="0"/>
                </a:srgbClr>
              </a:gs>
            </a:gsLst>
            <a:lin ang="2700000" scaled="1"/>
            <a:tileRect/>
          </a:gradFill>
          <a:ln w="73025" cap="flat" cmpd="sng" algn="ctr">
            <a:solidFill>
              <a:srgbClr val="F2F2F2"/>
            </a:solidFill>
            <a:prstDash val="solid"/>
          </a:ln>
          <a:effectLst>
            <a:outerShdw blurRad="190500" dist="254000" dir="2699985" rotWithShape="0">
              <a:scrgbClr r="0" g="0" b="0">
                <a:alpha val="23000"/>
              </a:scrgbClr>
            </a:outerShdw>
          </a:effectLst>
        </p:spPr>
        <p:txBody>
          <a:bodyPr rtlCol="0" anchor="ctr"/>
          <a:lstStyle/>
          <a:p>
            <a:pPr algn="ctr" defTabSz="1088390">
              <a:defRPr/>
            </a:pPr>
            <a:endParaRPr lang="zh-CN" altLang="en-US" sz="3200" kern="0">
              <a:solidFill>
                <a:srgbClr val="000000"/>
              </a:solidFill>
              <a:latin typeface="Impact" panose="020B0806030902050204"/>
              <a:ea typeface="方正姚体" panose="02010601030101010101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2056" y="270081"/>
            <a:ext cx="2005547" cy="2005547"/>
          </a:xfrm>
          <a:prstGeom prst="rect">
            <a:avLst/>
          </a:prstGeom>
        </p:spPr>
      </p:pic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fld id="{18C8E5C5-05D3-4171-9F3F-370131363719}" type="slidenum">
              <a:rPr lang="zh-CN" altLang="en-US" smtClean="0"/>
            </a:fld>
            <a:r>
              <a:rPr lang="zh-CN" altLang="en-US" dirty="0"/>
              <a:t>页，共</a:t>
            </a:r>
            <a:r>
              <a:rPr lang="en-US" altLang="zh-CN" dirty="0"/>
              <a:t>15</a:t>
            </a:r>
            <a:r>
              <a:rPr lang="zh-CN" altLang="en-US" dirty="0"/>
              <a:t>页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1107440" y="2556510"/>
            <a:ext cx="10349230" cy="20796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pPr algn="ctr"/>
            <a:r>
              <a:rPr lang="en-US" altLang="zh-CN" sz="4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3600">
                <a:latin typeface="Times New Roman" panose="02020603050405020304" charset="0"/>
                <a:cs typeface="Times New Roman" panose="02020603050405020304" charset="0"/>
              </a:rPr>
              <a:t>JOANet: An Integrated </a:t>
            </a:r>
            <a:r>
              <a:rPr lang="en-US" altLang="zh-CN" sz="360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Joint Optimization</a:t>
            </a:r>
            <a:r>
              <a:rPr lang="en-US" altLang="zh-CN" sz="3600">
                <a:latin typeface="Times New Roman" panose="02020603050405020304" charset="0"/>
                <a:cs typeface="Times New Roman" panose="02020603050405020304" charset="0"/>
              </a:rPr>
              <a:t> Architecture Making Medical Image Segmentation Really Helped by </a:t>
            </a:r>
            <a:r>
              <a:rPr lang="en-US" altLang="zh-CN" sz="360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Super-Resolution</a:t>
            </a:r>
            <a:r>
              <a:rPr lang="en-US" altLang="zh-CN" sz="3600">
                <a:latin typeface="Times New Roman" panose="02020603050405020304" charset="0"/>
                <a:cs typeface="Times New Roman" panose="02020603050405020304" charset="0"/>
              </a:rPr>
              <a:t> Pre-Processing</a:t>
            </a:r>
            <a:endParaRPr lang="en-US" altLang="zh-CN" sz="4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/>
              <a:t> </a:t>
            </a:r>
            <a:endParaRPr lang="en-US" altLang="zh-CN"/>
          </a:p>
          <a:p>
            <a:r>
              <a:rPr lang="en-US" altLang="zh-CN"/>
              <a:t>                                                                                  </a:t>
            </a:r>
            <a:r>
              <a:rPr lang="zh-CN" altLang="en-US"/>
              <a:t>来源：</a:t>
            </a:r>
            <a:r>
              <a:rPr lang="en-US" altLang="zh-CN"/>
              <a:t>TIP       2025</a:t>
            </a:r>
            <a:r>
              <a:rPr lang="zh-CN" altLang="en-US"/>
              <a:t>年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                                                        Cheng-Hao Qiu , Xian-Shi Zhang , and Yong-Jie Li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168800" y="283371"/>
            <a:ext cx="2780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作者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fld id="{18C8E5C5-05D3-4171-9F3F-370131363719}" type="slidenum">
              <a:rPr lang="zh-CN" altLang="en-US" smtClean="0"/>
            </a:fld>
            <a:r>
              <a:rPr lang="zh-CN" altLang="en-US" dirty="0"/>
              <a:t>页，共</a:t>
            </a:r>
            <a:r>
              <a:rPr lang="en-US" altLang="zh-CN" dirty="0"/>
              <a:t>15</a:t>
            </a:r>
            <a:r>
              <a:rPr lang="zh-CN" altLang="en-US" dirty="0"/>
              <a:t>页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740" y="834390"/>
            <a:ext cx="6927850" cy="55689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10" y="1281430"/>
            <a:ext cx="4727575" cy="13671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168165" y="264321"/>
            <a:ext cx="278090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fld id="{18C8E5C5-05D3-4171-9F3F-370131363719}" type="slidenum">
              <a:rPr lang="zh-CN" altLang="en-US" smtClean="0"/>
            </a:fld>
            <a:r>
              <a:rPr lang="zh-CN" altLang="en-US" dirty="0"/>
              <a:t>页，共</a:t>
            </a:r>
            <a:r>
              <a:rPr lang="en-US" altLang="zh-CN" dirty="0"/>
              <a:t>15</a:t>
            </a:r>
            <a:r>
              <a:rPr lang="zh-CN" altLang="en-US" dirty="0"/>
              <a:t>页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9810" y="1043940"/>
            <a:ext cx="7612380" cy="4770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168165" y="264321"/>
            <a:ext cx="278090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创新点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fld id="{18C8E5C5-05D3-4171-9F3F-370131363719}" type="slidenum">
              <a:rPr lang="zh-CN" altLang="en-US" smtClean="0"/>
            </a:fld>
            <a:r>
              <a:rPr lang="zh-CN" altLang="en-US" dirty="0"/>
              <a:t>页，共</a:t>
            </a:r>
            <a:r>
              <a:rPr lang="en-US" altLang="zh-CN" dirty="0"/>
              <a:t>15</a:t>
            </a:r>
            <a:r>
              <a:rPr lang="zh-CN" altLang="en-US" dirty="0"/>
              <a:t>页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50" y="1082675"/>
            <a:ext cx="6130290" cy="5273675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6508750" y="1554480"/>
            <a:ext cx="55245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理想情况下采用高分辨率（</a:t>
            </a:r>
            <a:r>
              <a:rPr lang="en-US" altLang="zh-CN"/>
              <a:t>HR</a:t>
            </a:r>
            <a:r>
              <a:rPr lang="zh-CN" altLang="en-US"/>
              <a:t>）图像作为输入</a:t>
            </a:r>
            <a:r>
              <a:rPr lang="en-US" altLang="zh-CN"/>
              <a:t>,</a:t>
            </a:r>
            <a:r>
              <a:rPr lang="zh-CN" altLang="en-US"/>
              <a:t>但临床中获取高分辨率图像用于分割往往困难重重。</a:t>
            </a:r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6508750" y="2947670"/>
            <a:ext cx="55778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将超分辨率（</a:t>
            </a:r>
            <a:r>
              <a:rPr lang="en-US" altLang="zh-CN"/>
              <a:t>SR</a:t>
            </a:r>
            <a:r>
              <a:rPr lang="zh-CN" altLang="en-US"/>
              <a:t>）方法作为预处理。但</a:t>
            </a:r>
            <a:r>
              <a:rPr lang="en-US" altLang="zh-CN"/>
              <a:t>SR</a:t>
            </a:r>
            <a:r>
              <a:rPr lang="zh-CN" altLang="en-US"/>
              <a:t>网络只优化视觉质量和统计指标，忽略了分割任务的实际需求，导致分割效果提升有限。</a:t>
            </a:r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6509385" y="4747260"/>
            <a:ext cx="55232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提出联合训练网络，将</a:t>
            </a:r>
            <a:r>
              <a:rPr lang="en-US" altLang="zh-CN"/>
              <a:t>SR</a:t>
            </a:r>
            <a:r>
              <a:rPr lang="zh-CN" altLang="en-US"/>
              <a:t>与分割任务集成到统一学习框架中。分割网络的语义反馈直接引导</a:t>
            </a:r>
            <a:r>
              <a:rPr lang="en-US" altLang="zh-CN"/>
              <a:t>SR</a:t>
            </a:r>
            <a:r>
              <a:rPr lang="zh-CN" altLang="en-US"/>
              <a:t>网络的重建过程，使</a:t>
            </a:r>
            <a:r>
              <a:rPr lang="en-US" altLang="zh-CN"/>
              <a:t>SR</a:t>
            </a:r>
            <a:r>
              <a:rPr lang="zh-CN" altLang="en-US"/>
              <a:t>网络不仅提升分辨率，还能生成对分割更友好的图像。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167890" y="264160"/>
            <a:ext cx="37941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超分辨率重建网络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fld id="{18C8E5C5-05D3-4171-9F3F-370131363719}" type="slidenum">
              <a:rPr lang="zh-CN" altLang="en-US" smtClean="0"/>
            </a:fld>
            <a:r>
              <a:rPr lang="zh-CN" altLang="en-US" dirty="0"/>
              <a:t>页，共</a:t>
            </a:r>
            <a:r>
              <a:rPr lang="en-US" altLang="zh-CN" dirty="0"/>
              <a:t>15</a:t>
            </a:r>
            <a:r>
              <a:rPr lang="zh-CN" altLang="en-US" dirty="0"/>
              <a:t>页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2880" b="1622"/>
          <a:stretch>
            <a:fillRect/>
          </a:stretch>
        </p:blipFill>
        <p:spPr>
          <a:xfrm>
            <a:off x="3338195" y="867410"/>
            <a:ext cx="5515610" cy="59823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168165" y="264321"/>
            <a:ext cx="278090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损失函数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fld id="{18C8E5C5-05D3-4171-9F3F-370131363719}" type="slidenum">
              <a:rPr lang="zh-CN" altLang="en-US" smtClean="0"/>
            </a:fld>
            <a:r>
              <a:rPr lang="zh-CN" altLang="en-US" dirty="0"/>
              <a:t>页，共</a:t>
            </a:r>
            <a:r>
              <a:rPr lang="en-US" altLang="zh-CN" dirty="0"/>
              <a:t>15</a:t>
            </a:r>
            <a:r>
              <a:rPr lang="zh-CN" altLang="en-US" dirty="0"/>
              <a:t>页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10" y="1051560"/>
            <a:ext cx="6646545" cy="481901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280" y="6024880"/>
            <a:ext cx="2696210" cy="56070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8840" y="6024880"/>
            <a:ext cx="2430780" cy="51054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005" y="867410"/>
            <a:ext cx="3622040" cy="134112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rcRect l="4373"/>
          <a:stretch>
            <a:fillRect/>
          </a:stretch>
        </p:blipFill>
        <p:spPr>
          <a:xfrm>
            <a:off x="7406005" y="2627630"/>
            <a:ext cx="3698875" cy="148082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0765" y="4138930"/>
            <a:ext cx="3211195" cy="46545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30465" y="5118100"/>
            <a:ext cx="3926205" cy="955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168165" y="264321"/>
            <a:ext cx="278090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015" y="1294130"/>
            <a:ext cx="5953760" cy="495871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531100" y="2038350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对比方法：训练与测试阶段均使用参考高分辨率图像</a:t>
            </a:r>
            <a:endParaRPr lang="zh-CN" altLang="en-US" sz="2400"/>
          </a:p>
        </p:txBody>
      </p:sp>
      <p:sp>
        <p:nvSpPr>
          <p:cNvPr id="12" name="文本框 11"/>
          <p:cNvSpPr txBox="1"/>
          <p:nvPr/>
        </p:nvSpPr>
        <p:spPr>
          <a:xfrm>
            <a:off x="7531100" y="4354830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文章方法：输入为低分辨率图像</a:t>
            </a:r>
            <a:endParaRPr lang="zh-CN" altLang="en-US" sz="2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167890" y="264160"/>
            <a:ext cx="52254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Synapse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数据集多器官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445" y="1494790"/>
            <a:ext cx="11675110" cy="34461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560" y="1647190"/>
            <a:ext cx="10342880" cy="451485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167890" y="264160"/>
            <a:ext cx="52254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Synapse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数据集多器官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167890" y="264160"/>
            <a:ext cx="73647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心脏数据集和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脑肿瘤数据集上的对比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" y="1296670"/>
            <a:ext cx="4968240" cy="423164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6370" y="1296670"/>
            <a:ext cx="6758940" cy="43154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168165" y="264321"/>
            <a:ext cx="278090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38530" y="1219200"/>
            <a:ext cx="98577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问题与动机</a:t>
            </a:r>
            <a:endParaRPr lang="zh-CN" altLang="en-US" sz="2400" b="1"/>
          </a:p>
          <a:p>
            <a:pPr indent="457200"/>
            <a:r>
              <a:rPr lang="zh-CN" altLang="en-US" sz="2400"/>
              <a:t>临床低分辨率图像导致分割精度下降，传统</a:t>
            </a:r>
            <a:r>
              <a:rPr lang="en-US" altLang="zh-CN" sz="2400"/>
              <a:t>SR</a:t>
            </a:r>
            <a:r>
              <a:rPr lang="zh-CN" altLang="en-US" sz="2400"/>
              <a:t>预处理因优化目标与分割任务脱节，提升效果有限。</a:t>
            </a:r>
            <a:endParaRPr lang="zh-CN" altLang="en-US" sz="2400"/>
          </a:p>
        </p:txBody>
      </p:sp>
      <p:sp>
        <p:nvSpPr>
          <p:cNvPr id="7" name="文本框 6"/>
          <p:cNvSpPr txBox="1"/>
          <p:nvPr/>
        </p:nvSpPr>
        <p:spPr>
          <a:xfrm>
            <a:off x="938530" y="2830830"/>
            <a:ext cx="98583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核心方法</a:t>
            </a:r>
            <a:endParaRPr lang="zh-CN" altLang="en-US" sz="2400" b="1"/>
          </a:p>
          <a:p>
            <a:pPr indent="457200"/>
            <a:r>
              <a:rPr lang="zh-CN" altLang="en-US" sz="2400"/>
              <a:t>提出</a:t>
            </a:r>
            <a:r>
              <a:rPr lang="en-US" altLang="zh-CN" sz="2400"/>
              <a:t>JOANet</a:t>
            </a:r>
            <a:r>
              <a:rPr lang="zh-CN" altLang="en-US" sz="2400"/>
              <a:t>联合训练框架，通过语义损失将分割网络的反馈传回</a:t>
            </a:r>
            <a:r>
              <a:rPr lang="en-US" altLang="zh-CN" sz="2400"/>
              <a:t>SR</a:t>
            </a:r>
            <a:r>
              <a:rPr lang="zh-CN" altLang="en-US" sz="2400"/>
              <a:t>网络，使</a:t>
            </a:r>
            <a:r>
              <a:rPr lang="en-US" altLang="zh-CN" sz="2400"/>
              <a:t>SR</a:t>
            </a:r>
            <a:r>
              <a:rPr lang="zh-CN" altLang="en-US" sz="2400"/>
              <a:t>重建以分割需求为导向，两个网络协同优化而非各自为政。</a:t>
            </a:r>
            <a:endParaRPr lang="zh-CN" altLang="en-US" sz="2400"/>
          </a:p>
        </p:txBody>
      </p:sp>
      <p:sp>
        <p:nvSpPr>
          <p:cNvPr id="8" name="文本框 7"/>
          <p:cNvSpPr txBox="1"/>
          <p:nvPr/>
        </p:nvSpPr>
        <p:spPr>
          <a:xfrm>
            <a:off x="939165" y="4442460"/>
            <a:ext cx="985710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启发</a:t>
            </a:r>
            <a:endParaRPr lang="zh-CN" altLang="en-US" sz="2400" b="1"/>
          </a:p>
          <a:p>
            <a:pPr indent="457200"/>
            <a:r>
              <a:rPr lang="zh-CN" altLang="en-US" sz="2400"/>
              <a:t>低级视觉任务和高级视觉任务之间的优化目标错位，是一个普遍存在的问题，这篇论文用控制梯度流向的方式提供了一个简洁的解决思路，值得借鉴到其他任务的联合优化设计中。</a:t>
            </a:r>
            <a:endParaRPr lang="zh-CN" altLang="en-US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1932495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168165" y="264321"/>
            <a:ext cx="278090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结语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4" y="0"/>
            <a:ext cx="1789251" cy="10518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675" y="71847"/>
            <a:ext cx="2336220" cy="67365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028440" y="2969260"/>
            <a:ext cx="40640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0"/>
              <a:t>感谢聆听！</a:t>
            </a:r>
            <a:endParaRPr lang="zh-CN" altLang="en-US"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892</Words>
  <Application>WPS 演示</Application>
  <PresentationFormat>宽屏</PresentationFormat>
  <Paragraphs>61</Paragraphs>
  <Slides>12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宋体</vt:lpstr>
      <vt:lpstr>Wingdings</vt:lpstr>
      <vt:lpstr>Impact</vt:lpstr>
      <vt:lpstr>方正姚体</vt:lpstr>
      <vt:lpstr>微软雅黑</vt:lpstr>
      <vt:lpstr>Calibri</vt:lpstr>
      <vt:lpstr>Arial Unicode MS</vt:lpstr>
      <vt:lpstr>Calibri Light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演示文稿3</dc:title>
  <dc:creator>LYK</dc:creator>
  <cp:lastModifiedBy>月色</cp:lastModifiedBy>
  <cp:revision>272</cp:revision>
  <dcterms:created xsi:type="dcterms:W3CDTF">2016-04-09T13:02:00Z</dcterms:created>
  <dcterms:modified xsi:type="dcterms:W3CDTF">2026-03-28T02:59:06Z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B5CC9B3014534934B8927105366829CF_12</vt:lpwstr>
  </property>
</Properties>
</file>