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9" r:id="rId4"/>
    <p:sldId id="260" r:id="rId5"/>
    <p:sldId id="361" r:id="rId6"/>
    <p:sldId id="306" r:id="rId8"/>
    <p:sldId id="365" r:id="rId9"/>
    <p:sldId id="308" r:id="rId10"/>
    <p:sldId id="372" r:id="rId11"/>
    <p:sldId id="310" r:id="rId12"/>
    <p:sldId id="373" r:id="rId13"/>
    <p:sldId id="368" r:id="rId14"/>
    <p:sldId id="369" r:id="rId15"/>
    <p:sldId id="286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0" userDrawn="1">
          <p15:clr>
            <a:srgbClr val="A4A3A4"/>
          </p15:clr>
        </p15:guide>
        <p15:guide id="2" pos="3928" userDrawn="1">
          <p15:clr>
            <a:srgbClr val="A4A3A4"/>
          </p15:clr>
        </p15:guide>
        <p15:guide id="3" pos="40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D91515"/>
    <a:srgbClr val="EE0000"/>
    <a:srgbClr val="18B0F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82" y="245"/>
      </p:cViewPr>
      <p:guideLst>
        <p:guide orient="horz" pos="2270"/>
        <p:guide pos="3928"/>
        <p:guide pos="40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5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</a:fld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1.jpe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87050" y="2421753"/>
            <a:ext cx="7018020" cy="1076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Single Image Test-Time Adaptation 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32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via  Multi-View Co-Training</a:t>
            </a:r>
            <a:endParaRPr lang="en-US" altLang="zh-CN" sz="32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43455" y="4943475"/>
            <a:ext cx="770572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汇报人：刘意爽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           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汇报日期：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2026.04.11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640421" y="4053409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431101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MICCAI 2025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作者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8918575" y="3030220"/>
            <a:ext cx="2771775" cy="70675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主要研究方向：</a:t>
            </a:r>
            <a:b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</a:b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医学图像分割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域适应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390" y="751840"/>
            <a:ext cx="7486015" cy="5723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214693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motivation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3"/>
            </p:custDataLst>
          </p:nvPr>
        </p:nvGrpSpPr>
        <p:grpSpPr>
          <a:xfrm>
            <a:off x="1083310" y="1485900"/>
            <a:ext cx="9357995" cy="1388745"/>
            <a:chOff x="9600" y="1712"/>
            <a:chExt cx="7649" cy="2187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9600" y="1712"/>
              <a:ext cx="7649" cy="62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indent="0" algn="l">
                <a:buFont typeface="Wingdings" panose="05000000000000000000" charset="0"/>
                <a:buNone/>
              </a:pP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Test-Time Adaptation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（</a:t>
              </a: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TTA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）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5" name="矩形 34"/>
            <p:cNvSpPr/>
            <p:nvPr>
              <p:custDataLst>
                <p:tags r:id="rId5"/>
              </p:custDataLst>
            </p:nvPr>
          </p:nvSpPr>
          <p:spPr>
            <a:xfrm>
              <a:off x="9600" y="2623"/>
              <a:ext cx="7449" cy="127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模型在测试阶段利用当前到来的无标签目标域数据，对自身进行在线调整，从而缓解训练域与测试域之间的分布偏移。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1083310" y="3168650"/>
            <a:ext cx="9174167" cy="1991995"/>
            <a:chOff x="9600" y="1712"/>
            <a:chExt cx="6961" cy="3188"/>
          </a:xfrm>
        </p:grpSpPr>
        <p:sp>
          <p:nvSpPr>
            <p:cNvPr id="14" name="矩形 13"/>
            <p:cNvSpPr/>
            <p:nvPr>
              <p:custDataLst>
                <p:tags r:id="rId7"/>
              </p:custDataLst>
            </p:nvPr>
          </p:nvSpPr>
          <p:spPr>
            <a:xfrm>
              <a:off x="9600" y="1712"/>
              <a:ext cx="6961" cy="63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l"/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目前</a:t>
              </a: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TTA </a:t>
              </a:r>
              <a:r>
                <a:rPr lang="zh-CN" altLang="en-US" sz="2000" b="1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面临的问题</a:t>
              </a:r>
              <a:endPara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8"/>
              </p:custDataLst>
            </p:nvPr>
          </p:nvSpPr>
          <p:spPr>
            <a:xfrm>
              <a:off x="9600" y="2623"/>
              <a:ext cx="6915" cy="2277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默认测试时可以获得多个目标样本或较大的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batch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，但真实临床中医学图像往往是按病例逐个到来，模型通常只能接触到单个无标签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3D volume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。与此同时，单样本条件下目标域统计难以可靠估计，而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 3D </a:t>
              </a:r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cs typeface="+mn-ea"/>
                  <a:sym typeface="+mn-lt"/>
                </a:rPr>
                <a:t>图像内部的多视角信息又尚未被充分利用。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214693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motivation</a:t>
            </a:r>
            <a:endParaRPr lang="en-US" altLang="zh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6" name="图片 5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326515" y="1640840"/>
            <a:ext cx="9357995" cy="5530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针对上述问题，提出一种基于多视角协同训练的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single-image TTA </a:t>
            </a:r>
            <a:r>
              <a:rPr lang="zh-CN" altLang="en-US" sz="2000" b="1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框架</a:t>
            </a:r>
            <a:endParaRPr lang="zh-CN" altLang="en-US" sz="2000" b="1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上箭头 1"/>
          <p:cNvSpPr/>
          <p:nvPr/>
        </p:nvSpPr>
        <p:spPr>
          <a:xfrm flipV="1">
            <a:off x="5747385" y="2423795"/>
            <a:ext cx="516890" cy="795020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114998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092825" y="3448685"/>
            <a:ext cx="4683760" cy="2519045"/>
          </a:xfrm>
          <a:prstGeom prst="rect">
            <a:avLst/>
          </a:prstGeom>
          <a:noFill/>
          <a:ln w="19050">
            <a:solidFill>
              <a:srgbClr val="20386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1353820" y="3943350"/>
            <a:ext cx="4276725" cy="152971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将单个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target volume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axial / sagittal / coronal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三个视角联合起来，通过熵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约束的高置信区域筛选生成更稳定的伪标签，而不是仅依赖单一视角预测。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296660" y="3790950"/>
            <a:ext cx="4276725" cy="188976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在整图级伪标签的基础上，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进一步对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overlapping patches 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施加自训练监督、预测一致性和特征一致性约束，从而在单病例条件下挖掘更充分的内部监督信号。</a:t>
            </a:r>
            <a:endParaRPr lang="zh-CN" altLang="en-US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90" y="791845"/>
            <a:ext cx="9787255" cy="5668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sym typeface="+mn-ea"/>
              </a:rPr>
              <a:t>研究思路与方法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12570"/>
          <a:stretch>
            <a:fillRect/>
          </a:stretch>
        </p:blipFill>
        <p:spPr>
          <a:xfrm>
            <a:off x="300355" y="1790065"/>
            <a:ext cx="5682615" cy="22834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60730" y="4344670"/>
            <a:ext cx="4761865" cy="847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/>
              <a:t>模型不会持续学习</a:t>
            </a:r>
            <a:endParaRPr lang="zh-CN" altLang="en-US" sz="2000"/>
          </a:p>
          <a:p>
            <a:pPr marL="285750" indent="-28575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/>
              <a:t>对于每个</a:t>
            </a:r>
            <a:r>
              <a:rPr lang="en-US" altLang="zh-CN" sz="2000"/>
              <a:t>xt</a:t>
            </a:r>
            <a:r>
              <a:rPr lang="zh-CN" altLang="en-US" sz="2000"/>
              <a:t>，都会从</a:t>
            </a:r>
            <a:r>
              <a:rPr lang="en-US" altLang="zh-CN" sz="2000"/>
              <a:t>θs</a:t>
            </a:r>
            <a:r>
              <a:rPr lang="zh-CN" altLang="en-US" sz="2000"/>
              <a:t>重新开始适配</a:t>
            </a:r>
            <a:endParaRPr lang="zh-CN" alt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287770" y="1550670"/>
                <a:ext cx="5882640" cy="35090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000"/>
                  <a:t>BN</a:t>
                </a:r>
                <a:r>
                  <a:rPr lang="zh-CN" altLang="en-US" sz="2000"/>
                  <a:t>的标准形式：</a:t>
                </a:r>
                <a:endParaRPr lang="zh-CN" altLang="en-US" sz="2000"/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,      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𝛾</m:t>
                      </m:r>
                      <m:acc>
                        <m:accPr>
                          <m:ctrlP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𝛽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457200" indent="-45720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保留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source training 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时得到的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BN mean / variance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457200" indent="-45720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不使用当前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single-image patch 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去重估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target BN statistics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457200" indent="-457200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但允许通过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loss 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的反向传播去更新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γ,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β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770" y="1550670"/>
                <a:ext cx="5882640" cy="35090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7623" y="1120140"/>
            <a:ext cx="6228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tx2"/>
                </a:solidFill>
              </a:rPr>
              <a:t> (a)</a:t>
            </a:r>
            <a:r>
              <a:rPr lang="zh-CN" altLang="en-US" sz="2000" b="1">
                <a:solidFill>
                  <a:schemeClr val="tx2"/>
                </a:solidFill>
              </a:rPr>
              <a:t>：</a:t>
            </a:r>
            <a:r>
              <a:rPr lang="en-US" altLang="zh-CN" sz="2000" b="1">
                <a:solidFill>
                  <a:schemeClr val="tx2"/>
                </a:solidFill>
              </a:rPr>
              <a:t>Modulation parameters and BN statistics</a:t>
            </a:r>
            <a:endParaRPr lang="en-US" altLang="zh-CN" sz="2000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793750"/>
            <a:ext cx="1754505" cy="5302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7940" y="1120140"/>
            <a:ext cx="5529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tx2"/>
                </a:solidFill>
              </a:rPr>
              <a:t> (b)</a:t>
            </a:r>
            <a:r>
              <a:rPr lang="zh-CN" altLang="en-US" sz="2000" b="1">
                <a:solidFill>
                  <a:schemeClr val="tx2"/>
                </a:solidFill>
              </a:rPr>
              <a:t>：</a:t>
            </a:r>
            <a:r>
              <a:rPr lang="en-US" altLang="zh-CN" sz="2000" b="1">
                <a:solidFill>
                  <a:schemeClr val="tx2"/>
                </a:solidFill>
              </a:rPr>
              <a:t>Entropy-guided Self-Training</a:t>
            </a:r>
            <a:endParaRPr lang="en-US" altLang="zh-CN" sz="2000" b="1">
              <a:solidFill>
                <a:schemeClr val="tx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1010"/>
            <a:ext cx="5482590" cy="37477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287770" y="2150745"/>
                <a:ext cx="5882640" cy="2576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/>
                  <a:t>对每个像素位置，用前景概率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𝑧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∈[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sz="2000" i="1">
                        <a:latin typeface="Cambria Math" panose="02040503050406030204" charset="0"/>
                        <a:cs typeface="Cambria Math" panose="02040503050406030204" charset="0"/>
                      </a:rPr>
                      <m:t>]</m:t>
                    </m:r>
                  </m:oMath>
                </a14:m>
                <a:r>
                  <a:rPr lang="zh-CN" altLang="en-US" sz="2000">
                    <a:latin typeface="Cambria Math" panose="02040503050406030204" charset="0"/>
                    <a:cs typeface="Cambria Math" panose="02040503050406030204" charset="0"/>
                  </a:rPr>
                  <a:t>计算熵</a:t>
                </a:r>
                <a:r>
                  <a:rPr lang="zh-CN" altLang="en-US" sz="2000"/>
                  <a:t>：</a:t>
                </a:r>
                <a:endParaRPr lang="zh-CN" altLang="en-US" sz="2000"/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</a:rPr>
                        <m:t>𝐻</m:t>
                      </m:r>
                      <m:r>
                        <a:rPr lang="en-US" i="1">
                          <a:latin typeface="Cambria Math" panose="02040503050406030204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</a:rPr>
                        <m:t>𝑧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20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最终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entropy-based pseudolabel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：</a:t>
                </a:r>
                <a:b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⋃"/>
                          <m:limLoc m:val="undOvr"/>
                          <m:supHide m:val="on"/>
                          <m:ctrlP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∈{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‘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”</m:t>
                              </m:r>
                            </m:sup>
                          </m:sSubSup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}</m:t>
                          </m:r>
                        </m:sub>
                        <m:sup/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{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𝐻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𝜎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𝑓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)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)&lt;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charset="0"/>
                                  <a:ea typeface="微软雅黑" panose="020B0503020204020204" charset="-122"/>
                                  <a:cs typeface="Cambria Math" panose="02040503050406030204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}</m:t>
                          </m:r>
                        </m:e>
                      </m:nary>
                    </m:oMath>
                  </m:oMathPara>
                </a14:m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770" y="2150745"/>
                <a:ext cx="5882640" cy="2576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03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研究思路与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方法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793750"/>
            <a:ext cx="1754505" cy="5302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43000" y="834390"/>
            <a:ext cx="35769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chemeClr val="tx2"/>
                </a:solidFill>
              </a:rPr>
              <a:t> (c)</a:t>
            </a:r>
            <a:r>
              <a:rPr lang="zh-CN" altLang="en-US" sz="2000" b="1">
                <a:solidFill>
                  <a:schemeClr val="tx2"/>
                </a:solidFill>
              </a:rPr>
              <a:t>：</a:t>
            </a:r>
            <a:r>
              <a:rPr lang="en-US" altLang="zh-CN" sz="2000" b="1">
                <a:solidFill>
                  <a:schemeClr val="tx2"/>
                </a:solidFill>
              </a:rPr>
              <a:t>Multi-view Co-Training</a:t>
            </a:r>
            <a:endParaRPr lang="en-US" altLang="zh-CN" sz="2000" b="1">
              <a:solidFill>
                <a:schemeClr val="tx2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003"/>
          <a:stretch>
            <a:fillRect/>
          </a:stretch>
        </p:blipFill>
        <p:spPr>
          <a:xfrm>
            <a:off x="384175" y="1233805"/>
            <a:ext cx="5135245" cy="5255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25" y="1638300"/>
            <a:ext cx="5687695" cy="7359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45810" y="117983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</a:t>
            </a:r>
            <a:r>
              <a:rPr lang="zh-CN" altLang="en-US" sz="2000"/>
              <a:t>）</a:t>
            </a:r>
            <a:r>
              <a:rPr lang="en-US" altLang="zh-CN" sz="2000"/>
              <a:t>Self-learning objective</a:t>
            </a:r>
            <a:r>
              <a:rPr lang="zh-CN" altLang="en-US" sz="2000"/>
              <a:t>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5876925" y="2586355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2</a:t>
            </a:r>
            <a:r>
              <a:rPr lang="zh-CN" altLang="en-US" sz="2000"/>
              <a:t>）</a:t>
            </a:r>
            <a:r>
              <a:rPr lang="en-US" altLang="zh-CN" sz="2000"/>
              <a:t>Prediction consistency</a:t>
            </a:r>
            <a:r>
              <a:rPr lang="zh-CN" altLang="en-US" sz="2000"/>
              <a:t>：</a:t>
            </a:r>
            <a:endParaRPr lang="zh-CN" altLang="en-US" sz="2000"/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/>
              <a:t>在不同视图之间做一致性约束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5876925" y="3580765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3</a:t>
            </a:r>
            <a:r>
              <a:rPr lang="zh-CN" altLang="en-US" sz="2000"/>
              <a:t>）</a:t>
            </a:r>
            <a:r>
              <a:rPr lang="en-US" altLang="zh-CN" sz="2000"/>
              <a:t>Feature consistency</a:t>
            </a:r>
            <a:r>
              <a:rPr lang="zh-CN" altLang="en-US" sz="2000"/>
              <a:t>：</a:t>
            </a:r>
            <a:endParaRPr lang="zh-CN" altLang="en-US" sz="20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935" y="4095115"/>
            <a:ext cx="5389880" cy="4203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76925" y="4552950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/>
              <a:t>4</a:t>
            </a:r>
            <a:r>
              <a:rPr lang="zh-CN" altLang="en-US" sz="2000"/>
              <a:t>）</a:t>
            </a:r>
            <a:r>
              <a:rPr lang="zh-CN" altLang="en-US" sz="2000"/>
              <a:t>总损失：</a:t>
            </a:r>
            <a:endParaRPr lang="zh-CN" altLang="en-US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t="7290" r="602"/>
          <a:stretch>
            <a:fillRect/>
          </a:stretch>
        </p:blipFill>
        <p:spPr>
          <a:xfrm>
            <a:off x="5960110" y="5188585"/>
            <a:ext cx="4088130" cy="314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00785" y="692150"/>
            <a:ext cx="4027805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TCGA-BRCA Dataset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1217930"/>
            <a:ext cx="9928860" cy="5265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10740"/>
            <a:ext cx="10668000" cy="2636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29310" y="625475"/>
            <a:ext cx="255270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ISPY1 Dataset</a:t>
            </a:r>
            <a:endParaRPr lang="en-US" altLang="zh-CN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05" y="1129030"/>
            <a:ext cx="10206990" cy="5358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740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</a:rPr>
              <a:t>04 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实验结果与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</a:rPr>
              <a:t>分析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8670" y="873125"/>
            <a:ext cx="3712210" cy="55689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noAutofit/>
          </a:bodyPr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endParaRPr lang="zh-CN" altLang="en-US" sz="20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377315"/>
            <a:ext cx="10614660" cy="4770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1119" y="2896011"/>
            <a:ext cx="104698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汇报完毕，请老师同学批评指正！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2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4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5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6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7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8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9.xml><?xml version="1.0" encoding="utf-8"?>
<p:tagLst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10.xml><?xml version="1.0" encoding="utf-8"?>
<p:tagLst xmlns:p="http://schemas.openxmlformats.org/presentationml/2006/main">
  <p:tag name="KSO_WM_DIAGRAM_VIRTUALLY_FRAME" val="{&quot;height&quot;:373.55,&quot;left&quot;:79.3,&quot;top&quot;:90.75,&quot;width&quot;:736.85}"/>
</p:tagLst>
</file>

<file path=ppt/tags/tag11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2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3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4.xml><?xml version="1.0" encoding="utf-8"?>
<p:tagLst xmlns:p="http://schemas.openxmlformats.org/presentationml/2006/main">
  <p:tag name="KSO_WM_DIAGRAM_VIRTUALLY_FRAME" val="{&quot;height&quot;:425.2,&quot;left&quot;:79.3,&quot;top&quot;:90.75,&quot;width&quot;:769.25}"/>
</p:tagLst>
</file>

<file path=ppt/tags/tag15.xml><?xml version="1.0" encoding="utf-8"?>
<p:tagLst xmlns:p="http://schemas.openxmlformats.org/presentationml/2006/main">
  <p:tag name="resource_record_key" val="{&quot;29&quot;:[50000031],&quot;70&quot;:[3321880,3315855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演示</Application>
  <PresentationFormat>宽屏</PresentationFormat>
  <Paragraphs>83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等线</vt:lpstr>
      <vt:lpstr>Cambria Math</vt:lpstr>
      <vt:lpstr>MS Mincho</vt:lpstr>
      <vt:lpstr>微软雅黑</vt:lpstr>
      <vt:lpstr>Arial Unicode MS</vt:lpstr>
      <vt:lpstr>Calibri</vt:lpstr>
      <vt:lpstr>AMGDT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xxxx</cp:lastModifiedBy>
  <cp:revision>196</cp:revision>
  <dcterms:created xsi:type="dcterms:W3CDTF">2021-06-29T08:54:00Z</dcterms:created>
  <dcterms:modified xsi:type="dcterms:W3CDTF">2026-04-11T02:15:29Z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