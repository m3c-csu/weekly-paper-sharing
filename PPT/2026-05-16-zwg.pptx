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228" r:id="rId2"/>
    <p:sldId id="3320" r:id="rId3"/>
    <p:sldId id="3457" r:id="rId4"/>
    <p:sldId id="3449" r:id="rId5"/>
    <p:sldId id="3459" r:id="rId6"/>
    <p:sldId id="3467" r:id="rId7"/>
    <p:sldId id="3489" r:id="rId8"/>
    <p:sldId id="3488" r:id="rId9"/>
    <p:sldId id="3465" r:id="rId10"/>
    <p:sldId id="3486" r:id="rId11"/>
    <p:sldId id="323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866" autoAdjust="0"/>
  </p:normalViewPr>
  <p:slideViewPr>
    <p:cSldViewPr snapToGrid="0">
      <p:cViewPr varScale="1">
        <p:scale>
          <a:sx n="99" d="100"/>
          <a:sy n="99" d="100"/>
        </p:scale>
        <p:origin x="115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00F51-7863-4F99-BFAE-FA71C568FBA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A7626-1408-4106-A8EC-014B6DDEE7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24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透过噪声看目标：从噪声抑制视角提升红外小目标检测与分割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目前是在北航做博后</a:t>
            </a: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  <a:t>2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右图可以看出，高频特征对于目标定位很重要，但是高频噪声中会有很多噪声干扰，会导致误检率上升；低频分量可以知道目标的大致位置，同时误检率较低；所以作者想着就是用低频特征去净化高频特征，从而保证更好的目标定位和较低的误检率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首先是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LFP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块，为了减少高频特征中存在的噪声干扰，本文采用了两级纯化机制，首先是利用低频特征提供潜在目标位置的加权图，引导目标相关特征的增强；第二阶段通过门控高斯滤波对这些高频特征进行细化，进一步去除高频特征中的噪声；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SFS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模块，为了避免周围背景噪声的干扰，首先采用基于强度分布特征的动态采样，然后计算相似度来获取目标相关的特征来进行融合；逐元素相加，在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IRST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周围缺乏空间感知能力（不知道周围的邻域特征），所以一些方法使用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，但是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IRST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通常较小，紧凑且形状一致的区域，这使得稀疏注意力中的随机采样并不适用，所以使用螺旋采样的的方法，</a:t>
            </a:r>
            <a:r>
              <a:rPr lang="zh-CN" altLang="en-US" dirty="0"/>
              <a:t>由于</a:t>
            </a:r>
            <a:r>
              <a:rPr lang="en-US" altLang="zh-CN" dirty="0"/>
              <a:t>IRST</a:t>
            </a:r>
            <a:r>
              <a:rPr lang="zh-CN" altLang="en-US" dirty="0"/>
              <a:t>的强度具有高斯分布特性，这种结构化的设计保证了网络能够感知</a:t>
            </a:r>
            <a:r>
              <a:rPr lang="en-US" altLang="zh-CN" dirty="0"/>
              <a:t>IRST</a:t>
            </a:r>
            <a:r>
              <a:rPr lang="zh-CN" altLang="en-US" dirty="0"/>
              <a:t>周围的细粒度特征，从而产生更清晰的目标轮廓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r>
              <a:rPr lang="zh-CN" altLang="en-US" dirty="0"/>
              <a:t>传统 </a:t>
            </a:r>
            <a:r>
              <a:rPr lang="en-US" altLang="zh-CN" dirty="0"/>
              <a:t>FPN </a:t>
            </a:r>
            <a:r>
              <a:rPr lang="zh-CN" altLang="en-US" dirty="0"/>
              <a:t>中，上层特征通常通过上采样之后直接和下层特征相加。但是这种方式对红外小目标并不一定合适，因为小目标很弱，周围背景干扰又很多，简单的上采样和相加可能把背景噪声一起融合进去。作者提出 </a:t>
            </a:r>
            <a:r>
              <a:rPr lang="en-US" altLang="zh-CN" dirty="0"/>
              <a:t>SFS</a:t>
            </a:r>
            <a:r>
              <a:rPr lang="zh-CN" altLang="en-US" dirty="0"/>
              <a:t>，用更加有针对性的方式从高层特征中采样目标相关信息。</a:t>
            </a:r>
            <a:r>
              <a:rPr lang="en-US" altLang="zh-CN" dirty="0"/>
              <a:t>Xi</a:t>
            </a:r>
            <a:r>
              <a:rPr lang="zh-CN" altLang="en-US" dirty="0"/>
              <a:t>‘是经过</a:t>
            </a:r>
            <a:r>
              <a:rPr lang="en-US" altLang="zh-CN" dirty="0"/>
              <a:t>LFP</a:t>
            </a:r>
            <a:r>
              <a:rPr lang="zh-CN" altLang="en-US" dirty="0"/>
              <a:t>模块净化后的特征，</a:t>
            </a:r>
            <a:r>
              <a:rPr lang="en-US" altLang="zh-CN" dirty="0"/>
              <a:t>Yi+1</a:t>
            </a:r>
            <a:r>
              <a:rPr lang="zh-CN" altLang="en-US" dirty="0"/>
              <a:t>是深层特征，作者认为红外小目标通常具有比较紧凑的亮度分布，目标中心响应较强，周围逐渐减弱，类似一种高斯分布。因此，用随机采样并不稳定，而围绕目标中心做螺旋式采样，更容易覆盖目标及其周围的有效上下文区域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/>
              <a:t>IRSTD-1k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b="1" dirty="0"/>
              <a:t>NUAA-SIRST</a:t>
            </a:r>
            <a:r>
              <a:rPr lang="zh-CN" altLang="en-US" dirty="0"/>
              <a:t>。其中 </a:t>
            </a:r>
            <a:r>
              <a:rPr lang="en-US" altLang="zh-CN" dirty="0"/>
              <a:t>IRSTD-1k </a:t>
            </a:r>
            <a:r>
              <a:rPr lang="zh-CN" altLang="en-US" dirty="0"/>
              <a:t>包含 </a:t>
            </a:r>
            <a:r>
              <a:rPr lang="en-US" altLang="zh-CN" dirty="0"/>
              <a:t>1000 </a:t>
            </a:r>
            <a:r>
              <a:rPr lang="zh-CN" altLang="en-US" dirty="0"/>
              <a:t>张真实红外图像，</a:t>
            </a:r>
            <a:r>
              <a:rPr lang="en-US" altLang="zh-CN" dirty="0"/>
              <a:t>NUAA-SIRST </a:t>
            </a:r>
            <a:r>
              <a:rPr lang="zh-CN" altLang="en-US" dirty="0"/>
              <a:t>包含 </a:t>
            </a:r>
            <a:r>
              <a:rPr lang="en-US" altLang="zh-CN" dirty="0"/>
              <a:t>427 </a:t>
            </a:r>
            <a:r>
              <a:rPr lang="zh-CN" altLang="en-US" dirty="0"/>
              <a:t>张不同尺寸的红外图像。</a:t>
            </a:r>
            <a:r>
              <a:rPr lang="en-US" altLang="zh-CN" dirty="0"/>
              <a:t>Pd</a:t>
            </a:r>
            <a:r>
              <a:rPr lang="zh-CN" altLang="en-US" dirty="0"/>
              <a:t>是检测率，</a:t>
            </a:r>
            <a:r>
              <a:rPr lang="en-US" altLang="zh-CN" dirty="0"/>
              <a:t>Fa</a:t>
            </a:r>
            <a:r>
              <a:rPr lang="zh-CN" altLang="en-US" dirty="0"/>
              <a:t>是误检率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44B8E-3441-5E19-B867-75148887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E4BAA9-2D34-E1E3-A294-72BDBA18A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25F3DF-4B76-3AB9-FFE6-5608232DA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红色框代表正确，蓝色代表漏检，黄色代表误检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DBFFD3-6318-A877-D830-AFD576921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181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70B8-435B-EE94-62CC-1518DABD9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9312DB-D7F3-2CCE-BE62-1E2D3AA99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B836E1-46A3-5408-2517-8DEA95EA9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本文还对比了不同特征金字塔的方法；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PANet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多了一条从浅层到深层的路径，</a:t>
            </a:r>
            <a:r>
              <a:rPr lang="zh-CN" altLang="en-US" dirty="0"/>
              <a:t>让低层细节信息也能反向传回高层。</a:t>
            </a:r>
            <a:r>
              <a:rPr lang="en-US" altLang="zh-CN" dirty="0" err="1"/>
              <a:t>BiFPN</a:t>
            </a:r>
            <a:r>
              <a:rPr lang="zh-CN" altLang="en-US" dirty="0"/>
              <a:t>是结构是删除一些没有实际融合作用的节点，然后引入了可学习的融合权重；</a:t>
            </a:r>
            <a:r>
              <a:rPr lang="en-US" altLang="zh-CN" dirty="0"/>
              <a:t>HSFPN</a:t>
            </a:r>
            <a:r>
              <a:rPr lang="zh-CN" altLang="en-US" dirty="0"/>
              <a:t>是面向小目标检测设计的一种特征金字塔方法，增强高频特征和空间感知能力。但在红外小目标任务中，高频信息不只有目标，也包含大量噪声、杂波和背景干扰。所以 </a:t>
            </a:r>
            <a:r>
              <a:rPr lang="en-US" altLang="zh-CN" dirty="0"/>
              <a:t>HSFPN </a:t>
            </a:r>
            <a:r>
              <a:rPr lang="zh-CN" altLang="en-US" dirty="0"/>
              <a:t>带来了更高的误检率。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DF5633-302F-FD5D-424F-56CA17DCF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023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273DE-FB47-07CC-AE8D-E2AB19D82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A00E70-4B18-C032-FB2C-42984ABAA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301C22-8127-7448-BC5E-AEA387FC8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B9083F-184C-6F5D-186A-B68D7D41B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29E937-4683-58D0-2B2C-4796D886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43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0C305-EDBF-E86C-2A7D-603039260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7BCAA-714E-57E6-2744-BF4B45345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F01FD8-1D6A-DDC2-14DA-D40EADE0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45D181-86D0-B226-8BB9-BED6FF77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995AE6-ADFF-B79B-E8B6-32954B39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45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DABA4-1BC6-C1C1-0A78-5F07E3C17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5C255B-E225-CB07-8835-9929E1F43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C15A5C-1758-4CBE-F769-C43ED771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E36280-6E15-9CFF-5BD3-B95C57DC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505F7-12B9-23AD-8F1C-4C4764F9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729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94D09-7B87-AEAD-D1B4-F949CA341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85249C-F826-0E51-7C67-3392C85B8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AB001C-DC26-4C94-7EC9-6D2A47117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2392E1-EFB9-285A-9162-2897AF6E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2533CD-9B03-C350-AE70-A22DAA2B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1758F3-C0EA-8259-8016-908D2E57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315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1D882-9080-7E35-A39A-4AFF618B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E0D256-E175-E806-650B-8FFF09071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BB714C-D4FC-33E1-4F7E-D712BA32B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BF8178-418B-EAA1-2C41-58369BA4C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234D47-A261-D6D6-0E11-76E4DA9E5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B4C3C1-FA49-4127-61A7-69002F32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0BDEDC-BD5F-8B04-BEAC-79F06D413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BF1B99-3CF9-8C8F-806F-46121AB4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40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436FC8-DD8E-3043-1FA6-675CF4B9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AA16EF5-05B4-A585-D989-71724C8B4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326616-0EE0-424B-9131-C914AB3F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DF9C55-F930-821B-F4CC-E532B016B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294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4A2BFF-7AC9-ED91-9ED8-31233768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DF6B56C-D63A-38BC-1AEE-DAB184C43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B59C2E-7A14-71A3-8181-D3907ECB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181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1778A-520A-D9BA-D2C1-4EE0A1BB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9ADB22-FFAD-5424-32D2-9B59D4ECF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CFA9CA-0C0A-8AA1-7299-7186999A0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7CB6F2-A237-85DD-2ABB-54504F314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302B90-6B43-D722-C351-443AE31B1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3C12E8-420B-E5A9-4ADD-C56BACF9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93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56167C-7490-382B-B24A-5DB34CC38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DB27E5-8E32-A416-F652-A5225D421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0E9905-F849-DCD9-8CD2-AD19707DC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26E6A3-D908-379B-6968-6707FCE28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510C42-2FD5-691A-9F8F-97C25F59F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7FCE75-6D8D-11AF-595E-D3974516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431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70C51-B775-2D66-73A7-A6066EEE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21EE23-AFE4-50A9-C0A9-4E4349374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820C83-6558-FFC1-A8D5-411882F2F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F8ABED-633A-BA9D-81F5-E5808B50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8BD7F6-463B-D952-A260-7B1BF9B4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23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DD2448-0AAF-AE8A-6598-97E98E8DE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6E63A4-6FAE-7CF2-36EB-DF993F1BF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F662A-9FC5-4F1D-7F19-D9515ECF9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63B602-F9CC-CF5F-9460-4975AC53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F155FB-1E46-A22B-57E4-C1AA75F4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6934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596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00">
        <p15:prstTrans prst="pageCurlDouble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4CF7B53-F789-E92F-C953-2A606423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2A2B93-52D7-F8C1-7E1F-DB5328767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658AAD-6492-5392-0A6A-AEEDA0CFE8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60FBB-8637-41EC-8DF4-5D08E5FAC9F4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0FCF7A-F328-BD42-D9A3-08F88E022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DBEC09-264C-7790-EBB9-E05D62508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68156-30DF-4C55-A439-A64313401D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763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922273" y="2621337"/>
            <a:ext cx="8398143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Seeing Through the Noise: Improving Infrared Small Target Detection and  Segmentation from Noise Suppression Perspective</a:t>
            </a:r>
          </a:p>
        </p:txBody>
      </p:sp>
      <p:sp>
        <p:nvSpPr>
          <p:cNvPr id="11" name="文本占位符 13"/>
          <p:cNvSpPr txBox="1"/>
          <p:nvPr/>
        </p:nvSpPr>
        <p:spPr>
          <a:xfrm>
            <a:off x="5159039" y="4709760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CVPR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2026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Authors</a:t>
            </a: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自强不息 厚德载物</a:t>
            </a: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6004" y="233483"/>
            <a:ext cx="67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DCAFDE-546E-1E68-01E5-9AD7263D0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0" y="1012558"/>
            <a:ext cx="11513524" cy="5271035"/>
          </a:xfrm>
          <a:prstGeom prst="rect">
            <a:avLst/>
          </a:prstGeom>
        </p:spPr>
      </p:pic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7749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CA9BAB-9923-330E-C4A1-3E52F40344B1}"/>
              </a:ext>
            </a:extLst>
          </p:cNvPr>
          <p:cNvSpPr txBox="1"/>
          <p:nvPr/>
        </p:nvSpPr>
        <p:spPr>
          <a:xfrm>
            <a:off x="660400" y="3429000"/>
            <a:ext cx="41120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现有方法仅仅关注提升特征表示去弥补噪声的影响，但是会导致误警率上升；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因此作者提出检测和分割时不应只考虑如何增强目标，还要考虑如何在融合时抑制噪声。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6EBA5F-7CAB-F5BD-763E-5FA9D8F3C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055" y="1223010"/>
            <a:ext cx="5710672" cy="40200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0C9BABB-8309-7320-3800-DF3047888341}"/>
              </a:ext>
            </a:extLst>
          </p:cNvPr>
          <p:cNvSpPr txBox="1"/>
          <p:nvPr/>
        </p:nvSpPr>
        <p:spPr>
          <a:xfrm>
            <a:off x="660400" y="1223010"/>
            <a:ext cx="38315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任务难点</a:t>
            </a:r>
            <a:endParaRPr lang="en-US" altLang="zh-CN" dirty="0"/>
          </a:p>
          <a:p>
            <a:r>
              <a:rPr lang="zh-CN" altLang="en-US" dirty="0"/>
              <a:t>红外小目标通常具有几个典型特点：</a:t>
            </a:r>
            <a:r>
              <a:rPr lang="zh-CN" altLang="en-US" b="1" dirty="0"/>
              <a:t>目标尺寸很小</a:t>
            </a:r>
            <a:r>
              <a:rPr lang="zh-CN" altLang="en-US" dirty="0"/>
              <a:t>、</a:t>
            </a:r>
            <a:r>
              <a:rPr lang="zh-CN" altLang="en-US" b="1" dirty="0"/>
              <a:t>纹理结构不明显</a:t>
            </a:r>
            <a:r>
              <a:rPr lang="zh-CN" altLang="en-US" dirty="0"/>
              <a:t>、</a:t>
            </a:r>
            <a:r>
              <a:rPr lang="zh-CN" altLang="en-US" b="1" dirty="0"/>
              <a:t>信噪比和信杂比低</a:t>
            </a:r>
            <a:r>
              <a:rPr lang="zh-CN" altLang="en-US" dirty="0"/>
              <a:t>，并且容易被复杂背景中的噪声、云层、海面反光、建筑边缘等干扰淹没。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3A29D5-1795-15E0-A4A8-19D0AED81839}"/>
              </a:ext>
            </a:extLst>
          </p:cNvPr>
          <p:cNvSpPr txBox="1"/>
          <p:nvPr/>
        </p:nvSpPr>
        <p:spPr>
          <a:xfrm>
            <a:off x="660399" y="5634990"/>
            <a:ext cx="10962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假设：</a:t>
            </a:r>
            <a:r>
              <a:rPr lang="zh-CN" altLang="en-US" dirty="0"/>
              <a:t>高频对提高目标定位至关重要，但是存在噪声干扰；低频可以得到目标的大致位置，同时误检率低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000"/>
    </mc:Choice>
    <mc:Fallback xmlns=""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BE7746-E2C2-194E-8534-B3DB597F5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809" y="920501"/>
            <a:ext cx="9936382" cy="54612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0BD9BA-0436-F188-4837-091B2FE99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757" y="1545373"/>
            <a:ext cx="6007010" cy="37672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D1EE146-CAB0-6E2F-A616-67FB1C999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768" y="1779229"/>
            <a:ext cx="5496548" cy="36613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7275F6-B39E-7F3D-95A5-1E3481D9C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340" y="873770"/>
            <a:ext cx="7566619" cy="52238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11F5-2FF5-8C13-E4DE-781FB623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>
            <a:extLst>
              <a:ext uri="{FF2B5EF4-FFF2-40B4-BE49-F238E27FC236}">
                <a16:creationId xmlns:a16="http://schemas.microsoft.com/office/drawing/2014/main" id="{9FD37530-5455-57F9-F84B-76DB614B5EAE}"/>
              </a:ext>
            </a:extLst>
          </p:cNvPr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12E7530-882B-86BC-A8A4-0320906DD52F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B1435E1-903B-1AC0-3868-7710EEFDA93C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077CDE6-FCE5-AB9D-06A6-EC5880F52B82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18028F2-DC39-4975-380D-23A7C6C7364E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5ECCB8BF-65F3-384A-5918-3D5D5C88B34B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FF3B182-6AE7-278D-533B-CDB66D576439}"/>
              </a:ext>
            </a:extLst>
          </p:cNvPr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E541F796-8EFA-B311-0BE7-2BC01C36EF6A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16E45750-F696-8DB7-9759-371D09A208CA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85C24BB3-3230-90C1-91D8-C98C2E1A2271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>
            <a:extLst>
              <a:ext uri="{FF2B5EF4-FFF2-40B4-BE49-F238E27FC236}">
                <a16:creationId xmlns:a16="http://schemas.microsoft.com/office/drawing/2014/main" id="{118668F4-53CE-EA84-47D8-850E3D6777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>
            <a:extLst>
              <a:ext uri="{FF2B5EF4-FFF2-40B4-BE49-F238E27FC236}">
                <a16:creationId xmlns:a16="http://schemas.microsoft.com/office/drawing/2014/main" id="{F78B5E2A-E208-AA37-5BF6-C6D41DCDFAB5}"/>
              </a:ext>
            </a:extLst>
          </p:cNvPr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D53CC6-C29E-7B61-727F-044FECD2A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49" y="1046790"/>
            <a:ext cx="10982391" cy="515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1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E560-5011-8803-8535-ADE4D220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>
            <a:extLst>
              <a:ext uri="{FF2B5EF4-FFF2-40B4-BE49-F238E27FC236}">
                <a16:creationId xmlns:a16="http://schemas.microsoft.com/office/drawing/2014/main" id="{5E5B84E5-E1FC-E817-C7DC-4A4E7B433B3F}"/>
              </a:ext>
            </a:extLst>
          </p:cNvPr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BA7BE45A-76B2-01B8-8948-A80926A79FCE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E5C39F9-01EC-57DA-A284-2F6772785EDE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A45C6E0-B799-5561-912C-8E791FF09095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E61251D5-3561-A431-113C-6FFA239655EC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B12FB0C-19DC-7206-8A4C-72800D8AEF53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A36FB9F2-70C2-2757-D456-026785748355}"/>
              </a:ext>
            </a:extLst>
          </p:cNvPr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807B7E15-2F12-1322-3220-750353D6ED46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C88729F4-D2FB-01FA-7E63-B3491F0876E8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8C262E6D-A736-7FF3-3ADE-4EE396AA765C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>
            <a:extLst>
              <a:ext uri="{FF2B5EF4-FFF2-40B4-BE49-F238E27FC236}">
                <a16:creationId xmlns:a16="http://schemas.microsoft.com/office/drawing/2014/main" id="{5876D859-613C-A904-161B-115E9C37CC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>
            <a:extLst>
              <a:ext uri="{FF2B5EF4-FFF2-40B4-BE49-F238E27FC236}">
                <a16:creationId xmlns:a16="http://schemas.microsoft.com/office/drawing/2014/main" id="{ECBEADA7-0CA7-7681-B9FA-681ED9EA4C2C}"/>
              </a:ext>
            </a:extLst>
          </p:cNvPr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A17231-9ED3-6582-BABC-482B10159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848" y="1651053"/>
            <a:ext cx="8589237" cy="355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3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19640E-7D4E-07B3-4FCA-20110C56E7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719" y="2185171"/>
            <a:ext cx="7775193" cy="308326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12BE8F7-64A4-64A8-1CEC-17A46FE8179E}"/>
              </a:ext>
            </a:extLst>
          </p:cNvPr>
          <p:cNvSpPr txBox="1"/>
          <p:nvPr/>
        </p:nvSpPr>
        <p:spPr>
          <a:xfrm>
            <a:off x="765810" y="1348740"/>
            <a:ext cx="2366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消融实验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4943D6-2103-8C84-6076-95BA7E0E8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190" y="1165531"/>
            <a:ext cx="6247619" cy="4866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00"/>
    </mc:Choice>
    <mc:Fallback xmlns=""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4" y="1951493"/>
            <a:ext cx="1222027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2675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！</a:t>
            </a: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701249" y="3291452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ALL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2839</TotalTime>
  <Words>898</Words>
  <Application>Microsoft Office PowerPoint</Application>
  <PresentationFormat>宽屏</PresentationFormat>
  <Paragraphs>84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维贵 赵</dc:creator>
  <cp:lastModifiedBy>维贵 赵</cp:lastModifiedBy>
  <cp:revision>28</cp:revision>
  <dcterms:created xsi:type="dcterms:W3CDTF">2026-05-14T01:14:59Z</dcterms:created>
  <dcterms:modified xsi:type="dcterms:W3CDTF">2026-05-22T07:57:27Z</dcterms:modified>
</cp:coreProperties>
</file>