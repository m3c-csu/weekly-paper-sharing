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  <p:sldMasterId id="2147483654" r:id="rId3"/>
    <p:sldMasterId id="2147483651" r:id="rId4"/>
  </p:sldMasterIdLst>
  <p:notesMasterIdLst>
    <p:notesMasterId r:id="rId16"/>
  </p:notesMasterIdLst>
  <p:sldIdLst>
    <p:sldId id="256" r:id="rId5"/>
    <p:sldId id="267" r:id="rId6"/>
    <p:sldId id="257" r:id="rId7"/>
    <p:sldId id="260" r:id="rId8"/>
    <p:sldId id="261" r:id="rId9"/>
    <p:sldId id="265" r:id="rId10"/>
    <p:sldId id="266" r:id="rId11"/>
    <p:sldId id="264" r:id="rId12"/>
    <p:sldId id="268" r:id="rId13"/>
    <p:sldId id="262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C2856-37AC-43B8-8C0C-DC8ACFF5687C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B174-B3F3-45FF-B7B3-0077457E0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98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B174-B3F3-45FF-B7B3-0077457E0F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69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21F0-E96E-B98D-7134-056D23A4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8F5C26-C8EE-4B0C-0969-03CACA043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25C8A-369F-5827-EFED-B425818B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6ABAD2-1232-42C1-A1DC-F021D885709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B9D86-067A-CCF0-E816-37CB16E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A3138-8EBF-319E-DC87-A3F6C093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1D903-9036-4B46-93B3-43A53F542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1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BD9F-2911-91E0-AB8A-25341888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436A0-D089-851C-0EAE-A2B04F1F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4C90A-0C35-6316-615E-473A063B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6ABAD2-1232-42C1-A1DC-F021D885709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A48430-3DEC-2385-6564-D93CB27B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96113-EC36-AC2F-3ECC-5CAE558D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1D903-9036-4B46-93B3-43A53F542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5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21F0-E96E-B98D-7134-056D23A4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8F5C26-C8EE-4B0C-0969-03CACA043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25C8A-369F-5827-EFED-B425818B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6ABAD2-1232-42C1-A1DC-F021D885709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B9D86-067A-CCF0-E816-37CB16E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A3138-8EBF-319E-DC87-A3F6C093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D903-9036-4B46-93B3-43A53F5424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14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BD9F-2911-91E0-AB8A-25341888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436A0-D089-851C-0EAE-A2B04F1F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4C90A-0C35-6316-615E-473A063B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6ABAD2-1232-42C1-A1DC-F021D885709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A48430-3DEC-2385-6564-D93CB27B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96113-EC36-AC2F-3ECC-5CAE558D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D903-9036-4B46-93B3-43A53F5424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18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21F0-E96E-B98D-7134-056D23A4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8F5C26-C8EE-4B0C-0969-03CACA043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25C8A-369F-5827-EFED-B425818B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6ABAD2-1232-42C1-A1DC-F021D885709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B9D86-067A-CCF0-E816-37CB16E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A3138-8EBF-319E-DC87-A3F6C093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1D903-9036-4B46-93B3-43A53F542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772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BD9F-2911-91E0-AB8A-25341888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436A0-D089-851C-0EAE-A2B04F1F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4C90A-0C35-6316-615E-473A063B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6ABAD2-1232-42C1-A1DC-F021D885709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A48430-3DEC-2385-6564-D93CB27B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96113-EC36-AC2F-3ECC-5CAE558D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1D903-9036-4B46-93B3-43A53F542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11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21F0-E96E-B98D-7134-056D23A4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8F5C26-C8EE-4B0C-0969-03CACA043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25C8A-369F-5827-EFED-B425818BB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6ABAD2-1232-42C1-A1DC-F021D885709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B9D86-067A-CCF0-E816-37CB16E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A3138-8EBF-319E-DC87-A3F6C093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D903-9036-4B46-93B3-43A53F5424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40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BD9F-2911-91E0-AB8A-25341888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436A0-D089-851C-0EAE-A2B04F1F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4C90A-0C35-6316-615E-473A063B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6ABAD2-1232-42C1-A1DC-F021D885709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A48430-3DEC-2385-6564-D93CB27B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96113-EC36-AC2F-3ECC-5CAE558D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D903-9036-4B46-93B3-43A53F5424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73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2C5866-CDCA-1B4E-B4CE-17228085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6B8B8-DDCD-BFC6-D70F-323388EF6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8C9A9-E281-7ECA-E04E-37E8F2E2A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1D903-9036-4B46-93B3-43A53F542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925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2C5866-CDCA-1B4E-B4CE-17228085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6B8B8-DDCD-BFC6-D70F-323388EF6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8C9A9-E281-7ECA-E04E-37E8F2E2A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D903-9036-4B46-93B3-43A53F5424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91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2C5866-CDCA-1B4E-B4CE-17228085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6B8B8-DDCD-BFC6-D70F-323388EF6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8C9A9-E281-7ECA-E04E-37E8F2E2A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1D903-9036-4B46-93B3-43A53F542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41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2C5866-CDCA-1B4E-B4CE-17228085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6B8B8-DDCD-BFC6-D70F-323388EF6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8C9A9-E281-7ECA-E04E-37E8F2E2A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B1D903-9036-4B46-93B3-43A53F54248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151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3578A583-DA5F-64D6-B1A7-C0A50877C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575" y="2602176"/>
            <a:ext cx="10964849" cy="2066297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Dual-scale Enhanced and Cross-generative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Consistency Learning for Semi-supervised Medical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Image Segmentation</a:t>
            </a:r>
            <a:endParaRPr lang="zh-CN" altLang="en-US" sz="4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5DC5072-1639-B6AD-D8BD-D954B7F7D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5" t="3725" r="10092" b="9817"/>
          <a:stretch>
            <a:fillRect/>
          </a:stretch>
        </p:blipFill>
        <p:spPr>
          <a:xfrm>
            <a:off x="5146499" y="404560"/>
            <a:ext cx="1899000" cy="1896287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A770826-EFEC-745F-2976-472082FAD378}"/>
              </a:ext>
            </a:extLst>
          </p:cNvPr>
          <p:cNvSpPr txBox="1"/>
          <p:nvPr/>
        </p:nvSpPr>
        <p:spPr>
          <a:xfrm>
            <a:off x="5290267" y="5327373"/>
            <a:ext cx="16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PR,2025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B137E78-D4E3-4C64-6A8A-C6D5C921F53F}"/>
              </a:ext>
            </a:extLst>
          </p:cNvPr>
          <p:cNvCxnSpPr/>
          <p:nvPr/>
        </p:nvCxnSpPr>
        <p:spPr>
          <a:xfrm>
            <a:off x="434669" y="5104737"/>
            <a:ext cx="1132265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7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F2F7551-3590-C858-E497-CE27406D8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389" y="902017"/>
            <a:ext cx="8055222" cy="5955983"/>
          </a:xfrm>
          <a:prstGeom prst="rect">
            <a:avLst/>
          </a:prstGeom>
        </p:spPr>
      </p:pic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0E479313-73A4-DB32-80EC-78ADE9AA0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8F54D85-9D80-2090-3004-0BD6DCA701A1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92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C52C4-64F4-CC9A-B52D-40F87ACE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1" y="164469"/>
            <a:ext cx="2227955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研究背景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CE228D8-D716-A370-024D-9CEA07849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11FCF9D-75E1-DF3C-CECA-517112657857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A099506-939E-9E7C-B8A2-A5A3195862A1}"/>
              </a:ext>
            </a:extLst>
          </p:cNvPr>
          <p:cNvSpPr txBox="1"/>
          <p:nvPr/>
        </p:nvSpPr>
        <p:spPr>
          <a:xfrm>
            <a:off x="3198495" y="1220939"/>
            <a:ext cx="579501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病灶存在形状、大小、位置的显著差异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尺度变化是核心挑战之一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现有半监督方法对多尺度信息利用不充分</a:t>
            </a: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F8F56F17-2F2E-1099-6232-63F9AB00CC81}"/>
              </a:ext>
            </a:extLst>
          </p:cNvPr>
          <p:cNvSpPr/>
          <p:nvPr/>
        </p:nvSpPr>
        <p:spPr>
          <a:xfrm>
            <a:off x="5812536" y="3113532"/>
            <a:ext cx="566928" cy="6309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E75B6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962F0A-EC8A-0C69-8571-35EDEAA3C2CD}"/>
              </a:ext>
            </a:extLst>
          </p:cNvPr>
          <p:cNvSpPr txBox="1"/>
          <p:nvPr/>
        </p:nvSpPr>
        <p:spPr>
          <a:xfrm>
            <a:off x="3198495" y="4000716"/>
            <a:ext cx="579501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F11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尺度增强一致性</a:t>
            </a:r>
            <a:endParaRPr lang="en-US" altLang="zh-CN" sz="2400" i="0" dirty="0">
              <a:solidFill>
                <a:srgbClr val="0F1115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交叉生成一致性</a:t>
            </a:r>
            <a:endParaRPr lang="en-US" altLang="zh-CN" sz="2400" i="0" dirty="0">
              <a:solidFill>
                <a:srgbClr val="0F1115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跨级特征融合、双尺度互补融合</a:t>
            </a:r>
          </a:p>
        </p:txBody>
      </p:sp>
    </p:spTree>
    <p:extLst>
      <p:ext uri="{BB962C8B-B14F-4D97-AF65-F5344CB8AC3E}">
        <p14:creationId xmlns:p14="http://schemas.microsoft.com/office/powerpoint/2010/main" val="365294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AF30-9CB8-9540-033A-4A4EF2C3A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26072-F2E1-4E65-201C-77B28836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1" y="164469"/>
            <a:ext cx="2227955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整体框架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BE28040-432A-4909-AEDA-5FF6D9178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52E4676-5825-CFAF-8B9E-1F9FCAB2D6C2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5546239A-C3E1-509C-222B-751DA64C2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633" y="1094151"/>
            <a:ext cx="8912733" cy="539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7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BDCF-280C-72B9-30EA-5DC9A676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6A766-19EC-F027-BF37-93956E16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0" y="164469"/>
            <a:ext cx="6001379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尺度增强一致性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D849C9-8641-B5C2-B130-79D475391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7955A74-2E65-EDE7-B8CE-E35FA6826638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2A3C5894-CB62-ED05-2866-57709B6BD9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t="4665" r="1282" b="4852"/>
          <a:stretch>
            <a:fillRect/>
          </a:stretch>
        </p:blipFill>
        <p:spPr>
          <a:xfrm>
            <a:off x="138171" y="4700361"/>
            <a:ext cx="6312935" cy="18877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7D76AEE-E420-662F-DFFF-7A7D4666671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4" r="3348"/>
          <a:stretch>
            <a:fillRect/>
          </a:stretch>
        </p:blipFill>
        <p:spPr>
          <a:xfrm>
            <a:off x="6540795" y="4601355"/>
            <a:ext cx="5513034" cy="20857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1BB73BD-0E7B-4E3B-7D38-27EB2F237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982" y="938999"/>
            <a:ext cx="7232036" cy="27833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713C8E8-9887-99B3-77C3-1C2F2D56FA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49" y="3804764"/>
            <a:ext cx="8485714" cy="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4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E0DE-47C4-2468-B3B8-6F19A953A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136D8-70DE-D02C-978D-9803FD8D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1" y="164469"/>
            <a:ext cx="6279546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双尺度互补融合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DCF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6F84777-9430-5752-AD27-10091089A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1191DFA-988E-6D78-BA80-2C0BF94EB5E0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68FCC7-514D-573B-2E9F-992D1F8EF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48" y="3329646"/>
            <a:ext cx="4412277" cy="339881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575949E-977D-E6E6-96F2-9C3FB2E6CAF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4"/>
          <a:stretch>
            <a:fillRect/>
          </a:stretch>
        </p:blipFill>
        <p:spPr>
          <a:xfrm>
            <a:off x="5942974" y="956169"/>
            <a:ext cx="5762424" cy="24728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3EAA6A9-8470-14EB-5C03-1CC4CD3AE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5" y="2419715"/>
            <a:ext cx="5273337" cy="277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4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1F68-775E-3CC7-A044-C72AA5CB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B5C2E-0EDB-9CA6-4CCF-2F1B028B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0" y="164469"/>
            <a:ext cx="5396771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交叉生成一致性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CC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6C8CF04-8CDD-A685-7F5D-761C593C9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E3D38B-3CCB-A870-B7F5-4C4DF70F0A0C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A509642-E029-C216-85B4-1702489417B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1" b="1895"/>
          <a:stretch>
            <a:fillRect/>
          </a:stretch>
        </p:blipFill>
        <p:spPr>
          <a:xfrm>
            <a:off x="2626497" y="898555"/>
            <a:ext cx="4729299" cy="44579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BBBFEC-3628-7ED2-21D6-216184F4CDC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5296"/>
          <a:stretch>
            <a:fillRect/>
          </a:stretch>
        </p:blipFill>
        <p:spPr>
          <a:xfrm>
            <a:off x="7097730" y="2704289"/>
            <a:ext cx="5078028" cy="80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EAD9F2-8977-73EA-312B-7A7207D7C0E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76"/>
          <a:stretch>
            <a:fillRect/>
          </a:stretch>
        </p:blipFill>
        <p:spPr>
          <a:xfrm>
            <a:off x="16242" y="893827"/>
            <a:ext cx="2382249" cy="442092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DF21453-CD6B-EDD8-B0AE-F8AA8B50420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4"/>
          <a:stretch>
            <a:fillRect/>
          </a:stretch>
        </p:blipFill>
        <p:spPr>
          <a:xfrm>
            <a:off x="0" y="5352037"/>
            <a:ext cx="12192000" cy="15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D8DE-A3E9-2488-4CE3-F508BCCD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0B1BF-7FBC-AC08-D9AE-6D356916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2" y="164469"/>
            <a:ext cx="2323350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实验结果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6BF195-12EE-50E9-9D7C-5A7B877D8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66939C7-493A-DFEA-3FFE-DBBC4AE64459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A8C67D2-BACB-CF65-B5F1-31ED169A4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69" y="934879"/>
            <a:ext cx="4795654" cy="30584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208B0B-A722-87C1-1DE9-817443B40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378" y="934879"/>
            <a:ext cx="4795654" cy="30685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BFC12E-834B-218C-B589-2D4D712A31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97" y="4243758"/>
            <a:ext cx="5455198" cy="20200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2785690-AC7B-00BE-B81F-5F6AE86CFB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611" y="4243758"/>
            <a:ext cx="5455197" cy="20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C4F7-006F-CAA8-3784-92329E2F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B53C1-48E7-9A4B-575F-EB8F84DC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2" y="164469"/>
            <a:ext cx="2323350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实验结果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37C7D2-B2C8-F480-D3CB-FD9870276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CC28DE2-CA83-DAA0-03FF-1F43FA0C08F7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DBB73330-F484-BA07-0211-83A978A9227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"/>
          <a:stretch>
            <a:fillRect/>
          </a:stretch>
        </p:blipFill>
        <p:spPr>
          <a:xfrm>
            <a:off x="-1" y="1309254"/>
            <a:ext cx="12067713" cy="42394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DDE998D-9724-7FBA-B326-BD5B965D2DAB}"/>
              </a:ext>
            </a:extLst>
          </p:cNvPr>
          <p:cNvSpPr/>
          <p:nvPr/>
        </p:nvSpPr>
        <p:spPr>
          <a:xfrm>
            <a:off x="1996440" y="1309254"/>
            <a:ext cx="975360" cy="4337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0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E3C3-CF91-6530-9B60-20D936E4C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1F1D0-442E-9700-ADAC-12FFC223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1" y="164469"/>
            <a:ext cx="2227955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消融实验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890C642-D3CB-77DA-1ACF-C64E3CC28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75C4FE7-659E-C2FF-CE95-6DDE4ECCD023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DD3FB0F4-F015-5703-C049-F75124C8B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4" b="6775"/>
          <a:stretch>
            <a:fillRect/>
          </a:stretch>
        </p:blipFill>
        <p:spPr>
          <a:xfrm>
            <a:off x="0" y="1965960"/>
            <a:ext cx="12192000" cy="2727957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D1F2C-8946-4D18-9FF4-A78723A617E3}"/>
              </a:ext>
            </a:extLst>
          </p:cNvPr>
          <p:cNvSpPr/>
          <p:nvPr/>
        </p:nvSpPr>
        <p:spPr>
          <a:xfrm>
            <a:off x="434340" y="4244340"/>
            <a:ext cx="4800600" cy="3352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4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9F9C-A54E-20EC-E4BF-5975C6AEB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1F226-1304-28BB-209E-43061691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1" y="164469"/>
            <a:ext cx="2227955" cy="52759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F6C2CD8-60CA-512F-2B77-78FF7850B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650" y="-2"/>
            <a:ext cx="2323350" cy="85653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570B16E-4359-F9CB-AAE4-3CDF1831E52A}"/>
              </a:ext>
            </a:extLst>
          </p:cNvPr>
          <p:cNvCxnSpPr>
            <a:cxnSpLocks/>
          </p:cNvCxnSpPr>
          <p:nvPr/>
        </p:nvCxnSpPr>
        <p:spPr>
          <a:xfrm>
            <a:off x="0" y="85654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0D2B5BD-0D4A-631F-B002-02F1BDF9D10C}"/>
              </a:ext>
            </a:extLst>
          </p:cNvPr>
          <p:cNvSpPr/>
          <p:nvPr/>
        </p:nvSpPr>
        <p:spPr>
          <a:xfrm>
            <a:off x="1989394" y="1059956"/>
            <a:ext cx="9925235" cy="127837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尺度增强一致性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通过跨尺度相互监督（原始尺度与下采样尺度互相学习），提升模型对病灶大小变化的鲁棒性。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9B09B1-6424-FA56-D3A2-972080A993C0}"/>
              </a:ext>
            </a:extLst>
          </p:cNvPr>
          <p:cNvSpPr/>
          <p:nvPr/>
        </p:nvSpPr>
        <p:spPr>
          <a:xfrm>
            <a:off x="1989395" y="2541766"/>
            <a:ext cx="9925235" cy="127837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交叉生成一致性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通过分割图反向重建原图，形成闭环监督，迫使模型保留图像的完整结构信息，同时增强对颜色的鲁棒性。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33DB877-06DF-E79B-8060-4339CC5D9B88}"/>
              </a:ext>
            </a:extLst>
          </p:cNvPr>
          <p:cNvSpPr/>
          <p:nvPr/>
        </p:nvSpPr>
        <p:spPr>
          <a:xfrm>
            <a:off x="1989395" y="3984625"/>
            <a:ext cx="9925235" cy="127837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跨级特征聚合模块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融合编码器中相邻两层特征，采用注意力机制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残差连接，实现高层语义与低层细节的有效互补。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B914FEE-17EA-5ACB-79F3-F683B7C2FCEA}"/>
              </a:ext>
            </a:extLst>
          </p:cNvPr>
          <p:cNvSpPr/>
          <p:nvPr/>
        </p:nvSpPr>
        <p:spPr>
          <a:xfrm>
            <a:off x="1989394" y="5415152"/>
            <a:ext cx="9925235" cy="1278379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双尺度互补融合模块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对两个尺度专用解码器的特征进行可学习的智能融合。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348DBD-59ED-096F-9931-2946765015B0}"/>
              </a:ext>
            </a:extLst>
          </p:cNvPr>
          <p:cNvSpPr txBox="1"/>
          <p:nvPr/>
        </p:nvSpPr>
        <p:spPr>
          <a:xfrm>
            <a:off x="382476" y="2153412"/>
            <a:ext cx="1107996" cy="255117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dirty="0">
                <a:latin typeface="黑体" panose="02010609060101010101" pitchFamily="49" charset="-122"/>
                <a:ea typeface="黑体" panose="02010609060101010101" pitchFamily="49" charset="-122"/>
              </a:rPr>
              <a:t>创新点</a:t>
            </a:r>
          </a:p>
        </p:txBody>
      </p:sp>
    </p:spTree>
    <p:extLst>
      <p:ext uri="{BB962C8B-B14F-4D97-AF65-F5344CB8AC3E}">
        <p14:creationId xmlns:p14="http://schemas.microsoft.com/office/powerpoint/2010/main" val="23508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196</Words>
  <Application>Microsoft Office PowerPoint</Application>
  <PresentationFormat>宽屏</PresentationFormat>
  <Paragraphs>29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黑体</vt:lpstr>
      <vt:lpstr>Arial</vt:lpstr>
      <vt:lpstr>Times New Roman</vt:lpstr>
      <vt:lpstr>Office 主题​​</vt:lpstr>
      <vt:lpstr>3_Office 主题​​</vt:lpstr>
      <vt:lpstr>2_Office 主题​​</vt:lpstr>
      <vt:lpstr>1_Office 主题​​</vt:lpstr>
      <vt:lpstr>PowerPoint 演示文稿</vt:lpstr>
      <vt:lpstr>PowerPoint 演示文稿</vt:lpstr>
      <vt:lpstr>研究背景</vt:lpstr>
      <vt:lpstr>整体框架</vt:lpstr>
      <vt:lpstr>尺度增强一致性(SC)</vt:lpstr>
      <vt:lpstr>双尺度互补融合(DCF)</vt:lpstr>
      <vt:lpstr>交叉生成一致性(CC)</vt:lpstr>
      <vt:lpstr>实验结果</vt:lpstr>
      <vt:lpstr>实验结果</vt:lpstr>
      <vt:lpstr>消融实验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梦琪 陈</dc:creator>
  <cp:lastModifiedBy>梦琪 陈</cp:lastModifiedBy>
  <cp:revision>18</cp:revision>
  <dcterms:created xsi:type="dcterms:W3CDTF">2026-05-22T01:35:17Z</dcterms:created>
  <dcterms:modified xsi:type="dcterms:W3CDTF">2026-05-23T11:19:27Z</dcterms:modified>
</cp:coreProperties>
</file>