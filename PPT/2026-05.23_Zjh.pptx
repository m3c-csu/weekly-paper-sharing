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394" r:id="rId2"/>
    <p:sldId id="3399" r:id="rId3"/>
    <p:sldId id="3396" r:id="rId4"/>
    <p:sldId id="3493" r:id="rId5"/>
    <p:sldId id="3436" r:id="rId6"/>
    <p:sldId id="3532" r:id="rId7"/>
    <p:sldId id="3537" r:id="rId8"/>
    <p:sldId id="3538" r:id="rId9"/>
    <p:sldId id="3424" r:id="rId10"/>
    <p:sldId id="3503" r:id="rId11"/>
    <p:sldId id="3535" r:id="rId12"/>
    <p:sldId id="3536" r:id="rId13"/>
    <p:sldId id="3504" r:id="rId14"/>
    <p:sldId id="3539" r:id="rId15"/>
    <p:sldId id="3231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on gary" initials="wg" lastIdx="1" clrIdx="0">
    <p:extLst>
      <p:ext uri="{19B8F6BF-5375-455C-9EA6-DF929625EA0E}">
        <p15:presenceInfo xmlns:p15="http://schemas.microsoft.com/office/powerpoint/2012/main" userId="36f2ec5a437e18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E8D"/>
    <a:srgbClr val="80E4C3"/>
    <a:srgbClr val="A597CD"/>
    <a:srgbClr val="EC9E97"/>
    <a:srgbClr val="02C693"/>
    <a:srgbClr val="C2E8F7"/>
    <a:srgbClr val="C7A489"/>
    <a:srgbClr val="88DBF8"/>
    <a:srgbClr val="92D2C6"/>
    <a:srgbClr val="C0E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1" autoAdjust="0"/>
    <p:restoredTop sz="87544" autoAdjust="0"/>
  </p:normalViewPr>
  <p:slideViewPr>
    <p:cSldViewPr snapToGrid="0">
      <p:cViewPr varScale="1">
        <p:scale>
          <a:sx n="106" d="100"/>
          <a:sy n="106" d="100"/>
        </p:scale>
        <p:origin x="950" y="91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98365-F53F-4CDA-A9C3-AF7FD0858500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48B1E-3844-496C-8F27-82E99E74AAC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11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由</a:t>
            </a:r>
            <a:r>
              <a:rPr lang="en-US" altLang="zh-CN" dirty="0"/>
              <a:t>GPT-4Vision</a:t>
            </a:r>
            <a:r>
              <a:rPr lang="zh-CN" altLang="en-US" dirty="0"/>
              <a:t>指导的自动化放疗治疗计划</a:t>
            </a:r>
            <a:endParaRPr lang="en-US" altLang="zh-CN" dirty="0"/>
          </a:p>
          <a:p>
            <a:r>
              <a:rPr lang="en-US" altLang="zh-CN" dirty="0"/>
              <a:t>PHYSICS IN MEDICINE AND BIOLOGY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311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斯坦福博后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735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ADBAC7"/>
              </a:solidFill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33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875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TPS</a:t>
            </a:r>
            <a:r>
              <a:rPr lang="zh-CN" altLang="en-US" dirty="0"/>
              <a:t>规划系统：逆向优化：</a:t>
            </a:r>
            <a:r>
              <a:rPr lang="zh-CN" altLang="en-US" b="1" dirty="0"/>
              <a:t>已知“想要的剂量效果”，反过来求“机器应该如何出束”。医生优化：</a:t>
            </a:r>
            <a:r>
              <a:rPr lang="zh-CN" altLang="en-US" dirty="0"/>
              <a:t>剂量目标和权重（这个目标有多重要）</a:t>
            </a: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评估模块：利用 </a:t>
            </a:r>
            <a:r>
              <a:rPr lang="en-US" altLang="zh-CN" dirty="0"/>
              <a:t>GPT-4V </a:t>
            </a:r>
            <a:r>
              <a:rPr lang="zh-CN" altLang="en-US" dirty="0"/>
              <a:t>的先验知识和参考计划评估。输入：剂量分布图像、</a:t>
            </a:r>
            <a:r>
              <a:rPr lang="en-US" altLang="zh-CN" dirty="0"/>
              <a:t>DVHs</a:t>
            </a:r>
            <a:r>
              <a:rPr lang="zh-CN" altLang="en-US" dirty="0"/>
              <a:t>、医生意图（以文本形式列出要求）、处方剂量、患者的临床需求。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记忆模块：存储同一患者的过去迭代的计划及相应的优化参数。过滤冗余信息的机制：它只保留最近</a:t>
            </a:r>
            <a:r>
              <a:rPr lang="en-US" altLang="zh-CN" dirty="0"/>
              <a:t>L</a:t>
            </a:r>
            <a:r>
              <a:rPr lang="zh-CN" altLang="en-US" dirty="0"/>
              <a:t>步的剂量分布图像、</a:t>
            </a:r>
            <a:r>
              <a:rPr lang="en-US" altLang="zh-CN" dirty="0"/>
              <a:t>DVH</a:t>
            </a:r>
            <a:r>
              <a:rPr lang="zh-CN" altLang="en-US" dirty="0"/>
              <a:t>、反馈和优化参数。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规划模块：将评估模块中的文本反馈转换为可由治疗计划系统处理的优化参数。接收了同一治疗地点的参考计划，促进了规划模块对优化参数与治疗方案变更之间关系的理解。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93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CAEF8-016F-030C-39EE-6F298629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21954D-BF00-82CF-DCA6-4E40536C6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AC3A1D-D576-A2F3-6F4E-16A6482AA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554DE8-1E6E-E236-07D5-C60097171F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941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8FE65-A9F0-30A7-007C-B18197D87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E62FE8-472D-10F7-548C-0A960FFD8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D08EFB-7353-BF02-1677-B764B2009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均匀性和一致性</a:t>
            </a:r>
            <a:endParaRPr lang="en-US" altLang="zh-CN" b="0" dirty="0"/>
          </a:p>
          <a:p>
            <a:r>
              <a:rPr lang="en-US" altLang="zh-CN" b="0" dirty="0"/>
              <a:t>PTV</a:t>
            </a:r>
            <a:r>
              <a:rPr lang="zh-CN" altLang="en-US" b="0" dirty="0"/>
              <a:t>周围剂量溢出和梯度</a:t>
            </a:r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CCDCF8-C2F7-4961-A84A-1425C3B7E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356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6731-BAE9-B5D7-79BA-D3FC6408A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E831E4-F369-C17F-8D46-E66984147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A6D71D-E13A-5281-513D-8E65E9887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2E600C-F3DD-18E8-8DFE-B5CE42D75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6355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414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包含了两个疾病部位所有患者的平均</a:t>
            </a:r>
            <a:r>
              <a:rPr lang="en-US" altLang="zh-CN" b="0" i="0" dirty="0">
                <a:solidFill>
                  <a:srgbClr val="ECECEC"/>
                </a:solidFill>
                <a:effectLst/>
                <a:latin typeface="ui-sans-serif"/>
              </a:rPr>
              <a:t>PTV</a:t>
            </a:r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指标</a:t>
            </a:r>
            <a:endParaRPr lang="en-US" altLang="zh-CN" b="0" i="0" dirty="0">
              <a:solidFill>
                <a:srgbClr val="ECECEC"/>
              </a:solidFill>
              <a:effectLst/>
              <a:latin typeface="ui-sans-serif"/>
            </a:endParaRPr>
          </a:p>
          <a:p>
            <a:pPr algn="l"/>
            <a:r>
              <a:rPr lang="zh-CN" altLang="en-US" dirty="0"/>
              <a:t>贝叶斯优化</a:t>
            </a:r>
            <a:endParaRPr lang="en-US" altLang="zh-CN" dirty="0"/>
          </a:p>
          <a:p>
            <a:pPr algn="l"/>
            <a:r>
              <a:rPr lang="zh-CN" altLang="en-US" dirty="0"/>
              <a:t>可能存在转移风险的颈部淋巴结引流区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HI</a:t>
            </a:r>
            <a:r>
              <a:rPr lang="zh-CN" altLang="en-US" dirty="0"/>
              <a:t>：</a:t>
            </a:r>
            <a:r>
              <a:rPr lang="en-US" altLang="zh-CN" dirty="0"/>
              <a:t>PTV </a:t>
            </a:r>
            <a:r>
              <a:rPr lang="zh-CN" altLang="en-US" dirty="0"/>
              <a:t>内部剂量均匀性 </a:t>
            </a:r>
            <a:r>
              <a:rPr lang="en-US" altLang="zh-CN" dirty="0"/>
              <a:t>CI</a:t>
            </a:r>
            <a:r>
              <a:rPr lang="zh-CN" altLang="en-US" dirty="0"/>
              <a:t>：高剂量区域和 </a:t>
            </a:r>
            <a:r>
              <a:rPr lang="en-US" altLang="zh-CN" dirty="0"/>
              <a:t>PTV </a:t>
            </a:r>
            <a:r>
              <a:rPr lang="zh-CN" altLang="en-US" dirty="0"/>
              <a:t>的贴合程度，越接近 </a:t>
            </a:r>
            <a:r>
              <a:rPr lang="en-US" altLang="zh-CN" dirty="0"/>
              <a:t>1 </a:t>
            </a:r>
            <a:r>
              <a:rPr lang="zh-CN" altLang="en-US" dirty="0"/>
              <a:t>越好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Dx </a:t>
            </a:r>
            <a:r>
              <a:rPr lang="zh-CN" altLang="en-US" dirty="0"/>
              <a:t>是“给定体积比例，问剂量是多少”。</a:t>
            </a:r>
            <a:r>
              <a:rPr lang="en-US" altLang="zh-CN" dirty="0"/>
              <a:t>Vx </a:t>
            </a:r>
            <a:r>
              <a:rPr lang="zh-CN" altLang="en-US" dirty="0"/>
              <a:t>是“给定剂量阈值，问有多少体积达到这个剂量”。</a:t>
            </a:r>
          </a:p>
          <a:p>
            <a:pPr algn="l"/>
            <a:endParaRPr lang="en-US" altLang="zh-CN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002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42D46-17E2-AA82-DB8A-7449A8BD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82E112-7763-413A-25A0-975983DA1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8A339C-0878-DB7A-30F5-F8C2B8F3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主要</a:t>
            </a:r>
            <a:r>
              <a:rPr lang="en-US" altLang="zh-CN" b="0" i="0" dirty="0">
                <a:solidFill>
                  <a:srgbClr val="ECECEC"/>
                </a:solidFill>
                <a:effectLst/>
                <a:latin typeface="ui-sans-serif"/>
              </a:rPr>
              <a:t>OARs</a:t>
            </a:r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的剂量指标</a:t>
            </a:r>
            <a:endParaRPr lang="en-US" altLang="zh-CN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19D17-E47B-1346-C733-43441CD2B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715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3ADD-5F7B-E3A9-6A55-8C791A95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3DFE73-8377-09CB-D47D-EE84ACC0F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CA135F-9417-B4D5-DDB4-714DB77B2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实线表示</a:t>
            </a:r>
            <a:r>
              <a:rPr lang="en-US" altLang="zh-CN" b="0" i="0" dirty="0">
                <a:solidFill>
                  <a:srgbClr val="ECECEC"/>
                </a:solidFill>
                <a:effectLst/>
                <a:latin typeface="ui-sans-serif"/>
              </a:rPr>
              <a:t>GPT-</a:t>
            </a:r>
            <a:r>
              <a:rPr lang="en-US" altLang="zh-CN" b="0" i="0" dirty="0" err="1">
                <a:solidFill>
                  <a:srgbClr val="ECECEC"/>
                </a:solidFill>
                <a:effectLst/>
                <a:latin typeface="ui-sans-serif"/>
              </a:rPr>
              <a:t>RadPlan</a:t>
            </a:r>
            <a:r>
              <a:rPr lang="zh-CN" altLang="en-US" b="0" i="0" dirty="0">
                <a:solidFill>
                  <a:srgbClr val="ECECEC"/>
                </a:solidFill>
                <a:effectLst/>
                <a:latin typeface="ui-sans-serif"/>
              </a:rPr>
              <a:t>计划，虚线表示临床计划。</a:t>
            </a:r>
            <a:endParaRPr lang="en-US" altLang="zh-CN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E490D-07B5-023A-A7F0-895EAFDDC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0877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5063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92BB-B2BA-7035-3E5D-BF591B22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E7ED57-52AE-942A-6366-3D8759F9B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BE2FD2-BB12-85D6-C83D-FE194260C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0" i="0" dirty="0">
              <a:solidFill>
                <a:srgbClr val="ECECEC"/>
              </a:solidFill>
              <a:effectLst/>
              <a:latin typeface="ui-sans-serif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DFEC37-ECFA-8BDB-8CBE-30D9F9DA0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95DCBA-0CD2-47DC-90CF-EC7D70760B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424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A9E09-D1A5-4964-96DD-C272DDCB1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CDFF-9E79-4D83-8BE4-E4BFC5ECE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CCAD58-37AD-4096-8D7A-A24DFF04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767ACE-0889-48EB-9F4E-B3BCF2B6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AD6D4-E8C8-48A5-BB8F-9416801C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76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D88FC-2026-47CE-B797-B1AD70ED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70A4E-F739-4E8B-A81C-34A733F5F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9521F-7FA9-4DBF-8B95-7BC72527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65F88F-3CE8-4DFD-AEA5-9A9E216F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A02CF-7CAB-4224-9369-8F133B543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06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60236-3122-40C8-A2BA-BE946F41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86EE4-A9C1-4E1C-895C-4CDB09B8B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2B996B-9399-4D3D-A561-B097415A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9ADBB-01D4-405F-BA5E-591CE440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586D59-FB6F-415F-8F1E-98A6030E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0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C9FAED-22B0-4915-9A53-246450B91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F1BAA-EA45-4118-9B95-7FCBF41D9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9ECD2A-91F2-4487-AE4B-EA69B39CF5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5F7DBE-57D0-48E9-B406-0401AB4A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FA0907-AE21-476E-9A56-D741C233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A49AB5-DF57-4E34-AB28-EC26CBEF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514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DEF9B-557E-414A-912F-4BB938D47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A3C8C9-F524-4911-A0EC-1513F3C6F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F3D93D-81A7-4D47-ADFA-977E08AAE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34450E-175D-46A3-921B-85EA2F7D1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0676AD-52CC-424E-B279-7BC879365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8EE84D-FE41-43AC-B521-67A7B8FA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1C6F89-7291-42CD-9487-50AE2A945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BFE8EB-BAC4-454E-A4DC-B69FA3C58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2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043C2-BD38-4F33-8C41-E25AD911D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AB3807-44D3-4F4F-8060-E10F9123D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FDA364-765C-4F94-96E7-AB9BA576F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584DDB-B007-4AC9-8CFF-E1EF419D3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66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E3C10E9-CFE1-44EA-B43D-E27974261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9073A9-8FD3-4B49-9F06-04B003BF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0157F4-6FDC-4693-B09D-6DDD79AC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766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26233-671A-43E2-8306-42566CB50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016B2F-7E31-4513-98D9-0D185CC9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3797B9-3363-4999-844F-ED482410C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27F5C5-6AFE-4E7F-93A8-97936C81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92E0EA-2690-498A-923C-A5879D34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6570A-8237-4E65-B919-60E7141E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39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90762-5967-49C3-AC7B-B383B88B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8B31A2-8F84-4212-80A0-D63B5CF7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0627BA-620A-436F-B3ED-90C797630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8EF30F-A058-4400-A273-EB00858CA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7AD9F7-FD42-449F-AD4B-703C825BE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F009EC-CCD3-4324-8356-1AC2B8FD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157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64D9D-F39E-4DCB-BB8E-772CADB3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AC28BA-54D0-48F9-BF08-F578B7290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4DAA3-AB46-429F-BC38-22600B11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0907F-8060-4F71-8001-A8466CC2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F4A13E-29A6-4BF2-8C16-0FB39D70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331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FD02FF-058B-4611-ABBD-4FDAD2B21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9E8EBE-CE0B-44F6-996F-EE71D47E9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A2D0EB-F6F8-4D56-B88D-BA61D716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3770A1-7DF4-40DD-A36F-ACD6CE95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44572-2E41-468F-8E0F-A906DA72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620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93E93-166D-47F5-9EF1-ACEABE24AEE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D5ACA-62CA-46DB-AD6B-12EDD6D51A2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4397375" y="7531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60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AA2EB0-E6C2-4DDA-AC6C-830B48C6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A8DF27-379A-436C-AF46-66828990B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D2337C-9985-455D-B7E4-9F819830B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469AC-3566-4F4B-965A-CB7ECF5E2515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153385-F15D-457C-B14A-0B471547A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4F1B8F-872F-4EC9-A7E5-E54C45DEF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87B4E-8BB0-44A0-AADC-C7FC883A5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86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69" y="239643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8172" y="201754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0000" y="1877889"/>
            <a:ext cx="3140616" cy="29035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51220" y="2777104"/>
            <a:ext cx="9869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3765"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Automated radiotherapy treatment planning guided by  GPT-4Vision</a:t>
            </a:r>
            <a:endParaRPr lang="en-US" altLang="zh-CN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070" y="0"/>
            <a:ext cx="1966449" cy="57599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2B816B8-9C9B-4BF1-323A-3AEF258A219A}"/>
              </a:ext>
            </a:extLst>
          </p:cNvPr>
          <p:cNvSpPr txBox="1"/>
          <p:nvPr/>
        </p:nvSpPr>
        <p:spPr>
          <a:xfrm>
            <a:off x="5730764" y="4641820"/>
            <a:ext cx="1371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PMB 2025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2455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9" name="标题占位符 1">
            <a:extLst>
              <a:ext uri="{FF2B5EF4-FFF2-40B4-BE49-F238E27FC236}">
                <a16:creationId xmlns:a16="http://schemas.microsoft.com/office/drawing/2014/main" id="{D7B251A9-C9D0-42AC-893C-DDF796B5D1D9}"/>
              </a:ext>
            </a:extLst>
          </p:cNvPr>
          <p:cNvSpPr txBox="1"/>
          <p:nvPr/>
        </p:nvSpPr>
        <p:spPr>
          <a:xfrm>
            <a:off x="1056438" y="149511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Authors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D70F1AA-5330-1534-6403-C60BBBF62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888" y="1036085"/>
            <a:ext cx="5957367" cy="15177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EEAB2E-C586-7186-0DE3-003808940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889" y="2559600"/>
            <a:ext cx="2709670" cy="3893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BC5C8C-489D-871A-A238-CF1557FBFE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888" y="3700624"/>
            <a:ext cx="2954036" cy="3255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D1BB43-22D7-6DDC-7434-3119BEFDF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14122" y="4888223"/>
            <a:ext cx="3773843" cy="34456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31B412-5868-3F4A-66A5-73074CD66B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6855" y="2907996"/>
            <a:ext cx="5342078" cy="7911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23AC74-6111-9404-192E-D5B8A9655C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6854" y="4021557"/>
            <a:ext cx="5711917" cy="8822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290C59-797F-6675-B718-AF074D70E7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41171" y="5283355"/>
            <a:ext cx="5847824" cy="10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62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35CE67DA-8DF0-4A90-BBA9-237E6B31F313}"/>
              </a:ext>
            </a:extLst>
          </p:cNvPr>
          <p:cNvSpPr txBox="1"/>
          <p:nvPr/>
        </p:nvSpPr>
        <p:spPr>
          <a:xfrm>
            <a:off x="1042966" y="149511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Introduction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11E82B3-F312-0298-11FE-588EE3E6B3F0}"/>
              </a:ext>
            </a:extLst>
          </p:cNvPr>
          <p:cNvSpPr txBox="1"/>
          <p:nvPr/>
        </p:nvSpPr>
        <p:spPr>
          <a:xfrm>
            <a:off x="379973" y="864819"/>
            <a:ext cx="22883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）背景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C56179-1FE3-9436-FC72-6F45A5BEAA0D}"/>
              </a:ext>
            </a:extLst>
          </p:cNvPr>
          <p:cNvSpPr txBox="1"/>
          <p:nvPr/>
        </p:nvSpPr>
        <p:spPr>
          <a:xfrm>
            <a:off x="1233278" y="1563575"/>
            <a:ext cx="100808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放疗目标：在最大限度杀伤肿瘤细胞（</a:t>
            </a:r>
            <a:r>
              <a:rPr lang="en-US" altLang="zh-CN" dirty="0"/>
              <a:t>PTV</a:t>
            </a:r>
            <a:r>
              <a:rPr lang="zh-CN" altLang="en-US" dirty="0"/>
              <a:t>）的同时，尽可能保护周围正常组织和危及器官</a:t>
            </a:r>
            <a:r>
              <a:rPr lang="en-US" altLang="zh-CN" dirty="0"/>
              <a:t>(OARs)</a:t>
            </a:r>
            <a:r>
              <a:rPr lang="zh-CN" altLang="en-US" dirty="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81A2E6-88A2-8BAD-81E0-175D3920A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240" y="2266335"/>
            <a:ext cx="1780759" cy="14893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9966871-C490-9658-6821-45C55B7F2624}"/>
              </a:ext>
            </a:extLst>
          </p:cNvPr>
          <p:cNvSpPr txBox="1"/>
          <p:nvPr/>
        </p:nvSpPr>
        <p:spPr>
          <a:xfrm>
            <a:off x="11024296" y="1984035"/>
            <a:ext cx="5440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PTV</a:t>
            </a:r>
            <a:endParaRPr lang="zh-CN" altLang="en-US" sz="14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BE22545-CB47-DA15-65F5-1E369B4F119A}"/>
              </a:ext>
            </a:extLst>
          </p:cNvPr>
          <p:cNvSpPr txBox="1"/>
          <p:nvPr/>
        </p:nvSpPr>
        <p:spPr>
          <a:xfrm>
            <a:off x="11518072" y="2838801"/>
            <a:ext cx="698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OARs</a:t>
            </a:r>
            <a:endParaRPr lang="zh-CN" altLang="en-US" sz="14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5C73143-B038-C419-19D2-B565711EB0D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10942413" y="2968066"/>
            <a:ext cx="575659" cy="246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3E219EAF-BCFB-4C62-E85F-5A39110FB38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" t="14645" b="11088"/>
          <a:stretch>
            <a:fillRect/>
          </a:stretch>
        </p:blipFill>
        <p:spPr>
          <a:xfrm>
            <a:off x="95760" y="1984035"/>
            <a:ext cx="9629153" cy="4113552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218DB08-8D8E-E636-C66A-F417B192363E}"/>
              </a:ext>
            </a:extLst>
          </p:cNvPr>
          <p:cNvCxnSpPr>
            <a:cxnSpLocks/>
          </p:cNvCxnSpPr>
          <p:nvPr/>
        </p:nvCxnSpPr>
        <p:spPr>
          <a:xfrm flipV="1">
            <a:off x="10569600" y="2266335"/>
            <a:ext cx="572160" cy="57246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297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55" name="椭圆 54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35CE67DA-8DF0-4A90-BBA9-237E6B31F313}"/>
              </a:ext>
            </a:extLst>
          </p:cNvPr>
          <p:cNvSpPr txBox="1"/>
          <p:nvPr/>
        </p:nvSpPr>
        <p:spPr>
          <a:xfrm>
            <a:off x="1042966" y="149511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Introduction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E5F766-96DF-C61F-AB99-DE791F2A8DAB}"/>
              </a:ext>
            </a:extLst>
          </p:cNvPr>
          <p:cNvSpPr txBox="1"/>
          <p:nvPr/>
        </p:nvSpPr>
        <p:spPr>
          <a:xfrm>
            <a:off x="379973" y="883611"/>
            <a:ext cx="4594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）多模态大语言模型</a:t>
            </a:r>
            <a:endParaRPr lang="en-US" altLang="zh-CN" sz="2400" dirty="0"/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E322F06E-094E-F08A-180A-61939120E6F4}"/>
              </a:ext>
            </a:extLst>
          </p:cNvPr>
          <p:cNvSpPr/>
          <p:nvPr/>
        </p:nvSpPr>
        <p:spPr>
          <a:xfrm>
            <a:off x="929104" y="1918904"/>
            <a:ext cx="265571" cy="2500934"/>
          </a:xfrm>
          <a:prstGeom prst="leftBrace">
            <a:avLst>
              <a:gd name="adj1" fmla="val 55825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CC27F0-0653-0B2F-9F76-3C6A4674D23F}"/>
              </a:ext>
            </a:extLst>
          </p:cNvPr>
          <p:cNvSpPr txBox="1"/>
          <p:nvPr/>
        </p:nvSpPr>
        <p:spPr>
          <a:xfrm>
            <a:off x="1198544" y="1810965"/>
            <a:ext cx="10170256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effectLst/>
                <a:latin typeface="-apple-system"/>
              </a:rPr>
              <a:t>上下文学习（</a:t>
            </a:r>
            <a:r>
              <a:rPr lang="en-US" altLang="zh-CN" dirty="0"/>
              <a:t>in-context learning</a:t>
            </a:r>
            <a:r>
              <a:rPr lang="zh-CN" altLang="en-US" b="0" i="0" dirty="0">
                <a:effectLst/>
                <a:latin typeface="-apple-system"/>
              </a:rPr>
              <a:t>）：</a:t>
            </a:r>
            <a:r>
              <a:rPr lang="zh-CN" altLang="en-US" dirty="0"/>
              <a:t>模型参数不更新，只通过 </a:t>
            </a:r>
            <a:r>
              <a:rPr lang="en-US" altLang="zh-CN" dirty="0"/>
              <a:t>prompt </a:t>
            </a:r>
            <a:r>
              <a:rPr lang="zh-CN" altLang="en-US" dirty="0"/>
              <a:t>里给出的说明、示例和当前任务信息，在推理时临时学会应该怎么做。</a:t>
            </a:r>
            <a:endParaRPr lang="en-US" altLang="zh-CN" dirty="0"/>
          </a:p>
          <a:p>
            <a:endParaRPr lang="en-US" altLang="zh-CN" sz="1050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）临床协议 </a:t>
            </a:r>
            <a:r>
              <a:rPr lang="en-US" altLang="zh-CN" dirty="0"/>
              <a:t>/ </a:t>
            </a:r>
            <a:r>
              <a:rPr lang="zh-CN" altLang="en-US" dirty="0"/>
              <a:t>医生意图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）少量参考计划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）当前患者当前迭代的计划状态 和 当前患者的历史迭代轨迹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2470E4-0753-FD65-8687-9928FE46D722}"/>
              </a:ext>
            </a:extLst>
          </p:cNvPr>
          <p:cNvSpPr txBox="1"/>
          <p:nvPr/>
        </p:nvSpPr>
        <p:spPr>
          <a:xfrm>
            <a:off x="1207948" y="4188501"/>
            <a:ext cx="2788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学习特定领域的专业知识</a:t>
            </a:r>
          </a:p>
        </p:txBody>
      </p:sp>
    </p:spTree>
    <p:extLst>
      <p:ext uri="{BB962C8B-B14F-4D97-AF65-F5344CB8AC3E}">
        <p14:creationId xmlns:p14="http://schemas.microsoft.com/office/powerpoint/2010/main" val="458331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4FF9AFD-B6A7-12DE-D78B-95C6CA2A0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85" y="1173567"/>
            <a:ext cx="9712872" cy="4961165"/>
          </a:xfrm>
          <a:prstGeom prst="rect">
            <a:avLst/>
          </a:prstGeom>
        </p:spPr>
      </p:pic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6AF88AF-8690-4EED-BB78-70F6DFC22C2B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D67310B-FB3F-4D06-B8BF-87F4966CB067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3A336AB-85A1-4B21-8070-FAAE12EF8A86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CDC6C8E-BB30-4A08-955C-9F0D478ECF66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3" name="标题占位符 1">
            <a:extLst>
              <a:ext uri="{FF2B5EF4-FFF2-40B4-BE49-F238E27FC236}">
                <a16:creationId xmlns:a16="http://schemas.microsoft.com/office/drawing/2014/main" id="{F1530D8B-A116-40D5-82DB-AFCEB4A34740}"/>
              </a:ext>
            </a:extLst>
          </p:cNvPr>
          <p:cNvSpPr txBox="1"/>
          <p:nvPr/>
        </p:nvSpPr>
        <p:spPr>
          <a:xfrm>
            <a:off x="1042966" y="140479"/>
            <a:ext cx="2193293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FA3DDB-A29B-6CAB-815C-632BD7C6AE7F}"/>
              </a:ext>
            </a:extLst>
          </p:cNvPr>
          <p:cNvSpPr txBox="1"/>
          <p:nvPr/>
        </p:nvSpPr>
        <p:spPr>
          <a:xfrm>
            <a:off x="188387" y="758825"/>
            <a:ext cx="4301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GPT-</a:t>
            </a:r>
            <a:r>
              <a:rPr lang="en-US" altLang="zh-CN" sz="2400" dirty="0" err="1"/>
              <a:t>RadPlan</a:t>
            </a:r>
            <a:r>
              <a:rPr lang="zh-CN" altLang="en-US" sz="2400" dirty="0"/>
              <a:t>模型结构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2C4460-F663-E6E2-4F24-892D5F6B9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7283" y="6211147"/>
            <a:ext cx="1021489" cy="320045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21C458D-5F40-73F2-A140-699DAC0DDBB7}"/>
              </a:ext>
            </a:extLst>
          </p:cNvPr>
          <p:cNvCxnSpPr>
            <a:cxnSpLocks/>
          </p:cNvCxnSpPr>
          <p:nvPr/>
        </p:nvCxnSpPr>
        <p:spPr>
          <a:xfrm>
            <a:off x="4132800" y="5763897"/>
            <a:ext cx="0" cy="5096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78BB75A-0B92-A990-2A66-F46CD74BFF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363425"/>
            <a:ext cx="3737283" cy="1067795"/>
          </a:xfrm>
          <a:prstGeom prst="rect">
            <a:avLst/>
          </a:prstGeom>
        </p:spPr>
      </p:pic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5583A31-246F-2E8B-7283-2DA63B23DC48}"/>
              </a:ext>
            </a:extLst>
          </p:cNvPr>
          <p:cNvSpPr/>
          <p:nvPr/>
        </p:nvSpPr>
        <p:spPr>
          <a:xfrm>
            <a:off x="3954780" y="1630680"/>
            <a:ext cx="1912620" cy="1798320"/>
          </a:xfrm>
          <a:custGeom>
            <a:avLst/>
            <a:gdLst>
              <a:gd name="connsiteX0" fmla="*/ 0 w 1912620"/>
              <a:gd name="connsiteY0" fmla="*/ 0 h 1798320"/>
              <a:gd name="connsiteX1" fmla="*/ 7620 w 1912620"/>
              <a:gd name="connsiteY1" fmla="*/ 777240 h 1798320"/>
              <a:gd name="connsiteX2" fmla="*/ 891540 w 1912620"/>
              <a:gd name="connsiteY2" fmla="*/ 777240 h 1798320"/>
              <a:gd name="connsiteX3" fmla="*/ 883920 w 1912620"/>
              <a:gd name="connsiteY3" fmla="*/ 1798320 h 1798320"/>
              <a:gd name="connsiteX4" fmla="*/ 1912620 w 1912620"/>
              <a:gd name="connsiteY4" fmla="*/ 1783080 h 1798320"/>
              <a:gd name="connsiteX5" fmla="*/ 1912620 w 1912620"/>
              <a:gd name="connsiteY5" fmla="*/ 0 h 1798320"/>
              <a:gd name="connsiteX6" fmla="*/ 0 w 1912620"/>
              <a:gd name="connsiteY6" fmla="*/ 0 h 179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2620" h="1798320">
                <a:moveTo>
                  <a:pt x="0" y="0"/>
                </a:moveTo>
                <a:lnTo>
                  <a:pt x="7620" y="777240"/>
                </a:lnTo>
                <a:lnTo>
                  <a:pt x="891540" y="777240"/>
                </a:lnTo>
                <a:lnTo>
                  <a:pt x="883920" y="1798320"/>
                </a:lnTo>
                <a:lnTo>
                  <a:pt x="1912620" y="1783080"/>
                </a:lnTo>
                <a:lnTo>
                  <a:pt x="191262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E6337EE-1492-12EE-F4F8-5A45691835F2}"/>
              </a:ext>
            </a:extLst>
          </p:cNvPr>
          <p:cNvSpPr/>
          <p:nvPr/>
        </p:nvSpPr>
        <p:spPr>
          <a:xfrm>
            <a:off x="3855720" y="2438400"/>
            <a:ext cx="838200" cy="10134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A3B794D-2751-BA7C-2FD0-C394353A04C3}"/>
              </a:ext>
            </a:extLst>
          </p:cNvPr>
          <p:cNvSpPr txBox="1"/>
          <p:nvPr/>
        </p:nvSpPr>
        <p:spPr>
          <a:xfrm>
            <a:off x="2415539" y="2701984"/>
            <a:ext cx="117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Inner loop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F5825B6-CFAE-C23B-2EF7-9C1CE68B2BB4}"/>
              </a:ext>
            </a:extLst>
          </p:cNvPr>
          <p:cNvSpPr txBox="1"/>
          <p:nvPr/>
        </p:nvSpPr>
        <p:spPr>
          <a:xfrm>
            <a:off x="4908666" y="1184933"/>
            <a:ext cx="1176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Outer loop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715B3EE-7349-7538-E961-CE305E43D310}"/>
              </a:ext>
            </a:extLst>
          </p:cNvPr>
          <p:cNvSpPr txBox="1"/>
          <p:nvPr/>
        </p:nvSpPr>
        <p:spPr>
          <a:xfrm>
            <a:off x="-43378" y="5058296"/>
            <a:ext cx="3279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/>
              <a:t>最小化一个平衡多个冲突目标的加权成本函数</a:t>
            </a:r>
          </a:p>
        </p:txBody>
      </p:sp>
    </p:spTree>
    <p:extLst>
      <p:ext uri="{BB962C8B-B14F-4D97-AF65-F5344CB8AC3E}">
        <p14:creationId xmlns:p14="http://schemas.microsoft.com/office/powerpoint/2010/main" val="4068344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37D6A-95C4-B7D5-8D63-4E9851E0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926B4FAB-A50F-4B49-771D-AE62B7CFDA03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124EB494-7E45-15E6-5696-D2C4E7C9AF91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5915541-B997-021A-3DD2-9F0160A6F7BB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4F96944D-A4AD-58AC-D839-59F69CC10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6B335AB6-9D6B-698D-DC51-A1FCF247C8CD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5BAB122-6BFA-A652-D370-824709B0C486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724149E-2B82-F6F5-4D3F-EBB183EA840B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21802EF-9C34-7FAD-DD06-DE66B8C0533E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26A9D7C1-228F-756F-98F2-47ADFCF38BD3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34E34FB-4845-1DF6-CA2D-B4E80D7E104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F5604D5-1BCA-8A7F-3177-6083C3652BC6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3" name="标题占位符 1">
            <a:extLst>
              <a:ext uri="{FF2B5EF4-FFF2-40B4-BE49-F238E27FC236}">
                <a16:creationId xmlns:a16="http://schemas.microsoft.com/office/drawing/2014/main" id="{04B34E89-55AB-8D58-28D1-DC8566811687}"/>
              </a:ext>
            </a:extLst>
          </p:cNvPr>
          <p:cNvSpPr txBox="1"/>
          <p:nvPr/>
        </p:nvSpPr>
        <p:spPr>
          <a:xfrm>
            <a:off x="1042966" y="140479"/>
            <a:ext cx="2193293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39DEB5-2A79-5FFF-CF52-DF53AFD0A161}"/>
              </a:ext>
            </a:extLst>
          </p:cNvPr>
          <p:cNvSpPr txBox="1"/>
          <p:nvPr/>
        </p:nvSpPr>
        <p:spPr>
          <a:xfrm>
            <a:off x="660400" y="958043"/>
            <a:ext cx="787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）算法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F8FA89-529C-CAC0-0901-9BFBA81B7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347" y="1617337"/>
            <a:ext cx="8794763" cy="433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50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73A1D-824E-270A-6DA5-C34A97B1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154EDD4C-F495-3507-6BA8-122148B435B8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95EEF9C-74AF-6EAE-0442-3E8D9461D27A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4323CD13-D86F-3867-3139-441432532D61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BB5BD8E-64C3-96D1-323F-C1647DECFA90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6D5AE36-BA74-462B-F2C0-D76D10DCFF00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3AAD681-B9F4-51BF-1D72-214377195237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491A4FE6-4F26-B287-8E0F-8CACEB74AEA9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5FD0354-68CE-CF55-6B16-8755F45A048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ADD0D64-4344-6F0C-CEBC-1A3F6052B6CD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3" name="标题占位符 1">
            <a:extLst>
              <a:ext uri="{FF2B5EF4-FFF2-40B4-BE49-F238E27FC236}">
                <a16:creationId xmlns:a16="http://schemas.microsoft.com/office/drawing/2014/main" id="{9DE131F3-D1DD-CE39-E6E9-9D788BFB1485}"/>
              </a:ext>
            </a:extLst>
          </p:cNvPr>
          <p:cNvSpPr txBox="1"/>
          <p:nvPr/>
        </p:nvSpPr>
        <p:spPr>
          <a:xfrm>
            <a:off x="1042966" y="140479"/>
            <a:ext cx="2193293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34A390-4694-CC37-5720-B0C1947167C2}"/>
              </a:ext>
            </a:extLst>
          </p:cNvPr>
          <p:cNvSpPr txBox="1"/>
          <p:nvPr/>
        </p:nvSpPr>
        <p:spPr>
          <a:xfrm>
            <a:off x="660400" y="958043"/>
            <a:ext cx="787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）评估模块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9FD4B7-A8E7-64CF-F4F3-4CD727D52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767" y="140479"/>
            <a:ext cx="5768559" cy="661037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8A7FD5B-CC52-A160-5074-C7328785F28F}"/>
              </a:ext>
            </a:extLst>
          </p:cNvPr>
          <p:cNvSpPr/>
          <p:nvPr/>
        </p:nvSpPr>
        <p:spPr>
          <a:xfrm>
            <a:off x="3607200" y="439200"/>
            <a:ext cx="7442234" cy="626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52D049-79FE-4BF0-03DB-A5086C3BA8C8}"/>
              </a:ext>
            </a:extLst>
          </p:cNvPr>
          <p:cNvSpPr/>
          <p:nvPr/>
        </p:nvSpPr>
        <p:spPr>
          <a:xfrm>
            <a:off x="3601200" y="1103556"/>
            <a:ext cx="7448234" cy="8852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76FEA4-ECD5-C0A0-1298-610BC4715957}"/>
              </a:ext>
            </a:extLst>
          </p:cNvPr>
          <p:cNvSpPr/>
          <p:nvPr/>
        </p:nvSpPr>
        <p:spPr>
          <a:xfrm>
            <a:off x="3580800" y="2016956"/>
            <a:ext cx="7468634" cy="1338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7EAB33-4985-42BB-ED3F-231FA104E049}"/>
              </a:ext>
            </a:extLst>
          </p:cNvPr>
          <p:cNvSpPr/>
          <p:nvPr/>
        </p:nvSpPr>
        <p:spPr>
          <a:xfrm>
            <a:off x="3573000" y="3392400"/>
            <a:ext cx="7468634" cy="164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F406BD-E69B-F5FD-B5D8-82F673075311}"/>
              </a:ext>
            </a:extLst>
          </p:cNvPr>
          <p:cNvSpPr/>
          <p:nvPr/>
        </p:nvSpPr>
        <p:spPr>
          <a:xfrm>
            <a:off x="3573000" y="5103249"/>
            <a:ext cx="7468634" cy="15565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A0D6A84-1C05-8CCF-4F15-C20078937141}"/>
              </a:ext>
            </a:extLst>
          </p:cNvPr>
          <p:cNvSpPr txBox="1"/>
          <p:nvPr/>
        </p:nvSpPr>
        <p:spPr>
          <a:xfrm>
            <a:off x="9151326" y="2365790"/>
            <a:ext cx="2096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剂量分布图像：</a:t>
            </a:r>
            <a:endParaRPr lang="en-US" altLang="zh-CN" sz="1400" dirty="0"/>
          </a:p>
          <a:p>
            <a:r>
              <a:rPr lang="zh-CN" altLang="en-US" sz="1400" dirty="0"/>
              <a:t>分析区域色彩强度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3FB9E7A-31EA-4F76-8181-1E7C930712A6}"/>
              </a:ext>
            </a:extLst>
          </p:cNvPr>
          <p:cNvSpPr txBox="1"/>
          <p:nvPr/>
        </p:nvSpPr>
        <p:spPr>
          <a:xfrm>
            <a:off x="9135727" y="1182573"/>
            <a:ext cx="1905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DVH</a:t>
            </a:r>
            <a:r>
              <a:rPr lang="zh-CN" altLang="en-US" sz="1400" dirty="0"/>
              <a:t>及其统计数据：</a:t>
            </a:r>
            <a:endParaRPr lang="en-US" altLang="zh-CN" sz="1400" dirty="0"/>
          </a:p>
          <a:p>
            <a:r>
              <a:rPr lang="zh-CN" altLang="en-US" sz="1400" dirty="0"/>
              <a:t>专门评价数值指标是否满足临床约束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7EFFDB-5FC5-6C06-8117-495F6AE8DCA1}"/>
              </a:ext>
            </a:extLst>
          </p:cNvPr>
          <p:cNvSpPr txBox="1"/>
          <p:nvPr/>
        </p:nvSpPr>
        <p:spPr>
          <a:xfrm>
            <a:off x="9151327" y="4030472"/>
            <a:ext cx="1890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信息汇总和评估要求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7E2FAF-2440-BC7D-1B40-24236AFE27D6}"/>
              </a:ext>
            </a:extLst>
          </p:cNvPr>
          <p:cNvSpPr txBox="1"/>
          <p:nvPr/>
        </p:nvSpPr>
        <p:spPr>
          <a:xfrm>
            <a:off x="9151326" y="602993"/>
            <a:ext cx="19059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临床约束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995A3D-0A19-AF5A-2636-94BCADCD7785}"/>
              </a:ext>
            </a:extLst>
          </p:cNvPr>
          <p:cNvSpPr txBox="1"/>
          <p:nvPr/>
        </p:nvSpPr>
        <p:spPr>
          <a:xfrm>
            <a:off x="9159126" y="5754444"/>
            <a:ext cx="18903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评估结果格式</a:t>
            </a:r>
          </a:p>
        </p:txBody>
      </p:sp>
    </p:spTree>
    <p:extLst>
      <p:ext uri="{BB962C8B-B14F-4D97-AF65-F5344CB8AC3E}">
        <p14:creationId xmlns:p14="http://schemas.microsoft.com/office/powerpoint/2010/main" val="229699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DEFCB-F350-201D-A9AA-0A51E23B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AFB5CBE8-4488-8608-1A29-34DBAF7CC3B0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E87B953E-D612-870F-0892-F3EFB400E5F5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413F2E2-58EC-2B3D-EEE4-9039931C7C98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55A6941D-53F8-045B-4D32-D3B1B4D15E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526986B8-9013-F29B-879A-538A520CF79F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5BD5FC4-7536-4EF0-B8CE-9B2E38E72506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E9F0944-75A7-D12B-AA3A-7B85F3242268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2808CA2-C73C-EC41-3206-30B31B5E098C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73383C5E-3848-FC37-0BC0-E508DB5C710A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C476F30-255A-DFAE-14FF-90200224FCA7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AB15513-2B0E-ED81-6A2A-569B8FD93B33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3" name="标题占位符 1">
            <a:extLst>
              <a:ext uri="{FF2B5EF4-FFF2-40B4-BE49-F238E27FC236}">
                <a16:creationId xmlns:a16="http://schemas.microsoft.com/office/drawing/2014/main" id="{E6EA13B6-2EA3-AB75-78CE-8F7B6F7753C1}"/>
              </a:ext>
            </a:extLst>
          </p:cNvPr>
          <p:cNvSpPr txBox="1"/>
          <p:nvPr/>
        </p:nvSpPr>
        <p:spPr>
          <a:xfrm>
            <a:off x="1042966" y="140479"/>
            <a:ext cx="2193293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D7B32E-F047-6953-EA9F-00EE43A84315}"/>
              </a:ext>
            </a:extLst>
          </p:cNvPr>
          <p:cNvSpPr txBox="1"/>
          <p:nvPr/>
        </p:nvSpPr>
        <p:spPr>
          <a:xfrm>
            <a:off x="660400" y="958043"/>
            <a:ext cx="787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6</a:t>
            </a:r>
            <a:r>
              <a:rPr lang="zh-CN" altLang="en-US" sz="2400" dirty="0"/>
              <a:t>）规划模块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3C9303-C770-6C0D-83EF-4A58DCEEF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6" y="469511"/>
            <a:ext cx="6866252" cy="62860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80C11E3-9688-944D-B89E-AB99119BCC00}"/>
              </a:ext>
            </a:extLst>
          </p:cNvPr>
          <p:cNvSpPr/>
          <p:nvPr/>
        </p:nvSpPr>
        <p:spPr>
          <a:xfrm>
            <a:off x="3339498" y="2090756"/>
            <a:ext cx="8179401" cy="1338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F89270A-FA1A-3C80-3243-1130B02EA2A3}"/>
              </a:ext>
            </a:extLst>
          </p:cNvPr>
          <p:cNvSpPr txBox="1"/>
          <p:nvPr/>
        </p:nvSpPr>
        <p:spPr>
          <a:xfrm>
            <a:off x="10130303" y="2605989"/>
            <a:ext cx="1087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参考方案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8CBCB9-D7E3-E476-53AC-54829B68188B}"/>
              </a:ext>
            </a:extLst>
          </p:cNvPr>
          <p:cNvSpPr/>
          <p:nvPr/>
        </p:nvSpPr>
        <p:spPr>
          <a:xfrm>
            <a:off x="3339498" y="3483962"/>
            <a:ext cx="8179401" cy="1076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5E1190-0F79-207A-081A-C4B415284959}"/>
              </a:ext>
            </a:extLst>
          </p:cNvPr>
          <p:cNvSpPr txBox="1"/>
          <p:nvPr/>
        </p:nvSpPr>
        <p:spPr>
          <a:xfrm>
            <a:off x="10040191" y="3653003"/>
            <a:ext cx="14787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当前患者的历史迭代轨迹和评估器的改进建议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204EBD-5212-38E9-413A-1D65B0CFA7A8}"/>
              </a:ext>
            </a:extLst>
          </p:cNvPr>
          <p:cNvSpPr/>
          <p:nvPr/>
        </p:nvSpPr>
        <p:spPr>
          <a:xfrm>
            <a:off x="3339498" y="4615669"/>
            <a:ext cx="8179401" cy="1982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56A12A1-DCE6-AB19-8397-A4187356A8FD}"/>
              </a:ext>
            </a:extLst>
          </p:cNvPr>
          <p:cNvSpPr txBox="1"/>
          <p:nvPr/>
        </p:nvSpPr>
        <p:spPr>
          <a:xfrm>
            <a:off x="10040191" y="5411466"/>
            <a:ext cx="1407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改进结果格式</a:t>
            </a:r>
          </a:p>
        </p:txBody>
      </p:sp>
    </p:spTree>
    <p:extLst>
      <p:ext uri="{BB962C8B-B14F-4D97-AF65-F5344CB8AC3E}">
        <p14:creationId xmlns:p14="http://schemas.microsoft.com/office/powerpoint/2010/main" val="4181806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8C4C76-2130-43D6-ABF8-A0D42B46969B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41D81A0-A6FF-45E1-9BF0-05D9D5C9C10C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9B7568F-9B2B-42AF-A8F3-094730C7B92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E4B6FE6-02B3-4D19-8490-9DD4D22C8311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262568E6-65BB-4A70-ADA5-1C64F26B8091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1F4FE-67A2-7310-37D9-A4BDDA7F36EB}"/>
              </a:ext>
            </a:extLst>
          </p:cNvPr>
          <p:cNvSpPr txBox="1"/>
          <p:nvPr/>
        </p:nvSpPr>
        <p:spPr>
          <a:xfrm>
            <a:off x="638873" y="948790"/>
            <a:ext cx="3737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）实验设置</a:t>
            </a:r>
            <a:r>
              <a:rPr lang="en-US" altLang="zh-CN" sz="2400" dirty="0"/>
              <a:t>—</a:t>
            </a:r>
            <a:r>
              <a:rPr lang="zh-CN" altLang="en-US" sz="2400" dirty="0"/>
              <a:t>数据集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6B24134-0AB9-76FE-3545-8B52DD69E009}"/>
              </a:ext>
            </a:extLst>
          </p:cNvPr>
          <p:cNvSpPr txBox="1"/>
          <p:nvPr/>
        </p:nvSpPr>
        <p:spPr>
          <a:xfrm>
            <a:off x="883017" y="1731517"/>
            <a:ext cx="88244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17</a:t>
            </a:r>
            <a:r>
              <a:rPr lang="zh-CN" altLang="en-US" sz="2000" dirty="0"/>
              <a:t>名前列腺癌患者和</a:t>
            </a:r>
            <a:r>
              <a:rPr lang="en-US" altLang="zh-CN" sz="2000" dirty="0"/>
              <a:t>13</a:t>
            </a:r>
            <a:r>
              <a:rPr lang="zh-CN" altLang="en-US" sz="2000" dirty="0"/>
              <a:t>名头颈癌患者。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包括：</a:t>
            </a:r>
            <a:r>
              <a:rPr lang="en-US" altLang="zh-CN" sz="2000" dirty="0"/>
              <a:t>CT</a:t>
            </a:r>
            <a:r>
              <a:rPr lang="zh-CN" altLang="en-US" sz="2000" dirty="0"/>
              <a:t>、解剖结构勾画、临床批准治疗方案。</a:t>
            </a:r>
          </a:p>
        </p:txBody>
      </p:sp>
    </p:spTree>
    <p:extLst>
      <p:ext uri="{BB962C8B-B14F-4D97-AF65-F5344CB8AC3E}">
        <p14:creationId xmlns:p14="http://schemas.microsoft.com/office/powerpoint/2010/main" val="136903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8C4C76-2130-43D6-ABF8-A0D42B46969B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41D81A0-A6FF-45E1-9BF0-05D9D5C9C10C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9B7568F-9B2B-42AF-A8F3-094730C7B92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E4B6FE6-02B3-4D19-8490-9DD4D22C8311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262568E6-65BB-4A70-ADA5-1C64F26B8091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5A8BC7-92B2-0557-5724-C3ABCAB5A5A8}"/>
              </a:ext>
            </a:extLst>
          </p:cNvPr>
          <p:cNvSpPr txBox="1"/>
          <p:nvPr/>
        </p:nvSpPr>
        <p:spPr>
          <a:xfrm>
            <a:off x="638873" y="948790"/>
            <a:ext cx="6229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zh-CN" altLang="en-US" sz="2400" dirty="0">
                <a:latin typeface="ui-sans-serif"/>
              </a:rPr>
              <a:t>两个疾病部位所有患者的平均</a:t>
            </a:r>
            <a:r>
              <a:rPr lang="en-US" altLang="zh-CN" sz="2400" dirty="0">
                <a:latin typeface="ui-sans-serif"/>
              </a:rPr>
              <a:t>PTV</a:t>
            </a:r>
            <a:r>
              <a:rPr lang="zh-CN" altLang="en-US" sz="2400" dirty="0">
                <a:latin typeface="ui-sans-serif"/>
              </a:rPr>
              <a:t>指标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4C8975-B6B2-F2B6-3EE6-0CE8FDCEA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433" y="1590247"/>
            <a:ext cx="9631119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9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4A1C-19EC-F61F-F622-391C0AEB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07B8F3A-3994-F984-8482-9F6428EA3045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FB359556-9FF2-464E-129F-406C97970F50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B294B3C-A1C6-29CF-8521-7EC6FBCCEAAB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D327E64C-5486-5CF4-A00D-DA42DC85C8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B6BABF0A-8ABD-4419-4A88-93F10D8B92E5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9B85900-8B7C-E644-5AF0-A20663536BC2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5A2BDB6-34F9-ECBD-4EC8-DDF7CD9637CF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6E056B6-B499-C6E7-9C6C-16902525B89B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1CF20CE6-E8F8-665B-A04F-EE825879D69A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8A8F480-7C76-8FCF-4456-BE48B0AF0771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36D9CEB-BC3D-45AB-9170-48024E99708D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442863BC-C456-3280-E3B7-F6781622274B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33F086-217A-BBA4-283A-2A688B39958E}"/>
              </a:ext>
            </a:extLst>
          </p:cNvPr>
          <p:cNvSpPr txBox="1"/>
          <p:nvPr/>
        </p:nvSpPr>
        <p:spPr>
          <a:xfrm>
            <a:off x="556532" y="760413"/>
            <a:ext cx="4080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zh-CN" altLang="en-US" sz="2400" dirty="0">
                <a:latin typeface="ui-sans-serif"/>
              </a:rPr>
              <a:t>主要</a:t>
            </a:r>
            <a:r>
              <a:rPr lang="en-US" altLang="zh-CN" sz="2400" dirty="0">
                <a:latin typeface="ui-sans-serif"/>
              </a:rPr>
              <a:t>OARs</a:t>
            </a:r>
            <a:r>
              <a:rPr lang="zh-CN" altLang="en-US" sz="2400" dirty="0">
                <a:latin typeface="ui-sans-serif"/>
              </a:rPr>
              <a:t>的剂量指标</a:t>
            </a:r>
            <a:endParaRPr lang="en-US" altLang="zh-CN" sz="2400" dirty="0">
              <a:latin typeface="ui-sans-serif"/>
            </a:endParaRPr>
          </a:p>
          <a:p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57005A-AE62-2083-0F65-6A7E57F5A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855" y="1180961"/>
            <a:ext cx="6305189" cy="564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58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B3F5E-617A-C9D0-A38E-EFE93362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54BF6F1-F64D-2300-E9FB-DF03E3C3687A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3FA0B163-20DB-06AD-F455-E82B47FC8C49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AE8D7B7-28E5-5545-2F0A-9F8BEDDB8020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6CFFE527-9773-8F82-0FDE-141628F03B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1CD0DEE9-6829-F089-8389-1ACD26634C42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73EBF8E-BC08-42C8-00BB-3A80C1F89C16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A4C118-5A57-B413-40D2-CC4301DB4205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827D865-9223-FC6F-0899-C1EE27C54533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8D0E76F-5259-735F-AA99-81E681AB5A22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6BF95FB-F148-C11C-E8DA-D7E0B729A3B4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A6CD10E8-FC10-659E-5A27-1F07C2C3610C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F50941A2-CB58-D75F-6458-8A85732B964E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B3C98C-3AA0-93BF-78D3-22ABEF388729}"/>
              </a:ext>
            </a:extLst>
          </p:cNvPr>
          <p:cNvSpPr txBox="1"/>
          <p:nvPr/>
        </p:nvSpPr>
        <p:spPr>
          <a:xfrm>
            <a:off x="638874" y="948790"/>
            <a:ext cx="5312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4</a:t>
            </a:r>
            <a:r>
              <a:rPr lang="zh-CN" altLang="en-US" sz="2400" dirty="0"/>
              <a:t>）</a:t>
            </a:r>
            <a:r>
              <a:rPr lang="en-US" altLang="zh-CN" sz="2400" dirty="0"/>
              <a:t>DVH</a:t>
            </a:r>
            <a:r>
              <a:rPr lang="zh-CN" altLang="en-US" sz="2400" dirty="0"/>
              <a:t>对比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32CA61-92E0-91F4-7CF4-B523946AD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767" y="1802680"/>
            <a:ext cx="9383434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59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/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78C4C76-2130-43D6-ABF8-A0D42B46969B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41D81A0-A6FF-45E1-9BF0-05D9D5C9C10C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9B7568F-9B2B-42AF-A8F3-094730C7B929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E4B6FE6-02B3-4D19-8490-9DD4D22C8311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262568E6-65BB-4A70-ADA5-1C64F26B8091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4C1F4FE-67A2-7310-37D9-A4BDDA7F36EB}"/>
              </a:ext>
            </a:extLst>
          </p:cNvPr>
          <p:cNvSpPr txBox="1"/>
          <p:nvPr/>
        </p:nvSpPr>
        <p:spPr>
          <a:xfrm>
            <a:off x="291866" y="801320"/>
            <a:ext cx="8570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5</a:t>
            </a:r>
            <a:r>
              <a:rPr lang="zh-CN" altLang="en-US" sz="2400" dirty="0"/>
              <a:t>）迭代过程可视化</a:t>
            </a:r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8266C7-3B19-05A6-5B06-4B6C66EA7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293" y="832619"/>
            <a:ext cx="6023489" cy="581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98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4F6F-6DF5-B90C-5B98-4EE4CA5E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E6725761-3510-47AB-5F08-DB44F724EA70}"/>
              </a:ext>
            </a:extLst>
          </p:cNvPr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sp>
        <p:nvSpPr>
          <p:cNvPr id="52" name="标题占位符 1">
            <a:extLst>
              <a:ext uri="{FF2B5EF4-FFF2-40B4-BE49-F238E27FC236}">
                <a16:creationId xmlns:a16="http://schemas.microsoft.com/office/drawing/2014/main" id="{2F9F3A77-C262-691E-D117-2E432D68B19F}"/>
              </a:ext>
            </a:extLst>
          </p:cNvPr>
          <p:cNvSpPr txBox="1"/>
          <p:nvPr/>
        </p:nvSpPr>
        <p:spPr>
          <a:xfrm>
            <a:off x="965200" y="-100014"/>
            <a:ext cx="5435600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61B64DB-2B92-6F53-A6C2-6EB3B5E914EF}"/>
              </a:ext>
            </a:extLst>
          </p:cNvPr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rPr>
              <a:t>自强不息 厚德载物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158D73A-294E-3A79-2FDC-8DE4CB437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00DC1C5B-1B76-6822-F85A-9AD6FC6012FB}"/>
              </a:ext>
            </a:extLst>
          </p:cNvPr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A367B35-2FC2-C002-7A3F-95A65DB7E271}"/>
              </a:ext>
            </a:extLst>
          </p:cNvPr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cs typeface="+mn-ea"/>
                <a:sym typeface="+mn-lt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21EA062-8BB1-BBA3-520F-4D8337CE78DA}"/>
              </a:ext>
            </a:extLst>
          </p:cNvPr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cs typeface="+mn-ea"/>
                <a:sym typeface="+mn-lt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5A08F71-5462-FF79-0C3E-418F26F370F5}"/>
              </a:ext>
            </a:extLst>
          </p:cNvPr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1C2960A-F4AF-1075-ABF7-C80BA4C3095D}"/>
                </a:ext>
              </a:extLst>
            </p:cNvPr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570D4F3-5B8E-A50B-2658-EB4AAB3DA210}"/>
                </a:ext>
              </a:extLst>
            </p:cNvPr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05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F163DC1-EB02-F1F7-332D-F6DB49AAE7A4}"/>
                </a:ext>
              </a:extLst>
            </p:cNvPr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20" name="标题占位符 1">
            <a:extLst>
              <a:ext uri="{FF2B5EF4-FFF2-40B4-BE49-F238E27FC236}">
                <a16:creationId xmlns:a16="http://schemas.microsoft.com/office/drawing/2014/main" id="{48556C2D-4013-10A7-7D38-D728688EEA39}"/>
              </a:ext>
            </a:extLst>
          </p:cNvPr>
          <p:cNvSpPr txBox="1"/>
          <p:nvPr/>
        </p:nvSpPr>
        <p:spPr>
          <a:xfrm>
            <a:off x="1056438" y="137746"/>
            <a:ext cx="5435600" cy="506497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sym typeface="+mn-ea"/>
              </a:rPr>
              <a:t>Inspiration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EE2DB-1621-9C60-134A-A23AA9EBCAAF}"/>
              </a:ext>
            </a:extLst>
          </p:cNvPr>
          <p:cNvSpPr txBox="1"/>
          <p:nvPr/>
        </p:nvSpPr>
        <p:spPr>
          <a:xfrm>
            <a:off x="660400" y="801320"/>
            <a:ext cx="8201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对我的启发：</a:t>
            </a:r>
            <a:endParaRPr lang="en-US" altLang="zh-CN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B0D76C-2C43-17EB-A1E5-75AEEA4B27AA}"/>
              </a:ext>
            </a:extLst>
          </p:cNvPr>
          <p:cNvSpPr txBox="1"/>
          <p:nvPr/>
        </p:nvSpPr>
        <p:spPr>
          <a:xfrm>
            <a:off x="851338" y="1773324"/>
            <a:ext cx="106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BB5295-73CD-2E01-AEA5-43147557740E}"/>
              </a:ext>
            </a:extLst>
          </p:cNvPr>
          <p:cNvSpPr txBox="1"/>
          <p:nvPr/>
        </p:nvSpPr>
        <p:spPr>
          <a:xfrm>
            <a:off x="851338" y="2682000"/>
            <a:ext cx="106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MR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6080D2DB-5A73-1A18-CBEA-CC483D505096}"/>
              </a:ext>
            </a:extLst>
          </p:cNvPr>
          <p:cNvSpPr/>
          <p:nvPr/>
        </p:nvSpPr>
        <p:spPr>
          <a:xfrm>
            <a:off x="1631177" y="2330408"/>
            <a:ext cx="970779" cy="17295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F813B9-126B-C64A-81E7-74F872289A7A}"/>
              </a:ext>
            </a:extLst>
          </p:cNvPr>
          <p:cNvSpPr txBox="1"/>
          <p:nvPr/>
        </p:nvSpPr>
        <p:spPr>
          <a:xfrm>
            <a:off x="2765986" y="2210700"/>
            <a:ext cx="106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UniDose</a:t>
            </a:r>
            <a:endParaRPr lang="zh-CN" altLang="en-US" dirty="0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264172F-6D27-77D3-7DB0-5EFB86E2F8E8}"/>
              </a:ext>
            </a:extLst>
          </p:cNvPr>
          <p:cNvSpPr/>
          <p:nvPr/>
        </p:nvSpPr>
        <p:spPr>
          <a:xfrm rot="19079887">
            <a:off x="3916143" y="1878374"/>
            <a:ext cx="963064" cy="23055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256C5C-AF0C-6894-922F-1E4BB1AC79F4}"/>
              </a:ext>
            </a:extLst>
          </p:cNvPr>
          <p:cNvSpPr txBox="1"/>
          <p:nvPr/>
        </p:nvSpPr>
        <p:spPr>
          <a:xfrm>
            <a:off x="851338" y="2231377"/>
            <a:ext cx="1063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OR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5054B7-1A4C-0F39-3A51-DBFEF64782F4}"/>
              </a:ext>
            </a:extLst>
          </p:cNvPr>
          <p:cNvSpPr/>
          <p:nvPr/>
        </p:nvSpPr>
        <p:spPr>
          <a:xfrm>
            <a:off x="851338" y="1773324"/>
            <a:ext cx="531062" cy="1363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C4526D-F843-2A2E-A975-0488A6E8C7FA}"/>
              </a:ext>
            </a:extLst>
          </p:cNvPr>
          <p:cNvSpPr txBox="1"/>
          <p:nvPr/>
        </p:nvSpPr>
        <p:spPr>
          <a:xfrm>
            <a:off x="4832650" y="1406724"/>
            <a:ext cx="531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Seg</a:t>
            </a:r>
          </a:p>
          <a:p>
            <a:endParaRPr lang="en-US" altLang="zh-CN" dirty="0"/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84781AFB-68BD-9FFB-E108-06C7651389E7}"/>
              </a:ext>
            </a:extLst>
          </p:cNvPr>
          <p:cNvSpPr/>
          <p:nvPr/>
        </p:nvSpPr>
        <p:spPr>
          <a:xfrm rot="2351417">
            <a:off x="3936205" y="2741552"/>
            <a:ext cx="985878" cy="23055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BA74B9-87D1-290F-8448-B1C4F09C7E52}"/>
              </a:ext>
            </a:extLst>
          </p:cNvPr>
          <p:cNvSpPr txBox="1"/>
          <p:nvPr/>
        </p:nvSpPr>
        <p:spPr>
          <a:xfrm>
            <a:off x="4839602" y="3043484"/>
            <a:ext cx="723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Dose</a:t>
            </a:r>
          </a:p>
          <a:p>
            <a:endParaRPr lang="en-US" altLang="zh-CN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3A433BED-BFE4-9A1B-E93B-DBC68567EDCC}"/>
              </a:ext>
            </a:extLst>
          </p:cNvPr>
          <p:cNvSpPr/>
          <p:nvPr/>
        </p:nvSpPr>
        <p:spPr>
          <a:xfrm>
            <a:off x="2510702" y="2730967"/>
            <a:ext cx="1396248" cy="6980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053A5B3-7EF7-067D-59F2-D46215C039BF}"/>
              </a:ext>
            </a:extLst>
          </p:cNvPr>
          <p:cNvSpPr/>
          <p:nvPr/>
        </p:nvSpPr>
        <p:spPr>
          <a:xfrm>
            <a:off x="5726873" y="2337553"/>
            <a:ext cx="1054854" cy="2880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A3D0B6D-889B-7350-8D2A-7DBCC3489371}"/>
              </a:ext>
            </a:extLst>
          </p:cNvPr>
          <p:cNvCxnSpPr/>
          <p:nvPr/>
        </p:nvCxnSpPr>
        <p:spPr>
          <a:xfrm>
            <a:off x="4485848" y="2022073"/>
            <a:ext cx="0" cy="7589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C6B6AC1-6DA0-52F0-D60C-FDEC0B13DE57}"/>
              </a:ext>
            </a:extLst>
          </p:cNvPr>
          <p:cNvSpPr txBox="1"/>
          <p:nvPr/>
        </p:nvSpPr>
        <p:spPr>
          <a:xfrm>
            <a:off x="2487826" y="2866312"/>
            <a:ext cx="1456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更好的特征近似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ctr"/>
            <a:r>
              <a:rPr lang="zh-CN" altLang="en-US" sz="1400" dirty="0">
                <a:solidFill>
                  <a:srgbClr val="FF0000"/>
                </a:solidFill>
              </a:rPr>
              <a:t>患者状态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E001778-D7D1-F6B4-7628-1ED014671C2E}"/>
              </a:ext>
            </a:extLst>
          </p:cNvPr>
          <p:cNvCxnSpPr>
            <a:cxnSpLocks/>
          </p:cNvCxnSpPr>
          <p:nvPr/>
        </p:nvCxnSpPr>
        <p:spPr>
          <a:xfrm>
            <a:off x="5616000" y="1262985"/>
            <a:ext cx="0" cy="4785015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A60953E-4F07-2350-E053-A89EA13FC0AB}"/>
              </a:ext>
            </a:extLst>
          </p:cNvPr>
          <p:cNvSpPr txBox="1"/>
          <p:nvPr/>
        </p:nvSpPr>
        <p:spPr>
          <a:xfrm>
            <a:off x="929104" y="4425256"/>
            <a:ext cx="4233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优化方向</a:t>
            </a:r>
            <a:r>
              <a:rPr lang="en-US" altLang="zh-CN" dirty="0"/>
              <a:t>1</a:t>
            </a:r>
            <a:r>
              <a:rPr lang="zh-CN" altLang="en-US" dirty="0"/>
              <a:t>：找到更好的患者近似特征，分割特征更好的嵌入到剂量预测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24FB47D-1E62-5864-F34C-E31383694ABF}"/>
              </a:ext>
            </a:extLst>
          </p:cNvPr>
          <p:cNvSpPr txBox="1"/>
          <p:nvPr/>
        </p:nvSpPr>
        <p:spPr>
          <a:xfrm>
            <a:off x="6254300" y="4406539"/>
            <a:ext cx="3631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优化方向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Dose</a:t>
            </a:r>
            <a:r>
              <a:rPr lang="zh-CN" altLang="en-US" dirty="0"/>
              <a:t>和</a:t>
            </a:r>
            <a:r>
              <a:rPr lang="en-US" altLang="zh-CN" dirty="0"/>
              <a:t>Seg</a:t>
            </a:r>
            <a:r>
              <a:rPr lang="zh-CN" altLang="en-US" dirty="0"/>
              <a:t>迭代优化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4E605F-06A6-EE88-5FF8-38D25F6884AB}"/>
              </a:ext>
            </a:extLst>
          </p:cNvPr>
          <p:cNvSpPr txBox="1"/>
          <p:nvPr/>
        </p:nvSpPr>
        <p:spPr>
          <a:xfrm>
            <a:off x="6956992" y="2312668"/>
            <a:ext cx="1596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GPT-</a:t>
            </a:r>
            <a:r>
              <a:rPr lang="en-US" altLang="zh-CN" sz="1800" dirty="0" err="1"/>
              <a:t>RadPlan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7121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000">
        <p159:morph option="byObject"/>
      </p:transition>
    </mc:Choice>
    <mc:Fallback xmlns="">
      <p:transition spd="slow" advTm="3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1951492"/>
            <a:ext cx="1219200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3793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cs typeface="+mn-ea"/>
                <a:sym typeface="+mn-lt"/>
              </a:rPr>
              <a:t>感 谢 聆 听</a:t>
            </a: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444598" y="3263845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cs typeface="+mn-ea"/>
                <a:sym typeface="+mn-lt"/>
              </a:rPr>
              <a:t>THANKS FOR ALL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CCDBDA9F52F9DAE39D5421FFE8A3AB83C45CFDA1E1AC2E1B150A0AE9A5F01B5C" val="[{&quot;GradientColorId&quot;:&quot;&quot;,&quot;IsFree&quot;:true,&quot;IsGradient&quot;:false,&quot;ImagePath&quot;:&quot;&quot;,&quot;GradientColor&quot;:null,&quot;SimpleColor&quot;:&quot;#FF0000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beyijpg">
      <a:majorFont>
        <a:latin typeface="Times New Roman" panose="020F0302020204030204"/>
        <a:ea typeface="微软雅黑"/>
        <a:cs typeface=""/>
      </a:majorFont>
      <a:minorFont>
        <a:latin typeface="Times New Roman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4-2</Template>
  <TotalTime>31461</TotalTime>
  <Words>808</Words>
  <Application>Microsoft Office PowerPoint</Application>
  <PresentationFormat>宽屏</PresentationFormat>
  <Paragraphs>150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-apple-system</vt:lpstr>
      <vt:lpstr>ui-sans-serif</vt:lpstr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won gary</dc:creator>
  <cp:lastModifiedBy>津华 张</cp:lastModifiedBy>
  <cp:revision>1169</cp:revision>
  <dcterms:created xsi:type="dcterms:W3CDTF">2022-04-19T02:24:36Z</dcterms:created>
  <dcterms:modified xsi:type="dcterms:W3CDTF">2026-05-23T10:45:19Z</dcterms:modified>
</cp:coreProperties>
</file>