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  <p:sldMasterId id="2147483666" r:id="rId2"/>
  </p:sldMasterIdLst>
  <p:notesMasterIdLst>
    <p:notesMasterId r:id="rId16"/>
  </p:notesMasterIdLst>
  <p:sldIdLst>
    <p:sldId id="3228" r:id="rId3"/>
    <p:sldId id="3280" r:id="rId4"/>
    <p:sldId id="3262" r:id="rId5"/>
    <p:sldId id="3294" r:id="rId6"/>
    <p:sldId id="3249" r:id="rId7"/>
    <p:sldId id="3298" r:id="rId8"/>
    <p:sldId id="3295" r:id="rId9"/>
    <p:sldId id="3296" r:id="rId10"/>
    <p:sldId id="3297" r:id="rId11"/>
    <p:sldId id="3292" r:id="rId12"/>
    <p:sldId id="3289" r:id="rId13"/>
    <p:sldId id="3299" r:id="rId14"/>
    <p:sldId id="3293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4DC"/>
    <a:srgbClr val="5B9BD5"/>
    <a:srgbClr val="FF0000"/>
    <a:srgbClr val="1A78C2"/>
    <a:srgbClr val="1A78C3"/>
    <a:srgbClr val="1B6299"/>
    <a:srgbClr val="8609AD"/>
    <a:srgbClr val="1C6299"/>
    <a:srgbClr val="1B6298"/>
    <a:srgbClr val="96C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6920" autoAdjust="0"/>
  </p:normalViewPr>
  <p:slideViewPr>
    <p:cSldViewPr snapToGrid="0" showGuides="1">
      <p:cViewPr varScale="1">
        <p:scale>
          <a:sx n="98" d="100"/>
          <a:sy n="98" d="100"/>
        </p:scale>
        <p:origin x="107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510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C3A4A"/>
                </a:solidFill>
                <a:effectLst/>
                <a:latin typeface="__Noto_Sans_086c6e"/>
              </a:rPr>
              <a:t>一作：</a:t>
            </a:r>
            <a:r>
              <a:rPr lang="en-US" altLang="zh-CN" b="1" i="0" dirty="0">
                <a:solidFill>
                  <a:srgbClr val="2C3A4A"/>
                </a:solidFill>
                <a:effectLst/>
                <a:latin typeface="__Noto_Sans_086c6e"/>
              </a:rPr>
              <a:t>UIUC Master </a:t>
            </a:r>
            <a:r>
              <a:rPr lang="zh-CN" altLang="en-US" b="1" i="0" dirty="0">
                <a:solidFill>
                  <a:srgbClr val="2C3A4A"/>
                </a:solidFill>
                <a:effectLst/>
                <a:latin typeface="__Noto_Sans_086c6e"/>
              </a:rPr>
              <a:t>二作 立命馆大学博士多模态 医学交叉</a:t>
            </a:r>
            <a:r>
              <a:rPr lang="en-US" altLang="zh-CN" b="1" i="0" dirty="0">
                <a:solidFill>
                  <a:srgbClr val="2C3A4A"/>
                </a:solidFill>
                <a:effectLst/>
                <a:latin typeface="__Noto_Sans_086c6e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C3A4A"/>
                </a:solidFill>
                <a:effectLst/>
                <a:latin typeface="__Noto_Sans_086c6e"/>
              </a:rPr>
              <a:t>值得一提的是这个一作履历好像没有任何立命馆大学的背景，但是所属机构也是这个大学</a:t>
            </a:r>
            <a:endParaRPr lang="en-US" altLang="zh-CN" b="1" i="0" dirty="0">
              <a:solidFill>
                <a:srgbClr val="2C3A4A"/>
              </a:solidFill>
              <a:effectLst/>
              <a:latin typeface="__Noto_Sans_086c6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84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67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918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161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807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863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917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如果说第一次 </a:t>
            </a:r>
            <a:r>
              <a:rPr lang="en-US" altLang="zh-CN" dirty="0"/>
              <a:t>attention </a:t>
            </a:r>
            <a:r>
              <a:rPr lang="zh-CN" altLang="en-US" dirty="0"/>
              <a:t>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先找相似病例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再吸收它们的类别语义</a:t>
            </a:r>
          </a:p>
          <a:p>
            <a:r>
              <a:rPr lang="zh-CN" altLang="en-US" dirty="0"/>
              <a:t>那么第二次就是：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先按类别语义筛上下文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再回读这些类别背后的 </a:t>
            </a:r>
            <a:r>
              <a:rPr lang="en-US" altLang="zh-CN" dirty="0"/>
              <a:t>visual-clinical evidence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235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值得注意的是，本文所提出的方法在 “不确定” 类别中展现出显著的改进，这表明了利用检索到的样本对模糊案例进行消歧的优势。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文章还对使用图像相似度进行召回的方式进行探究，发现其甚至会损伤模型的识别性能，这说明了在这种问题里 类别之间视觉界限模糊，临床信息的帮助很重要</a:t>
            </a:r>
          </a:p>
          <a:p>
            <a:r>
              <a:rPr lang="zh-CN" altLang="en-US" dirty="0"/>
              <a:t>作者还额外做了一个实验，直接使用临床最相似样本的标签作为预测标签，准确率为</a:t>
            </a:r>
            <a:r>
              <a:rPr lang="en-US" altLang="zh-CN" dirty="0"/>
              <a:t>56%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90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FFFFFF"/>
                </a:solidFill>
                <a:effectLst/>
                <a:latin typeface="Inter"/>
              </a:rPr>
              <a:t>Bc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Inter"/>
              </a:rPr>
              <a:t>分别加入了多模态编码器和召回增强模块，在图（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Inter"/>
              </a:rPr>
              <a:t>d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Inter"/>
              </a:rPr>
              <a:t>）中，恶性结节（粉色）聚集在从左上角到右下角的对角线以上，良性结节（蓝色）位于对角线以下，不确定结节（黄色）则处于两者之间。这种区分突出了该框架捕捉内在关系以实现准确、可解释分类的能力</a:t>
            </a:r>
            <a:endParaRPr lang="en-US" altLang="zh-CN" b="0" i="0" dirty="0">
              <a:solidFill>
                <a:srgbClr val="FFFFFF"/>
              </a:solidFill>
              <a:effectLst/>
              <a:latin typeface="Inter"/>
            </a:endParaRPr>
          </a:p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Inter"/>
              </a:rPr>
              <a:t>（我没感觉出来）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651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在某一个样本示例上进行对比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251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方法设计进入新的循环，从最开始的人工设计流程，用人工特征做预测</a:t>
            </a:r>
            <a:r>
              <a:rPr lang="en-US" altLang="zh-CN" dirty="0"/>
              <a:t>-》</a:t>
            </a:r>
            <a:r>
              <a:rPr lang="zh-CN" altLang="en-US" dirty="0"/>
              <a:t>端到端的深度学习</a:t>
            </a:r>
            <a:r>
              <a:rPr lang="en-US" altLang="zh-CN" dirty="0"/>
              <a:t>-》</a:t>
            </a:r>
            <a:r>
              <a:rPr lang="zh-CN" altLang="en-US" dirty="0"/>
              <a:t>再到现在的</a:t>
            </a:r>
            <a:r>
              <a:rPr lang="en-US" altLang="zh-CN" dirty="0"/>
              <a:t>Agent/RAG</a:t>
            </a:r>
            <a:r>
              <a:rPr lang="zh-CN" altLang="en-US" dirty="0"/>
              <a:t>等大模型技术，是使用自动化的技术去模拟最早的人工设计流程，在临床上很好讲故事并且天然具备可解释性。这个框架并不一定只能在大模型上面用，而是可以把小模型迁移到这个流程中，模型的架构并不那么重要，只要能完成任务就行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multi-agent</a:t>
            </a:r>
            <a:r>
              <a:rPr lang="zh-CN" altLang="en-US" dirty="0"/>
              <a:t>，分诊智能体负责从大体上初步判断，导航智能体在</a:t>
            </a:r>
            <a:r>
              <a:rPr lang="en-US" altLang="zh-CN" dirty="0"/>
              <a:t>WSI</a:t>
            </a:r>
            <a:r>
              <a:rPr lang="zh-CN" altLang="en-US" dirty="0"/>
              <a:t>上寻找下一个值得看的微观区域，描述智能体负责给这个区域提供文本描述，循环后诊断智能体给出最后的诊断结果。</a:t>
            </a:r>
            <a:endParaRPr lang="en-US" altLang="zh-CN" dirty="0"/>
          </a:p>
          <a:p>
            <a:r>
              <a:rPr lang="zh-CN" altLang="en-US" dirty="0"/>
              <a:t>通过这样可以模拟临床上医生首先大体观察有没有问题，然后再放大看每一个地方有什么症状，最后下诊断。（这个找感兴趣区域循环的轨迹寻找过程专门找了人做数据训练）最后效果非常高 比专家还好</a:t>
            </a:r>
            <a:endParaRPr lang="en-US" altLang="zh-CN" dirty="0"/>
          </a:p>
          <a:p>
            <a:r>
              <a:rPr lang="zh-CN" altLang="en-US" dirty="0"/>
              <a:t>这个过程只有文本描述相关用了大模型，其余都是用的普通模型拼接而成。大模型也只是小规模微调和单纯使用</a:t>
            </a:r>
            <a:endParaRPr lang="en-US" altLang="zh-CN" dirty="0"/>
          </a:p>
          <a:p>
            <a:r>
              <a:rPr lang="zh-CN" altLang="en-US" dirty="0"/>
              <a:t>而在这篇文章的</a:t>
            </a:r>
            <a:r>
              <a:rPr lang="en-US" altLang="zh-CN" dirty="0"/>
              <a:t>RAG</a:t>
            </a:r>
            <a:r>
              <a:rPr lang="zh-CN" altLang="en-US" dirty="0"/>
              <a:t>基础上，也可以用其来解决比如持续学习（长上下文）或者长尾（边界模糊）这种场景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85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53178" y="2689765"/>
            <a:ext cx="85803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it-IT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Clinical Data-Driven Retrieval-Augmented Model for Lung Nodule Malignancy Prediction</a:t>
            </a:r>
            <a:endParaRPr lang="en-US" altLang="zh-CN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581189" y="5938779"/>
            <a:ext cx="3028952" cy="799311"/>
            <a:chOff x="4977763" y="4912139"/>
            <a:chExt cx="3028952" cy="799311"/>
          </a:xfrm>
        </p:grpSpPr>
        <p:sp>
          <p:nvSpPr>
            <p:cNvPr id="16" name="文本占位符 56"/>
            <p:cNvSpPr txBox="1"/>
            <p:nvPr/>
          </p:nvSpPr>
          <p:spPr>
            <a:xfrm>
              <a:off x="5530014" y="4912139"/>
              <a:ext cx="1924047" cy="353120"/>
            </a:xfrm>
            <a:custGeom>
              <a:avLst/>
              <a:gdLst>
                <a:gd name="connsiteX0" fmla="*/ 0 w 1747925"/>
                <a:gd name="connsiteY0" fmla="*/ 176559 h 353120"/>
                <a:gd name="connsiteX1" fmla="*/ 0 w 1747925"/>
                <a:gd name="connsiteY1" fmla="*/ 176560 h 353120"/>
                <a:gd name="connsiteX2" fmla="*/ 0 w 1747925"/>
                <a:gd name="connsiteY2" fmla="*/ 176560 h 353120"/>
                <a:gd name="connsiteX3" fmla="*/ 176560 w 1747925"/>
                <a:gd name="connsiteY3" fmla="*/ 0 h 353120"/>
                <a:gd name="connsiteX4" fmla="*/ 1571365 w 1747925"/>
                <a:gd name="connsiteY4" fmla="*/ 0 h 353120"/>
                <a:gd name="connsiteX5" fmla="*/ 1747925 w 1747925"/>
                <a:gd name="connsiteY5" fmla="*/ 176560 h 353120"/>
                <a:gd name="connsiteX6" fmla="*/ 1747924 w 1747925"/>
                <a:gd name="connsiteY6" fmla="*/ 176560 h 353120"/>
                <a:gd name="connsiteX7" fmla="*/ 1571364 w 1747925"/>
                <a:gd name="connsiteY7" fmla="*/ 353120 h 353120"/>
                <a:gd name="connsiteX8" fmla="*/ 176560 w 1747925"/>
                <a:gd name="connsiteY8" fmla="*/ 353119 h 353120"/>
                <a:gd name="connsiteX9" fmla="*/ 13875 w 1747925"/>
                <a:gd name="connsiteY9" fmla="*/ 245284 h 353120"/>
                <a:gd name="connsiteX10" fmla="*/ 0 w 1747925"/>
                <a:gd name="connsiteY10" fmla="*/ 176560 h 353120"/>
                <a:gd name="connsiteX11" fmla="*/ 13875 w 1747925"/>
                <a:gd name="connsiteY11" fmla="*/ 107835 h 353120"/>
                <a:gd name="connsiteX12" fmla="*/ 176560 w 1747925"/>
                <a:gd name="connsiteY12" fmla="*/ 0 h 35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47925" h="353120">
                  <a:moveTo>
                    <a:pt x="0" y="176559"/>
                  </a:moveTo>
                  <a:lnTo>
                    <a:pt x="0" y="176560"/>
                  </a:lnTo>
                  <a:lnTo>
                    <a:pt x="0" y="176560"/>
                  </a:lnTo>
                  <a:close/>
                  <a:moveTo>
                    <a:pt x="176560" y="0"/>
                  </a:moveTo>
                  <a:lnTo>
                    <a:pt x="1571365" y="0"/>
                  </a:lnTo>
                  <a:cubicBezTo>
                    <a:pt x="1668876" y="0"/>
                    <a:pt x="1747925" y="79049"/>
                    <a:pt x="1747925" y="176560"/>
                  </a:cubicBezTo>
                  <a:lnTo>
                    <a:pt x="1747924" y="176560"/>
                  </a:lnTo>
                  <a:cubicBezTo>
                    <a:pt x="1747924" y="274071"/>
                    <a:pt x="1668875" y="353120"/>
                    <a:pt x="1571364" y="353120"/>
                  </a:cubicBezTo>
                  <a:lnTo>
                    <a:pt x="176560" y="353119"/>
                  </a:lnTo>
                  <a:cubicBezTo>
                    <a:pt x="103427" y="353119"/>
                    <a:pt x="40679" y="308654"/>
                    <a:pt x="13875" y="245284"/>
                  </a:cubicBezTo>
                  <a:lnTo>
                    <a:pt x="0" y="176560"/>
                  </a:lnTo>
                  <a:lnTo>
                    <a:pt x="13875" y="107835"/>
                  </a:lnTo>
                  <a:cubicBezTo>
                    <a:pt x="40679" y="44465"/>
                    <a:pt x="103427" y="0"/>
                    <a:pt x="176560" y="0"/>
                  </a:cubicBezTo>
                  <a:close/>
                </a:path>
              </a:pathLst>
            </a:custGeom>
            <a:solidFill>
              <a:srgbClr val="1A78C3"/>
            </a:solidFill>
          </p:spPr>
          <p:txBody>
            <a:bodyPr vert="horz" wrap="square" lIns="91440" tIns="45720" rIns="91440" bIns="45720" rtlCol="0"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dirty="0">
                  <a:solidFill>
                    <a:sysClr val="window" lastClr="FFFFFF"/>
                  </a:solidFill>
                  <a:latin typeface="Arial" panose="020B0604020202020204"/>
                  <a:ea typeface="微软雅黑" panose="020B0503020204020204" pitchFamily="34" charset="-122"/>
                </a:rPr>
                <a:t>汇报人：邓恒章</a:t>
              </a:r>
            </a:p>
          </p:txBody>
        </p:sp>
        <p:sp>
          <p:nvSpPr>
            <p:cNvPr id="17" name="文本占位符 13"/>
            <p:cNvSpPr txBox="1"/>
            <p:nvPr/>
          </p:nvSpPr>
          <p:spPr>
            <a:xfrm>
              <a:off x="4977763" y="5415179"/>
              <a:ext cx="3028952" cy="29627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dirty="0">
                  <a:solidFill>
                    <a:sysClr val="windowText" lastClr="000000"/>
                  </a:solidFill>
                  <a:latin typeface="Arial" panose="020B0604020202020204"/>
                  <a:ea typeface="微软雅黑" panose="020B0503020204020204" pitchFamily="34" charset="-122"/>
                </a:rPr>
                <a:t> 2026 / 3 / 21</a:t>
              </a:r>
              <a:endParaRPr lang="zh-CN" alt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F3FB24F5-63D6-4DE8-8E4D-977EB21B2EFE}"/>
              </a:ext>
            </a:extLst>
          </p:cNvPr>
          <p:cNvSpPr txBox="1"/>
          <p:nvPr/>
        </p:nvSpPr>
        <p:spPr>
          <a:xfrm>
            <a:off x="4581189" y="5389845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MICCAI2025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Authors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830A9D-FF1D-4133-BA21-70AA4D393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459"/>
          <a:stretch/>
        </p:blipFill>
        <p:spPr>
          <a:xfrm>
            <a:off x="213855" y="779206"/>
            <a:ext cx="5882145" cy="5787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322E776-1B98-436A-9ADB-FE6CEFAE45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6017"/>
          <a:stretch/>
        </p:blipFill>
        <p:spPr>
          <a:xfrm>
            <a:off x="6074356" y="774063"/>
            <a:ext cx="5980105" cy="57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0185"/>
      </p:ext>
    </p:extLst>
  </p:cSld>
  <p:clrMapOvr>
    <a:masterClrMapping/>
  </p:clrMapOvr>
  <p:transition spd="slow" advClick="0" advTm="1000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Introduction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14C6C7-DAC3-4A52-8AC2-85D9F1F3ACB2}"/>
              </a:ext>
            </a:extLst>
          </p:cNvPr>
          <p:cNvSpPr txBox="1"/>
          <p:nvPr/>
        </p:nvSpPr>
        <p:spPr>
          <a:xfrm>
            <a:off x="660400" y="803277"/>
            <a:ext cx="104732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Background</a:t>
            </a:r>
          </a:p>
          <a:p>
            <a:r>
              <a:rPr lang="zh-CN" altLang="en-US" dirty="0"/>
              <a:t>传统大模型在训练之后，只能利用当前参数中保存的记忆回答问题，难以利用历史经验，这导致</a:t>
            </a:r>
            <a:r>
              <a:rPr lang="zh-CN" altLang="en-US" b="1" dirty="0"/>
              <a:t>模糊样本的判定不稳定，每一轮问答都是单独对决策边界周围的样本进行判定。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/>
              <a:t>RAG</a:t>
            </a:r>
            <a:r>
              <a:rPr lang="zh-CN" altLang="en-US" dirty="0"/>
              <a:t>在模型做出预测前，先从外部知识库中检索与当前样本最相关的信息，再将这些信息与当前输入联合用于推理，可以引入外部证据、提升预测可靠性、增强对长尾与不确定病例的处理能力，同时无需单纯扩大模型规模。</a:t>
            </a:r>
            <a:endParaRPr lang="en-US" altLang="zh-C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BBC493-E170-4975-9AFB-F52D7932F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415" y="2723744"/>
            <a:ext cx="6551337" cy="368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665457"/>
      </p:ext>
    </p:extLst>
  </p:cSld>
  <p:clrMapOvr>
    <a:masterClrMapping/>
  </p:clrMapOvr>
  <p:transition spd="slow" advClick="0" advTm="1000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Introduction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14C6C7-DAC3-4A52-8AC2-85D9F1F3ACB2}"/>
              </a:ext>
            </a:extLst>
          </p:cNvPr>
          <p:cNvSpPr txBox="1"/>
          <p:nvPr/>
        </p:nvSpPr>
        <p:spPr>
          <a:xfrm>
            <a:off x="660400" y="803277"/>
            <a:ext cx="104732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Background</a:t>
            </a:r>
          </a:p>
          <a:p>
            <a:r>
              <a:rPr lang="zh-CN" altLang="en-US" dirty="0"/>
              <a:t>肺结节分类任务将结节分为良性、恶性以及</a:t>
            </a:r>
            <a:r>
              <a:rPr lang="en-US" altLang="zh-CN" dirty="0"/>
              <a:t>Unsure</a:t>
            </a:r>
            <a:r>
              <a:rPr lang="zh-CN" altLang="en-US" dirty="0"/>
              <a:t>三类，本身决策边界模糊，对单样本难以确定判断</a:t>
            </a:r>
            <a:endParaRPr lang="en-US" altLang="zh-CN" dirty="0"/>
          </a:p>
          <a:p>
            <a:r>
              <a:rPr lang="zh-CN" altLang="en-US" b="1" dirty="0"/>
              <a:t>因此，可以引入</a:t>
            </a:r>
            <a:r>
              <a:rPr lang="en-US" altLang="zh-CN" b="1" dirty="0"/>
              <a:t>RAG</a:t>
            </a:r>
            <a:r>
              <a:rPr lang="zh-CN" altLang="en-US" b="1" dirty="0"/>
              <a:t>的召回思想，利用训练的样本作为知识库辅助测试时决策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召回思想当前也已经被引入到医学预测领域，但当前的方法仅是基于视觉特征寻找相似样本，而肺结节任务的类别模糊特性决定：视觉上相似的样本类别并不一定一致。</a:t>
            </a:r>
            <a:endParaRPr lang="en-US" altLang="zh-CN" dirty="0"/>
          </a:p>
          <a:p>
            <a:r>
              <a:rPr lang="zh-CN" altLang="en-US" b="1" dirty="0"/>
              <a:t>因此，基于临床医生的人工判断路线启发，将临床信息作为召回依据寻找相似样本。</a:t>
            </a:r>
            <a:endParaRPr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67AFBC-4AAB-4617-9789-BC72FF66E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624" y="3024392"/>
            <a:ext cx="7934817" cy="314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31620"/>
      </p:ext>
    </p:extLst>
  </p:cSld>
  <p:clrMapOvr>
    <a:masterClrMapping/>
  </p:clrMapOvr>
  <p:transition spd="slow" advClick="0" advTm="1000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EC13A-CA4C-4B65-9EEA-06C80A10D86B}"/>
              </a:ext>
            </a:extLst>
          </p:cNvPr>
          <p:cNvSpPr txBox="1"/>
          <p:nvPr/>
        </p:nvSpPr>
        <p:spPr>
          <a:xfrm>
            <a:off x="965200" y="944043"/>
            <a:ext cx="10582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核心思想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：借助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RAG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和临床人工判断路线，通过临床数据寻找训练时的相似样本支持测试判断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8FB37-9897-440E-A998-4170B81D8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727" y="1544130"/>
            <a:ext cx="8184064" cy="467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0174"/>
      </p:ext>
    </p:extLst>
  </p:cSld>
  <p:clrMapOvr>
    <a:masterClrMapping/>
  </p:clrMapOvr>
  <p:transition spd="slow" advClick="0" advTm="1000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8FB37-9897-440E-A998-4170B81D8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5682"/>
            <a:ext cx="7214266" cy="41216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564F2BE-FB4A-401D-87CC-1A142C559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495" y="3784692"/>
            <a:ext cx="4748376" cy="128514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7F221A4-04DC-453D-A2BD-6A4C42EA4C8E}"/>
              </a:ext>
            </a:extLst>
          </p:cNvPr>
          <p:cNvSpPr/>
          <p:nvPr/>
        </p:nvSpPr>
        <p:spPr>
          <a:xfrm>
            <a:off x="4348264" y="3716531"/>
            <a:ext cx="1643974" cy="2523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182097-0A19-4839-A61C-3705765D59ED}"/>
              </a:ext>
            </a:extLst>
          </p:cNvPr>
          <p:cNvSpPr txBox="1"/>
          <p:nvPr/>
        </p:nvSpPr>
        <p:spPr>
          <a:xfrm>
            <a:off x="7214266" y="1880322"/>
            <a:ext cx="46348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多模态编码器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：经过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ResNet-18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编码的图像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embedding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和临床数据的取值向量直接</a:t>
            </a:r>
            <a:r>
              <a:rPr lang="en-US" altLang="zh-CN" dirty="0" err="1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Concat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，并送入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MLP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中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Fusion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为多模态特征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在第一阶段中参与预训练，直接和冻结的类文本编码对齐，并通过</a:t>
            </a:r>
            <a:r>
              <a:rPr lang="en-US" altLang="zh-CN" dirty="0" err="1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celoss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优化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CE9243E-435D-4AEF-9551-701FAEE7ADF8}"/>
              </a:ext>
            </a:extLst>
          </p:cNvPr>
          <p:cNvCxnSpPr>
            <a:cxnSpLocks/>
          </p:cNvCxnSpPr>
          <p:nvPr/>
        </p:nvCxnSpPr>
        <p:spPr>
          <a:xfrm flipH="1" flipV="1">
            <a:off x="3467100" y="2867026"/>
            <a:ext cx="1057275" cy="849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887410"/>
      </p:ext>
    </p:extLst>
  </p:cSld>
  <p:clrMapOvr>
    <a:masterClrMapping/>
  </p:clrMapOvr>
  <p:transition spd="slow" advClick="0" advTm="1000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EC13A-CA4C-4B65-9EEA-06C80A10D86B}"/>
              </a:ext>
            </a:extLst>
          </p:cNvPr>
          <p:cNvSpPr txBox="1"/>
          <p:nvPr/>
        </p:nvSpPr>
        <p:spPr>
          <a:xfrm>
            <a:off x="4464640" y="4051570"/>
            <a:ext cx="6636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多模态编码器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：经过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ResNet-18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编码的图像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embedding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和临床数据的取值向量直接</a:t>
            </a:r>
            <a:r>
              <a:rPr lang="en-US" altLang="zh-CN" dirty="0" err="1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Concat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，并送入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MLP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中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Fusion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为多模态特征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在第二阶段中被再次创建并训练，面向整体框架的预测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8FB37-9897-440E-A998-4170B81D83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97" b="59173"/>
          <a:stretch/>
        </p:blipFill>
        <p:spPr>
          <a:xfrm>
            <a:off x="1239282" y="788544"/>
            <a:ext cx="9713436" cy="23142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B0210C-36A8-4FF1-9E82-31A1BF020C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6" t="40311" r="74407" b="16727"/>
          <a:stretch/>
        </p:blipFill>
        <p:spPr>
          <a:xfrm>
            <a:off x="1361848" y="3290536"/>
            <a:ext cx="2934513" cy="309171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89A36C09-4145-4596-887F-5DEBB8A2C5B0}"/>
              </a:ext>
            </a:extLst>
          </p:cNvPr>
          <p:cNvSpPr/>
          <p:nvPr/>
        </p:nvSpPr>
        <p:spPr>
          <a:xfrm>
            <a:off x="2948089" y="1836056"/>
            <a:ext cx="1023836" cy="96429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305507"/>
      </p:ext>
    </p:extLst>
  </p:cSld>
  <p:clrMapOvr>
    <a:masterClrMapping/>
  </p:clrMapOvr>
  <p:transition spd="slow" advClick="0" advTm="1000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EC13A-CA4C-4B65-9EEA-06C80A10D86B}"/>
              </a:ext>
            </a:extLst>
          </p:cNvPr>
          <p:cNvSpPr txBox="1"/>
          <p:nvPr/>
        </p:nvSpPr>
        <p:spPr>
          <a:xfrm>
            <a:off x="5533591" y="3927348"/>
            <a:ext cx="51924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临床召回检索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：将当前样本的临床信息向量与训练数据进行相似度计算，选择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Top-K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个相似样本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Ps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：这步被提前离线操作并且保存，具体调用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FAISS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库实现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8FB37-9897-440E-A998-4170B81D83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97" b="59173"/>
          <a:stretch/>
        </p:blipFill>
        <p:spPr>
          <a:xfrm>
            <a:off x="889176" y="788544"/>
            <a:ext cx="9713436" cy="23142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B0210C-36A8-4FF1-9E82-31A1BF020C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105" t="40311" r="42690" b="18548"/>
          <a:stretch/>
        </p:blipFill>
        <p:spPr>
          <a:xfrm>
            <a:off x="1159325" y="3185663"/>
            <a:ext cx="4056434" cy="29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99946"/>
      </p:ext>
    </p:extLst>
  </p:cSld>
  <p:clrMapOvr>
    <a:masterClrMapping/>
  </p:clrMapOvr>
  <p:transition spd="slow" advClick="0" advTm="1000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EC13A-CA4C-4B65-9EEA-06C80A10D86B}"/>
              </a:ext>
            </a:extLst>
          </p:cNvPr>
          <p:cNvSpPr txBox="1"/>
          <p:nvPr/>
        </p:nvSpPr>
        <p:spPr>
          <a:xfrm>
            <a:off x="6089650" y="3340960"/>
            <a:ext cx="51924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召回增强模块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：使用检索得到的最相似训练样本增强测试样本的多模态表征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具体进行两次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KV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反向的交叉注意力，用测试病例作为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Query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查询相似病例中的证据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8FB37-9897-440E-A998-4170B81D83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97" b="59173"/>
          <a:stretch/>
        </p:blipFill>
        <p:spPr>
          <a:xfrm>
            <a:off x="928088" y="788544"/>
            <a:ext cx="9713436" cy="23142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B0210C-36A8-4FF1-9E82-31A1BF020C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378" t="40311" r="3934" b="18548"/>
          <a:stretch/>
        </p:blipFill>
        <p:spPr>
          <a:xfrm>
            <a:off x="1074804" y="3306869"/>
            <a:ext cx="4747098" cy="29606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1A194E4-5226-43D0-9AEB-E7D467B97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527" y="4667917"/>
            <a:ext cx="4656693" cy="5024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C1EF855-2637-4411-A2C2-F528211D4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85" y="5077907"/>
            <a:ext cx="4564635" cy="52891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FD4DD1B-8F28-4AE3-812C-4E8DFCDEF1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6302" y="5674165"/>
            <a:ext cx="2649141" cy="3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20367"/>
      </p:ext>
    </p:extLst>
  </p:cSld>
  <p:clrMapOvr>
    <a:masterClrMapping/>
  </p:clrMapOvr>
  <p:transition spd="slow" advClick="0" advTm="1000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6969D4-CB23-4198-82E3-E9162D627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905" y="807837"/>
            <a:ext cx="5224536" cy="29306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318DE9-6EF1-4116-AFB7-71D219393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720" y="3796936"/>
            <a:ext cx="7077653" cy="27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79421"/>
      </p:ext>
    </p:extLst>
  </p:cSld>
  <p:clrMapOvr>
    <a:masterClrMapping/>
  </p:clrMapOvr>
  <p:transition spd="slow" advClick="0" advTm="1000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B1436C-3849-4D09-B61A-A2DB08F2A4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600"/>
          <a:stretch/>
        </p:blipFill>
        <p:spPr>
          <a:xfrm>
            <a:off x="324098" y="1799907"/>
            <a:ext cx="11255306" cy="243038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EB12FFE-2FF3-45B7-924F-E4B1636925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867"/>
          <a:stretch/>
        </p:blipFill>
        <p:spPr>
          <a:xfrm>
            <a:off x="2010354" y="4559133"/>
            <a:ext cx="7882794" cy="94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00301"/>
      </p:ext>
    </p:extLst>
  </p:cSld>
  <p:clrMapOvr>
    <a:masterClrMapping/>
  </p:clrMapOvr>
  <p:transition spd="slow" advClick="0" advTm="1000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DD3F31-F9B4-48C0-9854-3B310A6FC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486" y="1340417"/>
            <a:ext cx="8132909" cy="458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91443"/>
      </p:ext>
    </p:extLst>
  </p:cSld>
  <p:clrMapOvr>
    <a:masterClrMapping/>
  </p:clrMapOvr>
  <p:transition spd="slow" advClick="0" advTm="1000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Conclusion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0026C1-FB3C-4C8A-8114-BC1A3179E184}"/>
              </a:ext>
            </a:extLst>
          </p:cNvPr>
          <p:cNvSpPr txBox="1"/>
          <p:nvPr/>
        </p:nvSpPr>
        <p:spPr>
          <a:xfrm>
            <a:off x="745275" y="885078"/>
            <a:ext cx="10423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本文创新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：引入大模型的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RAG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框架，通过临床数据召回增强模拟医生的决策过程。</a:t>
            </a:r>
            <a:endParaRPr lang="en-US" altLang="zh-CN" dirty="0">
              <a:solidFill>
                <a:srgbClr val="21212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Agent/RAG</a:t>
            </a:r>
            <a:r>
              <a:rPr lang="zh-CN" altLang="en-US" dirty="0">
                <a:solidFill>
                  <a:srgbClr val="21212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等大模型常用的技巧可以迁移为自己方法的一部分。</a:t>
            </a:r>
            <a:endParaRPr lang="zh-CN" altLang="en-US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DF25ABC-13C1-429C-945A-68ABBFA65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90" y="2019111"/>
            <a:ext cx="10474497" cy="394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64793"/>
      </p:ext>
    </p:extLst>
  </p:cSld>
  <p:clrMapOvr>
    <a:masterClrMapping/>
  </p:clrMapOvr>
  <p:transition spd="slow" advClick="0" advTm="1000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FiMjRlYjRkODg2ZDk0OTllN2NiNzAxMTIyNjEzMmYifQ=="/>
</p:tagLst>
</file>

<file path=ppt/theme/theme1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34146</TotalTime>
  <Words>1191</Words>
  <Application>Microsoft Office PowerPoint</Application>
  <PresentationFormat>宽屏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__Noto_Sans_086c6e</vt:lpstr>
      <vt:lpstr>Inter</vt:lpstr>
      <vt:lpstr>Noto Sans SC</vt:lpstr>
      <vt:lpstr>等线</vt:lpstr>
      <vt:lpstr>微软雅黑</vt:lpstr>
      <vt:lpstr>Arial</vt:lpstr>
      <vt:lpstr>Calibri</vt:lpstr>
      <vt:lpstr>Calibri Light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Wotan Aldafodur</cp:lastModifiedBy>
  <cp:revision>416</cp:revision>
  <dcterms:created xsi:type="dcterms:W3CDTF">2019-03-09T08:01:00Z</dcterms:created>
  <dcterms:modified xsi:type="dcterms:W3CDTF">2026-03-19T09:21:31Z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3E6360C6DCCC423D98F5DA1985ABB2C1_12</vt:lpwstr>
  </property>
</Properties>
</file>