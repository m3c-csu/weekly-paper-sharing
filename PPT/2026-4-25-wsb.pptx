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4" r:id="rId8"/>
    <p:sldId id="3457" r:id="rId9"/>
    <p:sldId id="3449" r:id="rId10"/>
    <p:sldId id="3459" r:id="rId11"/>
    <p:sldId id="3460" r:id="rId12"/>
    <p:sldId id="3461" r:id="rId13"/>
    <p:sldId id="3462" r:id="rId14"/>
    <p:sldId id="3468" r:id="rId15"/>
    <p:sldId id="3469" r:id="rId16"/>
    <p:sldId id="3467" r:id="rId17"/>
    <p:sldId id="3466" r:id="rId18"/>
    <p:sldId id="3231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157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72563" y="2644679"/>
            <a:ext cx="8398143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3765"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OFL-SAM2: Prompt SAM2 with Online Few-shot Learner for Efficient Medical Image Segmentation</a:t>
            </a:r>
            <a:endParaRPr lang="en-US" altLang="zh-CN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AAAI 2026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  <a:endParaRPr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70" y="821055"/>
            <a:ext cx="9084945" cy="5742940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603252"/>
            <a:ext cx="10473267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b="1" dirty="0"/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SAM2</a:t>
            </a:r>
            <a:r>
              <a:rPr lang="zh-CN" altLang="en-US" dirty="0"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在医学图像分割中仍然面临挑战：</a:t>
            </a:r>
            <a:endParaRPr lang="zh-CN" altLang="en-US" dirty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b="1" dirty="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dirty="0"/>
              <a:t>缺少</a:t>
            </a:r>
            <a:r>
              <a:rPr lang="en-US" altLang="zh-CN" dirty="0"/>
              <a:t>Prompt</a:t>
            </a:r>
            <a:r>
              <a:rPr lang="zh-CN" altLang="en-US" dirty="0"/>
              <a:t>，缺乏判别性目标特征，无法明确什么是目标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u"/>
            </a:pPr>
            <a:endParaRPr lang="zh-CN" altLang="en-US" dirty="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dirty="0"/>
              <a:t>仅依赖像素级特征匹配，容易受到相似结构干扰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u"/>
            </a:pPr>
            <a:endParaRPr lang="zh-CN" altLang="en-US" dirty="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dirty="0"/>
              <a:t>医学图像标注困难，往往只有少数标注数据</a:t>
            </a:r>
            <a:endParaRPr lang="zh-CN" altLang="en-US" dirty="0"/>
          </a:p>
          <a:p>
            <a:pPr indent="0">
              <a:buFont typeface="Wingdings" panose="05000000000000000000" charset="0"/>
              <a:buNone/>
            </a:pPr>
            <a:r>
              <a:rPr lang="en-US" altLang="zh-CN" dirty="0"/>
              <a:t>       </a:t>
            </a:r>
            <a:endParaRPr lang="en-US" altLang="zh-CN" dirty="0"/>
          </a:p>
          <a:p>
            <a:pPr indent="0">
              <a:buFont typeface="Wingdings" panose="05000000000000000000" charset="0"/>
              <a:buNone/>
            </a:pPr>
            <a:r>
              <a:rPr lang="en-US" altLang="zh-CN" dirty="0"/>
              <a:t> </a:t>
            </a:r>
            <a:endParaRPr lang="en-US" altLang="zh-CN" dirty="0"/>
          </a:p>
          <a:p>
            <a:endParaRPr lang="en-US" altLang="zh-CN" b="1" dirty="0"/>
          </a:p>
          <a:p>
            <a:pPr indent="0" fontAlgn="auto"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230" y="2954020"/>
            <a:ext cx="6975475" cy="28232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78150" y="6011545"/>
            <a:ext cx="5837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核心问题：</a:t>
            </a:r>
            <a:r>
              <a:rPr lang="en-US" altLang="zh-CN"/>
              <a:t>SAM2</a:t>
            </a:r>
            <a:r>
              <a:rPr lang="zh-CN" altLang="en-US"/>
              <a:t>只会找相似，无法判断是不是目标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4360" y="949327"/>
            <a:ext cx="10473267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/>
              <a:t>Motivation</a:t>
            </a:r>
            <a:endParaRPr lang="en-US" altLang="zh-CN" b="1" dirty="0"/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在不使用人工</a:t>
            </a:r>
            <a:r>
              <a:rPr lang="en-US" altLang="zh-CN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prompt</a:t>
            </a:r>
            <a:r>
              <a:rPr lang="zh-CN" altLang="en-US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的情况下，为</a:t>
            </a:r>
            <a:r>
              <a:rPr lang="en-US" altLang="zh-CN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SAM2</a:t>
            </a:r>
            <a:r>
              <a:rPr lang="zh-CN" altLang="en-US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提供</a:t>
            </a:r>
            <a:r>
              <a:rPr lang="zh-CN" altLang="en-US" b="1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每一帧的判别性目标信息</a:t>
            </a:r>
            <a:r>
              <a:rPr lang="zh-CN" altLang="en-US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，并通过</a:t>
            </a:r>
            <a:r>
              <a:rPr lang="zh-CN" altLang="en-US" b="1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在线更新机制</a:t>
            </a:r>
            <a:r>
              <a:rPr lang="zh-CN" altLang="en-US" dirty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实现对当前数据的自适应，提高在医学图像分割任务的性能。</a:t>
            </a:r>
            <a:endParaRPr lang="zh-CN" altLang="en-US" dirty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725" y="2383790"/>
            <a:ext cx="5778500" cy="4088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" y="950595"/>
            <a:ext cx="11148695" cy="5615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" y="1356995"/>
            <a:ext cx="6532880" cy="27438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454900" y="1924050"/>
                <a:ext cx="4064000" cy="18605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/>
                  <a:t>图像：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/>
                  <a:t>       </a:t>
                </a:r>
                <a:r>
                  <a:rPr lang="zh-CN" altLang="en-US"/>
                  <a:t>标签：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普通特征：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 =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记忆特征：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,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）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900" y="1924050"/>
                <a:ext cx="4064000" cy="1860550"/>
              </a:xfrm>
              <a:prstGeom prst="rect">
                <a:avLst/>
              </a:prstGeom>
              <a:blipFill rotWithShape="1">
                <a:blip r:embed="rId3"/>
                <a:stretch>
                  <a:fillRect b="-22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310" y="4546600"/>
            <a:ext cx="7419340" cy="7639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141220" y="5627370"/>
                <a:ext cx="9201150" cy="436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000"/>
                  <a:t>目标：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𝜏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（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）≈ 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</m:oMath>
                </a14:m>
                <a:r>
                  <a:rPr lang="en-US" altLang="zh-CN" sz="2000"/>
                  <a:t>,</a:t>
                </a:r>
                <a:r>
                  <a:rPr lang="zh-CN" altLang="en-US" sz="2000"/>
                  <a:t>将</a:t>
                </a:r>
                <a:r>
                  <a:rPr lang="en-US" altLang="zh-CN" sz="2000"/>
                  <a:t> “</a:t>
                </a:r>
                <a:r>
                  <a:rPr lang="zh-CN" altLang="en-US" sz="2000"/>
                  <a:t>普通特征</a:t>
                </a:r>
                <a:r>
                  <a:rPr lang="en-US" altLang="zh-CN" sz="2000"/>
                  <a:t>” </a:t>
                </a:r>
                <a:r>
                  <a:rPr lang="zh-CN" altLang="en-US" sz="2000"/>
                  <a:t>变为</a:t>
                </a:r>
                <a:r>
                  <a:rPr lang="en-US" altLang="zh-CN" sz="2000"/>
                  <a:t> “</a:t>
                </a:r>
                <a:r>
                  <a:rPr lang="zh-CN" altLang="en-US" sz="2000"/>
                  <a:t>带目标语义的特征</a:t>
                </a:r>
                <a:r>
                  <a:rPr lang="en-US" altLang="zh-CN" sz="2000"/>
                  <a:t>”</a:t>
                </a:r>
                <a:endParaRPr lang="en-US" altLang="zh-CN" sz="20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220" y="5627370"/>
                <a:ext cx="9201150" cy="43624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847090" y="988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少样本学习器</a:t>
            </a:r>
            <a:r>
              <a:rPr lang="zh-CN" altLang="en-US"/>
              <a:t>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7090" y="988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记忆注意力模块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584960"/>
            <a:ext cx="7334250" cy="2057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090" y="3730625"/>
            <a:ext cx="85820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Memory Bank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的构建：对于每一张查询图像，从训练集中选取</a:t>
            </a:r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Top-K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个最相似的图像，并结合其</a:t>
            </a:r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mask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得到记忆特征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加入</a:t>
            </a:r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Memory Bank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，在推理阶段，还会将高质量的预测结果加入到</a:t>
            </a:r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Memory Bank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中。</a:t>
            </a:r>
            <a:endParaRPr lang="zh-CN" altLang="en-US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查询图像特征与记忆特征做交叉注意力，从而在记忆特征中提取目标表征，最终得到记忆特征</a:t>
            </a:r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E1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。</a:t>
            </a:r>
            <a:endParaRPr lang="zh-CN" altLang="en-US">
              <a:solidFill>
                <a:schemeClr val="tx1"/>
              </a:solidFill>
              <a:uFillTx/>
              <a:latin typeface="Calibri" panose="020F0502020204030204" charset="0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uFillTx/>
              <a:latin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7090" y="988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自适应融合模块：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90" y="2045335"/>
            <a:ext cx="4826635" cy="17907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6313170" y="1507490"/>
            <a:ext cx="4939030" cy="3834765"/>
            <a:chOff x="10362" y="2850"/>
            <a:chExt cx="7778" cy="6039"/>
          </a:xfrm>
        </p:grpSpPr>
        <p:sp>
          <p:nvSpPr>
            <p:cNvPr id="3" name="文本框 2"/>
            <p:cNvSpPr txBox="1"/>
            <p:nvPr/>
          </p:nvSpPr>
          <p:spPr>
            <a:xfrm>
              <a:off x="10362" y="2850"/>
              <a:ext cx="6400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zh-CN" altLang="en-US">
                  <a:solidFill>
                    <a:schemeClr val="tx1"/>
                  </a:solidFill>
                  <a:uFillTx/>
                  <a:latin typeface="Calibri" panose="020F0502020204030204" charset="0"/>
                </a:rPr>
                <a:t>记忆特征：</a:t>
              </a:r>
              <a:r>
                <a:rPr lang="en-US" altLang="zh-CN">
                  <a:solidFill>
                    <a:schemeClr val="tx1"/>
                  </a:solidFill>
                  <a:uFillTx/>
                  <a:latin typeface="Calibri" panose="020F0502020204030204" charset="0"/>
                </a:rPr>
                <a:t>E</a:t>
              </a:r>
              <a:r>
                <a:rPr lang="en-US" altLang="zh-CN" baseline="-25000">
                  <a:solidFill>
                    <a:schemeClr val="tx1"/>
                  </a:solidFill>
                  <a:uFillTx/>
                  <a:latin typeface="Calibri" panose="020F0502020204030204" charset="0"/>
                </a:rPr>
                <a:t>1</a:t>
              </a:r>
              <a:endParaRPr lang="en-US" altLang="zh-CN" baseline="-25000">
                <a:solidFill>
                  <a:schemeClr val="tx1"/>
                </a:solidFill>
                <a:uFillTx/>
                <a:latin typeface="Calibri" panose="020F0502020204030204" charset="0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zh-CN" altLang="en-US">
                  <a:solidFill>
                    <a:schemeClr val="tx1"/>
                  </a:solidFill>
                  <a:uFillTx/>
                  <a:latin typeface="Calibri" panose="020F0502020204030204" charset="0"/>
                </a:rPr>
                <a:t>目标特征：</a:t>
              </a:r>
              <a:r>
                <a:rPr lang="en-US" altLang="zh-CN">
                  <a:solidFill>
                    <a:schemeClr val="tx1"/>
                  </a:solidFill>
                  <a:uFillTx/>
                  <a:latin typeface="Calibri" panose="020F0502020204030204" charset="0"/>
                </a:rPr>
                <a:t>E</a:t>
              </a:r>
              <a:r>
                <a:rPr lang="en-US" altLang="zh-CN" baseline="-25000">
                  <a:solidFill>
                    <a:schemeClr val="tx1"/>
                  </a:solidFill>
                  <a:uFillTx/>
                  <a:latin typeface="Calibri" panose="020F0502020204030204" charset="0"/>
                </a:rPr>
                <a:t>2</a:t>
              </a:r>
              <a:endParaRPr lang="en-US" altLang="zh-CN" baseline="-25000">
                <a:solidFill>
                  <a:schemeClr val="tx1"/>
                </a:solidFill>
                <a:uFillTx/>
                <a:latin typeface="Calibri" panose="020F050202020403020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450" y="4605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融合权重：</a:t>
              </a:r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11242" y="6391"/>
                  <a:ext cx="64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/>
                    <a:t>其中：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uFillTx/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uFillTx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uFillTx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sub>
                      </m:sSub>
                    </m:oMath>
                  </a14:m>
                  <a:r>
                    <a:rPr lang="en-US" altLang="zh-CN">
                      <a:solidFill>
                        <a:schemeClr val="tx1"/>
                      </a:solidFill>
                      <a:uFillTx/>
                      <a:latin typeface="Calibri" panose="020F0502020204030204" charset="0"/>
                    </a:rPr>
                    <a:t> </a:t>
                  </a:r>
                  <a:r>
                    <a:rPr lang="zh-CN" altLang="en-US">
                      <a:solidFill>
                        <a:schemeClr val="tx1"/>
                      </a:solidFill>
                      <a:uFillTx/>
                      <a:latin typeface="Calibri" panose="020F0502020204030204" charset="0"/>
                    </a:rPr>
                    <a:t>是</a:t>
                  </a:r>
                  <a:r>
                    <a:rPr lang="en-US" altLang="zh-CN">
                      <a:solidFill>
                        <a:schemeClr val="tx1"/>
                      </a:solidFill>
                      <a:uFillTx/>
                      <a:latin typeface="Calibri" panose="020F0502020204030204" charset="0"/>
                    </a:rPr>
                    <a:t>3 </a:t>
                  </a:r>
                  <a:r>
                    <a:rPr lang="zh-CN" altLang="en-US">
                      <a:solidFill>
                        <a:schemeClr val="tx1"/>
                      </a:solidFill>
                      <a:uFillTx/>
                      <a:latin typeface="Calibri" panose="020F0502020204030204" charset="0"/>
                    </a:rPr>
                    <a:t>×</a:t>
                  </a:r>
                  <a:r>
                    <a:rPr lang="en-US" altLang="zh-CN">
                      <a:solidFill>
                        <a:schemeClr val="tx1"/>
                      </a:solidFill>
                      <a:uFillTx/>
                      <a:latin typeface="Calibri" panose="020F0502020204030204" charset="0"/>
                    </a:rPr>
                    <a:t> 3</a:t>
                  </a:r>
                  <a:r>
                    <a:rPr lang="zh-CN" altLang="en-US">
                      <a:solidFill>
                        <a:schemeClr val="tx1"/>
                      </a:solidFill>
                      <a:uFillTx/>
                      <a:latin typeface="Calibri" panose="020F0502020204030204" charset="0"/>
                    </a:rPr>
                    <a:t>卷积</a:t>
                  </a:r>
                  <a:r>
                    <a:rPr lang="en-US" altLang="zh-CN">
                      <a:solidFill>
                        <a:schemeClr val="tx1"/>
                      </a:solidFill>
                      <a:uFillTx/>
                      <a:latin typeface="Calibri" panose="020F0502020204030204" charset="0"/>
                    </a:rPr>
                    <a:t> + Sigmoid</a:t>
                  </a:r>
                  <a:endParaRPr lang="en-US" altLang="zh-CN">
                    <a:solidFill>
                      <a:schemeClr val="tx1"/>
                    </a:solidFill>
                    <a:uFillTx/>
                    <a:latin typeface="Calibri" panose="020F0502020204030204" charset="0"/>
                  </a:endParaRPr>
                </a:p>
              </p:txBody>
            </p:sp>
          </mc:Choice>
          <mc:Fallback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2" y="6391"/>
                  <a:ext cx="6400" cy="58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/>
            <p:cNvSpPr txBox="1"/>
            <p:nvPr/>
          </p:nvSpPr>
          <p:spPr>
            <a:xfrm>
              <a:off x="10450" y="7361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动态融合：</a:t>
              </a:r>
              <a:endParaRPr lang="zh-CN" altLang="en-US"/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32" y="8091"/>
              <a:ext cx="6908" cy="799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42" y="5296"/>
              <a:ext cx="4468" cy="908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/>
        </p:nvSpPr>
        <p:spPr>
          <a:xfrm>
            <a:off x="1228090" y="48755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E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Calibri" panose="020F0502020204030204" charset="0"/>
              </a:rPr>
              <a:t>1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提供历史帧信息，</a:t>
            </a:r>
            <a:r>
              <a:rPr lang="en-US" altLang="zh-CN">
                <a:solidFill>
                  <a:schemeClr val="tx1"/>
                </a:solidFill>
                <a:uFillTx/>
                <a:latin typeface="Calibri" panose="020F0502020204030204" charset="0"/>
              </a:rPr>
              <a:t>E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Calibri" panose="020F0502020204030204" charset="0"/>
              </a:rPr>
              <a:t>2</a:t>
            </a:r>
            <a:r>
              <a:rPr lang="zh-CN" altLang="en-US">
                <a:solidFill>
                  <a:schemeClr val="tx1"/>
                </a:solidFill>
                <a:uFillTx/>
                <a:latin typeface="Calibri" panose="020F0502020204030204" charset="0"/>
              </a:rPr>
              <a:t>提供目标判别信息，二者融合得到更鲁棒的特征</a:t>
            </a:r>
            <a:endParaRPr lang="zh-CN" altLang="en-US">
              <a:solidFill>
                <a:schemeClr val="tx1"/>
              </a:solidFill>
              <a:uFillTx/>
              <a:latin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0400" y="1052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在线更新机制：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485" y="3280410"/>
            <a:ext cx="1442720" cy="15570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875" y="1845945"/>
            <a:ext cx="3188335" cy="14712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95" y="2298065"/>
            <a:ext cx="1932305" cy="74358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47130" y="1541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只在预测为前景的区域计算置信度：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041525"/>
            <a:ext cx="3390900" cy="10001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7114476" y="3317176"/>
                <a:ext cx="3653155" cy="4076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/>
                  <a:t> : </a:t>
                </a:r>
                <a:r>
                  <a:rPr lang="zh-CN" altLang="en-US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＞</a:t>
                </a:r>
                <a:r>
                  <a:rPr lang="en-US" altLang="zh-CN"/>
                  <a:t>0.5</a:t>
                </a:r>
                <a:r>
                  <a:rPr lang="zh-CN" altLang="en-US"/>
                  <a:t>，则为</a:t>
                </a:r>
                <a:r>
                  <a:rPr lang="en-US" altLang="zh-CN"/>
                  <a:t>1</a:t>
                </a:r>
                <a:r>
                  <a:rPr lang="zh-CN" altLang="en-US"/>
                  <a:t>，否则为</a:t>
                </a:r>
                <a:r>
                  <a:rPr lang="en-US" altLang="zh-CN"/>
                  <a:t>0</a:t>
                </a:r>
                <a:endParaRPr lang="en-US" altLang="zh-CN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476" y="3317176"/>
                <a:ext cx="3653155" cy="407670"/>
              </a:xfrm>
              <a:prstGeom prst="rect">
                <a:avLst/>
              </a:prstGeom>
              <a:blipFill rotWithShape="1">
                <a:blip r:embed="rId6"/>
                <a:stretch>
                  <a:fillRect l="-16" t="-140" r="-245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356985" y="4351020"/>
                <a:ext cx="4064000" cy="649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𝑐𝑓</m:t>
                        </m:r>
                      </m:sub>
                    </m:sSub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＞</a:t>
                </a:r>
                <a:r>
                  <a:rPr lang="en-US" altLang="zh-CN"/>
                  <a:t> 0.8</a:t>
                </a:r>
                <a:r>
                  <a:rPr lang="zh-CN" altLang="en-US"/>
                  <a:t>，则使用该预测结果对</a:t>
                </a:r>
                <a:endParaRPr lang="zh-CN" altLang="en-US"/>
              </a:p>
              <a:p>
                <a:r>
                  <a:rPr lang="zh-CN" altLang="en-US"/>
                  <a:t>映射网络和记忆库进行更新</a:t>
                </a:r>
                <a:endParaRPr lang="zh-CN" altLang="en-US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85" y="4351020"/>
                <a:ext cx="4064000" cy="6496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1485" y="4837430"/>
            <a:ext cx="800100" cy="371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" y="4837430"/>
            <a:ext cx="4543425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157605"/>
            <a:ext cx="10344150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5" y="1571625"/>
            <a:ext cx="4686300" cy="4143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320" y="1571625"/>
            <a:ext cx="4686300" cy="414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95" y="1817370"/>
            <a:ext cx="5130165" cy="3030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60" y="1903095"/>
            <a:ext cx="4811395" cy="3051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85" y="908050"/>
            <a:ext cx="8524240" cy="5067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8271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"/>
    </mc:Choice>
    <mc:Fallback>
      <p:transition advClick="0" advTm="1000"/>
    </mc:Fallback>
  </mc:AlternateContent>
</p:sld>
</file>

<file path=ppt/tags/tag1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1821</Words>
  <Application>WPS 演示</Application>
  <PresentationFormat>宽屏</PresentationFormat>
  <Paragraphs>208</Paragraphs>
  <Slides>14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Times New Roman</vt:lpstr>
      <vt:lpstr>Calibri</vt:lpstr>
      <vt:lpstr>Wingdings</vt:lpstr>
      <vt:lpstr>Cambria Math</vt:lpstr>
      <vt:lpstr>Arial Unicode MS</vt:lpstr>
      <vt:lpstr>等线 Light</vt:lpstr>
      <vt:lpstr>Calibri Light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王书博</cp:lastModifiedBy>
  <cp:revision>944</cp:revision>
  <dcterms:created xsi:type="dcterms:W3CDTF">2019-03-09T08:01:00Z</dcterms:created>
  <dcterms:modified xsi:type="dcterms:W3CDTF">2026-04-25T13:05:24Z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0C95BC188EFC487BA7C01F2F718226AD_13</vt:lpwstr>
  </property>
</Properties>
</file>