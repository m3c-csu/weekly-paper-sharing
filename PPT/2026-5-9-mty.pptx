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3"/>
    <p:sldId id="259" r:id="rId4"/>
    <p:sldId id="260" r:id="rId5"/>
    <p:sldId id="361" r:id="rId6"/>
    <p:sldId id="306" r:id="rId8"/>
    <p:sldId id="365" r:id="rId9"/>
    <p:sldId id="310" r:id="rId10"/>
    <p:sldId id="368" r:id="rId11"/>
    <p:sldId id="372" r:id="rId12"/>
    <p:sldId id="374" r:id="rId13"/>
    <p:sldId id="373" r:id="rId14"/>
    <p:sldId id="286" r:id="rId15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8" userDrawn="1">
          <p15:clr>
            <a:srgbClr val="A4A3A4"/>
          </p15:clr>
        </p15:guide>
        <p15:guide id="2" pos="3906" userDrawn="1">
          <p15:clr>
            <a:srgbClr val="A4A3A4"/>
          </p15:clr>
        </p15:guide>
        <p15:guide id="3" pos="405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127499155" name="272km" initials="2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3864"/>
    <a:srgbClr val="D91515"/>
    <a:srgbClr val="EE0000"/>
    <a:srgbClr val="18B0FC"/>
    <a:srgbClr val="F0F4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82" y="245"/>
      </p:cViewPr>
      <p:guideLst>
        <p:guide orient="horz" pos="2288"/>
        <p:guide pos="3906"/>
        <p:guide pos="405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gs" Target="tags/tag15.xml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181583" y="162128"/>
            <a:ext cx="11815864" cy="6533744"/>
          </a:xfrm>
          <a:prstGeom prst="rect">
            <a:avLst/>
          </a:prstGeom>
          <a:noFill/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5304817" y="1"/>
            <a:ext cx="1569396" cy="173152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5304817" y="6634265"/>
            <a:ext cx="1569396" cy="22373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7" name="组合 26"/>
          <p:cNvGrpSpPr/>
          <p:nvPr userDrawn="1"/>
        </p:nvGrpSpPr>
        <p:grpSpPr>
          <a:xfrm>
            <a:off x="10798227" y="5070856"/>
            <a:ext cx="1197659" cy="1389113"/>
            <a:chOff x="-1356283" y="1212273"/>
            <a:chExt cx="1599245" cy="1854896"/>
          </a:xfrm>
        </p:grpSpPr>
        <p:sp>
          <p:nvSpPr>
            <p:cNvPr id="28" name="等腰三角形 27"/>
            <p:cNvSpPr/>
            <p:nvPr/>
          </p:nvSpPr>
          <p:spPr>
            <a:xfrm rot="5400000">
              <a:off x="-865849" y="218248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等腰三角形 28"/>
            <p:cNvSpPr/>
            <p:nvPr/>
          </p:nvSpPr>
          <p:spPr>
            <a:xfrm rot="16200000" flipH="1">
              <a:off x="-865848" y="1873296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等腰三角形 30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等腰三角形 31"/>
            <p:cNvSpPr/>
            <p:nvPr/>
          </p:nvSpPr>
          <p:spPr>
            <a:xfrm rot="16200000" flipH="1">
              <a:off x="-336771" y="218225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等腰三角形 32"/>
            <p:cNvSpPr/>
            <p:nvPr/>
          </p:nvSpPr>
          <p:spPr>
            <a:xfrm rot="16200000" flipH="1">
              <a:off x="-332767" y="1564109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等腰三角形 33"/>
            <p:cNvSpPr/>
            <p:nvPr/>
          </p:nvSpPr>
          <p:spPr>
            <a:xfrm rot="16200000" flipH="1">
              <a:off x="-1398930" y="1564108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等腰三角形 34"/>
            <p:cNvSpPr/>
            <p:nvPr/>
          </p:nvSpPr>
          <p:spPr>
            <a:xfrm rot="5400000">
              <a:off x="-334769" y="2491441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等腰三角形 35"/>
            <p:cNvSpPr/>
            <p:nvPr/>
          </p:nvSpPr>
          <p:spPr>
            <a:xfrm rot="16200000" flipH="1">
              <a:off x="-861591" y="1254920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7" name="组合 36"/>
          <p:cNvGrpSpPr/>
          <p:nvPr userDrawn="1"/>
        </p:nvGrpSpPr>
        <p:grpSpPr>
          <a:xfrm>
            <a:off x="194553" y="193560"/>
            <a:ext cx="2019597" cy="1884355"/>
            <a:chOff x="214742" y="270164"/>
            <a:chExt cx="2661150" cy="2482947"/>
          </a:xfrm>
        </p:grpSpPr>
        <p:grpSp>
          <p:nvGrpSpPr>
            <p:cNvPr id="38" name="组合 37"/>
            <p:cNvGrpSpPr/>
            <p:nvPr/>
          </p:nvGrpSpPr>
          <p:grpSpPr>
            <a:xfrm>
              <a:off x="214745" y="270164"/>
              <a:ext cx="2661147" cy="1854896"/>
              <a:chOff x="-531648" y="-111394"/>
              <a:chExt cx="4186764" cy="2918295"/>
            </a:xfrm>
          </p:grpSpPr>
          <p:sp>
            <p:nvSpPr>
              <p:cNvPr id="42" name="等腰三角形 41"/>
              <p:cNvSpPr/>
              <p:nvPr/>
            </p:nvSpPr>
            <p:spPr>
              <a:xfrm rot="5400000">
                <a:off x="239949" y="1415033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等腰三角形 42"/>
              <p:cNvSpPr/>
              <p:nvPr/>
            </p:nvSpPr>
            <p:spPr>
              <a:xfrm rot="16200000" flipH="1">
                <a:off x="239950" y="928589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等腰三角形 43"/>
              <p:cNvSpPr/>
              <p:nvPr/>
            </p:nvSpPr>
            <p:spPr>
              <a:xfrm rot="5400000">
                <a:off x="1078643" y="92859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等腰三角形 44"/>
              <p:cNvSpPr/>
              <p:nvPr/>
            </p:nvSpPr>
            <p:spPr>
              <a:xfrm rot="5400000">
                <a:off x="1078643" y="928591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等腰三角形 45"/>
              <p:cNvSpPr/>
              <p:nvPr/>
            </p:nvSpPr>
            <p:spPr>
              <a:xfrm rot="16200000" flipH="1">
                <a:off x="1072343" y="141467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等腰三角形 46"/>
              <p:cNvSpPr/>
              <p:nvPr/>
            </p:nvSpPr>
            <p:spPr>
              <a:xfrm rot="16200000" flipH="1">
                <a:off x="1078643" y="442147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等腰三角形 47"/>
              <p:cNvSpPr/>
              <p:nvPr/>
            </p:nvSpPr>
            <p:spPr>
              <a:xfrm rot="5400000">
                <a:off x="1910636" y="141467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等腰三角形 48"/>
              <p:cNvSpPr/>
              <p:nvPr/>
            </p:nvSpPr>
            <p:spPr>
              <a:xfrm rot="16200000" flipH="1">
                <a:off x="-598744" y="442146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等腰三角形 49"/>
              <p:cNvSpPr/>
              <p:nvPr/>
            </p:nvSpPr>
            <p:spPr>
              <a:xfrm rot="5400000">
                <a:off x="1917335" y="435695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等腰三角形 50"/>
              <p:cNvSpPr/>
              <p:nvPr/>
            </p:nvSpPr>
            <p:spPr>
              <a:xfrm rot="5400000">
                <a:off x="1075493" y="1901112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等腰三角形 51"/>
              <p:cNvSpPr/>
              <p:nvPr/>
            </p:nvSpPr>
            <p:spPr>
              <a:xfrm rot="5400000">
                <a:off x="2749326" y="909958"/>
                <a:ext cx="972885" cy="838694"/>
              </a:xfrm>
              <a:prstGeom prst="triangle">
                <a:avLst/>
              </a:prstGeom>
              <a:solidFill>
                <a:srgbClr val="F0F4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等腰三角形 52"/>
              <p:cNvSpPr/>
              <p:nvPr/>
            </p:nvSpPr>
            <p:spPr>
              <a:xfrm rot="16200000" flipH="1">
                <a:off x="246647" y="-44298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9" name="等腰三角形 38"/>
            <p:cNvSpPr/>
            <p:nvPr/>
          </p:nvSpPr>
          <p:spPr>
            <a:xfrm rot="5400000">
              <a:off x="172095" y="2177383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等腰三角形 39"/>
            <p:cNvSpPr/>
            <p:nvPr/>
          </p:nvSpPr>
          <p:spPr>
            <a:xfrm rot="5400000">
              <a:off x="175400" y="1549099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等腰三角形 40"/>
            <p:cNvSpPr/>
            <p:nvPr/>
          </p:nvSpPr>
          <p:spPr>
            <a:xfrm rot="5400000">
              <a:off x="705178" y="1858288"/>
              <a:ext cx="618375" cy="533082"/>
            </a:xfrm>
            <a:prstGeom prst="triangle">
              <a:avLst/>
            </a:prstGeom>
            <a:solidFill>
              <a:srgbClr val="F0F4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0" name="图片 9"/>
          <p:cNvPicPr/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10994341" y="5268976"/>
            <a:ext cx="1197659" cy="1389113"/>
            <a:chOff x="-1356283" y="1212273"/>
            <a:chExt cx="1599245" cy="1854896"/>
          </a:xfrm>
        </p:grpSpPr>
        <p:sp>
          <p:nvSpPr>
            <p:cNvPr id="25" name="等腰三角形 24"/>
            <p:cNvSpPr/>
            <p:nvPr/>
          </p:nvSpPr>
          <p:spPr>
            <a:xfrm rot="5400000">
              <a:off x="-865849" y="218248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等腰三角形 25"/>
            <p:cNvSpPr/>
            <p:nvPr/>
          </p:nvSpPr>
          <p:spPr>
            <a:xfrm rot="16200000" flipH="1">
              <a:off x="-865848" y="1873296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等腰三角形 27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等腰三角形 28"/>
            <p:cNvSpPr/>
            <p:nvPr/>
          </p:nvSpPr>
          <p:spPr>
            <a:xfrm rot="16200000" flipH="1">
              <a:off x="-336771" y="218225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/>
            <p:cNvSpPr/>
            <p:nvPr/>
          </p:nvSpPr>
          <p:spPr>
            <a:xfrm rot="16200000" flipH="1">
              <a:off x="-332767" y="1564109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等腰三角形 30"/>
            <p:cNvSpPr/>
            <p:nvPr/>
          </p:nvSpPr>
          <p:spPr>
            <a:xfrm rot="16200000" flipH="1">
              <a:off x="-1398930" y="1564108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等腰三角形 31"/>
            <p:cNvSpPr/>
            <p:nvPr/>
          </p:nvSpPr>
          <p:spPr>
            <a:xfrm rot="5400000">
              <a:off x="-334769" y="2491441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等腰三角形 32"/>
            <p:cNvSpPr/>
            <p:nvPr/>
          </p:nvSpPr>
          <p:spPr>
            <a:xfrm rot="16200000" flipH="1">
              <a:off x="-861591" y="1254920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4" name="直接连接符 33"/>
          <p:cNvCxnSpPr/>
          <p:nvPr userDrawn="1"/>
        </p:nvCxnSpPr>
        <p:spPr>
          <a:xfrm flipH="1">
            <a:off x="533400" y="6507480"/>
            <a:ext cx="10637520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灯片编号占位符 5"/>
          <p:cNvSpPr txBox="1"/>
          <p:nvPr userDrawn="1"/>
        </p:nvSpPr>
        <p:spPr>
          <a:xfrm>
            <a:off x="11217390" y="6324917"/>
            <a:ext cx="524423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015B73C-FE37-48BC-8A31-84F8B5A93988}" type="slidenum">
              <a:rPr lang="zh-CN" altLang="en-US" sz="1600" smtClean="0">
                <a:solidFill>
                  <a:schemeClr val="accent1">
                    <a:lumMod val="50000"/>
                  </a:schemeClr>
                </a:solidFill>
              </a:rPr>
            </a:fld>
            <a:endParaRPr lang="zh-CN" alt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36" name="组合 35"/>
          <p:cNvGrpSpPr/>
          <p:nvPr userDrawn="1"/>
        </p:nvGrpSpPr>
        <p:grpSpPr>
          <a:xfrm>
            <a:off x="-14298" y="155435"/>
            <a:ext cx="2957239" cy="2759208"/>
            <a:chOff x="214742" y="270164"/>
            <a:chExt cx="2661150" cy="2482947"/>
          </a:xfrm>
        </p:grpSpPr>
        <p:grpSp>
          <p:nvGrpSpPr>
            <p:cNvPr id="37" name="组合 36"/>
            <p:cNvGrpSpPr/>
            <p:nvPr/>
          </p:nvGrpSpPr>
          <p:grpSpPr>
            <a:xfrm>
              <a:off x="214745" y="270164"/>
              <a:ext cx="2661147" cy="1854896"/>
              <a:chOff x="-531648" y="-111394"/>
              <a:chExt cx="4186764" cy="2918295"/>
            </a:xfrm>
          </p:grpSpPr>
          <p:sp>
            <p:nvSpPr>
              <p:cNvPr id="41" name="等腰三角形 40"/>
              <p:cNvSpPr/>
              <p:nvPr/>
            </p:nvSpPr>
            <p:spPr>
              <a:xfrm rot="5400000">
                <a:off x="239949" y="1415033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等腰三角形 41"/>
              <p:cNvSpPr/>
              <p:nvPr/>
            </p:nvSpPr>
            <p:spPr>
              <a:xfrm rot="16200000" flipH="1">
                <a:off x="239950" y="928589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等腰三角形 42"/>
              <p:cNvSpPr/>
              <p:nvPr/>
            </p:nvSpPr>
            <p:spPr>
              <a:xfrm rot="5400000">
                <a:off x="1078643" y="92859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等腰三角形 43"/>
              <p:cNvSpPr/>
              <p:nvPr/>
            </p:nvSpPr>
            <p:spPr>
              <a:xfrm rot="5400000">
                <a:off x="1078643" y="928591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等腰三角形 44"/>
              <p:cNvSpPr/>
              <p:nvPr/>
            </p:nvSpPr>
            <p:spPr>
              <a:xfrm rot="16200000" flipH="1">
                <a:off x="1072343" y="141467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等腰三角形 45"/>
              <p:cNvSpPr/>
              <p:nvPr/>
            </p:nvSpPr>
            <p:spPr>
              <a:xfrm rot="16200000" flipH="1">
                <a:off x="1078643" y="442147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等腰三角形 46"/>
              <p:cNvSpPr/>
              <p:nvPr/>
            </p:nvSpPr>
            <p:spPr>
              <a:xfrm rot="5400000">
                <a:off x="1910636" y="141467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等腰三角形 47"/>
              <p:cNvSpPr/>
              <p:nvPr/>
            </p:nvSpPr>
            <p:spPr>
              <a:xfrm rot="16200000" flipH="1">
                <a:off x="-598744" y="442146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等腰三角形 48"/>
              <p:cNvSpPr/>
              <p:nvPr/>
            </p:nvSpPr>
            <p:spPr>
              <a:xfrm rot="5400000">
                <a:off x="1917335" y="435695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等腰三角形 49"/>
              <p:cNvSpPr/>
              <p:nvPr/>
            </p:nvSpPr>
            <p:spPr>
              <a:xfrm rot="5400000">
                <a:off x="1075493" y="1901112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等腰三角形 50"/>
              <p:cNvSpPr/>
              <p:nvPr/>
            </p:nvSpPr>
            <p:spPr>
              <a:xfrm rot="5400000">
                <a:off x="2749326" y="909958"/>
                <a:ext cx="972885" cy="838694"/>
              </a:xfrm>
              <a:prstGeom prst="triangle">
                <a:avLst/>
              </a:prstGeom>
              <a:solidFill>
                <a:srgbClr val="F0F4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等腰三角形 51"/>
              <p:cNvSpPr/>
              <p:nvPr/>
            </p:nvSpPr>
            <p:spPr>
              <a:xfrm rot="16200000" flipH="1">
                <a:off x="246647" y="-44298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8" name="等腰三角形 37"/>
            <p:cNvSpPr/>
            <p:nvPr/>
          </p:nvSpPr>
          <p:spPr>
            <a:xfrm rot="5400000">
              <a:off x="172095" y="2177383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等腰三角形 38"/>
            <p:cNvSpPr/>
            <p:nvPr/>
          </p:nvSpPr>
          <p:spPr>
            <a:xfrm rot="5400000">
              <a:off x="175400" y="1549099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等腰三角形 39"/>
            <p:cNvSpPr/>
            <p:nvPr/>
          </p:nvSpPr>
          <p:spPr>
            <a:xfrm rot="5400000">
              <a:off x="705178" y="1858288"/>
              <a:ext cx="618375" cy="533082"/>
            </a:xfrm>
            <a:prstGeom prst="triangle">
              <a:avLst/>
            </a:prstGeom>
            <a:solidFill>
              <a:srgbClr val="F0F4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0" name="图片 9"/>
          <p:cNvPicPr/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</a:fld>
            <a:endParaRPr lang="zh-CN" altLang="en-US"/>
          </a:p>
        </p:txBody>
      </p:sp>
      <p:cxnSp>
        <p:nvCxnSpPr>
          <p:cNvPr id="6" name="直接连接符 5"/>
          <p:cNvCxnSpPr/>
          <p:nvPr userDrawn="1"/>
        </p:nvCxnSpPr>
        <p:spPr>
          <a:xfrm flipH="1">
            <a:off x="464127" y="6507480"/>
            <a:ext cx="10706793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5"/>
          <p:cNvSpPr txBox="1"/>
          <p:nvPr userDrawn="1"/>
        </p:nvSpPr>
        <p:spPr>
          <a:xfrm>
            <a:off x="11217390" y="6324917"/>
            <a:ext cx="524423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015B73C-FE37-48BC-8A31-84F8B5A93988}" type="slidenum">
              <a:rPr lang="zh-CN" altLang="en-US" sz="1600" smtClean="0">
                <a:solidFill>
                  <a:schemeClr val="accent1">
                    <a:lumMod val="50000"/>
                  </a:schemeClr>
                </a:solidFill>
              </a:rPr>
            </a:fld>
            <a:endParaRPr lang="zh-CN" alt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11452916" y="5846548"/>
            <a:ext cx="739084" cy="971841"/>
            <a:chOff x="-1164737" y="1521462"/>
            <a:chExt cx="1407699" cy="1851021"/>
          </a:xfrm>
        </p:grpSpPr>
        <p:sp>
          <p:nvSpPr>
            <p:cNvPr id="9" name="等腰三角形 8"/>
            <p:cNvSpPr/>
            <p:nvPr/>
          </p:nvSpPr>
          <p:spPr>
            <a:xfrm rot="5400000">
              <a:off x="-865849" y="218248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 rot="16200000" flipH="1">
              <a:off x="-865848" y="1873296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等腰三角形 12"/>
            <p:cNvSpPr/>
            <p:nvPr/>
          </p:nvSpPr>
          <p:spPr>
            <a:xfrm rot="16200000" flipH="1">
              <a:off x="-336771" y="218225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等腰三角形 13"/>
            <p:cNvSpPr/>
            <p:nvPr/>
          </p:nvSpPr>
          <p:spPr>
            <a:xfrm rot="16200000" flipH="1">
              <a:off x="-332767" y="1564109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等腰三角形 14"/>
            <p:cNvSpPr/>
            <p:nvPr/>
          </p:nvSpPr>
          <p:spPr>
            <a:xfrm rot="16200000" flipH="1">
              <a:off x="-340775" y="2796755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-334769" y="2491441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等腰三角形 16"/>
            <p:cNvSpPr/>
            <p:nvPr/>
          </p:nvSpPr>
          <p:spPr>
            <a:xfrm rot="16200000" flipH="1">
              <a:off x="-1192059" y="2894582"/>
              <a:ext cx="396178" cy="341533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0" y="0"/>
            <a:ext cx="3581400" cy="3341572"/>
            <a:chOff x="214742" y="270164"/>
            <a:chExt cx="2661150" cy="2482947"/>
          </a:xfrm>
        </p:grpSpPr>
        <p:grpSp>
          <p:nvGrpSpPr>
            <p:cNvPr id="6" name="组合 5"/>
            <p:cNvGrpSpPr/>
            <p:nvPr/>
          </p:nvGrpSpPr>
          <p:grpSpPr>
            <a:xfrm>
              <a:off x="214745" y="270164"/>
              <a:ext cx="2661147" cy="1854896"/>
              <a:chOff x="-531648" y="-111394"/>
              <a:chExt cx="4186764" cy="2918295"/>
            </a:xfrm>
          </p:grpSpPr>
          <p:sp>
            <p:nvSpPr>
              <p:cNvPr id="10" name="等腰三角形 9"/>
              <p:cNvSpPr/>
              <p:nvPr/>
            </p:nvSpPr>
            <p:spPr>
              <a:xfrm rot="5400000">
                <a:off x="239949" y="1415033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等腰三角形 10"/>
              <p:cNvSpPr/>
              <p:nvPr/>
            </p:nvSpPr>
            <p:spPr>
              <a:xfrm rot="16200000" flipH="1">
                <a:off x="239950" y="928589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等腰三角形 11"/>
              <p:cNvSpPr/>
              <p:nvPr/>
            </p:nvSpPr>
            <p:spPr>
              <a:xfrm rot="5400000">
                <a:off x="1078643" y="92859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等腰三角形 12"/>
              <p:cNvSpPr/>
              <p:nvPr/>
            </p:nvSpPr>
            <p:spPr>
              <a:xfrm rot="5400000">
                <a:off x="1078643" y="928591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等腰三角形 13"/>
              <p:cNvSpPr/>
              <p:nvPr/>
            </p:nvSpPr>
            <p:spPr>
              <a:xfrm rot="16200000" flipH="1">
                <a:off x="1072343" y="141467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等腰三角形 14"/>
              <p:cNvSpPr/>
              <p:nvPr/>
            </p:nvSpPr>
            <p:spPr>
              <a:xfrm rot="16200000" flipH="1">
                <a:off x="1078643" y="442147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等腰三角形 15"/>
              <p:cNvSpPr/>
              <p:nvPr/>
            </p:nvSpPr>
            <p:spPr>
              <a:xfrm rot="5400000">
                <a:off x="1910636" y="141467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等腰三角形 16"/>
              <p:cNvSpPr/>
              <p:nvPr/>
            </p:nvSpPr>
            <p:spPr>
              <a:xfrm rot="16200000" flipH="1">
                <a:off x="-598744" y="442146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等腰三角形 17"/>
              <p:cNvSpPr/>
              <p:nvPr/>
            </p:nvSpPr>
            <p:spPr>
              <a:xfrm rot="5400000">
                <a:off x="1917335" y="435695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等腰三角形 18"/>
              <p:cNvSpPr/>
              <p:nvPr/>
            </p:nvSpPr>
            <p:spPr>
              <a:xfrm rot="5400000">
                <a:off x="1075493" y="1901112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等腰三角形 19"/>
              <p:cNvSpPr/>
              <p:nvPr/>
            </p:nvSpPr>
            <p:spPr>
              <a:xfrm rot="5400000">
                <a:off x="2749326" y="909958"/>
                <a:ext cx="972885" cy="838694"/>
              </a:xfrm>
              <a:prstGeom prst="triangle">
                <a:avLst/>
              </a:prstGeom>
              <a:solidFill>
                <a:srgbClr val="F0F4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等腰三角形 20"/>
              <p:cNvSpPr/>
              <p:nvPr/>
            </p:nvSpPr>
            <p:spPr>
              <a:xfrm rot="16200000" flipH="1">
                <a:off x="246647" y="-44298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等腰三角形 31"/>
              <p:cNvSpPr/>
              <p:nvPr userDrawn="1"/>
            </p:nvSpPr>
            <p:spPr>
              <a:xfrm rot="5400000">
                <a:off x="2749326" y="-43017"/>
                <a:ext cx="972885" cy="8386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3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" name="等腰三角形 6"/>
            <p:cNvSpPr/>
            <p:nvPr/>
          </p:nvSpPr>
          <p:spPr>
            <a:xfrm rot="5400000">
              <a:off x="172095" y="2177383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等腰三角形 7"/>
            <p:cNvSpPr/>
            <p:nvPr/>
          </p:nvSpPr>
          <p:spPr>
            <a:xfrm rot="5400000">
              <a:off x="175400" y="1549099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等腰三角形 8"/>
            <p:cNvSpPr/>
            <p:nvPr/>
          </p:nvSpPr>
          <p:spPr>
            <a:xfrm rot="5400000">
              <a:off x="705178" y="1858288"/>
              <a:ext cx="618375" cy="533082"/>
            </a:xfrm>
            <a:prstGeom prst="triangle">
              <a:avLst/>
            </a:prstGeom>
            <a:solidFill>
              <a:srgbClr val="F0F4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/>
          <p:cNvGrpSpPr/>
          <p:nvPr userDrawn="1"/>
        </p:nvGrpSpPr>
        <p:grpSpPr>
          <a:xfrm>
            <a:off x="11352349" y="5684214"/>
            <a:ext cx="839651" cy="973875"/>
            <a:chOff x="-1356283" y="1212273"/>
            <a:chExt cx="1599245" cy="1854896"/>
          </a:xfrm>
        </p:grpSpPr>
        <p:sp>
          <p:nvSpPr>
            <p:cNvPr id="23" name="等腰三角形 22"/>
            <p:cNvSpPr/>
            <p:nvPr/>
          </p:nvSpPr>
          <p:spPr>
            <a:xfrm rot="5400000">
              <a:off x="-865849" y="218248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等腰三角形 23"/>
            <p:cNvSpPr/>
            <p:nvPr/>
          </p:nvSpPr>
          <p:spPr>
            <a:xfrm rot="16200000" flipH="1">
              <a:off x="-865848" y="1873296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等腰三角形 24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等腰三角形 25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/>
          </p:nvSpPr>
          <p:spPr>
            <a:xfrm rot="16200000" flipH="1">
              <a:off x="-336771" y="218225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等腰三角形 27"/>
            <p:cNvSpPr/>
            <p:nvPr/>
          </p:nvSpPr>
          <p:spPr>
            <a:xfrm rot="16200000" flipH="1">
              <a:off x="-332767" y="1564109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等腰三角形 28"/>
            <p:cNvSpPr/>
            <p:nvPr/>
          </p:nvSpPr>
          <p:spPr>
            <a:xfrm rot="16200000" flipH="1">
              <a:off x="-1398930" y="1564108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/>
            <p:cNvSpPr/>
            <p:nvPr/>
          </p:nvSpPr>
          <p:spPr>
            <a:xfrm rot="5400000">
              <a:off x="-334769" y="2491441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等腰三角形 30"/>
            <p:cNvSpPr/>
            <p:nvPr/>
          </p:nvSpPr>
          <p:spPr>
            <a:xfrm rot="16200000" flipH="1">
              <a:off x="-861591" y="1254920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3" name="图片 32"/>
          <p:cNvPicPr/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F8E6D3-EC10-435A-83A8-4CF3748666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15B73C-FE37-48BC-8A31-84F8B5A9398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.png"/><Relationship Id="rId2" Type="http://schemas.openxmlformats.org/officeDocument/2006/relationships/tags" Target="../tags/tag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image" Target="../media/image1.jpeg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6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image" Target="../media/image1.jpeg"/><Relationship Id="rId1" Type="http://schemas.openxmlformats.org/officeDocument/2006/relationships/tags" Target="../tags/tag9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58313" y="2240778"/>
            <a:ext cx="9675495" cy="1076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MedCLIP-SAMv2: Towards Universal Text-Driven </a:t>
            </a:r>
            <a:endParaRPr lang="en-US" altLang="zh-CN" sz="3200" b="1" dirty="0">
              <a:solidFill>
                <a:schemeClr val="accent1">
                  <a:lumMod val="5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3200" b="1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Medical Image Segmentation</a:t>
            </a:r>
            <a:endParaRPr lang="en-US" altLang="zh-CN" sz="3200" b="1" dirty="0">
              <a:solidFill>
                <a:schemeClr val="accent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760345" y="5029200"/>
            <a:ext cx="5856605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           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汇报日期：</a:t>
            </a:r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2026.5.9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5640421" y="4053409"/>
            <a:ext cx="911157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reeform 5"/>
          <p:cNvSpPr>
            <a:spLocks noEditPoints="1"/>
          </p:cNvSpPr>
          <p:nvPr/>
        </p:nvSpPr>
        <p:spPr bwMode="auto">
          <a:xfrm>
            <a:off x="5760018" y="520406"/>
            <a:ext cx="671963" cy="769033"/>
          </a:xfrm>
          <a:custGeom>
            <a:avLst/>
            <a:gdLst>
              <a:gd name="T0" fmla="*/ 1898 w 2872"/>
              <a:gd name="T1" fmla="*/ 1941 h 3284"/>
              <a:gd name="T2" fmla="*/ 2681 w 2872"/>
              <a:gd name="T3" fmla="*/ 328 h 3284"/>
              <a:gd name="T4" fmla="*/ 332 w 2872"/>
              <a:gd name="T5" fmla="*/ 0 h 3284"/>
              <a:gd name="T6" fmla="*/ 4 w 2872"/>
              <a:gd name="T7" fmla="*/ 3014 h 3284"/>
              <a:gd name="T8" fmla="*/ 378 w 2872"/>
              <a:gd name="T9" fmla="*/ 3234 h 3284"/>
              <a:gd name="T10" fmla="*/ 1491 w 2872"/>
              <a:gd name="T11" fmla="*/ 2781 h 3284"/>
              <a:gd name="T12" fmla="*/ 987 w 2872"/>
              <a:gd name="T13" fmla="*/ 1006 h 3284"/>
              <a:gd name="T14" fmla="*/ 1069 w 2872"/>
              <a:gd name="T15" fmla="*/ 924 h 3284"/>
              <a:gd name="T16" fmla="*/ 2073 w 2872"/>
              <a:gd name="T17" fmla="*/ 948 h 3284"/>
              <a:gd name="T18" fmla="*/ 2097 w 2872"/>
              <a:gd name="T19" fmla="*/ 1114 h 3284"/>
              <a:gd name="T20" fmla="*/ 2015 w 2872"/>
              <a:gd name="T21" fmla="*/ 1196 h 3284"/>
              <a:gd name="T22" fmla="*/ 1011 w 2872"/>
              <a:gd name="T23" fmla="*/ 1172 h 3284"/>
              <a:gd name="T24" fmla="*/ 987 w 2872"/>
              <a:gd name="T25" fmla="*/ 1006 h 3284"/>
              <a:gd name="T26" fmla="*/ 672 w 2872"/>
              <a:gd name="T27" fmla="*/ 1885 h 3284"/>
              <a:gd name="T28" fmla="*/ 590 w 2872"/>
              <a:gd name="T29" fmla="*/ 1803 h 3284"/>
              <a:gd name="T30" fmla="*/ 614 w 2872"/>
              <a:gd name="T31" fmla="*/ 1641 h 3284"/>
              <a:gd name="T32" fmla="*/ 778 w 2872"/>
              <a:gd name="T33" fmla="*/ 1617 h 3284"/>
              <a:gd name="T34" fmla="*/ 860 w 2872"/>
              <a:gd name="T35" fmla="*/ 1699 h 3284"/>
              <a:gd name="T36" fmla="*/ 836 w 2872"/>
              <a:gd name="T37" fmla="*/ 1861 h 3284"/>
              <a:gd name="T38" fmla="*/ 778 w 2872"/>
              <a:gd name="T39" fmla="*/ 1192 h 3284"/>
              <a:gd name="T40" fmla="*/ 614 w 2872"/>
              <a:gd name="T41" fmla="*/ 1168 h 3284"/>
              <a:gd name="T42" fmla="*/ 590 w 2872"/>
              <a:gd name="T43" fmla="*/ 1006 h 3284"/>
              <a:gd name="T44" fmla="*/ 672 w 2872"/>
              <a:gd name="T45" fmla="*/ 924 h 3284"/>
              <a:gd name="T46" fmla="*/ 836 w 2872"/>
              <a:gd name="T47" fmla="*/ 948 h 3284"/>
              <a:gd name="T48" fmla="*/ 860 w 2872"/>
              <a:gd name="T49" fmla="*/ 1113 h 3284"/>
              <a:gd name="T50" fmla="*/ 778 w 2872"/>
              <a:gd name="T51" fmla="*/ 1195 h 3284"/>
              <a:gd name="T52" fmla="*/ 1069 w 2872"/>
              <a:gd name="T53" fmla="*/ 1885 h 3284"/>
              <a:gd name="T54" fmla="*/ 987 w 2872"/>
              <a:gd name="T55" fmla="*/ 1803 h 3284"/>
              <a:gd name="T56" fmla="*/ 1011 w 2872"/>
              <a:gd name="T57" fmla="*/ 1641 h 3284"/>
              <a:gd name="T58" fmla="*/ 2015 w 2872"/>
              <a:gd name="T59" fmla="*/ 1617 h 3284"/>
              <a:gd name="T60" fmla="*/ 2097 w 2872"/>
              <a:gd name="T61" fmla="*/ 1699 h 3284"/>
              <a:gd name="T62" fmla="*/ 2073 w 2872"/>
              <a:gd name="T63" fmla="*/ 1861 h 3284"/>
              <a:gd name="T64" fmla="*/ 1069 w 2872"/>
              <a:gd name="T65" fmla="*/ 1885 h 3284"/>
              <a:gd name="T66" fmla="*/ 1579 w 2872"/>
              <a:gd name="T67" fmla="*/ 2633 h 3284"/>
              <a:gd name="T68" fmla="*/ 2872 w 2872"/>
              <a:gd name="T69" fmla="*/ 2627 h 3284"/>
              <a:gd name="T70" fmla="*/ 2216 w 2872"/>
              <a:gd name="T71" fmla="*/ 1980 h 3284"/>
              <a:gd name="T72" fmla="*/ 1770 w 2872"/>
              <a:gd name="T73" fmla="*/ 2622 h 3284"/>
              <a:gd name="T74" fmla="*/ 2131 w 2872"/>
              <a:gd name="T75" fmla="*/ 2655 h 3284"/>
              <a:gd name="T76" fmla="*/ 2671 w 2872"/>
              <a:gd name="T77" fmla="*/ 2460 h 3284"/>
              <a:gd name="T78" fmla="*/ 2128 w 2872"/>
              <a:gd name="T79" fmla="*/ 2950 h 32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872" h="3284">
                <a:moveTo>
                  <a:pt x="1468" y="2605"/>
                </a:moveTo>
                <a:cubicBezTo>
                  <a:pt x="1471" y="2320"/>
                  <a:pt x="1638" y="2061"/>
                  <a:pt x="1898" y="1941"/>
                </a:cubicBezTo>
                <a:cubicBezTo>
                  <a:pt x="2158" y="1822"/>
                  <a:pt x="2463" y="1864"/>
                  <a:pt x="2681" y="2048"/>
                </a:cubicBezTo>
                <a:cubicBezTo>
                  <a:pt x="2681" y="328"/>
                  <a:pt x="2681" y="328"/>
                  <a:pt x="2681" y="328"/>
                </a:cubicBezTo>
                <a:cubicBezTo>
                  <a:pt x="2681" y="147"/>
                  <a:pt x="2535" y="0"/>
                  <a:pt x="2354" y="0"/>
                </a:cubicBezTo>
                <a:cubicBezTo>
                  <a:pt x="332" y="0"/>
                  <a:pt x="332" y="0"/>
                  <a:pt x="332" y="0"/>
                </a:cubicBezTo>
                <a:cubicBezTo>
                  <a:pt x="151" y="0"/>
                  <a:pt x="4" y="147"/>
                  <a:pt x="4" y="328"/>
                </a:cubicBezTo>
                <a:cubicBezTo>
                  <a:pt x="4" y="3014"/>
                  <a:pt x="4" y="3014"/>
                  <a:pt x="4" y="3014"/>
                </a:cubicBezTo>
                <a:cubicBezTo>
                  <a:pt x="0" y="3105"/>
                  <a:pt x="44" y="3191"/>
                  <a:pt x="121" y="3240"/>
                </a:cubicBezTo>
                <a:cubicBezTo>
                  <a:pt x="201" y="3284"/>
                  <a:pt x="299" y="3282"/>
                  <a:pt x="378" y="3234"/>
                </a:cubicBezTo>
                <a:cubicBezTo>
                  <a:pt x="1350" y="2704"/>
                  <a:pt x="1350" y="2704"/>
                  <a:pt x="1350" y="2704"/>
                </a:cubicBezTo>
                <a:cubicBezTo>
                  <a:pt x="1491" y="2781"/>
                  <a:pt x="1491" y="2781"/>
                  <a:pt x="1491" y="2781"/>
                </a:cubicBezTo>
                <a:cubicBezTo>
                  <a:pt x="1476" y="2723"/>
                  <a:pt x="1469" y="2665"/>
                  <a:pt x="1468" y="2605"/>
                </a:cubicBezTo>
                <a:close/>
                <a:moveTo>
                  <a:pt x="987" y="1006"/>
                </a:moveTo>
                <a:cubicBezTo>
                  <a:pt x="987" y="985"/>
                  <a:pt x="996" y="964"/>
                  <a:pt x="1011" y="948"/>
                </a:cubicBezTo>
                <a:cubicBezTo>
                  <a:pt x="1027" y="933"/>
                  <a:pt x="1048" y="924"/>
                  <a:pt x="1069" y="924"/>
                </a:cubicBezTo>
                <a:cubicBezTo>
                  <a:pt x="2015" y="924"/>
                  <a:pt x="2015" y="924"/>
                  <a:pt x="2015" y="924"/>
                </a:cubicBezTo>
                <a:cubicBezTo>
                  <a:pt x="2036" y="924"/>
                  <a:pt x="2057" y="933"/>
                  <a:pt x="2073" y="948"/>
                </a:cubicBezTo>
                <a:cubicBezTo>
                  <a:pt x="2088" y="964"/>
                  <a:pt x="2097" y="985"/>
                  <a:pt x="2097" y="1006"/>
                </a:cubicBezTo>
                <a:cubicBezTo>
                  <a:pt x="2097" y="1114"/>
                  <a:pt x="2097" y="1114"/>
                  <a:pt x="2097" y="1114"/>
                </a:cubicBezTo>
                <a:cubicBezTo>
                  <a:pt x="2097" y="1135"/>
                  <a:pt x="2088" y="1156"/>
                  <a:pt x="2073" y="1172"/>
                </a:cubicBezTo>
                <a:cubicBezTo>
                  <a:pt x="2057" y="1187"/>
                  <a:pt x="2036" y="1196"/>
                  <a:pt x="2015" y="1196"/>
                </a:cubicBezTo>
                <a:cubicBezTo>
                  <a:pt x="1069" y="1196"/>
                  <a:pt x="1069" y="1196"/>
                  <a:pt x="1069" y="1196"/>
                </a:cubicBezTo>
                <a:cubicBezTo>
                  <a:pt x="1048" y="1196"/>
                  <a:pt x="1027" y="1187"/>
                  <a:pt x="1011" y="1172"/>
                </a:cubicBezTo>
                <a:cubicBezTo>
                  <a:pt x="996" y="1156"/>
                  <a:pt x="987" y="1135"/>
                  <a:pt x="987" y="1114"/>
                </a:cubicBezTo>
                <a:lnTo>
                  <a:pt x="987" y="1006"/>
                </a:lnTo>
                <a:close/>
                <a:moveTo>
                  <a:pt x="778" y="1885"/>
                </a:moveTo>
                <a:cubicBezTo>
                  <a:pt x="672" y="1885"/>
                  <a:pt x="672" y="1885"/>
                  <a:pt x="672" y="1885"/>
                </a:cubicBezTo>
                <a:cubicBezTo>
                  <a:pt x="650" y="1885"/>
                  <a:pt x="629" y="1876"/>
                  <a:pt x="614" y="1861"/>
                </a:cubicBezTo>
                <a:cubicBezTo>
                  <a:pt x="599" y="1845"/>
                  <a:pt x="590" y="1824"/>
                  <a:pt x="590" y="1803"/>
                </a:cubicBezTo>
                <a:cubicBezTo>
                  <a:pt x="590" y="1699"/>
                  <a:pt x="590" y="1699"/>
                  <a:pt x="590" y="1699"/>
                </a:cubicBezTo>
                <a:cubicBezTo>
                  <a:pt x="590" y="1678"/>
                  <a:pt x="599" y="1657"/>
                  <a:pt x="614" y="1641"/>
                </a:cubicBezTo>
                <a:cubicBezTo>
                  <a:pt x="629" y="1626"/>
                  <a:pt x="650" y="1617"/>
                  <a:pt x="672" y="1617"/>
                </a:cubicBezTo>
                <a:cubicBezTo>
                  <a:pt x="778" y="1617"/>
                  <a:pt x="778" y="1617"/>
                  <a:pt x="778" y="1617"/>
                </a:cubicBezTo>
                <a:cubicBezTo>
                  <a:pt x="799" y="1617"/>
                  <a:pt x="820" y="1626"/>
                  <a:pt x="836" y="1641"/>
                </a:cubicBezTo>
                <a:cubicBezTo>
                  <a:pt x="851" y="1657"/>
                  <a:pt x="860" y="1678"/>
                  <a:pt x="860" y="1699"/>
                </a:cubicBezTo>
                <a:cubicBezTo>
                  <a:pt x="860" y="1803"/>
                  <a:pt x="860" y="1803"/>
                  <a:pt x="860" y="1803"/>
                </a:cubicBezTo>
                <a:cubicBezTo>
                  <a:pt x="860" y="1824"/>
                  <a:pt x="851" y="1845"/>
                  <a:pt x="836" y="1861"/>
                </a:cubicBezTo>
                <a:cubicBezTo>
                  <a:pt x="820" y="1876"/>
                  <a:pt x="799" y="1885"/>
                  <a:pt x="778" y="1885"/>
                </a:cubicBezTo>
                <a:close/>
                <a:moveTo>
                  <a:pt x="778" y="1192"/>
                </a:moveTo>
                <a:cubicBezTo>
                  <a:pt x="672" y="1192"/>
                  <a:pt x="672" y="1192"/>
                  <a:pt x="672" y="1192"/>
                </a:cubicBezTo>
                <a:cubicBezTo>
                  <a:pt x="650" y="1192"/>
                  <a:pt x="629" y="1183"/>
                  <a:pt x="614" y="1168"/>
                </a:cubicBezTo>
                <a:cubicBezTo>
                  <a:pt x="599" y="1152"/>
                  <a:pt x="590" y="1131"/>
                  <a:pt x="590" y="1110"/>
                </a:cubicBezTo>
                <a:cubicBezTo>
                  <a:pt x="590" y="1006"/>
                  <a:pt x="590" y="1006"/>
                  <a:pt x="590" y="1006"/>
                </a:cubicBezTo>
                <a:cubicBezTo>
                  <a:pt x="590" y="984"/>
                  <a:pt x="599" y="963"/>
                  <a:pt x="614" y="948"/>
                </a:cubicBezTo>
                <a:cubicBezTo>
                  <a:pt x="629" y="932"/>
                  <a:pt x="650" y="924"/>
                  <a:pt x="672" y="924"/>
                </a:cubicBezTo>
                <a:cubicBezTo>
                  <a:pt x="778" y="924"/>
                  <a:pt x="778" y="924"/>
                  <a:pt x="778" y="924"/>
                </a:cubicBezTo>
                <a:cubicBezTo>
                  <a:pt x="800" y="924"/>
                  <a:pt x="821" y="932"/>
                  <a:pt x="836" y="948"/>
                </a:cubicBezTo>
                <a:cubicBezTo>
                  <a:pt x="852" y="963"/>
                  <a:pt x="860" y="984"/>
                  <a:pt x="860" y="1006"/>
                </a:cubicBezTo>
                <a:cubicBezTo>
                  <a:pt x="860" y="1113"/>
                  <a:pt x="860" y="1113"/>
                  <a:pt x="860" y="1113"/>
                </a:cubicBezTo>
                <a:cubicBezTo>
                  <a:pt x="860" y="1135"/>
                  <a:pt x="852" y="1155"/>
                  <a:pt x="836" y="1171"/>
                </a:cubicBezTo>
                <a:cubicBezTo>
                  <a:pt x="821" y="1186"/>
                  <a:pt x="800" y="1195"/>
                  <a:pt x="778" y="1195"/>
                </a:cubicBezTo>
                <a:lnTo>
                  <a:pt x="778" y="1192"/>
                </a:lnTo>
                <a:close/>
                <a:moveTo>
                  <a:pt x="1069" y="1885"/>
                </a:moveTo>
                <a:cubicBezTo>
                  <a:pt x="1048" y="1885"/>
                  <a:pt x="1027" y="1876"/>
                  <a:pt x="1011" y="1861"/>
                </a:cubicBezTo>
                <a:cubicBezTo>
                  <a:pt x="996" y="1845"/>
                  <a:pt x="987" y="1824"/>
                  <a:pt x="987" y="1803"/>
                </a:cubicBezTo>
                <a:cubicBezTo>
                  <a:pt x="987" y="1699"/>
                  <a:pt x="987" y="1699"/>
                  <a:pt x="987" y="1699"/>
                </a:cubicBezTo>
                <a:cubicBezTo>
                  <a:pt x="987" y="1678"/>
                  <a:pt x="996" y="1657"/>
                  <a:pt x="1011" y="1641"/>
                </a:cubicBezTo>
                <a:cubicBezTo>
                  <a:pt x="1027" y="1626"/>
                  <a:pt x="1048" y="1617"/>
                  <a:pt x="1069" y="1617"/>
                </a:cubicBezTo>
                <a:cubicBezTo>
                  <a:pt x="2015" y="1617"/>
                  <a:pt x="2015" y="1617"/>
                  <a:pt x="2015" y="1617"/>
                </a:cubicBezTo>
                <a:cubicBezTo>
                  <a:pt x="2036" y="1617"/>
                  <a:pt x="2057" y="1626"/>
                  <a:pt x="2073" y="1641"/>
                </a:cubicBezTo>
                <a:cubicBezTo>
                  <a:pt x="2088" y="1657"/>
                  <a:pt x="2097" y="1678"/>
                  <a:pt x="2097" y="1699"/>
                </a:cubicBezTo>
                <a:cubicBezTo>
                  <a:pt x="2097" y="1803"/>
                  <a:pt x="2097" y="1803"/>
                  <a:pt x="2097" y="1803"/>
                </a:cubicBezTo>
                <a:cubicBezTo>
                  <a:pt x="2097" y="1824"/>
                  <a:pt x="2088" y="1845"/>
                  <a:pt x="2073" y="1861"/>
                </a:cubicBezTo>
                <a:cubicBezTo>
                  <a:pt x="2057" y="1876"/>
                  <a:pt x="2036" y="1885"/>
                  <a:pt x="2015" y="1885"/>
                </a:cubicBezTo>
                <a:lnTo>
                  <a:pt x="1069" y="1885"/>
                </a:lnTo>
                <a:close/>
                <a:moveTo>
                  <a:pt x="2216" y="1980"/>
                </a:moveTo>
                <a:cubicBezTo>
                  <a:pt x="1860" y="1985"/>
                  <a:pt x="1576" y="2277"/>
                  <a:pt x="1579" y="2633"/>
                </a:cubicBezTo>
                <a:cubicBezTo>
                  <a:pt x="1582" y="2988"/>
                  <a:pt x="1872" y="3275"/>
                  <a:pt x="2228" y="3273"/>
                </a:cubicBezTo>
                <a:cubicBezTo>
                  <a:pt x="2584" y="3271"/>
                  <a:pt x="2872" y="2983"/>
                  <a:pt x="2872" y="2627"/>
                </a:cubicBezTo>
                <a:cubicBezTo>
                  <a:pt x="2872" y="2454"/>
                  <a:pt x="2802" y="2288"/>
                  <a:pt x="2679" y="2167"/>
                </a:cubicBezTo>
                <a:cubicBezTo>
                  <a:pt x="2556" y="2045"/>
                  <a:pt x="2389" y="1978"/>
                  <a:pt x="2216" y="1980"/>
                </a:cubicBezTo>
                <a:close/>
                <a:moveTo>
                  <a:pt x="2128" y="2950"/>
                </a:moveTo>
                <a:cubicBezTo>
                  <a:pt x="1770" y="2622"/>
                  <a:pt x="1770" y="2622"/>
                  <a:pt x="1770" y="2622"/>
                </a:cubicBezTo>
                <a:cubicBezTo>
                  <a:pt x="1934" y="2476"/>
                  <a:pt x="1934" y="2476"/>
                  <a:pt x="1934" y="2476"/>
                </a:cubicBezTo>
                <a:cubicBezTo>
                  <a:pt x="2131" y="2655"/>
                  <a:pt x="2131" y="2655"/>
                  <a:pt x="2131" y="2655"/>
                </a:cubicBezTo>
                <a:cubicBezTo>
                  <a:pt x="2507" y="2314"/>
                  <a:pt x="2507" y="2314"/>
                  <a:pt x="2507" y="2314"/>
                </a:cubicBezTo>
                <a:cubicBezTo>
                  <a:pt x="2671" y="2460"/>
                  <a:pt x="2671" y="2460"/>
                  <a:pt x="2671" y="2460"/>
                </a:cubicBezTo>
                <a:lnTo>
                  <a:pt x="2128" y="2950"/>
                </a:lnTo>
                <a:close/>
                <a:moveTo>
                  <a:pt x="2128" y="2950"/>
                </a:moveTo>
                <a:cubicBezTo>
                  <a:pt x="2128" y="2950"/>
                  <a:pt x="2128" y="2950"/>
                  <a:pt x="2128" y="295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048000" y="431101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Elsevier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Medical Image Analysis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2025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12160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01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作者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图片 9"/>
          <p:cNvPicPr/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7703185" y="2232025"/>
            <a:ext cx="2764790" cy="2394585"/>
          </a:xfrm>
          <a:prstGeom prst="rect">
            <a:avLst/>
          </a:prstGeom>
        </p:spPr>
        <p:txBody>
          <a:bodyPr wrap="square">
            <a:noAutofit/>
          </a:bodyPr>
          <a:p>
            <a:pPr indent="0" algn="l" fontAlgn="auto">
              <a:lnSpc>
                <a:spcPct val="130000"/>
              </a:lnSpc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主要研究方向：</a:t>
            </a:r>
            <a:endParaRPr lang="zh-CN" altLang="en-US" sz="2000" b="1" dirty="0">
              <a:solidFill>
                <a:schemeClr val="accent5">
                  <a:lumMod val="50000"/>
                </a:schemeClr>
              </a:solidFill>
              <a:cs typeface="+mn-ea"/>
              <a:sym typeface="+mn-lt"/>
            </a:endParaRPr>
          </a:p>
          <a:p>
            <a:pPr indent="0" algn="l" fontAlgn="auto">
              <a:lnSpc>
                <a:spcPct val="130000"/>
              </a:lnSpc>
              <a:buFont typeface="Wingdings" panose="05000000000000000000" charset="0"/>
              <a:buNone/>
            </a:pPr>
            <a:r>
              <a:rPr lang="zh-CN" altLang="en-US" sz="2000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深度学习</a:t>
            </a:r>
            <a:endParaRPr lang="zh-CN" altLang="en-US" sz="2000" dirty="0">
              <a:solidFill>
                <a:schemeClr val="accent5">
                  <a:lumMod val="50000"/>
                </a:schemeClr>
              </a:solidFill>
              <a:cs typeface="+mn-ea"/>
              <a:sym typeface="+mn-lt"/>
            </a:endParaRPr>
          </a:p>
          <a:p>
            <a:pPr indent="0" algn="l" fontAlgn="auto">
              <a:lnSpc>
                <a:spcPct val="130000"/>
              </a:lnSpc>
              <a:buFont typeface="Wingdings" panose="05000000000000000000" charset="0"/>
              <a:buNone/>
            </a:pPr>
            <a:r>
              <a:rPr lang="zh-CN" altLang="en-US" sz="2000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计算机视觉</a:t>
            </a:r>
            <a:endParaRPr lang="zh-CN" altLang="en-US" sz="2000" dirty="0">
              <a:solidFill>
                <a:schemeClr val="accent5">
                  <a:lumMod val="50000"/>
                </a:schemeClr>
              </a:solidFill>
              <a:cs typeface="+mn-ea"/>
              <a:sym typeface="+mn-lt"/>
            </a:endParaRPr>
          </a:p>
          <a:p>
            <a:pPr indent="0" algn="l" fontAlgn="auto">
              <a:lnSpc>
                <a:spcPct val="130000"/>
              </a:lnSpc>
              <a:buFont typeface="Wingdings" panose="05000000000000000000" charset="0"/>
              <a:buNone/>
            </a:pPr>
            <a:r>
              <a:rPr lang="zh-CN" altLang="en-US" sz="2000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自然语言处理等</a:t>
            </a:r>
            <a:endParaRPr lang="zh-CN" altLang="en-US" sz="2000" dirty="0">
              <a:solidFill>
                <a:schemeClr val="accent5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" name="图片 4" descr="eeb31792f4cb27ca10f6bc5864809bb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275" y="791845"/>
            <a:ext cx="5468620" cy="51752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>
            <p:custDataLst>
              <p:tags r:id="rId1"/>
            </p:custDataLst>
          </p:nvPr>
        </p:nvSpPr>
        <p:spPr>
          <a:xfrm>
            <a:off x="1006955" y="331594"/>
            <a:ext cx="18256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02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问题导入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6" name="图片 5"/>
          <p:cNvPicPr/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grpSp>
        <p:nvGrpSpPr>
          <p:cNvPr id="12" name="组合 11"/>
          <p:cNvGrpSpPr/>
          <p:nvPr>
            <p:custDataLst>
              <p:tags r:id="rId3"/>
            </p:custDataLst>
          </p:nvPr>
        </p:nvGrpSpPr>
        <p:grpSpPr>
          <a:xfrm>
            <a:off x="1005887" y="979170"/>
            <a:ext cx="9359218" cy="1346200"/>
            <a:chOff x="9599" y="1712"/>
            <a:chExt cx="7650" cy="2120"/>
          </a:xfrm>
        </p:grpSpPr>
        <p:sp>
          <p:nvSpPr>
            <p:cNvPr id="11" name="矩形 10"/>
            <p:cNvSpPr/>
            <p:nvPr>
              <p:custDataLst>
                <p:tags r:id="rId4"/>
              </p:custDataLst>
            </p:nvPr>
          </p:nvSpPr>
          <p:spPr>
            <a:xfrm>
              <a:off x="9600" y="1712"/>
              <a:ext cx="7649" cy="62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indent="0" algn="l">
                <a:buFont typeface="Wingdings" panose="05000000000000000000" charset="0"/>
                <a:buNone/>
              </a:pPr>
              <a:r>
                <a:rPr lang="zh-CN" altLang="en-US" sz="2000" b="1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标注数据太少，模型训练困难</a:t>
              </a:r>
              <a:endParaRPr lang="zh-CN" altLang="en-US" sz="2000" b="1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5" name="矩形 34"/>
            <p:cNvSpPr/>
            <p:nvPr>
              <p:custDataLst>
                <p:tags r:id="rId5"/>
              </p:custDataLst>
            </p:nvPr>
          </p:nvSpPr>
          <p:spPr>
            <a:xfrm>
              <a:off x="9599" y="2556"/>
              <a:ext cx="7449" cy="127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>
                <a:lnSpc>
                  <a:spcPct val="130000"/>
                </a:lnSpc>
              </a:pPr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       </a:t>
              </a:r>
              <a:r>
                <a:rPr lang="zh-CN" altLang="en-US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医学图像分割需要大量精细标注的数据，但医生手动勾画病灶边界非常耗时，成本也很高。很多任务没有足够的标注样本，导致模型训练不充分，性能达不到预期效果。</a:t>
              </a:r>
              <a:endPara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3" name="组合 12"/>
          <p:cNvGrpSpPr/>
          <p:nvPr>
            <p:custDataLst>
              <p:tags r:id="rId6"/>
            </p:custDataLst>
          </p:nvPr>
        </p:nvGrpSpPr>
        <p:grpSpPr>
          <a:xfrm>
            <a:off x="916191" y="3245281"/>
            <a:ext cx="9252508" cy="1327382"/>
            <a:chOff x="9568" y="1909"/>
            <a:chExt cx="7029" cy="802"/>
          </a:xfrm>
        </p:grpSpPr>
        <p:sp>
          <p:nvSpPr>
            <p:cNvPr id="14" name="矩形 13"/>
            <p:cNvSpPr/>
            <p:nvPr>
              <p:custDataLst>
                <p:tags r:id="rId7"/>
              </p:custDataLst>
            </p:nvPr>
          </p:nvSpPr>
          <p:spPr>
            <a:xfrm>
              <a:off x="9636" y="1909"/>
              <a:ext cx="6961" cy="241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l"/>
              <a:endParaRPr lang="zh-CN" altLang="en-US" sz="2000" b="1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8"/>
              </p:custDataLst>
            </p:nvPr>
          </p:nvSpPr>
          <p:spPr>
            <a:xfrm>
              <a:off x="9568" y="1989"/>
              <a:ext cx="6962" cy="722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 indent="0" fontAlgn="auto">
                <a:lnSpc>
                  <a:spcPct val="130000"/>
                </a:lnSpc>
              </a:pPr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        </a:t>
              </a:r>
              <a:r>
                <a:rPr lang="zh-CN" altLang="en-US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现有的大多数分割模型都是针对特定任务设计的，比如专门分割脑肿瘤或专门分割肺部的模型。一旦换了不同的成像设备、不同的病变类型，模型就很难适应，需要重新标注数据、重新训练。这种</a:t>
              </a:r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“</a:t>
              </a:r>
              <a:r>
                <a:rPr lang="zh-CN" altLang="en-US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专用</a:t>
              </a:r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”</a:t>
              </a:r>
              <a:r>
                <a:rPr lang="zh-CN" altLang="en-US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模式大大限制了模型的推广使用。</a:t>
              </a:r>
              <a:endPara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005840" y="275272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模型太专用，换个任务就要重新训练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>
            <p:custDataLst>
              <p:tags r:id="rId1"/>
            </p:custDataLst>
          </p:nvPr>
        </p:nvSpPr>
        <p:spPr>
          <a:xfrm>
            <a:off x="1006955" y="331594"/>
            <a:ext cx="18256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02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问题导入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6" name="图片 5"/>
          <p:cNvPicPr/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sp>
        <p:nvSpPr>
          <p:cNvPr id="11" name="矩形 10"/>
          <p:cNvSpPr/>
          <p:nvPr>
            <p:custDataLst>
              <p:tags r:id="rId3"/>
            </p:custDataLst>
          </p:nvPr>
        </p:nvSpPr>
        <p:spPr>
          <a:xfrm>
            <a:off x="1263650" y="1279525"/>
            <a:ext cx="9357995" cy="553085"/>
          </a:xfrm>
          <a:prstGeom prst="rect">
            <a:avLst/>
          </a:prstGeom>
        </p:spPr>
        <p:txBody>
          <a:bodyPr wrap="square">
            <a:spAutoFit/>
          </a:bodyPr>
          <a:p>
            <a:pPr indent="0" algn="ctr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针对以上问题，作者提出了一种名为</a:t>
            </a:r>
            <a:r>
              <a:rPr lang="en-US" altLang="zh-CN" sz="2000" b="1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MedCLIP-SAMv2</a:t>
            </a:r>
            <a:r>
              <a:rPr lang="zh-CN" altLang="en-US" sz="2000" b="1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的方法</a:t>
            </a:r>
            <a:endParaRPr lang="zh-CN" altLang="en-US" sz="2000" b="1" dirty="0">
              <a:solidFill>
                <a:schemeClr val="accent5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上箭头 1"/>
          <p:cNvSpPr/>
          <p:nvPr/>
        </p:nvSpPr>
        <p:spPr>
          <a:xfrm flipV="1">
            <a:off x="5684520" y="2177415"/>
            <a:ext cx="516890" cy="795020"/>
          </a:xfrm>
          <a:prstGeom prst="up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1149985" y="3317240"/>
            <a:ext cx="4683760" cy="2519045"/>
          </a:xfrm>
          <a:prstGeom prst="rect">
            <a:avLst/>
          </a:prstGeom>
          <a:noFill/>
          <a:ln w="19050">
            <a:solidFill>
              <a:srgbClr val="20386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5"/>
            </p:custDataLst>
          </p:nvPr>
        </p:nvSpPr>
        <p:spPr>
          <a:xfrm>
            <a:off x="6092825" y="3317240"/>
            <a:ext cx="4683760" cy="2519045"/>
          </a:xfrm>
          <a:prstGeom prst="rect">
            <a:avLst/>
          </a:prstGeom>
          <a:noFill/>
          <a:ln w="19050">
            <a:solidFill>
              <a:srgbClr val="20386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1416050" y="3375660"/>
            <a:ext cx="4196080" cy="2249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30000"/>
              </a:lnSpc>
            </a:pP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       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设计了一种基于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DHN-NCE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损失函数的BiomedCLIP微调策略，结合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M2IB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和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SAM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模型，实现了文本驱动的零样本医学图像分割。该方法无需人工标注像素级掩码，仅通过自然语言描述即可自动定位并分割病灶。</a:t>
            </a:r>
            <a:endParaRPr lang="zh-CN" altLang="en-US" dirty="0">
              <a:solidFill>
                <a:schemeClr val="accent5">
                  <a:lumMod val="50000"/>
                </a:schemeClr>
              </a:solidFill>
              <a:cs typeface="+mn-ea"/>
            </a:endParaRP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6324600" y="3317240"/>
            <a:ext cx="4219575" cy="2249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30000"/>
              </a:lnSpc>
            </a:pP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       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在弱监督分割阶段，采用</a:t>
            </a: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nnUNet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与检查点集成策略，利用零样本生成的伪标签进行训练，并通过多个模型检查点的预测平均提升分割鲁棒性。同时，该方法能够输出不确定性热力图，可以用来识别模型预测不可靠的区域。</a:t>
            </a:r>
            <a:endParaRPr lang="zh-CN" altLang="en-US" dirty="0">
              <a:solidFill>
                <a:schemeClr val="accent5">
                  <a:lumMod val="50000"/>
                </a:schemeClr>
              </a:solidFill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27400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03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研究思路与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方法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图片 9"/>
          <p:cNvPicPr/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695" y="996315"/>
            <a:ext cx="11394440" cy="49358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27400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03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sym typeface="+mn-ea"/>
              </a:rPr>
              <a:t>研究思路与方法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图片 9"/>
          <p:cNvPicPr/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07110" y="1172845"/>
            <a:ext cx="37509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标准的视觉</a:t>
            </a: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-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语言匹配</a:t>
            </a: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InfoNCE损失：</a:t>
            </a:r>
            <a:endParaRPr lang="zh-CN" altLang="en-US" b="1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755" y="1621155"/>
            <a:ext cx="3741420" cy="19812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3880" y="1659255"/>
            <a:ext cx="4953000" cy="19431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109460" y="3170555"/>
            <a:ext cx="2453005" cy="43180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934710" y="1172845"/>
            <a:ext cx="52146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本文提出的</a:t>
            </a: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DHN-NCE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损失，采用硬度权重策略：</a:t>
            </a:r>
            <a:endParaRPr lang="zh-CN" altLang="en-US" b="1" dirty="0">
              <a:solidFill>
                <a:schemeClr val="accent5">
                  <a:lumMod val="50000"/>
                </a:schemeClr>
              </a:solidFill>
              <a:cs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205220" y="3833495"/>
            <a:ext cx="37509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其中硬度权重公式为：</a:t>
            </a:r>
            <a:endParaRPr lang="zh-CN" altLang="en-US" b="1" dirty="0">
              <a:solidFill>
                <a:schemeClr val="accent5">
                  <a:lumMod val="50000"/>
                </a:schemeClr>
              </a:solidFill>
              <a:cs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2945" y="4432935"/>
            <a:ext cx="3779520" cy="14478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3055" y="3642995"/>
            <a:ext cx="2741295" cy="26314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27400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04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实验结果与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分析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图片 9"/>
          <p:cNvPicPr/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110" y="791845"/>
            <a:ext cx="9949815" cy="558736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9264650" y="2109470"/>
            <a:ext cx="640715" cy="556895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9965055" y="2109470"/>
            <a:ext cx="621665" cy="556895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9264650" y="2920365"/>
            <a:ext cx="640715" cy="556895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946005" y="2920365"/>
            <a:ext cx="640715" cy="556895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27400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04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实验结果与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分析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图片 9"/>
          <p:cNvPicPr/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06245"/>
            <a:ext cx="11012170" cy="32664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27400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04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实验结果与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分析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图片 9"/>
          <p:cNvPicPr/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13790" y="96456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· </a:t>
            </a:r>
            <a:r>
              <a:rPr lang="zh-CN" altLang="en-US" sz="2000" b="1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消融实验</a:t>
            </a:r>
            <a:endParaRPr lang="zh-CN" altLang="en-US" sz="2000" b="1" dirty="0">
              <a:solidFill>
                <a:schemeClr val="accent5">
                  <a:lumMod val="50000"/>
                </a:schemeClr>
              </a:solidFill>
              <a:cs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570" y="1631950"/>
            <a:ext cx="7079615" cy="3594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27400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04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实验结果与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分析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图片 9"/>
          <p:cNvPicPr/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45440" y="109982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· </a:t>
            </a:r>
            <a:r>
              <a:rPr lang="zh-CN" altLang="en-US" sz="2000" b="1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可视化实验</a:t>
            </a:r>
            <a:endParaRPr lang="zh-CN" altLang="en-US" sz="2000" b="1" dirty="0">
              <a:solidFill>
                <a:schemeClr val="accent5">
                  <a:lumMod val="50000"/>
                </a:schemeClr>
              </a:solidFill>
              <a:cs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740" y="908685"/>
            <a:ext cx="7950835" cy="5284470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>
            <a:off x="3528060" y="5643880"/>
            <a:ext cx="648843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4461510" y="3210560"/>
            <a:ext cx="1082675" cy="1110615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12160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05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总结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图片 9"/>
          <p:cNvPicPr/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07110" y="1296035"/>
            <a:ext cx="10203180" cy="41338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       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本文提出了一种名为 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MedCLIP-SAMv2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 的医学图像分割框架，旨在解决标注数据稀缺、模型泛化能力差及缺乏交互性等难题。</a:t>
            </a:r>
            <a:endParaRPr lang="zh-CN" altLang="en-US" dirty="0">
              <a:solidFill>
                <a:schemeClr val="accent5">
                  <a:lumMod val="50000"/>
                </a:schemeClr>
              </a:solidFill>
              <a:cs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 dirty="0">
              <a:solidFill>
                <a:schemeClr val="accent5">
                  <a:lumMod val="50000"/>
                </a:schemeClr>
              </a:solidFill>
              <a:cs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其主要创新点包括：</a:t>
            </a:r>
            <a:endParaRPr lang="zh-CN" altLang="en-US" dirty="0">
              <a:solidFill>
                <a:schemeClr val="accent5">
                  <a:lumMod val="50000"/>
                </a:schemeClr>
              </a:solidFill>
              <a:cs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（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1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）提出了 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DHN-NCE 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损失函数，通过解耦正负样本和对硬负样本加权，有效提升了 BiomedCLIP 的跨模态对齐能力；</a:t>
            </a:r>
            <a:endParaRPr lang="zh-CN" altLang="en-US" dirty="0">
              <a:solidFill>
                <a:schemeClr val="accent5">
                  <a:lumMod val="50000"/>
                </a:schemeClr>
              </a:solidFill>
              <a:cs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（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2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）将 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M2IB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 与 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SAM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 相结合，实现了文本驱动的零样本分割，无需人工标注即可自动生成伪标签；（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3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）在弱监督阶段采用 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nnUNet 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与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检查点集成策略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，不仅提高了分割精度，还能输出不确定性热图，增强了模型的可解释性。</a:t>
            </a:r>
            <a:endParaRPr lang="zh-CN" altLang="en-US" dirty="0">
              <a:solidFill>
                <a:schemeClr val="accent5">
                  <a:lumMod val="50000"/>
                </a:schemeClr>
              </a:solidFill>
              <a:cs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61119" y="2896011"/>
            <a:ext cx="10469880" cy="9220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汇报完毕，请老师同学批评指正！</a:t>
            </a:r>
            <a:endParaRPr lang="zh-CN" altLang="en-US" sz="5400" b="1" dirty="0">
              <a:solidFill>
                <a:schemeClr val="accent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0" name="Freeform 5"/>
          <p:cNvSpPr>
            <a:spLocks noEditPoints="1"/>
          </p:cNvSpPr>
          <p:nvPr/>
        </p:nvSpPr>
        <p:spPr bwMode="auto">
          <a:xfrm>
            <a:off x="5760018" y="520406"/>
            <a:ext cx="671963" cy="769033"/>
          </a:xfrm>
          <a:custGeom>
            <a:avLst/>
            <a:gdLst>
              <a:gd name="T0" fmla="*/ 1898 w 2872"/>
              <a:gd name="T1" fmla="*/ 1941 h 3284"/>
              <a:gd name="T2" fmla="*/ 2681 w 2872"/>
              <a:gd name="T3" fmla="*/ 328 h 3284"/>
              <a:gd name="T4" fmla="*/ 332 w 2872"/>
              <a:gd name="T5" fmla="*/ 0 h 3284"/>
              <a:gd name="T6" fmla="*/ 4 w 2872"/>
              <a:gd name="T7" fmla="*/ 3014 h 3284"/>
              <a:gd name="T8" fmla="*/ 378 w 2872"/>
              <a:gd name="T9" fmla="*/ 3234 h 3284"/>
              <a:gd name="T10" fmla="*/ 1491 w 2872"/>
              <a:gd name="T11" fmla="*/ 2781 h 3284"/>
              <a:gd name="T12" fmla="*/ 987 w 2872"/>
              <a:gd name="T13" fmla="*/ 1006 h 3284"/>
              <a:gd name="T14" fmla="*/ 1069 w 2872"/>
              <a:gd name="T15" fmla="*/ 924 h 3284"/>
              <a:gd name="T16" fmla="*/ 2073 w 2872"/>
              <a:gd name="T17" fmla="*/ 948 h 3284"/>
              <a:gd name="T18" fmla="*/ 2097 w 2872"/>
              <a:gd name="T19" fmla="*/ 1114 h 3284"/>
              <a:gd name="T20" fmla="*/ 2015 w 2872"/>
              <a:gd name="T21" fmla="*/ 1196 h 3284"/>
              <a:gd name="T22" fmla="*/ 1011 w 2872"/>
              <a:gd name="T23" fmla="*/ 1172 h 3284"/>
              <a:gd name="T24" fmla="*/ 987 w 2872"/>
              <a:gd name="T25" fmla="*/ 1006 h 3284"/>
              <a:gd name="T26" fmla="*/ 672 w 2872"/>
              <a:gd name="T27" fmla="*/ 1885 h 3284"/>
              <a:gd name="T28" fmla="*/ 590 w 2872"/>
              <a:gd name="T29" fmla="*/ 1803 h 3284"/>
              <a:gd name="T30" fmla="*/ 614 w 2872"/>
              <a:gd name="T31" fmla="*/ 1641 h 3284"/>
              <a:gd name="T32" fmla="*/ 778 w 2872"/>
              <a:gd name="T33" fmla="*/ 1617 h 3284"/>
              <a:gd name="T34" fmla="*/ 860 w 2872"/>
              <a:gd name="T35" fmla="*/ 1699 h 3284"/>
              <a:gd name="T36" fmla="*/ 836 w 2872"/>
              <a:gd name="T37" fmla="*/ 1861 h 3284"/>
              <a:gd name="T38" fmla="*/ 778 w 2872"/>
              <a:gd name="T39" fmla="*/ 1192 h 3284"/>
              <a:gd name="T40" fmla="*/ 614 w 2872"/>
              <a:gd name="T41" fmla="*/ 1168 h 3284"/>
              <a:gd name="T42" fmla="*/ 590 w 2872"/>
              <a:gd name="T43" fmla="*/ 1006 h 3284"/>
              <a:gd name="T44" fmla="*/ 672 w 2872"/>
              <a:gd name="T45" fmla="*/ 924 h 3284"/>
              <a:gd name="T46" fmla="*/ 836 w 2872"/>
              <a:gd name="T47" fmla="*/ 948 h 3284"/>
              <a:gd name="T48" fmla="*/ 860 w 2872"/>
              <a:gd name="T49" fmla="*/ 1113 h 3284"/>
              <a:gd name="T50" fmla="*/ 778 w 2872"/>
              <a:gd name="T51" fmla="*/ 1195 h 3284"/>
              <a:gd name="T52" fmla="*/ 1069 w 2872"/>
              <a:gd name="T53" fmla="*/ 1885 h 3284"/>
              <a:gd name="T54" fmla="*/ 987 w 2872"/>
              <a:gd name="T55" fmla="*/ 1803 h 3284"/>
              <a:gd name="T56" fmla="*/ 1011 w 2872"/>
              <a:gd name="T57" fmla="*/ 1641 h 3284"/>
              <a:gd name="T58" fmla="*/ 2015 w 2872"/>
              <a:gd name="T59" fmla="*/ 1617 h 3284"/>
              <a:gd name="T60" fmla="*/ 2097 w 2872"/>
              <a:gd name="T61" fmla="*/ 1699 h 3284"/>
              <a:gd name="T62" fmla="*/ 2073 w 2872"/>
              <a:gd name="T63" fmla="*/ 1861 h 3284"/>
              <a:gd name="T64" fmla="*/ 1069 w 2872"/>
              <a:gd name="T65" fmla="*/ 1885 h 3284"/>
              <a:gd name="T66" fmla="*/ 1579 w 2872"/>
              <a:gd name="T67" fmla="*/ 2633 h 3284"/>
              <a:gd name="T68" fmla="*/ 2872 w 2872"/>
              <a:gd name="T69" fmla="*/ 2627 h 3284"/>
              <a:gd name="T70" fmla="*/ 2216 w 2872"/>
              <a:gd name="T71" fmla="*/ 1980 h 3284"/>
              <a:gd name="T72" fmla="*/ 1770 w 2872"/>
              <a:gd name="T73" fmla="*/ 2622 h 3284"/>
              <a:gd name="T74" fmla="*/ 2131 w 2872"/>
              <a:gd name="T75" fmla="*/ 2655 h 3284"/>
              <a:gd name="T76" fmla="*/ 2671 w 2872"/>
              <a:gd name="T77" fmla="*/ 2460 h 3284"/>
              <a:gd name="T78" fmla="*/ 2128 w 2872"/>
              <a:gd name="T79" fmla="*/ 2950 h 32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872" h="3284">
                <a:moveTo>
                  <a:pt x="1468" y="2605"/>
                </a:moveTo>
                <a:cubicBezTo>
                  <a:pt x="1471" y="2320"/>
                  <a:pt x="1638" y="2061"/>
                  <a:pt x="1898" y="1941"/>
                </a:cubicBezTo>
                <a:cubicBezTo>
                  <a:pt x="2158" y="1822"/>
                  <a:pt x="2463" y="1864"/>
                  <a:pt x="2681" y="2048"/>
                </a:cubicBezTo>
                <a:cubicBezTo>
                  <a:pt x="2681" y="328"/>
                  <a:pt x="2681" y="328"/>
                  <a:pt x="2681" y="328"/>
                </a:cubicBezTo>
                <a:cubicBezTo>
                  <a:pt x="2681" y="147"/>
                  <a:pt x="2535" y="0"/>
                  <a:pt x="2354" y="0"/>
                </a:cubicBezTo>
                <a:cubicBezTo>
                  <a:pt x="332" y="0"/>
                  <a:pt x="332" y="0"/>
                  <a:pt x="332" y="0"/>
                </a:cubicBezTo>
                <a:cubicBezTo>
                  <a:pt x="151" y="0"/>
                  <a:pt x="4" y="147"/>
                  <a:pt x="4" y="328"/>
                </a:cubicBezTo>
                <a:cubicBezTo>
                  <a:pt x="4" y="3014"/>
                  <a:pt x="4" y="3014"/>
                  <a:pt x="4" y="3014"/>
                </a:cubicBezTo>
                <a:cubicBezTo>
                  <a:pt x="0" y="3105"/>
                  <a:pt x="44" y="3191"/>
                  <a:pt x="121" y="3240"/>
                </a:cubicBezTo>
                <a:cubicBezTo>
                  <a:pt x="201" y="3284"/>
                  <a:pt x="299" y="3282"/>
                  <a:pt x="378" y="3234"/>
                </a:cubicBezTo>
                <a:cubicBezTo>
                  <a:pt x="1350" y="2704"/>
                  <a:pt x="1350" y="2704"/>
                  <a:pt x="1350" y="2704"/>
                </a:cubicBezTo>
                <a:cubicBezTo>
                  <a:pt x="1491" y="2781"/>
                  <a:pt x="1491" y="2781"/>
                  <a:pt x="1491" y="2781"/>
                </a:cubicBezTo>
                <a:cubicBezTo>
                  <a:pt x="1476" y="2723"/>
                  <a:pt x="1469" y="2665"/>
                  <a:pt x="1468" y="2605"/>
                </a:cubicBezTo>
                <a:close/>
                <a:moveTo>
                  <a:pt x="987" y="1006"/>
                </a:moveTo>
                <a:cubicBezTo>
                  <a:pt x="987" y="985"/>
                  <a:pt x="996" y="964"/>
                  <a:pt x="1011" y="948"/>
                </a:cubicBezTo>
                <a:cubicBezTo>
                  <a:pt x="1027" y="933"/>
                  <a:pt x="1048" y="924"/>
                  <a:pt x="1069" y="924"/>
                </a:cubicBezTo>
                <a:cubicBezTo>
                  <a:pt x="2015" y="924"/>
                  <a:pt x="2015" y="924"/>
                  <a:pt x="2015" y="924"/>
                </a:cubicBezTo>
                <a:cubicBezTo>
                  <a:pt x="2036" y="924"/>
                  <a:pt x="2057" y="933"/>
                  <a:pt x="2073" y="948"/>
                </a:cubicBezTo>
                <a:cubicBezTo>
                  <a:pt x="2088" y="964"/>
                  <a:pt x="2097" y="985"/>
                  <a:pt x="2097" y="1006"/>
                </a:cubicBezTo>
                <a:cubicBezTo>
                  <a:pt x="2097" y="1114"/>
                  <a:pt x="2097" y="1114"/>
                  <a:pt x="2097" y="1114"/>
                </a:cubicBezTo>
                <a:cubicBezTo>
                  <a:pt x="2097" y="1135"/>
                  <a:pt x="2088" y="1156"/>
                  <a:pt x="2073" y="1172"/>
                </a:cubicBezTo>
                <a:cubicBezTo>
                  <a:pt x="2057" y="1187"/>
                  <a:pt x="2036" y="1196"/>
                  <a:pt x="2015" y="1196"/>
                </a:cubicBezTo>
                <a:cubicBezTo>
                  <a:pt x="1069" y="1196"/>
                  <a:pt x="1069" y="1196"/>
                  <a:pt x="1069" y="1196"/>
                </a:cubicBezTo>
                <a:cubicBezTo>
                  <a:pt x="1048" y="1196"/>
                  <a:pt x="1027" y="1187"/>
                  <a:pt x="1011" y="1172"/>
                </a:cubicBezTo>
                <a:cubicBezTo>
                  <a:pt x="996" y="1156"/>
                  <a:pt x="987" y="1135"/>
                  <a:pt x="987" y="1114"/>
                </a:cubicBezTo>
                <a:lnTo>
                  <a:pt x="987" y="1006"/>
                </a:lnTo>
                <a:close/>
                <a:moveTo>
                  <a:pt x="778" y="1885"/>
                </a:moveTo>
                <a:cubicBezTo>
                  <a:pt x="672" y="1885"/>
                  <a:pt x="672" y="1885"/>
                  <a:pt x="672" y="1885"/>
                </a:cubicBezTo>
                <a:cubicBezTo>
                  <a:pt x="650" y="1885"/>
                  <a:pt x="629" y="1876"/>
                  <a:pt x="614" y="1861"/>
                </a:cubicBezTo>
                <a:cubicBezTo>
                  <a:pt x="599" y="1845"/>
                  <a:pt x="590" y="1824"/>
                  <a:pt x="590" y="1803"/>
                </a:cubicBezTo>
                <a:cubicBezTo>
                  <a:pt x="590" y="1699"/>
                  <a:pt x="590" y="1699"/>
                  <a:pt x="590" y="1699"/>
                </a:cubicBezTo>
                <a:cubicBezTo>
                  <a:pt x="590" y="1678"/>
                  <a:pt x="599" y="1657"/>
                  <a:pt x="614" y="1641"/>
                </a:cubicBezTo>
                <a:cubicBezTo>
                  <a:pt x="629" y="1626"/>
                  <a:pt x="650" y="1617"/>
                  <a:pt x="672" y="1617"/>
                </a:cubicBezTo>
                <a:cubicBezTo>
                  <a:pt x="778" y="1617"/>
                  <a:pt x="778" y="1617"/>
                  <a:pt x="778" y="1617"/>
                </a:cubicBezTo>
                <a:cubicBezTo>
                  <a:pt x="799" y="1617"/>
                  <a:pt x="820" y="1626"/>
                  <a:pt x="836" y="1641"/>
                </a:cubicBezTo>
                <a:cubicBezTo>
                  <a:pt x="851" y="1657"/>
                  <a:pt x="860" y="1678"/>
                  <a:pt x="860" y="1699"/>
                </a:cubicBezTo>
                <a:cubicBezTo>
                  <a:pt x="860" y="1803"/>
                  <a:pt x="860" y="1803"/>
                  <a:pt x="860" y="1803"/>
                </a:cubicBezTo>
                <a:cubicBezTo>
                  <a:pt x="860" y="1824"/>
                  <a:pt x="851" y="1845"/>
                  <a:pt x="836" y="1861"/>
                </a:cubicBezTo>
                <a:cubicBezTo>
                  <a:pt x="820" y="1876"/>
                  <a:pt x="799" y="1885"/>
                  <a:pt x="778" y="1885"/>
                </a:cubicBezTo>
                <a:close/>
                <a:moveTo>
                  <a:pt x="778" y="1192"/>
                </a:moveTo>
                <a:cubicBezTo>
                  <a:pt x="672" y="1192"/>
                  <a:pt x="672" y="1192"/>
                  <a:pt x="672" y="1192"/>
                </a:cubicBezTo>
                <a:cubicBezTo>
                  <a:pt x="650" y="1192"/>
                  <a:pt x="629" y="1183"/>
                  <a:pt x="614" y="1168"/>
                </a:cubicBezTo>
                <a:cubicBezTo>
                  <a:pt x="599" y="1152"/>
                  <a:pt x="590" y="1131"/>
                  <a:pt x="590" y="1110"/>
                </a:cubicBezTo>
                <a:cubicBezTo>
                  <a:pt x="590" y="1006"/>
                  <a:pt x="590" y="1006"/>
                  <a:pt x="590" y="1006"/>
                </a:cubicBezTo>
                <a:cubicBezTo>
                  <a:pt x="590" y="984"/>
                  <a:pt x="599" y="963"/>
                  <a:pt x="614" y="948"/>
                </a:cubicBezTo>
                <a:cubicBezTo>
                  <a:pt x="629" y="932"/>
                  <a:pt x="650" y="924"/>
                  <a:pt x="672" y="924"/>
                </a:cubicBezTo>
                <a:cubicBezTo>
                  <a:pt x="778" y="924"/>
                  <a:pt x="778" y="924"/>
                  <a:pt x="778" y="924"/>
                </a:cubicBezTo>
                <a:cubicBezTo>
                  <a:pt x="800" y="924"/>
                  <a:pt x="821" y="932"/>
                  <a:pt x="836" y="948"/>
                </a:cubicBezTo>
                <a:cubicBezTo>
                  <a:pt x="852" y="963"/>
                  <a:pt x="860" y="984"/>
                  <a:pt x="860" y="1006"/>
                </a:cubicBezTo>
                <a:cubicBezTo>
                  <a:pt x="860" y="1113"/>
                  <a:pt x="860" y="1113"/>
                  <a:pt x="860" y="1113"/>
                </a:cubicBezTo>
                <a:cubicBezTo>
                  <a:pt x="860" y="1135"/>
                  <a:pt x="852" y="1155"/>
                  <a:pt x="836" y="1171"/>
                </a:cubicBezTo>
                <a:cubicBezTo>
                  <a:pt x="821" y="1186"/>
                  <a:pt x="800" y="1195"/>
                  <a:pt x="778" y="1195"/>
                </a:cubicBezTo>
                <a:lnTo>
                  <a:pt x="778" y="1192"/>
                </a:lnTo>
                <a:close/>
                <a:moveTo>
                  <a:pt x="1069" y="1885"/>
                </a:moveTo>
                <a:cubicBezTo>
                  <a:pt x="1048" y="1885"/>
                  <a:pt x="1027" y="1876"/>
                  <a:pt x="1011" y="1861"/>
                </a:cubicBezTo>
                <a:cubicBezTo>
                  <a:pt x="996" y="1845"/>
                  <a:pt x="987" y="1824"/>
                  <a:pt x="987" y="1803"/>
                </a:cubicBezTo>
                <a:cubicBezTo>
                  <a:pt x="987" y="1699"/>
                  <a:pt x="987" y="1699"/>
                  <a:pt x="987" y="1699"/>
                </a:cubicBezTo>
                <a:cubicBezTo>
                  <a:pt x="987" y="1678"/>
                  <a:pt x="996" y="1657"/>
                  <a:pt x="1011" y="1641"/>
                </a:cubicBezTo>
                <a:cubicBezTo>
                  <a:pt x="1027" y="1626"/>
                  <a:pt x="1048" y="1617"/>
                  <a:pt x="1069" y="1617"/>
                </a:cubicBezTo>
                <a:cubicBezTo>
                  <a:pt x="2015" y="1617"/>
                  <a:pt x="2015" y="1617"/>
                  <a:pt x="2015" y="1617"/>
                </a:cubicBezTo>
                <a:cubicBezTo>
                  <a:pt x="2036" y="1617"/>
                  <a:pt x="2057" y="1626"/>
                  <a:pt x="2073" y="1641"/>
                </a:cubicBezTo>
                <a:cubicBezTo>
                  <a:pt x="2088" y="1657"/>
                  <a:pt x="2097" y="1678"/>
                  <a:pt x="2097" y="1699"/>
                </a:cubicBezTo>
                <a:cubicBezTo>
                  <a:pt x="2097" y="1803"/>
                  <a:pt x="2097" y="1803"/>
                  <a:pt x="2097" y="1803"/>
                </a:cubicBezTo>
                <a:cubicBezTo>
                  <a:pt x="2097" y="1824"/>
                  <a:pt x="2088" y="1845"/>
                  <a:pt x="2073" y="1861"/>
                </a:cubicBezTo>
                <a:cubicBezTo>
                  <a:pt x="2057" y="1876"/>
                  <a:pt x="2036" y="1885"/>
                  <a:pt x="2015" y="1885"/>
                </a:cubicBezTo>
                <a:lnTo>
                  <a:pt x="1069" y="1885"/>
                </a:lnTo>
                <a:close/>
                <a:moveTo>
                  <a:pt x="2216" y="1980"/>
                </a:moveTo>
                <a:cubicBezTo>
                  <a:pt x="1860" y="1985"/>
                  <a:pt x="1576" y="2277"/>
                  <a:pt x="1579" y="2633"/>
                </a:cubicBezTo>
                <a:cubicBezTo>
                  <a:pt x="1582" y="2988"/>
                  <a:pt x="1872" y="3275"/>
                  <a:pt x="2228" y="3273"/>
                </a:cubicBezTo>
                <a:cubicBezTo>
                  <a:pt x="2584" y="3271"/>
                  <a:pt x="2872" y="2983"/>
                  <a:pt x="2872" y="2627"/>
                </a:cubicBezTo>
                <a:cubicBezTo>
                  <a:pt x="2872" y="2454"/>
                  <a:pt x="2802" y="2288"/>
                  <a:pt x="2679" y="2167"/>
                </a:cubicBezTo>
                <a:cubicBezTo>
                  <a:pt x="2556" y="2045"/>
                  <a:pt x="2389" y="1978"/>
                  <a:pt x="2216" y="1980"/>
                </a:cubicBezTo>
                <a:close/>
                <a:moveTo>
                  <a:pt x="2128" y="2950"/>
                </a:moveTo>
                <a:cubicBezTo>
                  <a:pt x="1770" y="2622"/>
                  <a:pt x="1770" y="2622"/>
                  <a:pt x="1770" y="2622"/>
                </a:cubicBezTo>
                <a:cubicBezTo>
                  <a:pt x="1934" y="2476"/>
                  <a:pt x="1934" y="2476"/>
                  <a:pt x="1934" y="2476"/>
                </a:cubicBezTo>
                <a:cubicBezTo>
                  <a:pt x="2131" y="2655"/>
                  <a:pt x="2131" y="2655"/>
                  <a:pt x="2131" y="2655"/>
                </a:cubicBezTo>
                <a:cubicBezTo>
                  <a:pt x="2507" y="2314"/>
                  <a:pt x="2507" y="2314"/>
                  <a:pt x="2507" y="2314"/>
                </a:cubicBezTo>
                <a:cubicBezTo>
                  <a:pt x="2671" y="2460"/>
                  <a:pt x="2671" y="2460"/>
                  <a:pt x="2671" y="2460"/>
                </a:cubicBezTo>
                <a:lnTo>
                  <a:pt x="2128" y="2950"/>
                </a:lnTo>
                <a:close/>
                <a:moveTo>
                  <a:pt x="2128" y="2950"/>
                </a:moveTo>
                <a:cubicBezTo>
                  <a:pt x="2128" y="2950"/>
                  <a:pt x="2128" y="2950"/>
                  <a:pt x="2128" y="295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373.55,&quot;left&quot;:79.3,&quot;top&quot;:90.75,&quot;width&quot;:736.85}"/>
</p:tagLst>
</file>

<file path=ppt/tags/tag2.xml><?xml version="1.0" encoding="utf-8"?>
<p:tagLst xmlns:p="http://schemas.openxmlformats.org/presentationml/2006/main">
  <p:tag name="KSO_WM_DIAGRAM_VIRTUALLY_FRAME" val="{&quot;height&quot;:388.74818897637795,&quot;left&quot;:72.08771653543307,&quot;top&quot;:26.10976377952756,&quot;width&quot;:815.8245669291339}"/>
</p:tagLst>
</file>

<file path=ppt/tags/tag3.xml><?xml version="1.0" encoding="utf-8"?>
<p:tagLst xmlns:p="http://schemas.openxmlformats.org/presentationml/2006/main">
  <p:tag name="KSO_WM_DIAGRAM_VIRTUALLY_FRAME" val="{&quot;height&quot;:373.55,&quot;left&quot;:79.3,&quot;top&quot;:90.75,&quot;width&quot;:736.85}"/>
</p:tagLst>
</file>

<file path=ppt/tags/tag4.xml><?xml version="1.0" encoding="utf-8"?>
<p:tagLst xmlns:p="http://schemas.openxmlformats.org/presentationml/2006/main">
  <p:tag name="KSO_WM_DIAGRAM_VIRTUALLY_FRAME" val="{&quot;height&quot;:373.55,&quot;left&quot;:79.3,&quot;top&quot;:90.75,&quot;width&quot;:736.85}"/>
</p:tagLst>
</file>

<file path=ppt/tags/tag5.xml><?xml version="1.0" encoding="utf-8"?>
<p:tagLst xmlns:p="http://schemas.openxmlformats.org/presentationml/2006/main">
  <p:tag name="KSO_WM_DIAGRAM_VIRTUALLY_FRAME" val="{&quot;height&quot;:373.55,&quot;left&quot;:79.3,&quot;top&quot;:90.75,&quot;width&quot;:736.85}"/>
</p:tagLst>
</file>

<file path=ppt/tags/tag6.xml><?xml version="1.0" encoding="utf-8"?>
<p:tagLst xmlns:p="http://schemas.openxmlformats.org/presentationml/2006/main">
  <p:tag name="KSO_WM_DIAGRAM_VIRTUALLY_FRAME" val="{&quot;height&quot;:373.55,&quot;left&quot;:79.3,&quot;top&quot;:90.75,&quot;width&quot;:736.85}"/>
</p:tagLst>
</file>

<file path=ppt/tags/tag7.xml><?xml version="1.0" encoding="utf-8"?>
<p:tagLst xmlns:p="http://schemas.openxmlformats.org/presentationml/2006/main">
  <p:tag name="KSO_WM_DIAGRAM_VIRTUALLY_FRAME" val="{&quot;height&quot;:373.55,&quot;left&quot;:79.3,&quot;top&quot;:90.75,&quot;width&quot;:736.85}"/>
</p:tagLst>
</file>

<file path=ppt/tags/tag8.xml><?xml version="1.0" encoding="utf-8"?>
<p:tagLst xmlns:p="http://schemas.openxmlformats.org/presentationml/2006/main">
  <p:tag name="KSO_WM_DIAGRAM_VIRTUALLY_FRAME" val="{&quot;height&quot;:373.55,&quot;left&quot;:79.3,&quot;top&quot;:90.75,&quot;width&quot;:736.85}"/>
</p:tagLst>
</file>

<file path=ppt/tags/tag9.xml><?xml version="1.0" encoding="utf-8"?>
<p:tagLst xmlns:p="http://schemas.openxmlformats.org/presentationml/2006/main">
  <p:tag name="KSO_WM_DIAGRAM_VIRTUALLY_FRAME" val="{&quot;height&quot;:388.74818897637795,&quot;left&quot;:72.08771653543307,&quot;top&quot;:26.10976377952756,&quot;width&quot;:815.8245669291339}"/>
</p:tagLst>
</file>

<file path=ppt/tags/tag10.xml><?xml version="1.0" encoding="utf-8"?>
<p:tagLst xmlns:p="http://schemas.openxmlformats.org/presentationml/2006/main">
  <p:tag name="KSO_WM_DIAGRAM_VIRTUALLY_FRAME" val="{&quot;height&quot;:373.55,&quot;left&quot;:79.3,&quot;top&quot;:90.75,&quot;width&quot;:736.85}"/>
</p:tagLst>
</file>

<file path=ppt/tags/tag11.xml><?xml version="1.0" encoding="utf-8"?>
<p:tagLst xmlns:p="http://schemas.openxmlformats.org/presentationml/2006/main">
  <p:tag name="KSO_WM_DIAGRAM_VIRTUALLY_FRAME" val="{&quot;height&quot;:425.2,&quot;left&quot;:79.3,&quot;top&quot;:90.75,&quot;width&quot;:769.25}"/>
</p:tagLst>
</file>

<file path=ppt/tags/tag12.xml><?xml version="1.0" encoding="utf-8"?>
<p:tagLst xmlns:p="http://schemas.openxmlformats.org/presentationml/2006/main">
  <p:tag name="KSO_WM_DIAGRAM_VIRTUALLY_FRAME" val="{&quot;height&quot;:425.2,&quot;left&quot;:79.3,&quot;top&quot;:90.75,&quot;width&quot;:769.25}"/>
</p:tagLst>
</file>

<file path=ppt/tags/tag13.xml><?xml version="1.0" encoding="utf-8"?>
<p:tagLst xmlns:p="http://schemas.openxmlformats.org/presentationml/2006/main">
  <p:tag name="KSO_WM_DIAGRAM_VIRTUALLY_FRAME" val="{&quot;height&quot;:425.2,&quot;left&quot;:79.3,&quot;top&quot;:90.75,&quot;width&quot;:769.25}"/>
</p:tagLst>
</file>

<file path=ppt/tags/tag14.xml><?xml version="1.0" encoding="utf-8"?>
<p:tagLst xmlns:p="http://schemas.openxmlformats.org/presentationml/2006/main">
  <p:tag name="KSO_WM_DIAGRAM_VIRTUALLY_FRAME" val="{&quot;height&quot;:425.2,&quot;left&quot;:79.3,&quot;top&quot;:90.75,&quot;width&quot;:769.25}"/>
</p:tagLst>
</file>

<file path=ppt/tags/tag15.xml><?xml version="1.0" encoding="utf-8"?>
<p:tagLst xmlns:p="http://schemas.openxmlformats.org/presentationml/2006/main">
  <p:tag name="resource_record_key" val="{&quot;29&quot;:[50000031],&quot;70&quot;:[3321880,3315855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q1ayxfd3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1042</Words>
  <Application>WPS 演示</Application>
  <PresentationFormat>宽屏</PresentationFormat>
  <Paragraphs>64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office2016mac10413</dc:creator>
  <cp:lastModifiedBy>Heart</cp:lastModifiedBy>
  <cp:revision>276</cp:revision>
  <dcterms:created xsi:type="dcterms:W3CDTF">2021-06-29T08:54:00Z</dcterms:created>
  <dcterms:modified xsi:type="dcterms:W3CDTF">2026-04-26T03:26:13Z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KSOTemplateUUID">
    <vt:lpwstr>v1.0_mb_3/AUWq/N1aYnYRXji2t99Q==</vt:lpwstr>
  </property>
  <property fmtid="{D5CDD505-2E9C-101B-9397-08002B2CF9AE}" pid="4" name="ICV">
    <vt:lpwstr>F3CCCED4F8D6492AB87A4B373DD5B26C_11</vt:lpwstr>
  </property>
</Properties>
</file>