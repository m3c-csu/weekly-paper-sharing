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7" r:id="rId8"/>
    <p:sldId id="3489" r:id="rId9"/>
    <p:sldId id="3459" r:id="rId10"/>
    <p:sldId id="3490" r:id="rId11"/>
    <p:sldId id="3460" r:id="rId12"/>
    <p:sldId id="3461" r:id="rId13"/>
    <p:sldId id="3491" r:id="rId14"/>
    <p:sldId id="3492" r:id="rId15"/>
    <p:sldId id="3499" r:id="rId16"/>
    <p:sldId id="3462" r:id="rId17"/>
    <p:sldId id="3493" r:id="rId18"/>
    <p:sldId id="3494" r:id="rId19"/>
    <p:sldId id="3495" r:id="rId20"/>
    <p:sldId id="3498" r:id="rId21"/>
    <p:sldId id="3231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6299"/>
    <a:srgbClr val="1B6299"/>
    <a:srgbClr val="1A78C3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2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6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大家好，今天我汇报的论文是</a:t>
            </a:r>
            <a:r>
              <a:rPr lang="en-US" altLang="zh-CN" dirty="0"/>
              <a:t> AAAI 2026 </a:t>
            </a:r>
            <a:r>
              <a:rPr lang="zh-CN" altLang="en-US" dirty="0"/>
              <a:t>的一篇</a:t>
            </a:r>
            <a:r>
              <a:rPr lang="en-US" altLang="zh-CN" dirty="0"/>
              <a:t> CTTA </a:t>
            </a:r>
            <a:r>
              <a:rPr lang="zh-CN" altLang="en-US" dirty="0"/>
              <a:t>工作，题目是</a:t>
            </a:r>
            <a:r>
              <a:rPr lang="en-US" altLang="zh-CN" dirty="0"/>
              <a:t> </a:t>
            </a:r>
            <a:r>
              <a:rPr lang="zh-CN" dirty="0"/>
              <a:t>扩散校准的持续测试时自适应</a:t>
            </a:r>
            <a:endParaRPr lang="zh-CN" altLang="en-US" dirty="0"/>
          </a:p>
          <a:p>
            <a:r>
              <a:rPr lang="zh-CN" altLang="en-US" dirty="0"/>
              <a:t>它最大的特点是：第一次把</a:t>
            </a:r>
            <a:r>
              <a:rPr lang="en-US" altLang="zh-CN" dirty="0"/>
              <a:t> </a:t>
            </a:r>
            <a:r>
              <a:rPr lang="zh-CN" altLang="en-US" dirty="0"/>
              <a:t>扩散模型</a:t>
            </a:r>
            <a:r>
              <a:rPr lang="en-US" altLang="zh-CN" dirty="0"/>
              <a:t> </a:t>
            </a:r>
            <a:r>
              <a:rPr lang="zh-CN" altLang="en-US" dirty="0"/>
              <a:t>引入到</a:t>
            </a:r>
            <a:r>
              <a:rPr lang="en-US" altLang="zh-CN" dirty="0"/>
              <a:t> CTTA </a:t>
            </a:r>
            <a:r>
              <a:rPr lang="zh-CN" altLang="en-US" dirty="0"/>
              <a:t>中，用于校准伪标签。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韦坤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西安电子科技大学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博三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增量学习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计算机视觉</a:t>
            </a: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首先简单介绍一下</a:t>
            </a:r>
            <a:r>
              <a:rPr lang="en-US" altLang="zh-CN" dirty="0"/>
              <a:t> CTTA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CTTA </a:t>
            </a:r>
            <a:r>
              <a:rPr lang="zh-CN" altLang="en-US" dirty="0"/>
              <a:t>的目标是：</a:t>
            </a:r>
            <a:endParaRPr lang="zh-CN" altLang="en-US" dirty="0"/>
          </a:p>
          <a:p>
            <a:r>
              <a:rPr lang="zh-CN" altLang="en-US" dirty="0"/>
              <a:t>模型在测试阶段持续接收新的目标域数据，并在线持续适应。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具体来说：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测试图像先经过当前模型预测类别，然后</a:t>
            </a:r>
            <a:r>
              <a:rPr lang="en-US" altLang="zh-CN" dirty="0"/>
              <a:t> diffusion </a:t>
            </a:r>
            <a:r>
              <a:rPr lang="zh-CN" altLang="en-US" dirty="0"/>
              <a:t>根据预测类别生成同类别图像，</a:t>
            </a:r>
            <a:endParaRPr lang="zh-CN" altLang="en-US" dirty="0"/>
          </a:p>
          <a:p>
            <a:r>
              <a:rPr lang="zh-CN" altLang="en-US" dirty="0"/>
              <a:t>最后比较：原图预测和生成图预测是否一致。</a:t>
            </a:r>
            <a:endParaRPr lang="zh-CN" altLang="en-US" dirty="0"/>
          </a:p>
          <a:p>
            <a:r>
              <a:rPr lang="zh-CN" altLang="en-US" dirty="0"/>
              <a:t>如果一致：说明当前伪标签可靠。</a:t>
            </a:r>
            <a:endParaRPr lang="zh-CN" altLang="en-US" dirty="0"/>
          </a:p>
          <a:p>
            <a:r>
              <a:rPr lang="zh-CN" altLang="en-US" dirty="0"/>
              <a:t>否则：认为当前预测可能错误。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r>
              <a:rPr lang="zh-CN" altLang="en-US" dirty="0">
                <a:sym typeface="+mn-ea"/>
              </a:rPr>
              <a:t>（作者认为：这种</a:t>
            </a:r>
            <a:r>
              <a:rPr lang="en-US" altLang="zh-CN" dirty="0">
                <a:sym typeface="+mn-ea"/>
              </a:rPr>
              <a:t> diffusion </a:t>
            </a:r>
            <a:r>
              <a:rPr lang="zh-CN" altLang="en-US" dirty="0">
                <a:sym typeface="+mn-ea"/>
              </a:rPr>
              <a:t>生成图更接近类别语义中心，因此可以作为额外参考监督。）</a:t>
            </a:r>
            <a:endParaRPr lang="zh-CN" altLang="en-US" dirty="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这一页是整篇论文的整体框架图。这张图主要展示了两个核心部分，分别是扩散校准模块和基于扩散负样本的对比学习模块。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首先看左边主流程。输入测试图像后，当前模型会先预测类别，例如预测为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然后根据预测类别构造文本提示词，比如</a:t>
            </a:r>
            <a:r>
              <a:rPr lang="en-US" altLang="zh-CN" dirty="0">
                <a:sym typeface="+mn-ea"/>
              </a:rPr>
              <a:t>“A photo of a cat”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，并输入扩散模型。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扩散模型会生成一个同类别的校准图像，也就是图中的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aug(x)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接着，作者会比较原图预测与生成图预测是否一致。如果两者预测接近，则认为当前样本可靠；否则认为当前预测可能存在错误。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因此这一部分本质上是在利用扩散模型对伪标签进行交叉验证，也就是伪标签校准。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接下来是右下角的对比学习模块。作者进一步引入了基于扩散负样本的对比学习。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这里的正样本是扩散模型生成的图像，而负样本则是作者专门设计的一种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视觉相似但语义不同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的困难负样本。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最终在对比学习中，模型会被优化为拉近原图与正样本之间的距离，同时拉远原图与负样本之间的距离，从而增强特征空间的判别能力。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关于负样本的具体构造过程，我后面会再详细介绍。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另外，论文中还提出了多样性权重模块，用于动态调整不同类别样本的监督权重，防止持续测试时自适应过程中类别分布逐渐失衡，导致模型发生类别塌缩。不过这个模块属于损失函数中的动态加权策略，因此并没有在这张整体框架图中单独画出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接下来作者利用生成图像进行</a:t>
            </a:r>
            <a:r>
              <a:rPr lang="en-US" altLang="zh-CN" dirty="0">
                <a:sym typeface="+mn-ea"/>
              </a:rPr>
              <a:t> entropy calibration</a:t>
            </a:r>
            <a:r>
              <a:rPr lang="zh-CN" altLang="en-US" dirty="0">
                <a:sym typeface="+mn-ea"/>
              </a:rPr>
              <a:t>。思想就是</a:t>
            </a:r>
            <a:r>
              <a:rPr lang="en-US" altLang="zh-CN" dirty="0">
                <a:sym typeface="+mn-ea"/>
              </a:rPr>
              <a:t>,,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下面这个公式表示，一个测试样本需要同时满足两个条件才会被认为是可靠的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第一，原图预测类别与生成图预测类别必须一致；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第二，两者最大预测概率之间的差距不能超过阈值</a:t>
            </a:r>
            <a:r>
              <a:rPr lang="en-US" altLang="zh-CN" dirty="0">
                <a:sym typeface="+mn-ea"/>
              </a:rPr>
              <a:t> δ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只有满足这两个条件，才会认为该测试样本是可靠的。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（作者认为：这种</a:t>
            </a:r>
            <a:r>
              <a:rPr lang="en-US" altLang="zh-CN" dirty="0">
                <a:sym typeface="+mn-ea"/>
              </a:rPr>
              <a:t> diffusion </a:t>
            </a:r>
            <a:r>
              <a:rPr lang="zh-CN" altLang="en-US" dirty="0">
                <a:sym typeface="+mn-ea"/>
              </a:rPr>
              <a:t>生成图更接近类别语义中心，因此可以作为额外参考监督。）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这一页介绍的是论文提出的多样性权重模块。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作者发现，在持续测试时自适应过程中，模型容易逐渐偏向少数高频类别，最终导致类别分布失衡，也就是模型越来越倾向于预测同一种类别。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因此，作者提出了多样性动态加权策略。核心思想是：对于高频类别降低权重，对于低频类别提高权重，从而维持类别分布平衡。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具体来说，作者首先维护一个历史类别分布，用于统计模型最近一段时间主要在预测哪些类别。然后通过余弦相似度，衡量当前样本与历史主流类别分布之间的差异。如果当前样本属于比较少见的类别，则会获得更高权重；如果当前类别已经大量出现，则会降低其权重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此外，作者还结合了样本的预测置信度。如果当前样本置信度较低，即使它属于少见类别，也不会赋予过高权重。最终，作者将类别多样性与预测置信度结合，形成动态监督权重，从而避免持续适应过程中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中由于类别分布失衡导致的模型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collapse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这一页介绍的是论文的第三个核心模块，也就是基于扩散负样本的对比学习。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作者认为，仅依靠伪标签监督与熵最小化，还不足以保证特征空间具有良好的判别能力，因此进一步引入了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contrastive learning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普通对比学习中的负样本通常比较简单，例如不同类别的随机图像。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但作者希望构造一种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视觉相似但语义不同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的困难负样本。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首先是正样本的构造。输入测试图像后，模型会先预测当前类别，例如预测为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。然后根据预测类别构造文本提示词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“A photo of a cat”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，并输入扩散模型，生成一个同类别的标准图像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aug(x)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，作为正样本。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接下来作者进一步构造负样本。首先通过逆扩散过程，将原始图像映射回带有类别语义的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latent noise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空间。然后在重新生成图像时，去掉类别条件，不再告诉扩散模型当前类别是什么。这样最终生成的图像会尽量保留原图的视觉结构与纹理信息，但原有类别语义会被削弱，从而形成一个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视觉相似但语义不同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hard negative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，也就是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aug(x</a:t>
            </a:r>
            <a:r>
              <a:rPr lang="en-US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̂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作者在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inverse diffusion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阶段加入类别条件，是为了先将原图映射到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带有原类别语义信息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latent space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中，从而尽量保留原图的结构、纹理与外观特征。随后在重新生成阶段，作者再故意去掉类别条件，使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diffusion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无法稳定恢复原有类别语义。这样最终生成的图像会在视觉结构上接近原图，但类别语义被削弱，从而形成一种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视觉相似但语义不同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负样本。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最终在</a:t>
            </a:r>
            <a:r>
              <a:rPr lang="en-US" altLang="zh-CN" dirty="0">
                <a:sym typeface="+mn-ea"/>
              </a:rPr>
              <a:t> contrastive learning </a:t>
            </a:r>
            <a:r>
              <a:rPr lang="zh-CN" altLang="en-US" dirty="0">
                <a:sym typeface="+mn-ea"/>
              </a:rPr>
              <a:t>中，模型会被优化为拉近原图与正样本之间的距离，同时拉远原图与</a:t>
            </a:r>
            <a:r>
              <a:rPr lang="en-US" altLang="zh-CN" dirty="0">
                <a:sym typeface="+mn-ea"/>
              </a:rPr>
              <a:t> hard negative </a:t>
            </a:r>
            <a:r>
              <a:rPr lang="zh-CN" altLang="en-US" dirty="0">
                <a:sym typeface="+mn-ea"/>
              </a:rPr>
              <a:t>之间的距离，从而增强特征空间的判别能力。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扩散校准损失和对比学习损失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CIFAR10-C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上，本文方法在大多数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corruption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上都取得了最佳结果，尤其在噪声、运动模糊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motion blur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、霜冻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frost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等困难损坏场景上提升明显，最终平均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error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降低到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13.4%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。说明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diffusion calibration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能够有效缓解伪标签错误累积问题。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的目的就是提升模型跨域性能，虽然在比较难的噪声域效果很好，但在亮度、对比度等简单域表现较差。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另外可以看到，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ViT-base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整体性能明显优于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ResNet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，说明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Transformer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CTTA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中具有更强鲁棒性。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：采用实例感知批量归一化修正分布外样本的归一化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相比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CIFAR10-C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CIFAR100-C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类别更多、任务更复杂，所以更能体现方法的泛化能力。可以看到，随着类别复杂度增加，传统更新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dirty="0">
                <a:sym typeface="+mn-ea"/>
              </a:rPr>
              <a:t>BN </a:t>
            </a:r>
            <a:r>
              <a:rPr lang="zh-CN" altLang="en-US" dirty="0">
                <a:sym typeface="+mn-ea"/>
              </a:rPr>
              <a:t>层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，依赖伪标签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熵最小化方法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的性能下降明显，而本文方法依然保持较好性能。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ImageNet-C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更复杂、更接近真实场景。可以看到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，随着任务复杂度提升，本文方法优势更加明显。在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ResNet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上，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82.0%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降低到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50.2%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第一行：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首先是基线方法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，仅使用测试样本的伪标签进行交叉熵监督。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可以看到错误率很高，达到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51.5%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，说明纯伪标签在持续域偏移下噪声大。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第二行：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 + CE1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在此基础上，加入扩散模型生成的校准样本监督（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CE1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错误率从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51.5%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下降到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46.8%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证明扩散生成的外部监督信号能够有效降低伪标签噪声。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第三行：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WCE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接下来，加入</a:t>
            </a:r>
            <a:r>
              <a:rPr lang="zh-CN" altLang="en-US" dirty="0">
                <a:sym typeface="+mn-ea"/>
              </a:rPr>
              <a:t>筛选得到的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可靠样本，并施加多样性加权，形成完整的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WCE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损失。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错误率进一步下降到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43.2%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，说明可靠性样本筛选与</a:t>
            </a:r>
            <a:r>
              <a:rPr lang="zh-CN" altLang="en-US" dirty="0">
                <a:sym typeface="+mn-ea"/>
              </a:rPr>
              <a:t>多样性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加权能够有效稳定类别分布。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第四行：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WCE + CL w/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𝒳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然后引入基于扩散负样本的对比学习（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首先使用全部样本进行对比学习，错误率下降到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41.8%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，证明对比学习能够增强模型特征判别能力。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第五行：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WCE + CL w/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𝒳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∖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𝒮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仅使用不可靠样本进行对比学习，错误率上升，说明不可靠样本包含大量噪声，直接用于强对比会损害性能。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第六行：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WCE + CL w/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𝒮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仅使用筛选后的可靠样本进行对比</a:t>
            </a:r>
            <a:r>
              <a:rPr lang="zh-CN" altLang="en-US" dirty="0">
                <a:sym typeface="+mn-ea"/>
              </a:rPr>
              <a:t>最终方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学习，错误率进一步下降，证明高质量样本能让对比学习效果更好。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第七行：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WCE + CL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（本文法）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最后，本文采用全样本混合策略：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对可靠样本进行强对比学习，对不可靠样本采用弱对比学习，弱对比学习就是没有利用</a:t>
            </a:r>
            <a:r>
              <a:rPr lang="zh-CN" altLang="en-US" dirty="0">
                <a:sym typeface="+mn-ea"/>
              </a:rPr>
              <a:t>基于扩散负样本的对比学习，仅仅进行传统的增强策略（裁剪、旋转等），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最终错误率降至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38.3%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，相比基线提升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13.2%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，达到最优性能。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tags" Target="../tags/tag4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tags" Target="../tags/tag5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96058" y="2829464"/>
            <a:ext cx="839814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Diffusion-calibrated Continual 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Test-time Adaptation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6524924" y="465769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AAAI - 2026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30" y="904875"/>
            <a:ext cx="9705975" cy="548703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Background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852170"/>
            <a:ext cx="11365865" cy="295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Continual Test-Time Adaptation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CTTA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模型在测试阶段持续接收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新的目标域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在线持续适应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没有源域数据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没有标签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目标域分布不断变化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典型应用：自动驾驶、医学影像、视频监控等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360" y="3900805"/>
            <a:ext cx="10473055" cy="2001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CTTA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的核心困难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800100" lvl="1" indent="-3429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伪标签错误累积：</a:t>
            </a:r>
            <a:b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CTTA ——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测试图像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模型预测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用预测结果继续更新模型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遗忘问题：在快速适应新域的同时，会忘记旧域的通用信息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988060"/>
            <a:ext cx="113658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、目前存在的问题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现有的方法：依赖伪标签、更新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BN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层参数、熵最小化、更新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Adapter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等等；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本质：模型自己监督自己，缺乏可信赖的外部监督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3725" y="2599055"/>
            <a:ext cx="1047305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5200" y="3175635"/>
            <a:ext cx="10776585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不再完全相信模型自己的预测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而是：引入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Diffusion Model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外部校准器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用生成模型校准伪标签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635" y="4434840"/>
            <a:ext cx="10725150" cy="79375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基本思路：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测试图像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当前模型预测类别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diffusion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生成同类别图像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比较两者预测是否一致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 rot="5400000">
            <a:off x="9035415" y="5389245"/>
            <a:ext cx="4660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50225" y="5619750"/>
            <a:ext cx="249618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判断伪标签是否可靠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17017"/>
          <a:stretch>
            <a:fillRect/>
          </a:stretch>
        </p:blipFill>
        <p:spPr>
          <a:xfrm>
            <a:off x="436880" y="924560"/>
            <a:ext cx="11597640" cy="5481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Diffusion Calibration —— Instance Generation</a:t>
            </a:r>
            <a:endParaRPr lang="en-US" altLang="zh-CN" sz="2000" b="1" dirty="0"/>
          </a:p>
          <a:p>
            <a:pPr indent="0" fontAlgn="auto">
              <a:lnSpc>
                <a:spcPct val="150000"/>
              </a:lnSpc>
            </a:pP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665" y="1358900"/>
            <a:ext cx="5383530" cy="4970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0"/>
            <a:ext cx="109251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500"/>
              </a:spcAft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ym typeface="+mn-ea"/>
              </a:rPr>
              <a:t>Diffusion Calibration —— </a:t>
            </a:r>
            <a:r>
              <a:rPr lang="en-US" altLang="zh-CN" sz="2000" b="1" dirty="0"/>
              <a:t>Entropy Calibration</a:t>
            </a:r>
            <a:endParaRPr lang="en-US" altLang="zh-CN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624965"/>
            <a:ext cx="5048885" cy="3608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63470"/>
            <a:ext cx="5029200" cy="904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72865"/>
            <a:ext cx="4676775" cy="647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48400" y="1958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利用生成的实例及其类别进行优化：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5080" y="3632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利用筛选出的可靠样本进行优化：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30" y="5725160"/>
            <a:ext cx="2861945" cy="365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930" y="5763895"/>
            <a:ext cx="5436870" cy="314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2"/>
            <a:ext cx="1047326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Diversity Weighting</a:t>
            </a:r>
            <a:endParaRPr lang="en-US" altLang="zh-CN" sz="2000" b="1" dirty="0"/>
          </a:p>
          <a:p>
            <a:pPr indent="0" fontAlgn="auto">
              <a:lnSpc>
                <a:spcPct val="150000"/>
              </a:lnSpc>
            </a:pP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370330"/>
            <a:ext cx="108985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为了减轻类别失衡带来的影响，提出了多样性权重模块。高频类别，赋予低权重；低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频类别，赋予高权重。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393950"/>
            <a:ext cx="4524375" cy="150050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60" y="4570095"/>
            <a:ext cx="4446905" cy="64071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545" y="2386330"/>
            <a:ext cx="5662930" cy="62865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545" y="4570095"/>
            <a:ext cx="5253355" cy="149098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/>
          <p:cNvSpPr txBox="1"/>
          <p:nvPr/>
        </p:nvSpPr>
        <p:spPr>
          <a:xfrm>
            <a:off x="728345" y="2080260"/>
            <a:ext cx="3169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衡量当前样本是不是少见类别：</a:t>
            </a:r>
            <a:endParaRPr lang="zh-CN" altLang="en-US"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2000" y="4234815"/>
            <a:ext cx="3169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衡量当前样本是不是高置信：</a:t>
            </a:r>
            <a:endParaRPr lang="zh-CN" altLang="en-US"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82995" y="2080260"/>
            <a:ext cx="3634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把</a:t>
            </a:r>
            <a:r>
              <a:rPr lang="en-US" altLang="zh-CN" sz="1600" b="1">
                <a:solidFill>
                  <a:schemeClr val="accent1">
                    <a:lumMod val="50000"/>
                  </a:schemeClr>
                </a:solidFill>
              </a:rPr>
              <a:t> diversity + certainty </a:t>
            </a:r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合成动态权重</a:t>
            </a:r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：</a:t>
            </a:r>
            <a:endParaRPr lang="zh-CN" altLang="en-US"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82995" y="4234815"/>
            <a:ext cx="39547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用动态权重训练模型，避免</a:t>
            </a:r>
            <a:r>
              <a:rPr lang="en-US" altLang="zh-CN" sz="1600" b="1">
                <a:solidFill>
                  <a:schemeClr val="accent1">
                    <a:lumMod val="50000"/>
                  </a:schemeClr>
                </a:solidFill>
              </a:rPr>
              <a:t> collapse</a:t>
            </a:r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</a:rPr>
              <a:t>：</a:t>
            </a:r>
            <a:endParaRPr lang="zh-CN" altLang="en-US" sz="16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2"/>
            <a:ext cx="10473267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Contrastive Learning with Diffusion Negatives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60400" y="1560830"/>
            <a:ext cx="652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Diffusion Negatives——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视觉相似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但语义不同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3580" y="2159952"/>
            <a:ext cx="5080000" cy="1950085"/>
          </a:xfrm>
          <a:prstGeom prst="rect">
            <a:avLst/>
          </a:prstGeom>
          <a:ln w="25400" cap="rnd" cmpd="dbl">
            <a:solidFill>
              <a:schemeClr val="accent1"/>
            </a:solidFill>
            <a:prstDash val="sysDot"/>
          </a:ln>
        </p:spPr>
        <p:txBody>
          <a:bodyPr>
            <a:spAutoFit/>
          </a:bodyPr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zh-CN" altLang="en-US" sz="23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正样本</a:t>
            </a:r>
            <a:endParaRPr lang="zh-CN" altLang="en-US" sz="2300" b="1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原图：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cat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prompt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 photo of a cat → diffusion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生成标准 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cat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记作：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aug(x)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580" y="4195445"/>
            <a:ext cx="5080000" cy="1950085"/>
          </a:xfrm>
          <a:prstGeom prst="rect">
            <a:avLst/>
          </a:prstGeom>
          <a:ln w="25400" cap="rnd">
            <a:solidFill>
              <a:schemeClr val="accent1"/>
            </a:solidFill>
            <a:prstDash val="sysDot"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spcAft>
                <a:spcPct val="60000"/>
              </a:spcAft>
            </a:pPr>
            <a:r>
              <a:rPr lang="zh-CN" altLang="en-US" sz="23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负样本</a:t>
            </a:r>
            <a:endParaRPr lang="zh-CN" altLang="en-US" sz="2300" b="1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原图 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→ inverse diffusion →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映射到带类别语义信息的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latent noise →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去掉类别条件 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再生成图像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记作：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aug(</a:t>
            </a:r>
            <a:r>
              <a:rPr lang="en-US" altLang="zh-CN" sz="16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x^</a:t>
            </a:r>
            <a:r>
              <a:rPr lang="en-US" altLang="zh-CN" sz="1600" baseline="-250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16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0" y="2445385"/>
            <a:ext cx="5553075" cy="14433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20" y="4404995"/>
            <a:ext cx="5531485" cy="1353185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 flipV="1">
            <a:off x="2800985" y="2816225"/>
            <a:ext cx="3856990" cy="2342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700020" y="5669280"/>
            <a:ext cx="5080" cy="356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700020" y="6016625"/>
            <a:ext cx="4124325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6800215" y="4873625"/>
            <a:ext cx="24130" cy="1152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9478645" y="2814320"/>
            <a:ext cx="1873885" cy="2603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10099675" y="5368290"/>
            <a:ext cx="1330960" cy="2667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2"/>
            <a:ext cx="10473267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Contrastive Learning with Diffusion Negatives</a:t>
            </a:r>
            <a:r>
              <a:rPr lang="zh-CN" altLang="en-US" sz="2000" b="1" dirty="0"/>
              <a:t>（使用扩散负样本进行对比学习）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2258060"/>
            <a:ext cx="5505450" cy="26816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75155" y="4939665"/>
            <a:ext cx="185547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增强特征判别能力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0200" y="1929130"/>
            <a:ext cx="5080000" cy="74358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拉近：</a:t>
            </a:r>
            <a:endParaRPr lang="zh-CN" altLang="en-US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 ↔ aug(x)</a:t>
            </a:r>
            <a:endParaRPr lang="en-US" altLang="zh-CN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37245" y="1929130"/>
            <a:ext cx="3322955" cy="79184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拉远：</a:t>
            </a:r>
            <a:endParaRPr lang="zh-CN" altLang="en-US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 ↔ aug(</a:t>
            </a:r>
            <a:r>
              <a:rPr lang="en-US" altLang="zh-CN" sz="20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x^t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60" y="2957195"/>
            <a:ext cx="5924550" cy="32245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90530" y="2957195"/>
            <a:ext cx="1083945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accent1">
                    <a:lumMod val="50000"/>
                  </a:schemeClr>
                </a:solidFill>
              </a:rPr>
              <a:t>不可靠样本</a:t>
            </a:r>
            <a:endParaRPr lang="zh-CN" altLang="en-US" sz="14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084435" y="3957320"/>
            <a:ext cx="1083945" cy="28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accent1">
                    <a:lumMod val="50000"/>
                  </a:schemeClr>
                </a:solidFill>
              </a:rPr>
              <a:t>可靠样本</a:t>
            </a:r>
            <a:endParaRPr lang="zh-CN" altLang="en-US" sz="14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643235" y="4881880"/>
            <a:ext cx="1031875" cy="28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accent1">
                    <a:lumMod val="50000"/>
                  </a:schemeClr>
                </a:solidFill>
              </a:rPr>
              <a:t>生成样本</a:t>
            </a:r>
            <a:endParaRPr lang="zh-CN" altLang="en-US" sz="14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20090" y="1483360"/>
            <a:ext cx="1047305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总损失</a:t>
            </a:r>
            <a:r>
              <a:rPr lang="en-US" altLang="zh-CN" sz="2000" b="1" dirty="0"/>
              <a:t>:</a:t>
            </a:r>
            <a:endParaRPr lang="en-US" altLang="zh-CN" sz="2000" b="1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0" y="2529205"/>
            <a:ext cx="6989445" cy="899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105" t="2295" r="2386" b="-444"/>
          <a:stretch>
            <a:fillRect/>
          </a:stretch>
        </p:blipFill>
        <p:spPr>
          <a:xfrm>
            <a:off x="252095" y="1242060"/>
            <a:ext cx="11745595" cy="5047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0400" y="890270"/>
            <a:ext cx="6096000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CIFAR10-to-CIFAR10C</a:t>
            </a:r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5279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06310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65162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47458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30310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1862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725025" y="4066540"/>
            <a:ext cx="371475" cy="18605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730625" y="3385820"/>
            <a:ext cx="6901180" cy="171450"/>
          </a:xfrm>
          <a:prstGeom prst="rect">
            <a:avLst/>
          </a:prstGeom>
          <a:noFill/>
          <a:ln w="19050">
            <a:solidFill>
              <a:srgbClr val="1B629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890270"/>
            <a:ext cx="6096000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CIFAR100-to-CIFAR100C</a:t>
            </a:r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259840"/>
            <a:ext cx="11597005" cy="496252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234295" y="2604135"/>
            <a:ext cx="371475" cy="186055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234295" y="2999105"/>
            <a:ext cx="371475" cy="153035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47115" y="2632710"/>
            <a:ext cx="1109980" cy="153035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7115" y="2999105"/>
            <a:ext cx="1909445" cy="153035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47115" y="2818765"/>
            <a:ext cx="1247775" cy="147320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234295" y="2818130"/>
            <a:ext cx="371475" cy="153035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890270"/>
            <a:ext cx="6096000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ImageNet-to-ImageNet-C</a:t>
            </a:r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329055"/>
            <a:ext cx="11677015" cy="455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890270"/>
            <a:ext cx="6096000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Ablation experiments</a:t>
            </a:r>
            <a:r>
              <a:rPr lang="zh-CN" altLang="en-US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70" y="1657985"/>
            <a:ext cx="6482715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ea"/>
              </a:rPr>
              <a:t>Summary</a:t>
            </a:r>
            <a:endParaRPr lang="en-US" altLang="zh-CN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00" y="1709102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lang="zh-CN" altLang="en-US" sz="2000" b="1" u="sng">
                <a:latin typeface="宋体" panose="02010600030101010101" pitchFamily="2" charset="-122"/>
                <a:ea typeface="宋体" panose="02010600030101010101" pitchFamily="2" charset="-122"/>
              </a:rPr>
              <a:t>外部生成模型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校准伪标签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负样本的设计很巧妙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2407</Words>
  <Application>WPS 演示</Application>
  <PresentationFormat>宽屏</PresentationFormat>
  <Paragraphs>285</Paragraphs>
  <Slides>17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Arial Unicode MS</vt:lpstr>
      <vt:lpstr>等线 Light</vt:lpstr>
      <vt:lpstr>Calibri Light</vt:lpstr>
      <vt:lpstr>Calibri</vt:lpstr>
      <vt:lpstr>BatangChe</vt:lpstr>
      <vt:lpstr>Segoe Print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Jia  秦</cp:lastModifiedBy>
  <cp:revision>961</cp:revision>
  <dcterms:created xsi:type="dcterms:W3CDTF">2019-03-09T08:01:00Z</dcterms:created>
  <dcterms:modified xsi:type="dcterms:W3CDTF">2026-05-09T10:54:57Z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0C95BC188EFC487BA7C01F2F718226AD_13</vt:lpwstr>
  </property>
</Properties>
</file>