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9" r:id="rId3"/>
    <p:sldId id="260" r:id="rId4"/>
    <p:sldId id="361" r:id="rId5"/>
    <p:sldId id="306" r:id="rId6"/>
    <p:sldId id="365" r:id="rId7"/>
    <p:sldId id="308" r:id="rId8"/>
    <p:sldId id="359" r:id="rId9"/>
    <p:sldId id="307" r:id="rId10"/>
    <p:sldId id="362" r:id="rId11"/>
    <p:sldId id="374" r:id="rId12"/>
    <p:sldId id="373"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4" userDrawn="1">
          <p15:clr>
            <a:srgbClr val="A4A3A4"/>
          </p15:clr>
        </p15:guide>
        <p15:guide id="2" pos="3895" userDrawn="1">
          <p15:clr>
            <a:srgbClr val="A4A3A4"/>
          </p15:clr>
        </p15:guide>
        <p15:guide id="3" pos="404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127499155" name="272km" initials="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8B0FC"/>
    <a:srgbClr val="203864"/>
    <a:srgbClr val="D91515"/>
    <a:srgbClr val="EE0000"/>
    <a:srgbClr val="F0F4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varScale="1">
        <p:scale>
          <a:sx n="91" d="100"/>
          <a:sy n="91" d="100"/>
        </p:scale>
        <p:origin x="71" y="106"/>
      </p:cViewPr>
      <p:guideLst>
        <p:guide orient="horz" pos="2284"/>
        <p:guide pos="3895"/>
        <p:guide pos="404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indent="0">
              <a:lnSpc>
                <a:spcPct val="150000"/>
              </a:lnSpc>
              <a:spcBef>
                <a:spcPts val="0"/>
              </a:spcBef>
              <a:spcAft>
                <a:spcPts val="0"/>
              </a:spcAft>
              <a:buFont typeface="Wingdings" panose="05000000000000000000" charset="0"/>
              <a:buNone/>
            </a:pPr>
            <a:endParaRPr lang="zh-CN" altLang="en-US"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8F772-9AF6-740C-C72D-68F3A707B5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075C78-4EF3-0EA3-6169-804168249B9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7A5F346-22E2-E908-9597-B8485B144EFD}"/>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2143475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t>‹#›</a:t>
            </a:fld>
            <a:endParaRPr lang="zh-CN" altLang="en-US"/>
          </a:p>
        </p:txBody>
      </p:sp>
      <p:sp>
        <p:nvSpPr>
          <p:cNvPr id="7" name="矩形 6"/>
          <p:cNvSpPr/>
          <p:nvPr userDrawn="1"/>
        </p:nvSpPr>
        <p:spPr>
          <a:xfrm>
            <a:off x="181583" y="162128"/>
            <a:ext cx="11815864" cy="6533744"/>
          </a:xfrm>
          <a:prstGeom prst="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5304817" y="1"/>
            <a:ext cx="1569396" cy="173152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5304817" y="6634265"/>
            <a:ext cx="1569396" cy="22373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userDrawn="1"/>
        </p:nvGrpSpPr>
        <p:grpSpPr>
          <a:xfrm>
            <a:off x="10798227" y="5070856"/>
            <a:ext cx="1197659" cy="1389113"/>
            <a:chOff x="-1356283" y="1212273"/>
            <a:chExt cx="1599245" cy="1854896"/>
          </a:xfrm>
        </p:grpSpPr>
        <p:sp>
          <p:nvSpPr>
            <p:cNvPr id="28" name="等腰三角形 27"/>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rot="16200000" flipH="1">
              <a:off x="-1398930" y="1564108"/>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rot="16200000" flipH="1">
              <a:off x="-861591" y="1254920"/>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userDrawn="1"/>
        </p:nvGrpSpPr>
        <p:grpSpPr>
          <a:xfrm>
            <a:off x="194553" y="193560"/>
            <a:ext cx="2019597" cy="1884355"/>
            <a:chOff x="214742" y="270164"/>
            <a:chExt cx="2661150" cy="2482947"/>
          </a:xfrm>
        </p:grpSpPr>
        <p:grpSp>
          <p:nvGrpSpPr>
            <p:cNvPr id="38" name="组合 37"/>
            <p:cNvGrpSpPr/>
            <p:nvPr/>
          </p:nvGrpSpPr>
          <p:grpSpPr>
            <a:xfrm>
              <a:off x="214745" y="270164"/>
              <a:ext cx="2661147" cy="1854896"/>
              <a:chOff x="-531648" y="-111394"/>
              <a:chExt cx="4186764" cy="2918295"/>
            </a:xfrm>
          </p:grpSpPr>
          <p:sp>
            <p:nvSpPr>
              <p:cNvPr id="42" name="等腰三角形 41"/>
              <p:cNvSpPr/>
              <p:nvPr/>
            </p:nvSpPr>
            <p:spPr>
              <a:xfrm rot="5400000">
                <a:off x="239949" y="1415033"/>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16200000" flipH="1">
                <a:off x="239950" y="928589"/>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rot="5400000">
                <a:off x="1078643" y="92859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rot="5400000">
                <a:off x="1078643" y="928591"/>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p:cNvSpPr/>
              <p:nvPr/>
            </p:nvSpPr>
            <p:spPr>
              <a:xfrm rot="16200000" flipH="1">
                <a:off x="1072343" y="1414670"/>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16200000" flipH="1">
                <a:off x="1078643" y="442147"/>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p:cNvSpPr/>
              <p:nvPr/>
            </p:nvSpPr>
            <p:spPr>
              <a:xfrm rot="5400000">
                <a:off x="1910636" y="141467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nvSpPr>
            <p:spPr>
              <a:xfrm rot="16200000" flipH="1">
                <a:off x="-598744" y="442146"/>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rot="5400000">
                <a:off x="1917335" y="435695"/>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nvSpPr>
            <p:spPr>
              <a:xfrm rot="5400000">
                <a:off x="1075493" y="1901112"/>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5400000">
                <a:off x="2749326" y="909958"/>
                <a:ext cx="972885" cy="838694"/>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52"/>
              <p:cNvSpPr/>
              <p:nvPr/>
            </p:nvSpPr>
            <p:spPr>
              <a:xfrm rot="16200000" flipH="1">
                <a:off x="246647" y="-44298"/>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等腰三角形 38"/>
            <p:cNvSpPr/>
            <p:nvPr/>
          </p:nvSpPr>
          <p:spPr>
            <a:xfrm rot="5400000">
              <a:off x="172095" y="2177383"/>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39"/>
            <p:cNvSpPr/>
            <p:nvPr/>
          </p:nvSpPr>
          <p:spPr>
            <a:xfrm rot="5400000">
              <a:off x="175400" y="1549099"/>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等腰三角形 40"/>
            <p:cNvSpPr/>
            <p:nvPr/>
          </p:nvSpPr>
          <p:spPr>
            <a:xfrm rot="5400000">
              <a:off x="705178" y="1858288"/>
              <a:ext cx="618375" cy="533082"/>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 name="图片 9"/>
          <p:cNvPicPr/>
          <p:nvPr/>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grpSp>
        <p:nvGrpSpPr>
          <p:cNvPr id="24" name="组合 23"/>
          <p:cNvGrpSpPr/>
          <p:nvPr userDrawn="1"/>
        </p:nvGrpSpPr>
        <p:grpSpPr>
          <a:xfrm>
            <a:off x="10994341" y="5268976"/>
            <a:ext cx="1197659" cy="1389113"/>
            <a:chOff x="-1356283" y="1212273"/>
            <a:chExt cx="1599245" cy="1854896"/>
          </a:xfrm>
        </p:grpSpPr>
        <p:sp>
          <p:nvSpPr>
            <p:cNvPr id="25" name="等腰三角形 24"/>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16200000" flipH="1">
              <a:off x="-1398930" y="1564108"/>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等腰三角形 32"/>
            <p:cNvSpPr/>
            <p:nvPr/>
          </p:nvSpPr>
          <p:spPr>
            <a:xfrm rot="16200000" flipH="1">
              <a:off x="-861591" y="1254920"/>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4" name="直接连接符 33"/>
          <p:cNvCxnSpPr/>
          <p:nvPr userDrawn="1"/>
        </p:nvCxnSpPr>
        <p:spPr>
          <a:xfrm flipH="1">
            <a:off x="533400" y="6507480"/>
            <a:ext cx="10637520"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灯片编号占位符 5"/>
          <p:cNvSpPr txBox="1"/>
          <p:nvPr userDrawn="1"/>
        </p:nvSpPr>
        <p:spPr>
          <a:xfrm>
            <a:off x="11217390" y="6324917"/>
            <a:ext cx="52442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15B73C-FE37-48BC-8A31-84F8B5A93988}" type="slidenum">
              <a:rPr lang="zh-CN" altLang="en-US" sz="1600" smtClean="0">
                <a:solidFill>
                  <a:schemeClr val="accent1">
                    <a:lumMod val="50000"/>
                  </a:schemeClr>
                </a:solidFill>
              </a:rPr>
              <a:t>‹#›</a:t>
            </a:fld>
            <a:endParaRPr lang="zh-CN" altLang="en-US" sz="1600" dirty="0">
              <a:solidFill>
                <a:schemeClr val="accent1">
                  <a:lumMod val="50000"/>
                </a:schemeClr>
              </a:solidFill>
            </a:endParaRPr>
          </a:p>
        </p:txBody>
      </p:sp>
      <p:grpSp>
        <p:nvGrpSpPr>
          <p:cNvPr id="36" name="组合 35"/>
          <p:cNvGrpSpPr/>
          <p:nvPr userDrawn="1"/>
        </p:nvGrpSpPr>
        <p:grpSpPr>
          <a:xfrm>
            <a:off x="-14298" y="155435"/>
            <a:ext cx="2957239" cy="2759208"/>
            <a:chOff x="214742" y="270164"/>
            <a:chExt cx="2661150" cy="2482947"/>
          </a:xfrm>
        </p:grpSpPr>
        <p:grpSp>
          <p:nvGrpSpPr>
            <p:cNvPr id="37" name="组合 36"/>
            <p:cNvGrpSpPr/>
            <p:nvPr/>
          </p:nvGrpSpPr>
          <p:grpSpPr>
            <a:xfrm>
              <a:off x="214745" y="270164"/>
              <a:ext cx="2661147" cy="1854896"/>
              <a:chOff x="-531648" y="-111394"/>
              <a:chExt cx="4186764" cy="2918295"/>
            </a:xfrm>
          </p:grpSpPr>
          <p:sp>
            <p:nvSpPr>
              <p:cNvPr id="41" name="等腰三角形 40"/>
              <p:cNvSpPr/>
              <p:nvPr/>
            </p:nvSpPr>
            <p:spPr>
              <a:xfrm rot="5400000">
                <a:off x="239949" y="1415033"/>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41"/>
              <p:cNvSpPr/>
              <p:nvPr/>
            </p:nvSpPr>
            <p:spPr>
              <a:xfrm rot="16200000" flipH="1">
                <a:off x="239950" y="928589"/>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p:cNvSpPr/>
              <p:nvPr/>
            </p:nvSpPr>
            <p:spPr>
              <a:xfrm rot="5400000">
                <a:off x="1078643" y="92859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rot="5400000">
                <a:off x="1078643" y="928591"/>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rot="16200000" flipH="1">
                <a:off x="1072343" y="1414670"/>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p:cNvSpPr/>
              <p:nvPr/>
            </p:nvSpPr>
            <p:spPr>
              <a:xfrm rot="16200000" flipH="1">
                <a:off x="1078643" y="442147"/>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等腰三角形 46"/>
              <p:cNvSpPr/>
              <p:nvPr/>
            </p:nvSpPr>
            <p:spPr>
              <a:xfrm rot="5400000">
                <a:off x="1910636" y="141467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p:cNvSpPr/>
              <p:nvPr/>
            </p:nvSpPr>
            <p:spPr>
              <a:xfrm rot="16200000" flipH="1">
                <a:off x="-598744" y="442146"/>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nvSpPr>
            <p:spPr>
              <a:xfrm rot="5400000">
                <a:off x="1917335" y="435695"/>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rot="5400000">
                <a:off x="1075493" y="1901112"/>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nvSpPr>
            <p:spPr>
              <a:xfrm rot="5400000">
                <a:off x="2749326" y="909958"/>
                <a:ext cx="972885" cy="838694"/>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16200000" flipH="1">
                <a:off x="246647" y="-44298"/>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等腰三角形 37"/>
            <p:cNvSpPr/>
            <p:nvPr/>
          </p:nvSpPr>
          <p:spPr>
            <a:xfrm rot="5400000">
              <a:off x="172095" y="2177383"/>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等腰三角形 38"/>
            <p:cNvSpPr/>
            <p:nvPr/>
          </p:nvSpPr>
          <p:spPr>
            <a:xfrm rot="5400000">
              <a:off x="175400" y="1549099"/>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等腰三角形 39"/>
            <p:cNvSpPr/>
            <p:nvPr/>
          </p:nvSpPr>
          <p:spPr>
            <a:xfrm rot="5400000">
              <a:off x="705178" y="1858288"/>
              <a:ext cx="618375" cy="533082"/>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 name="图片 9"/>
          <p:cNvPicPr/>
          <p:nvPr userDrawn="1"/>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15B73C-FE37-48BC-8A31-84F8B5A9398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015B73C-FE37-48BC-8A31-84F8B5A9398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015B73C-FE37-48BC-8A31-84F8B5A93988}" type="slidenum">
              <a:rPr lang="zh-CN" altLang="en-US" smtClean="0"/>
              <a:t>‹#›</a:t>
            </a:fld>
            <a:endParaRPr lang="zh-CN" altLang="en-US"/>
          </a:p>
        </p:txBody>
      </p:sp>
      <p:cxnSp>
        <p:nvCxnSpPr>
          <p:cNvPr id="6" name="直接连接符 5"/>
          <p:cNvCxnSpPr/>
          <p:nvPr userDrawn="1"/>
        </p:nvCxnSpPr>
        <p:spPr>
          <a:xfrm flipH="1">
            <a:off x="464127" y="6507480"/>
            <a:ext cx="10706793"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7" name="灯片编号占位符 5"/>
          <p:cNvSpPr txBox="1"/>
          <p:nvPr userDrawn="1"/>
        </p:nvSpPr>
        <p:spPr>
          <a:xfrm>
            <a:off x="11217390" y="6324917"/>
            <a:ext cx="524423"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15B73C-FE37-48BC-8A31-84F8B5A93988}" type="slidenum">
              <a:rPr lang="zh-CN" altLang="en-US" sz="1600" smtClean="0">
                <a:solidFill>
                  <a:schemeClr val="accent1">
                    <a:lumMod val="50000"/>
                  </a:schemeClr>
                </a:solidFill>
              </a:rPr>
              <a:t>‹#›</a:t>
            </a:fld>
            <a:endParaRPr lang="zh-CN" altLang="en-US" sz="1600" dirty="0">
              <a:solidFill>
                <a:schemeClr val="accent1">
                  <a:lumMod val="50000"/>
                </a:schemeClr>
              </a:solidFill>
            </a:endParaRPr>
          </a:p>
        </p:txBody>
      </p:sp>
      <p:grpSp>
        <p:nvGrpSpPr>
          <p:cNvPr id="8" name="组合 7"/>
          <p:cNvGrpSpPr/>
          <p:nvPr userDrawn="1"/>
        </p:nvGrpSpPr>
        <p:grpSpPr>
          <a:xfrm>
            <a:off x="11452916" y="5846548"/>
            <a:ext cx="739084" cy="971841"/>
            <a:chOff x="-1164737" y="1521462"/>
            <a:chExt cx="1407699" cy="1851021"/>
          </a:xfrm>
        </p:grpSpPr>
        <p:sp>
          <p:nvSpPr>
            <p:cNvPr id="9" name="等腰三角形 8"/>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16200000" flipH="1">
              <a:off x="-340775" y="2796755"/>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a:off x="-1192059" y="2894582"/>
              <a:ext cx="396178" cy="341533"/>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015B73C-FE37-48BC-8A31-84F8B5A93988}" type="slidenum">
              <a:rPr lang="zh-CN" altLang="en-US" smtClean="0"/>
              <a:t>‹#›</a:t>
            </a:fld>
            <a:endParaRPr lang="zh-CN" altLang="en-US"/>
          </a:p>
        </p:txBody>
      </p:sp>
      <p:grpSp>
        <p:nvGrpSpPr>
          <p:cNvPr id="5" name="组合 4"/>
          <p:cNvGrpSpPr/>
          <p:nvPr userDrawn="1"/>
        </p:nvGrpSpPr>
        <p:grpSpPr>
          <a:xfrm>
            <a:off x="0" y="0"/>
            <a:ext cx="3581400" cy="3341572"/>
            <a:chOff x="214742" y="270164"/>
            <a:chExt cx="2661150" cy="2482947"/>
          </a:xfrm>
        </p:grpSpPr>
        <p:grpSp>
          <p:nvGrpSpPr>
            <p:cNvPr id="6" name="组合 5"/>
            <p:cNvGrpSpPr/>
            <p:nvPr/>
          </p:nvGrpSpPr>
          <p:grpSpPr>
            <a:xfrm>
              <a:off x="214745" y="270164"/>
              <a:ext cx="2661147" cy="1854896"/>
              <a:chOff x="-531648" y="-111394"/>
              <a:chExt cx="4186764" cy="2918295"/>
            </a:xfrm>
          </p:grpSpPr>
          <p:sp>
            <p:nvSpPr>
              <p:cNvPr id="10" name="等腰三角形 9"/>
              <p:cNvSpPr/>
              <p:nvPr/>
            </p:nvSpPr>
            <p:spPr>
              <a:xfrm rot="5400000">
                <a:off x="239949" y="1415033"/>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6200000" flipH="1">
                <a:off x="239950" y="928589"/>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p:nvSpPr>
            <p:spPr>
              <a:xfrm rot="5400000">
                <a:off x="1078643" y="92859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5400000">
                <a:off x="1078643" y="928591"/>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16200000" flipH="1">
                <a:off x="1072343" y="1414670"/>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16200000" flipH="1">
                <a:off x="1078643" y="442147"/>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1910636" y="1414670"/>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6200000" flipH="1">
                <a:off x="-598744" y="442146"/>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rot="5400000">
                <a:off x="1917335" y="435695"/>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rot="5400000">
                <a:off x="1075493" y="1901112"/>
                <a:ext cx="972885" cy="838694"/>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5400000">
                <a:off x="2749326" y="909958"/>
                <a:ext cx="972885" cy="838694"/>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p:nvSpPr>
            <p:spPr>
              <a:xfrm rot="16200000" flipH="1">
                <a:off x="246647" y="-44298"/>
                <a:ext cx="972885" cy="838694"/>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1"/>
              <p:cNvSpPr/>
              <p:nvPr userDrawn="1"/>
            </p:nvSpPr>
            <p:spPr>
              <a:xfrm rot="5400000">
                <a:off x="2749326" y="-43017"/>
                <a:ext cx="972885" cy="838693"/>
              </a:xfrm>
              <a:prstGeom prst="triangle">
                <a:avLst/>
              </a:prstGeom>
              <a:solidFill>
                <a:schemeClr val="accent1">
                  <a:lumMod val="20000"/>
                  <a:lumOff val="80000"/>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等腰三角形 6"/>
            <p:cNvSpPr/>
            <p:nvPr/>
          </p:nvSpPr>
          <p:spPr>
            <a:xfrm rot="5400000">
              <a:off x="172095" y="2177383"/>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5400000">
              <a:off x="175400" y="1549099"/>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等腰三角形 8"/>
            <p:cNvSpPr/>
            <p:nvPr/>
          </p:nvSpPr>
          <p:spPr>
            <a:xfrm rot="5400000">
              <a:off x="705178" y="1858288"/>
              <a:ext cx="618375" cy="533082"/>
            </a:xfrm>
            <a:prstGeom prst="triangle">
              <a:avLst/>
            </a:prstGeom>
            <a:solidFill>
              <a:srgbClr val="F0F4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userDrawn="1"/>
        </p:nvGrpSpPr>
        <p:grpSpPr>
          <a:xfrm>
            <a:off x="11352349" y="5684214"/>
            <a:ext cx="839651" cy="973875"/>
            <a:chOff x="-1356283" y="1212273"/>
            <a:chExt cx="1599245" cy="1854896"/>
          </a:xfrm>
        </p:grpSpPr>
        <p:sp>
          <p:nvSpPr>
            <p:cNvPr id="23" name="等腰三角形 22"/>
            <p:cNvSpPr/>
            <p:nvPr/>
          </p:nvSpPr>
          <p:spPr>
            <a:xfrm rot="5400000">
              <a:off x="-865849" y="2182484"/>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6200000" flipH="1">
              <a:off x="-865848" y="1873296"/>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5400000">
              <a:off x="-332767" y="1873297"/>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16200000" flipH="1">
              <a:off x="-336771" y="2182254"/>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16200000" flipH="1">
              <a:off x="-332767" y="1564109"/>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nvSpPr>
          <p:spPr>
            <a:xfrm rot="16200000" flipH="1">
              <a:off x="-1398930" y="1564108"/>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rot="5400000">
              <a:off x="-334769" y="2491441"/>
              <a:ext cx="618375" cy="533082"/>
            </a:xfrm>
            <a:prstGeom prst="triangle">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16200000" flipH="1">
              <a:off x="-861591" y="1254920"/>
              <a:ext cx="618375" cy="533082"/>
            </a:xfrm>
            <a:prstGeom prst="triangle">
              <a:avLst/>
            </a:prstGeom>
            <a:solidFill>
              <a:schemeClr val="accent1">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3" name="图片 32"/>
          <p:cNvPicPr/>
          <p:nvPr userDrawn="1"/>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15B73C-FE37-48BC-8A31-84F8B5A9398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15B73C-FE37-48BC-8A31-84F8B5A9398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6F8E6D3-EC10-435A-83A8-4CF3748666BF}" type="datetimeFigureOut">
              <a:rPr lang="zh-CN" altLang="en-US" smtClean="0"/>
              <a:t>2026/6/12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15B73C-FE37-48BC-8A31-84F8B5A9398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F8E6D3-EC10-435A-83A8-4CF3748666BF}" type="datetimeFigureOut">
              <a:rPr lang="zh-CN" altLang="en-US" smtClean="0"/>
              <a:t>2026/6/12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15B73C-FE37-48BC-8A31-84F8B5A9398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接连接符 15"/>
          <p:cNvCxnSpPr/>
          <p:nvPr/>
        </p:nvCxnSpPr>
        <p:spPr>
          <a:xfrm>
            <a:off x="5640421" y="3947364"/>
            <a:ext cx="911157"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0" name="Freeform 5"/>
          <p:cNvSpPr>
            <a:spLocks noEditPoints="1"/>
          </p:cNvSpPr>
          <p:nvPr/>
        </p:nvSpPr>
        <p:spPr bwMode="auto">
          <a:xfrm>
            <a:off x="5760018" y="520406"/>
            <a:ext cx="671963" cy="769033"/>
          </a:xfrm>
          <a:custGeom>
            <a:avLst/>
            <a:gdLst>
              <a:gd name="T0" fmla="*/ 1898 w 2872"/>
              <a:gd name="T1" fmla="*/ 1941 h 3284"/>
              <a:gd name="T2" fmla="*/ 2681 w 2872"/>
              <a:gd name="T3" fmla="*/ 328 h 3284"/>
              <a:gd name="T4" fmla="*/ 332 w 2872"/>
              <a:gd name="T5" fmla="*/ 0 h 3284"/>
              <a:gd name="T6" fmla="*/ 4 w 2872"/>
              <a:gd name="T7" fmla="*/ 3014 h 3284"/>
              <a:gd name="T8" fmla="*/ 378 w 2872"/>
              <a:gd name="T9" fmla="*/ 3234 h 3284"/>
              <a:gd name="T10" fmla="*/ 1491 w 2872"/>
              <a:gd name="T11" fmla="*/ 2781 h 3284"/>
              <a:gd name="T12" fmla="*/ 987 w 2872"/>
              <a:gd name="T13" fmla="*/ 1006 h 3284"/>
              <a:gd name="T14" fmla="*/ 1069 w 2872"/>
              <a:gd name="T15" fmla="*/ 924 h 3284"/>
              <a:gd name="T16" fmla="*/ 2073 w 2872"/>
              <a:gd name="T17" fmla="*/ 948 h 3284"/>
              <a:gd name="T18" fmla="*/ 2097 w 2872"/>
              <a:gd name="T19" fmla="*/ 1114 h 3284"/>
              <a:gd name="T20" fmla="*/ 2015 w 2872"/>
              <a:gd name="T21" fmla="*/ 1196 h 3284"/>
              <a:gd name="T22" fmla="*/ 1011 w 2872"/>
              <a:gd name="T23" fmla="*/ 1172 h 3284"/>
              <a:gd name="T24" fmla="*/ 987 w 2872"/>
              <a:gd name="T25" fmla="*/ 1006 h 3284"/>
              <a:gd name="T26" fmla="*/ 672 w 2872"/>
              <a:gd name="T27" fmla="*/ 1885 h 3284"/>
              <a:gd name="T28" fmla="*/ 590 w 2872"/>
              <a:gd name="T29" fmla="*/ 1803 h 3284"/>
              <a:gd name="T30" fmla="*/ 614 w 2872"/>
              <a:gd name="T31" fmla="*/ 1641 h 3284"/>
              <a:gd name="T32" fmla="*/ 778 w 2872"/>
              <a:gd name="T33" fmla="*/ 1617 h 3284"/>
              <a:gd name="T34" fmla="*/ 860 w 2872"/>
              <a:gd name="T35" fmla="*/ 1699 h 3284"/>
              <a:gd name="T36" fmla="*/ 836 w 2872"/>
              <a:gd name="T37" fmla="*/ 1861 h 3284"/>
              <a:gd name="T38" fmla="*/ 778 w 2872"/>
              <a:gd name="T39" fmla="*/ 1192 h 3284"/>
              <a:gd name="T40" fmla="*/ 614 w 2872"/>
              <a:gd name="T41" fmla="*/ 1168 h 3284"/>
              <a:gd name="T42" fmla="*/ 590 w 2872"/>
              <a:gd name="T43" fmla="*/ 1006 h 3284"/>
              <a:gd name="T44" fmla="*/ 672 w 2872"/>
              <a:gd name="T45" fmla="*/ 924 h 3284"/>
              <a:gd name="T46" fmla="*/ 836 w 2872"/>
              <a:gd name="T47" fmla="*/ 948 h 3284"/>
              <a:gd name="T48" fmla="*/ 860 w 2872"/>
              <a:gd name="T49" fmla="*/ 1113 h 3284"/>
              <a:gd name="T50" fmla="*/ 778 w 2872"/>
              <a:gd name="T51" fmla="*/ 1195 h 3284"/>
              <a:gd name="T52" fmla="*/ 1069 w 2872"/>
              <a:gd name="T53" fmla="*/ 1885 h 3284"/>
              <a:gd name="T54" fmla="*/ 987 w 2872"/>
              <a:gd name="T55" fmla="*/ 1803 h 3284"/>
              <a:gd name="T56" fmla="*/ 1011 w 2872"/>
              <a:gd name="T57" fmla="*/ 1641 h 3284"/>
              <a:gd name="T58" fmla="*/ 2015 w 2872"/>
              <a:gd name="T59" fmla="*/ 1617 h 3284"/>
              <a:gd name="T60" fmla="*/ 2097 w 2872"/>
              <a:gd name="T61" fmla="*/ 1699 h 3284"/>
              <a:gd name="T62" fmla="*/ 2073 w 2872"/>
              <a:gd name="T63" fmla="*/ 1861 h 3284"/>
              <a:gd name="T64" fmla="*/ 1069 w 2872"/>
              <a:gd name="T65" fmla="*/ 1885 h 3284"/>
              <a:gd name="T66" fmla="*/ 1579 w 2872"/>
              <a:gd name="T67" fmla="*/ 2633 h 3284"/>
              <a:gd name="T68" fmla="*/ 2872 w 2872"/>
              <a:gd name="T69" fmla="*/ 2627 h 3284"/>
              <a:gd name="T70" fmla="*/ 2216 w 2872"/>
              <a:gd name="T71" fmla="*/ 1980 h 3284"/>
              <a:gd name="T72" fmla="*/ 1770 w 2872"/>
              <a:gd name="T73" fmla="*/ 2622 h 3284"/>
              <a:gd name="T74" fmla="*/ 2131 w 2872"/>
              <a:gd name="T75" fmla="*/ 2655 h 3284"/>
              <a:gd name="T76" fmla="*/ 2671 w 2872"/>
              <a:gd name="T77" fmla="*/ 2460 h 3284"/>
              <a:gd name="T78" fmla="*/ 2128 w 2872"/>
              <a:gd name="T79" fmla="*/ 2950 h 3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72" h="3284">
                <a:moveTo>
                  <a:pt x="1468" y="2605"/>
                </a:moveTo>
                <a:cubicBezTo>
                  <a:pt x="1471" y="2320"/>
                  <a:pt x="1638" y="2061"/>
                  <a:pt x="1898" y="1941"/>
                </a:cubicBezTo>
                <a:cubicBezTo>
                  <a:pt x="2158" y="1822"/>
                  <a:pt x="2463" y="1864"/>
                  <a:pt x="2681" y="2048"/>
                </a:cubicBezTo>
                <a:cubicBezTo>
                  <a:pt x="2681" y="328"/>
                  <a:pt x="2681" y="328"/>
                  <a:pt x="2681" y="328"/>
                </a:cubicBezTo>
                <a:cubicBezTo>
                  <a:pt x="2681" y="147"/>
                  <a:pt x="2535" y="0"/>
                  <a:pt x="2354" y="0"/>
                </a:cubicBezTo>
                <a:cubicBezTo>
                  <a:pt x="332" y="0"/>
                  <a:pt x="332" y="0"/>
                  <a:pt x="332" y="0"/>
                </a:cubicBezTo>
                <a:cubicBezTo>
                  <a:pt x="151" y="0"/>
                  <a:pt x="4" y="147"/>
                  <a:pt x="4" y="328"/>
                </a:cubicBezTo>
                <a:cubicBezTo>
                  <a:pt x="4" y="3014"/>
                  <a:pt x="4" y="3014"/>
                  <a:pt x="4" y="3014"/>
                </a:cubicBezTo>
                <a:cubicBezTo>
                  <a:pt x="0" y="3105"/>
                  <a:pt x="44" y="3191"/>
                  <a:pt x="121" y="3240"/>
                </a:cubicBezTo>
                <a:cubicBezTo>
                  <a:pt x="201" y="3284"/>
                  <a:pt x="299" y="3282"/>
                  <a:pt x="378" y="3234"/>
                </a:cubicBezTo>
                <a:cubicBezTo>
                  <a:pt x="1350" y="2704"/>
                  <a:pt x="1350" y="2704"/>
                  <a:pt x="1350" y="2704"/>
                </a:cubicBezTo>
                <a:cubicBezTo>
                  <a:pt x="1491" y="2781"/>
                  <a:pt x="1491" y="2781"/>
                  <a:pt x="1491" y="2781"/>
                </a:cubicBezTo>
                <a:cubicBezTo>
                  <a:pt x="1476" y="2723"/>
                  <a:pt x="1469" y="2665"/>
                  <a:pt x="1468" y="2605"/>
                </a:cubicBezTo>
                <a:close/>
                <a:moveTo>
                  <a:pt x="987" y="1006"/>
                </a:moveTo>
                <a:cubicBezTo>
                  <a:pt x="987" y="985"/>
                  <a:pt x="996" y="964"/>
                  <a:pt x="1011" y="948"/>
                </a:cubicBezTo>
                <a:cubicBezTo>
                  <a:pt x="1027" y="933"/>
                  <a:pt x="1048" y="924"/>
                  <a:pt x="1069" y="924"/>
                </a:cubicBezTo>
                <a:cubicBezTo>
                  <a:pt x="2015" y="924"/>
                  <a:pt x="2015" y="924"/>
                  <a:pt x="2015" y="924"/>
                </a:cubicBezTo>
                <a:cubicBezTo>
                  <a:pt x="2036" y="924"/>
                  <a:pt x="2057" y="933"/>
                  <a:pt x="2073" y="948"/>
                </a:cubicBezTo>
                <a:cubicBezTo>
                  <a:pt x="2088" y="964"/>
                  <a:pt x="2097" y="985"/>
                  <a:pt x="2097" y="1006"/>
                </a:cubicBezTo>
                <a:cubicBezTo>
                  <a:pt x="2097" y="1114"/>
                  <a:pt x="2097" y="1114"/>
                  <a:pt x="2097" y="1114"/>
                </a:cubicBezTo>
                <a:cubicBezTo>
                  <a:pt x="2097" y="1135"/>
                  <a:pt x="2088" y="1156"/>
                  <a:pt x="2073" y="1172"/>
                </a:cubicBezTo>
                <a:cubicBezTo>
                  <a:pt x="2057" y="1187"/>
                  <a:pt x="2036" y="1196"/>
                  <a:pt x="2015" y="1196"/>
                </a:cubicBezTo>
                <a:cubicBezTo>
                  <a:pt x="1069" y="1196"/>
                  <a:pt x="1069" y="1196"/>
                  <a:pt x="1069" y="1196"/>
                </a:cubicBezTo>
                <a:cubicBezTo>
                  <a:pt x="1048" y="1196"/>
                  <a:pt x="1027" y="1187"/>
                  <a:pt x="1011" y="1172"/>
                </a:cubicBezTo>
                <a:cubicBezTo>
                  <a:pt x="996" y="1156"/>
                  <a:pt x="987" y="1135"/>
                  <a:pt x="987" y="1114"/>
                </a:cubicBezTo>
                <a:lnTo>
                  <a:pt x="987" y="1006"/>
                </a:lnTo>
                <a:close/>
                <a:moveTo>
                  <a:pt x="778" y="1885"/>
                </a:moveTo>
                <a:cubicBezTo>
                  <a:pt x="672" y="1885"/>
                  <a:pt x="672" y="1885"/>
                  <a:pt x="672" y="1885"/>
                </a:cubicBezTo>
                <a:cubicBezTo>
                  <a:pt x="650" y="1885"/>
                  <a:pt x="629" y="1876"/>
                  <a:pt x="614" y="1861"/>
                </a:cubicBezTo>
                <a:cubicBezTo>
                  <a:pt x="599" y="1845"/>
                  <a:pt x="590" y="1824"/>
                  <a:pt x="590" y="1803"/>
                </a:cubicBezTo>
                <a:cubicBezTo>
                  <a:pt x="590" y="1699"/>
                  <a:pt x="590" y="1699"/>
                  <a:pt x="590" y="1699"/>
                </a:cubicBezTo>
                <a:cubicBezTo>
                  <a:pt x="590" y="1678"/>
                  <a:pt x="599" y="1657"/>
                  <a:pt x="614" y="1641"/>
                </a:cubicBezTo>
                <a:cubicBezTo>
                  <a:pt x="629" y="1626"/>
                  <a:pt x="650" y="1617"/>
                  <a:pt x="672" y="1617"/>
                </a:cubicBezTo>
                <a:cubicBezTo>
                  <a:pt x="778" y="1617"/>
                  <a:pt x="778" y="1617"/>
                  <a:pt x="778" y="1617"/>
                </a:cubicBezTo>
                <a:cubicBezTo>
                  <a:pt x="799" y="1617"/>
                  <a:pt x="820" y="1626"/>
                  <a:pt x="836" y="1641"/>
                </a:cubicBezTo>
                <a:cubicBezTo>
                  <a:pt x="851" y="1657"/>
                  <a:pt x="860" y="1678"/>
                  <a:pt x="860" y="1699"/>
                </a:cubicBezTo>
                <a:cubicBezTo>
                  <a:pt x="860" y="1803"/>
                  <a:pt x="860" y="1803"/>
                  <a:pt x="860" y="1803"/>
                </a:cubicBezTo>
                <a:cubicBezTo>
                  <a:pt x="860" y="1824"/>
                  <a:pt x="851" y="1845"/>
                  <a:pt x="836" y="1861"/>
                </a:cubicBezTo>
                <a:cubicBezTo>
                  <a:pt x="820" y="1876"/>
                  <a:pt x="799" y="1885"/>
                  <a:pt x="778" y="1885"/>
                </a:cubicBezTo>
                <a:close/>
                <a:moveTo>
                  <a:pt x="778" y="1192"/>
                </a:moveTo>
                <a:cubicBezTo>
                  <a:pt x="672" y="1192"/>
                  <a:pt x="672" y="1192"/>
                  <a:pt x="672" y="1192"/>
                </a:cubicBezTo>
                <a:cubicBezTo>
                  <a:pt x="650" y="1192"/>
                  <a:pt x="629" y="1183"/>
                  <a:pt x="614" y="1168"/>
                </a:cubicBezTo>
                <a:cubicBezTo>
                  <a:pt x="599" y="1152"/>
                  <a:pt x="590" y="1131"/>
                  <a:pt x="590" y="1110"/>
                </a:cubicBezTo>
                <a:cubicBezTo>
                  <a:pt x="590" y="1006"/>
                  <a:pt x="590" y="1006"/>
                  <a:pt x="590" y="1006"/>
                </a:cubicBezTo>
                <a:cubicBezTo>
                  <a:pt x="590" y="984"/>
                  <a:pt x="599" y="963"/>
                  <a:pt x="614" y="948"/>
                </a:cubicBezTo>
                <a:cubicBezTo>
                  <a:pt x="629" y="932"/>
                  <a:pt x="650" y="924"/>
                  <a:pt x="672" y="924"/>
                </a:cubicBezTo>
                <a:cubicBezTo>
                  <a:pt x="778" y="924"/>
                  <a:pt x="778" y="924"/>
                  <a:pt x="778" y="924"/>
                </a:cubicBezTo>
                <a:cubicBezTo>
                  <a:pt x="800" y="924"/>
                  <a:pt x="821" y="932"/>
                  <a:pt x="836" y="948"/>
                </a:cubicBezTo>
                <a:cubicBezTo>
                  <a:pt x="852" y="963"/>
                  <a:pt x="860" y="984"/>
                  <a:pt x="860" y="1006"/>
                </a:cubicBezTo>
                <a:cubicBezTo>
                  <a:pt x="860" y="1113"/>
                  <a:pt x="860" y="1113"/>
                  <a:pt x="860" y="1113"/>
                </a:cubicBezTo>
                <a:cubicBezTo>
                  <a:pt x="860" y="1135"/>
                  <a:pt x="852" y="1155"/>
                  <a:pt x="836" y="1171"/>
                </a:cubicBezTo>
                <a:cubicBezTo>
                  <a:pt x="821" y="1186"/>
                  <a:pt x="800" y="1195"/>
                  <a:pt x="778" y="1195"/>
                </a:cubicBezTo>
                <a:lnTo>
                  <a:pt x="778" y="1192"/>
                </a:lnTo>
                <a:close/>
                <a:moveTo>
                  <a:pt x="1069" y="1885"/>
                </a:moveTo>
                <a:cubicBezTo>
                  <a:pt x="1048" y="1885"/>
                  <a:pt x="1027" y="1876"/>
                  <a:pt x="1011" y="1861"/>
                </a:cubicBezTo>
                <a:cubicBezTo>
                  <a:pt x="996" y="1845"/>
                  <a:pt x="987" y="1824"/>
                  <a:pt x="987" y="1803"/>
                </a:cubicBezTo>
                <a:cubicBezTo>
                  <a:pt x="987" y="1699"/>
                  <a:pt x="987" y="1699"/>
                  <a:pt x="987" y="1699"/>
                </a:cubicBezTo>
                <a:cubicBezTo>
                  <a:pt x="987" y="1678"/>
                  <a:pt x="996" y="1657"/>
                  <a:pt x="1011" y="1641"/>
                </a:cubicBezTo>
                <a:cubicBezTo>
                  <a:pt x="1027" y="1626"/>
                  <a:pt x="1048" y="1617"/>
                  <a:pt x="1069" y="1617"/>
                </a:cubicBezTo>
                <a:cubicBezTo>
                  <a:pt x="2015" y="1617"/>
                  <a:pt x="2015" y="1617"/>
                  <a:pt x="2015" y="1617"/>
                </a:cubicBezTo>
                <a:cubicBezTo>
                  <a:pt x="2036" y="1617"/>
                  <a:pt x="2057" y="1626"/>
                  <a:pt x="2073" y="1641"/>
                </a:cubicBezTo>
                <a:cubicBezTo>
                  <a:pt x="2088" y="1657"/>
                  <a:pt x="2097" y="1678"/>
                  <a:pt x="2097" y="1699"/>
                </a:cubicBezTo>
                <a:cubicBezTo>
                  <a:pt x="2097" y="1803"/>
                  <a:pt x="2097" y="1803"/>
                  <a:pt x="2097" y="1803"/>
                </a:cubicBezTo>
                <a:cubicBezTo>
                  <a:pt x="2097" y="1824"/>
                  <a:pt x="2088" y="1845"/>
                  <a:pt x="2073" y="1861"/>
                </a:cubicBezTo>
                <a:cubicBezTo>
                  <a:pt x="2057" y="1876"/>
                  <a:pt x="2036" y="1885"/>
                  <a:pt x="2015" y="1885"/>
                </a:cubicBezTo>
                <a:lnTo>
                  <a:pt x="1069" y="1885"/>
                </a:lnTo>
                <a:close/>
                <a:moveTo>
                  <a:pt x="2216" y="1980"/>
                </a:moveTo>
                <a:cubicBezTo>
                  <a:pt x="1860" y="1985"/>
                  <a:pt x="1576" y="2277"/>
                  <a:pt x="1579" y="2633"/>
                </a:cubicBezTo>
                <a:cubicBezTo>
                  <a:pt x="1582" y="2988"/>
                  <a:pt x="1872" y="3275"/>
                  <a:pt x="2228" y="3273"/>
                </a:cubicBezTo>
                <a:cubicBezTo>
                  <a:pt x="2584" y="3271"/>
                  <a:pt x="2872" y="2983"/>
                  <a:pt x="2872" y="2627"/>
                </a:cubicBezTo>
                <a:cubicBezTo>
                  <a:pt x="2872" y="2454"/>
                  <a:pt x="2802" y="2288"/>
                  <a:pt x="2679" y="2167"/>
                </a:cubicBezTo>
                <a:cubicBezTo>
                  <a:pt x="2556" y="2045"/>
                  <a:pt x="2389" y="1978"/>
                  <a:pt x="2216" y="1980"/>
                </a:cubicBezTo>
                <a:close/>
                <a:moveTo>
                  <a:pt x="2128" y="2950"/>
                </a:moveTo>
                <a:cubicBezTo>
                  <a:pt x="1770" y="2622"/>
                  <a:pt x="1770" y="2622"/>
                  <a:pt x="1770" y="2622"/>
                </a:cubicBezTo>
                <a:cubicBezTo>
                  <a:pt x="1934" y="2476"/>
                  <a:pt x="1934" y="2476"/>
                  <a:pt x="1934" y="2476"/>
                </a:cubicBezTo>
                <a:cubicBezTo>
                  <a:pt x="2131" y="2655"/>
                  <a:pt x="2131" y="2655"/>
                  <a:pt x="2131" y="2655"/>
                </a:cubicBezTo>
                <a:cubicBezTo>
                  <a:pt x="2507" y="2314"/>
                  <a:pt x="2507" y="2314"/>
                  <a:pt x="2507" y="2314"/>
                </a:cubicBezTo>
                <a:cubicBezTo>
                  <a:pt x="2671" y="2460"/>
                  <a:pt x="2671" y="2460"/>
                  <a:pt x="2671" y="2460"/>
                </a:cubicBezTo>
                <a:lnTo>
                  <a:pt x="2128" y="2950"/>
                </a:lnTo>
                <a:close/>
                <a:moveTo>
                  <a:pt x="2128" y="2950"/>
                </a:moveTo>
                <a:cubicBezTo>
                  <a:pt x="2128" y="2950"/>
                  <a:pt x="2128" y="2950"/>
                  <a:pt x="2128" y="2950"/>
                </a:cubicBezTo>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 name="文本框 2"/>
          <p:cNvSpPr txBox="1"/>
          <p:nvPr/>
        </p:nvSpPr>
        <p:spPr>
          <a:xfrm>
            <a:off x="785493" y="2269286"/>
            <a:ext cx="10621010" cy="1282700"/>
          </a:xfrm>
          <a:prstGeom prst="rect">
            <a:avLst/>
          </a:prstGeom>
          <a:noFill/>
        </p:spPr>
        <p:txBody>
          <a:bodyPr wrap="square" rtlCol="0">
            <a:noAutofit/>
          </a:bodyPr>
          <a:lstStyle/>
          <a:p>
            <a:pPr algn="ctr">
              <a:buFont typeface="Wingdings" panose="05000000000000000000" charset="0"/>
            </a:pPr>
            <a:r>
              <a:rPr lang="en-US" altLang="zh-CN" sz="3200" b="1" dirty="0" err="1">
                <a:solidFill>
                  <a:schemeClr val="accent5">
                    <a:lumMod val="50000"/>
                  </a:schemeClr>
                </a:solidFill>
                <a:cs typeface="+mn-ea"/>
              </a:rPr>
              <a:t>MedSAM</a:t>
            </a:r>
            <a:r>
              <a:rPr lang="en-US" altLang="zh-CN" sz="3200" b="1" dirty="0">
                <a:solidFill>
                  <a:schemeClr val="accent5">
                    <a:lumMod val="50000"/>
                  </a:schemeClr>
                </a:solidFill>
                <a:cs typeface="+mn-ea"/>
              </a:rPr>
              <a:t>-Agent: Empowering Interactive Medical Image Segmentation with</a:t>
            </a:r>
          </a:p>
          <a:p>
            <a:pPr algn="ctr">
              <a:buFont typeface="Wingdings" panose="05000000000000000000" charset="0"/>
            </a:pPr>
            <a:r>
              <a:rPr lang="en-US" altLang="zh-CN" sz="3200" b="1" dirty="0">
                <a:solidFill>
                  <a:schemeClr val="accent5">
                    <a:lumMod val="50000"/>
                  </a:schemeClr>
                </a:solidFill>
                <a:cs typeface="+mn-ea"/>
              </a:rPr>
              <a:t>Multi-turn Agentic Reinforcement Learning</a:t>
            </a:r>
          </a:p>
        </p:txBody>
      </p:sp>
      <p:sp>
        <p:nvSpPr>
          <p:cNvPr id="2" name="文本框 1"/>
          <p:cNvSpPr txBox="1"/>
          <p:nvPr/>
        </p:nvSpPr>
        <p:spPr>
          <a:xfrm>
            <a:off x="2050113" y="4247746"/>
            <a:ext cx="8091771" cy="891436"/>
          </a:xfrm>
          <a:prstGeom prst="rect">
            <a:avLst/>
          </a:prstGeom>
          <a:noFill/>
        </p:spPr>
        <p:txBody>
          <a:bodyPr wrap="square" rtlCol="0">
            <a:noAutofit/>
          </a:bodyPr>
          <a:lstStyle/>
          <a:p>
            <a:pPr algn="ctr"/>
            <a:r>
              <a:rPr lang="en-US" altLang="zh-CN" sz="2400" dirty="0">
                <a:solidFill>
                  <a:schemeClr val="accent5">
                    <a:lumMod val="50000"/>
                  </a:schemeClr>
                </a:solidFill>
                <a:cs typeface="+mn-ea"/>
              </a:rPr>
              <a:t> </a:t>
            </a:r>
            <a:r>
              <a:rPr lang="en-US" altLang="zh-CN" sz="2400" dirty="0" err="1">
                <a:solidFill>
                  <a:schemeClr val="accent5">
                    <a:lumMod val="50000"/>
                  </a:schemeClr>
                </a:solidFill>
                <a:cs typeface="+mn-ea"/>
              </a:rPr>
              <a:t>arXiv</a:t>
            </a:r>
            <a:endParaRPr lang="en-US" altLang="zh-CN" sz="2400" dirty="0">
              <a:solidFill>
                <a:schemeClr val="accent5">
                  <a:lumMod val="50000"/>
                </a:schemeClr>
              </a:solidFill>
              <a:cs typeface="+mn-ea"/>
            </a:endParaRPr>
          </a:p>
          <a:p>
            <a:pPr algn="ctr"/>
            <a:r>
              <a:rPr lang="zh-CN" altLang="zh-CN" sz="2400" dirty="0">
                <a:solidFill>
                  <a:schemeClr val="accent5">
                    <a:lumMod val="50000"/>
                  </a:schemeClr>
                </a:solidFill>
                <a:cs typeface="+mn-ea"/>
              </a:rPr>
              <a:t>February</a:t>
            </a:r>
            <a:r>
              <a:rPr lang="en-US" altLang="zh-CN" sz="2400" dirty="0">
                <a:solidFill>
                  <a:schemeClr val="accent5">
                    <a:lumMod val="50000"/>
                  </a:schemeClr>
                </a:solidFill>
                <a:cs typeface="+mn-ea"/>
              </a:rPr>
              <a:t> 2026</a:t>
            </a:r>
            <a:endParaRPr lang="zh-CN" altLang="en-US" sz="2400" dirty="0">
              <a:solidFill>
                <a:schemeClr val="accent5">
                  <a:lumMod val="50000"/>
                </a:schemeClr>
              </a:solidFill>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216025" cy="460375"/>
          </a:xfrm>
          <a:prstGeom prst="rect">
            <a:avLst/>
          </a:prstGeom>
        </p:spPr>
        <p:txBody>
          <a:bodyPr wrap="none">
            <a:spAutoFit/>
          </a:bodyPr>
          <a:lstStyle/>
          <a:p>
            <a:pPr algn="l"/>
            <a:r>
              <a:rPr lang="en-US" altLang="zh-CN" sz="2400" b="1" dirty="0">
                <a:solidFill>
                  <a:schemeClr val="accent1">
                    <a:lumMod val="50000"/>
                  </a:schemeClr>
                </a:solidFill>
              </a:rPr>
              <a:t>01 </a:t>
            </a:r>
            <a:r>
              <a:rPr lang="zh-CN" altLang="en-US" sz="2400" b="1" dirty="0">
                <a:solidFill>
                  <a:schemeClr val="accent1">
                    <a:lumMod val="50000"/>
                  </a:schemeClr>
                </a:solidFill>
              </a:rPr>
              <a:t>作者</a:t>
            </a:r>
          </a:p>
        </p:txBody>
      </p:sp>
      <p:pic>
        <p:nvPicPr>
          <p:cNvPr id="10" name="图片 9"/>
          <p:cNvPicPr/>
          <p:nvPr/>
        </p:nvPicPr>
        <p:blipFill>
          <a:blip r:embed="rId2">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3" name="图片 2">
            <a:extLst>
              <a:ext uri="{FF2B5EF4-FFF2-40B4-BE49-F238E27FC236}">
                <a16:creationId xmlns:a16="http://schemas.microsoft.com/office/drawing/2014/main" id="{758CE04F-ACBF-E73D-417D-FBAC3F2B6E45}"/>
              </a:ext>
            </a:extLst>
          </p:cNvPr>
          <p:cNvPicPr>
            <a:picLocks noChangeAspect="1"/>
          </p:cNvPicPr>
          <p:nvPr/>
        </p:nvPicPr>
        <p:blipFill>
          <a:blip r:embed="rId3"/>
          <a:stretch>
            <a:fillRect/>
          </a:stretch>
        </p:blipFill>
        <p:spPr>
          <a:xfrm>
            <a:off x="1776352" y="791969"/>
            <a:ext cx="7668379" cy="55914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custDataLst>
              <p:tags r:id="rId1"/>
            </p:custDataLst>
          </p:nvPr>
        </p:nvSpPr>
        <p:spPr>
          <a:xfrm>
            <a:off x="1006955" y="331594"/>
            <a:ext cx="1825625" cy="460375"/>
          </a:xfrm>
          <a:prstGeom prst="rect">
            <a:avLst/>
          </a:prstGeom>
        </p:spPr>
        <p:txBody>
          <a:bodyPr wrap="none">
            <a:spAutoFit/>
          </a:bodyPr>
          <a:lstStyle/>
          <a:p>
            <a:r>
              <a:rPr lang="en-US" altLang="zh-CN" sz="2400" b="1" dirty="0">
                <a:solidFill>
                  <a:schemeClr val="accent1">
                    <a:lumMod val="50000"/>
                  </a:schemeClr>
                </a:solidFill>
              </a:rPr>
              <a:t>02 </a:t>
            </a:r>
            <a:r>
              <a:rPr lang="zh-CN" altLang="en-US" sz="2400" b="1" dirty="0">
                <a:solidFill>
                  <a:schemeClr val="accent1">
                    <a:lumMod val="50000"/>
                  </a:schemeClr>
                </a:solidFill>
              </a:rPr>
              <a:t>问题导入</a:t>
            </a:r>
          </a:p>
        </p:txBody>
      </p:sp>
      <p:pic>
        <p:nvPicPr>
          <p:cNvPr id="6" name="图片 5"/>
          <p:cNvPicPr/>
          <p:nvPr/>
        </p:nvPicPr>
        <p:blipFill>
          <a:blip r:embed="rId8">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
        <p:nvSpPr>
          <p:cNvPr id="11" name="矩形 10"/>
          <p:cNvSpPr/>
          <p:nvPr>
            <p:custDataLst>
              <p:tags r:id="rId2"/>
            </p:custDataLst>
          </p:nvPr>
        </p:nvSpPr>
        <p:spPr>
          <a:xfrm>
            <a:off x="1005840" y="857249"/>
            <a:ext cx="4826549" cy="1804981"/>
          </a:xfrm>
          <a:prstGeom prst="rect">
            <a:avLst/>
          </a:prstGeom>
        </p:spPr>
        <p:txBody>
          <a:bodyPr wrap="square">
            <a:spAutoFit/>
          </a:bodyPr>
          <a:lstStyle/>
          <a:p>
            <a:pPr indent="0" algn="l">
              <a:buFont typeface="Wingdings" panose="05000000000000000000" charset="0"/>
              <a:buNone/>
            </a:pPr>
            <a:r>
              <a:rPr lang="en-US" altLang="zh-CN" sz="2000" b="1" dirty="0">
                <a:solidFill>
                  <a:srgbClr val="C00000"/>
                </a:solidFill>
                <a:cs typeface="+mn-ea"/>
                <a:sym typeface="+mn-lt"/>
              </a:rPr>
              <a:t>1.</a:t>
            </a:r>
            <a:r>
              <a:rPr lang="zh-CN" altLang="en-US" sz="2000" b="1" dirty="0">
                <a:solidFill>
                  <a:srgbClr val="C00000"/>
                </a:solidFill>
                <a:cs typeface="+mn-ea"/>
                <a:sym typeface="+mn-lt"/>
              </a:rPr>
              <a:t>交互分割对人工依赖高</a:t>
            </a:r>
            <a:endParaRPr lang="en-US" altLang="zh-CN" sz="2000" b="1" dirty="0">
              <a:solidFill>
                <a:srgbClr val="C00000"/>
              </a:solidFill>
              <a:cs typeface="+mn-ea"/>
              <a:sym typeface="+mn-lt"/>
            </a:endParaRPr>
          </a:p>
          <a:p>
            <a:pPr indent="0">
              <a:lnSpc>
                <a:spcPct val="130000"/>
              </a:lnSpc>
              <a:buFont typeface="Wingdings" panose="05000000000000000000" charset="0"/>
              <a:buNone/>
            </a:pPr>
            <a:r>
              <a:rPr lang="zh-CN" altLang="en-US" dirty="0">
                <a:solidFill>
                  <a:schemeClr val="accent5">
                    <a:lumMod val="50000"/>
                  </a:schemeClr>
                </a:solidFill>
                <a:cs typeface="+mn-ea"/>
                <a:sym typeface="+mn-lt"/>
              </a:rPr>
              <a:t>现有的交互式分割（如 </a:t>
            </a:r>
            <a:r>
              <a:rPr lang="en-US" altLang="zh-CN" dirty="0">
                <a:solidFill>
                  <a:schemeClr val="accent5">
                    <a:lumMod val="50000"/>
                  </a:schemeClr>
                </a:solidFill>
                <a:cs typeface="+mn-ea"/>
                <a:sym typeface="+mn-lt"/>
              </a:rPr>
              <a:t>SAM, </a:t>
            </a:r>
            <a:r>
              <a:rPr lang="en-US" altLang="zh-CN" dirty="0" err="1">
                <a:solidFill>
                  <a:schemeClr val="accent5">
                    <a:lumMod val="50000"/>
                  </a:schemeClr>
                </a:solidFill>
                <a:cs typeface="+mn-ea"/>
                <a:sym typeface="+mn-lt"/>
              </a:rPr>
              <a:t>MedSAM</a:t>
            </a:r>
            <a:r>
              <a:rPr lang="zh-CN" altLang="en-US" dirty="0">
                <a:solidFill>
                  <a:schemeClr val="accent5">
                    <a:lumMod val="50000"/>
                  </a:schemeClr>
                </a:solidFill>
                <a:cs typeface="+mn-ea"/>
                <a:sym typeface="+mn-lt"/>
              </a:rPr>
              <a:t>）高度依赖人类连续手动输入提示词（点</a:t>
            </a:r>
            <a:r>
              <a:rPr lang="en-US" altLang="zh-CN" dirty="0">
                <a:solidFill>
                  <a:schemeClr val="accent5">
                    <a:lumMod val="50000"/>
                  </a:schemeClr>
                </a:solidFill>
                <a:cs typeface="+mn-ea"/>
                <a:sym typeface="+mn-lt"/>
              </a:rPr>
              <a:t>/</a:t>
            </a:r>
            <a:r>
              <a:rPr lang="zh-CN" altLang="en-US" dirty="0">
                <a:solidFill>
                  <a:schemeClr val="accent5">
                    <a:lumMod val="50000"/>
                  </a:schemeClr>
                </a:solidFill>
                <a:cs typeface="+mn-ea"/>
                <a:sym typeface="+mn-lt"/>
              </a:rPr>
              <a:t>框），限制了自动化程度，无法实现无人工干预的自主分割。</a:t>
            </a:r>
          </a:p>
        </p:txBody>
      </p:sp>
      <p:sp>
        <p:nvSpPr>
          <p:cNvPr id="15" name="矩形 14"/>
          <p:cNvSpPr/>
          <p:nvPr>
            <p:custDataLst>
              <p:tags r:id="rId3"/>
            </p:custDataLst>
          </p:nvPr>
        </p:nvSpPr>
        <p:spPr>
          <a:xfrm>
            <a:off x="943847" y="2823451"/>
            <a:ext cx="4778488" cy="2502312"/>
          </a:xfrm>
          <a:prstGeom prst="rect">
            <a:avLst/>
          </a:prstGeom>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en-US" altLang="zh-CN" sz="2000" b="1" i="0" u="none" strike="noStrike" kern="1200" cap="none" spc="0" normalizeH="0" baseline="0" noProof="0" dirty="0">
                <a:ln>
                  <a:noFill/>
                </a:ln>
                <a:solidFill>
                  <a:srgbClr val="C00000"/>
                </a:solidFill>
                <a:effectLst/>
                <a:uLnTx/>
                <a:uFillTx/>
                <a:latin typeface="Arial"/>
                <a:ea typeface="微软雅黑"/>
                <a:cs typeface="+mn-ea"/>
                <a:sym typeface="+mn-lt"/>
              </a:rPr>
              <a:t>2.</a:t>
            </a:r>
            <a:r>
              <a:rPr kumimoji="0" lang="zh-CN" altLang="en-US" sz="2000" b="1" i="0" u="none" strike="noStrike" kern="1200" cap="none" spc="0" normalizeH="0" baseline="0" noProof="0" dirty="0">
                <a:ln>
                  <a:noFill/>
                </a:ln>
                <a:solidFill>
                  <a:srgbClr val="C00000"/>
                </a:solidFill>
                <a:effectLst/>
                <a:uLnTx/>
                <a:uFillTx/>
                <a:latin typeface="Arial"/>
                <a:ea typeface="微软雅黑"/>
                <a:cs typeface="+mn-ea"/>
                <a:sym typeface="+mn-lt"/>
              </a:rPr>
              <a:t>智能体交互僵化且动作冗余</a:t>
            </a:r>
            <a:endParaRPr kumimoji="0" lang="en-US" altLang="zh-CN" sz="2000" b="1" i="0" u="none" strike="noStrike" kern="1200" cap="none" spc="0" normalizeH="0" baseline="0" noProof="0" dirty="0">
              <a:ln>
                <a:noFill/>
              </a:ln>
              <a:solidFill>
                <a:srgbClr val="C00000"/>
              </a:solidFill>
              <a:effectLst/>
              <a:uLnTx/>
              <a:uFillTx/>
              <a:latin typeface="Arial"/>
              <a:ea typeface="微软雅黑"/>
              <a:cs typeface="+mn-ea"/>
              <a:sym typeface="+mn-lt"/>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lang="zh-CN" altLang="en-US" b="1" dirty="0">
                <a:solidFill>
                  <a:schemeClr val="accent5">
                    <a:lumMod val="50000"/>
                  </a:schemeClr>
                </a:solidFill>
                <a:cs typeface="+mn-ea"/>
                <a:sym typeface="+mn-lt"/>
              </a:rPr>
              <a:t>策略单轮僵化</a:t>
            </a:r>
            <a:r>
              <a:rPr lang="zh-CN" altLang="en-US" dirty="0">
                <a:solidFill>
                  <a:schemeClr val="accent5">
                    <a:lumMod val="50000"/>
                  </a:schemeClr>
                </a:solidFill>
                <a:cs typeface="+mn-ea"/>
                <a:sym typeface="+mn-lt"/>
              </a:rPr>
              <a:t>： 现有方法多依赖单轮提示</a:t>
            </a:r>
            <a:r>
              <a:rPr lang="en-US" altLang="zh-CN" dirty="0">
                <a:solidFill>
                  <a:schemeClr val="accent5">
                    <a:lumMod val="50000"/>
                  </a:schemeClr>
                </a:solidFill>
                <a:cs typeface="+mn-ea"/>
                <a:sym typeface="+mn-lt"/>
              </a:rPr>
              <a:t>,</a:t>
            </a:r>
            <a:r>
              <a:rPr lang="zh-CN" altLang="en-US" dirty="0">
                <a:solidFill>
                  <a:schemeClr val="accent5">
                    <a:lumMod val="50000"/>
                  </a:schemeClr>
                </a:solidFill>
                <a:cs typeface="+mn-ea"/>
                <a:sym typeface="+mn-lt"/>
              </a:rPr>
              <a:t>或采用固定单一的“纯点”点击路径，缺乏空间灵活性，无法利用边界框作为类似的人类锚点来捕捉全局上下文。</a:t>
            </a:r>
            <a:endParaRPr lang="en-US" altLang="zh-CN" dirty="0">
              <a:solidFill>
                <a:schemeClr val="accent5">
                  <a:lumMod val="50000"/>
                </a:schemeClr>
              </a:solidFill>
              <a:cs typeface="+mn-ea"/>
              <a:sym typeface="+mn-lt"/>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lang="zh-CN" altLang="en-US" b="1" dirty="0">
                <a:solidFill>
                  <a:schemeClr val="accent5">
                    <a:lumMod val="50000"/>
                  </a:schemeClr>
                </a:solidFill>
                <a:cs typeface="+mn-ea"/>
                <a:sym typeface="+mn-lt"/>
              </a:rPr>
              <a:t>过程监督缺失： </a:t>
            </a:r>
            <a:r>
              <a:rPr lang="zh-CN" altLang="en-US" dirty="0">
                <a:solidFill>
                  <a:schemeClr val="accent5">
                    <a:lumMod val="50000"/>
                  </a:schemeClr>
                </a:solidFill>
                <a:cs typeface="+mn-ea"/>
                <a:sym typeface="+mn-lt"/>
              </a:rPr>
              <a:t>现有的强化学习只看最终分割结果，忽略中间步骤的效率，导致智能体产生大量不必要的步骤。</a:t>
            </a:r>
            <a:endParaRPr lang="en-US" altLang="zh-CN" dirty="0">
              <a:solidFill>
                <a:schemeClr val="accent5">
                  <a:lumMod val="50000"/>
                </a:schemeClr>
              </a:solidFill>
              <a:cs typeface="+mn-ea"/>
              <a:sym typeface="+mn-lt"/>
            </a:endParaRPr>
          </a:p>
        </p:txBody>
      </p:sp>
      <p:grpSp>
        <p:nvGrpSpPr>
          <p:cNvPr id="20" name="组合 19"/>
          <p:cNvGrpSpPr/>
          <p:nvPr>
            <p:custDataLst>
              <p:tags r:id="rId4"/>
            </p:custDataLst>
          </p:nvPr>
        </p:nvGrpSpPr>
        <p:grpSpPr>
          <a:xfrm>
            <a:off x="1004474" y="4187190"/>
            <a:ext cx="9236377" cy="1242060"/>
            <a:chOff x="9598" y="1349"/>
            <a:chExt cx="7008" cy="1956"/>
          </a:xfrm>
        </p:grpSpPr>
        <p:sp>
          <p:nvSpPr>
            <p:cNvPr id="21" name="矩形 20"/>
            <p:cNvSpPr/>
            <p:nvPr>
              <p:custDataLst>
                <p:tags r:id="rId5"/>
              </p:custDataLst>
            </p:nvPr>
          </p:nvSpPr>
          <p:spPr>
            <a:xfrm>
              <a:off x="9645" y="1349"/>
              <a:ext cx="6961" cy="628"/>
            </a:xfrm>
            <a:prstGeom prst="rect">
              <a:avLst/>
            </a:prstGeom>
          </p:spPr>
          <p:txBody>
            <a:bodyPr wrap="square">
              <a:spAutoFit/>
            </a:bodyPr>
            <a:lstStyle/>
            <a:p>
              <a:pPr algn="l"/>
              <a:endParaRPr lang="zh-CN" altLang="en-US" sz="2000" b="1" dirty="0">
                <a:solidFill>
                  <a:schemeClr val="accent5">
                    <a:lumMod val="50000"/>
                  </a:schemeClr>
                </a:solidFill>
                <a:cs typeface="+mn-ea"/>
                <a:sym typeface="+mn-lt"/>
              </a:endParaRPr>
            </a:p>
          </p:txBody>
        </p:sp>
        <p:sp>
          <p:nvSpPr>
            <p:cNvPr id="22" name="矩形 21"/>
            <p:cNvSpPr/>
            <p:nvPr>
              <p:custDataLst>
                <p:tags r:id="rId6"/>
              </p:custDataLst>
            </p:nvPr>
          </p:nvSpPr>
          <p:spPr>
            <a:xfrm>
              <a:off x="9598" y="1887"/>
              <a:ext cx="6962" cy="1418"/>
            </a:xfrm>
            <a:prstGeom prst="rect">
              <a:avLst/>
            </a:prstGeom>
          </p:spPr>
          <p:txBody>
            <a:bodyPr wrap="square">
              <a:noAutofit/>
            </a:bodyPr>
            <a:lstStyle/>
            <a:p>
              <a:pPr>
                <a:lnSpc>
                  <a:spcPct val="130000"/>
                </a:lnSpc>
              </a:pPr>
              <a:endParaRPr lang="zh-CN" altLang="en-US" dirty="0">
                <a:solidFill>
                  <a:schemeClr val="accent5">
                    <a:lumMod val="50000"/>
                  </a:schemeClr>
                </a:solidFill>
                <a:cs typeface="+mn-ea"/>
                <a:sym typeface="+mn-lt"/>
              </a:endParaRPr>
            </a:p>
          </p:txBody>
        </p:sp>
      </p:grpSp>
      <p:pic>
        <p:nvPicPr>
          <p:cNvPr id="3" name="图片 2">
            <a:extLst>
              <a:ext uri="{FF2B5EF4-FFF2-40B4-BE49-F238E27FC236}">
                <a16:creationId xmlns:a16="http://schemas.microsoft.com/office/drawing/2014/main" id="{32B1D067-DD5D-BF73-1305-F4C4915D0C31}"/>
              </a:ext>
            </a:extLst>
          </p:cNvPr>
          <p:cNvPicPr>
            <a:picLocks noChangeAspect="1"/>
          </p:cNvPicPr>
          <p:nvPr/>
        </p:nvPicPr>
        <p:blipFill>
          <a:blip r:embed="rId9"/>
          <a:stretch>
            <a:fillRect/>
          </a:stretch>
        </p:blipFill>
        <p:spPr>
          <a:xfrm>
            <a:off x="5832389" y="1065530"/>
            <a:ext cx="6314905" cy="4000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custDataLst>
              <p:tags r:id="rId1"/>
            </p:custDataLst>
          </p:nvPr>
        </p:nvSpPr>
        <p:spPr>
          <a:xfrm>
            <a:off x="1006955" y="331594"/>
            <a:ext cx="1825625" cy="460375"/>
          </a:xfrm>
          <a:prstGeom prst="rect">
            <a:avLst/>
          </a:prstGeom>
        </p:spPr>
        <p:txBody>
          <a:bodyPr wrap="none">
            <a:spAutoFit/>
          </a:bodyPr>
          <a:lstStyle/>
          <a:p>
            <a:r>
              <a:rPr lang="en-US" altLang="zh-CN" sz="2400" b="1" dirty="0">
                <a:solidFill>
                  <a:schemeClr val="accent1">
                    <a:lumMod val="50000"/>
                  </a:schemeClr>
                </a:solidFill>
              </a:rPr>
              <a:t>02 </a:t>
            </a:r>
            <a:r>
              <a:rPr lang="zh-CN" altLang="en-US" sz="2400" b="1" dirty="0">
                <a:solidFill>
                  <a:schemeClr val="accent1">
                    <a:lumMod val="50000"/>
                  </a:schemeClr>
                </a:solidFill>
              </a:rPr>
              <a:t>问题导入</a:t>
            </a:r>
          </a:p>
        </p:txBody>
      </p:sp>
      <p:pic>
        <p:nvPicPr>
          <p:cNvPr id="6" name="图片 5"/>
          <p:cNvPicPr/>
          <p:nvPr/>
        </p:nvPicPr>
        <p:blipFill>
          <a:blip r:embed="rId5">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
        <p:nvSpPr>
          <p:cNvPr id="11" name="矩形 10"/>
          <p:cNvSpPr/>
          <p:nvPr>
            <p:custDataLst>
              <p:tags r:id="rId2"/>
            </p:custDataLst>
          </p:nvPr>
        </p:nvSpPr>
        <p:spPr>
          <a:xfrm>
            <a:off x="3194856" y="779926"/>
            <a:ext cx="5538470" cy="535305"/>
          </a:xfrm>
          <a:prstGeom prst="rect">
            <a:avLst/>
          </a:prstGeom>
        </p:spPr>
        <p:txBody>
          <a:bodyPr wrap="square">
            <a:noAutofit/>
          </a:bodyPr>
          <a:lstStyle/>
          <a:p>
            <a:pPr indent="0" algn="ctr">
              <a:lnSpc>
                <a:spcPct val="150000"/>
              </a:lnSpc>
              <a:buFont typeface="Wingdings" panose="05000000000000000000" charset="0"/>
              <a:buNone/>
            </a:pPr>
            <a:r>
              <a:rPr lang="zh-CN" altLang="en-US" sz="2000" b="1" dirty="0">
                <a:solidFill>
                  <a:schemeClr val="accent5">
                    <a:lumMod val="50000"/>
                  </a:schemeClr>
                </a:solidFill>
                <a:cs typeface="+mn-ea"/>
                <a:sym typeface="+mn-lt"/>
              </a:rPr>
              <a:t>针对以上问题给出本文解决方案</a:t>
            </a:r>
          </a:p>
        </p:txBody>
      </p:sp>
      <p:sp>
        <p:nvSpPr>
          <p:cNvPr id="13" name="流程图: 可选过程 12"/>
          <p:cNvSpPr/>
          <p:nvPr/>
        </p:nvSpPr>
        <p:spPr>
          <a:xfrm>
            <a:off x="2023643" y="3386123"/>
            <a:ext cx="3669833" cy="1531865"/>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0" name="上箭头 1"/>
          <p:cNvSpPr/>
          <p:nvPr/>
        </p:nvSpPr>
        <p:spPr>
          <a:xfrm flipV="1">
            <a:off x="5743574" y="1315231"/>
            <a:ext cx="352426" cy="535305"/>
          </a:xfrm>
          <a:prstGeom prst="upArrow">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2" name="流程图: 可选过程 1">
            <a:extLst>
              <a:ext uri="{FF2B5EF4-FFF2-40B4-BE49-F238E27FC236}">
                <a16:creationId xmlns:a16="http://schemas.microsoft.com/office/drawing/2014/main" id="{D5EAE054-B4E1-0585-9C78-BD2F0D4CCC58}"/>
              </a:ext>
            </a:extLst>
          </p:cNvPr>
          <p:cNvSpPr/>
          <p:nvPr/>
        </p:nvSpPr>
        <p:spPr>
          <a:xfrm>
            <a:off x="3727675" y="1891167"/>
            <a:ext cx="4699634" cy="671067"/>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E8A5841-76BA-D827-6FDB-A0431B85F5F4}"/>
              </a:ext>
            </a:extLst>
          </p:cNvPr>
          <p:cNvSpPr txBox="1"/>
          <p:nvPr/>
        </p:nvSpPr>
        <p:spPr>
          <a:xfrm>
            <a:off x="3858560" y="1921948"/>
            <a:ext cx="4362372" cy="646331"/>
          </a:xfrm>
          <a:prstGeom prst="rect">
            <a:avLst/>
          </a:prstGeom>
          <a:noFill/>
        </p:spPr>
        <p:txBody>
          <a:bodyPr wrap="square" rtlCol="0">
            <a:spAutoFit/>
          </a:bodyPr>
          <a:lstStyle/>
          <a:p>
            <a:r>
              <a:rPr lang="en-US" altLang="zh-CN" dirty="0" err="1">
                <a:solidFill>
                  <a:schemeClr val="accent5">
                    <a:lumMod val="50000"/>
                  </a:schemeClr>
                </a:solidFill>
                <a:cs typeface="+mn-ea"/>
              </a:rPr>
              <a:t>MedSAM</a:t>
            </a:r>
            <a:r>
              <a:rPr lang="en-US" altLang="zh-CN" dirty="0">
                <a:solidFill>
                  <a:schemeClr val="accent5">
                    <a:lumMod val="50000"/>
                  </a:schemeClr>
                </a:solidFill>
                <a:cs typeface="+mn-ea"/>
              </a:rPr>
              <a:t>-Agent</a:t>
            </a:r>
            <a:r>
              <a:rPr lang="zh-CN" altLang="en-US" dirty="0">
                <a:cs typeface="+mn-ea"/>
              </a:rPr>
              <a:t>（基于多轮智能体强化学习的交互式医学图像分割框架）</a:t>
            </a:r>
          </a:p>
        </p:txBody>
      </p:sp>
      <p:sp>
        <p:nvSpPr>
          <p:cNvPr id="4" name="上箭头 1">
            <a:extLst>
              <a:ext uri="{FF2B5EF4-FFF2-40B4-BE49-F238E27FC236}">
                <a16:creationId xmlns:a16="http://schemas.microsoft.com/office/drawing/2014/main" id="{04BB289A-AA9F-52D6-2DD6-C0886C3401D0}"/>
              </a:ext>
            </a:extLst>
          </p:cNvPr>
          <p:cNvSpPr/>
          <p:nvPr/>
        </p:nvSpPr>
        <p:spPr>
          <a:xfrm flipV="1">
            <a:off x="5743574" y="2637856"/>
            <a:ext cx="352426" cy="535305"/>
          </a:xfrm>
          <a:prstGeom prst="upArrow">
            <a:avLst/>
          </a:prstGeom>
          <a:solidFill>
            <a:srgbClr val="C00000"/>
          </a:solid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21" name="文本框 20">
            <a:extLst>
              <a:ext uri="{FF2B5EF4-FFF2-40B4-BE49-F238E27FC236}">
                <a16:creationId xmlns:a16="http://schemas.microsoft.com/office/drawing/2014/main" id="{5C3D21A3-4FDA-8FBD-617F-E048ADDF1CF6}"/>
              </a:ext>
            </a:extLst>
          </p:cNvPr>
          <p:cNvSpPr txBox="1"/>
          <p:nvPr/>
        </p:nvSpPr>
        <p:spPr>
          <a:xfrm>
            <a:off x="2191909" y="3524623"/>
            <a:ext cx="3333299" cy="1200329"/>
          </a:xfrm>
          <a:prstGeom prst="rect">
            <a:avLst/>
          </a:prstGeom>
          <a:noFill/>
        </p:spPr>
        <p:txBody>
          <a:bodyPr wrap="square" rtlCol="0">
            <a:spAutoFit/>
          </a:bodyPr>
          <a:lstStyle/>
          <a:p>
            <a:r>
              <a:rPr lang="zh-CN" altLang="en-US" dirty="0">
                <a:solidFill>
                  <a:schemeClr val="accent5">
                    <a:lumMod val="50000"/>
                  </a:schemeClr>
                </a:solidFill>
                <a:cs typeface="+mn-ea"/>
              </a:rPr>
              <a:t>专家策划轨迹生成的混合提示策略</a:t>
            </a:r>
            <a:r>
              <a:rPr lang="zh-CN" altLang="en-US" dirty="0"/>
              <a:t>：融合先框后点，与纯点击的方案，生成类似人类决策的高质量交互轨迹。</a:t>
            </a:r>
          </a:p>
        </p:txBody>
      </p:sp>
      <p:sp>
        <p:nvSpPr>
          <p:cNvPr id="22" name="文本框 21">
            <a:extLst>
              <a:ext uri="{FF2B5EF4-FFF2-40B4-BE49-F238E27FC236}">
                <a16:creationId xmlns:a16="http://schemas.microsoft.com/office/drawing/2014/main" id="{1A8DCA86-265C-3759-F1A9-B40B043ADB7A}"/>
              </a:ext>
            </a:extLst>
          </p:cNvPr>
          <p:cNvSpPr txBox="1"/>
          <p:nvPr/>
        </p:nvSpPr>
        <p:spPr>
          <a:xfrm>
            <a:off x="6316246" y="3429000"/>
            <a:ext cx="3221227" cy="1200329"/>
          </a:xfrm>
          <a:prstGeom prst="rect">
            <a:avLst/>
          </a:prstGeom>
          <a:noFill/>
        </p:spPr>
        <p:txBody>
          <a:bodyPr wrap="square" rtlCol="0">
            <a:spAutoFit/>
          </a:bodyPr>
          <a:lstStyle/>
          <a:p>
            <a:r>
              <a:rPr lang="zh-CN" altLang="en-US" dirty="0">
                <a:solidFill>
                  <a:schemeClr val="accent5">
                    <a:lumMod val="50000"/>
                  </a:schemeClr>
                </a:solidFill>
                <a:cs typeface="+mn-ea"/>
              </a:rPr>
              <a:t>临床保真度过程奖励设计</a:t>
            </a:r>
            <a:r>
              <a:rPr lang="zh-CN" altLang="en-US" dirty="0"/>
              <a:t>：采用 </a:t>
            </a:r>
            <a:r>
              <a:rPr lang="en-US" altLang="zh-CN" dirty="0"/>
              <a:t>SFT </a:t>
            </a:r>
            <a:r>
              <a:rPr lang="zh-CN" altLang="en-US" dirty="0"/>
              <a:t>阶段进行冷启动，在 </a:t>
            </a:r>
            <a:r>
              <a:rPr lang="en-US" altLang="zh-CN" dirty="0"/>
              <a:t>RL </a:t>
            </a:r>
            <a:r>
              <a:rPr lang="zh-CN" altLang="en-US" dirty="0"/>
              <a:t>阶段引入防过度调试等过程奖励优化策略</a:t>
            </a:r>
          </a:p>
        </p:txBody>
      </p:sp>
      <p:sp>
        <p:nvSpPr>
          <p:cNvPr id="8" name="流程图: 可选过程 7">
            <a:extLst>
              <a:ext uri="{FF2B5EF4-FFF2-40B4-BE49-F238E27FC236}">
                <a16:creationId xmlns:a16="http://schemas.microsoft.com/office/drawing/2014/main" id="{A4D6B5B8-813F-2E3C-4528-52BEB0FFB4BF}"/>
              </a:ext>
            </a:extLst>
          </p:cNvPr>
          <p:cNvSpPr/>
          <p:nvPr/>
        </p:nvSpPr>
        <p:spPr>
          <a:xfrm>
            <a:off x="6169882" y="3386124"/>
            <a:ext cx="3669833" cy="1531864"/>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1535998" cy="461665"/>
          </a:xfrm>
          <a:prstGeom prst="rect">
            <a:avLst/>
          </a:prstGeom>
        </p:spPr>
        <p:txBody>
          <a:bodyPr wrap="none">
            <a:spAutoFit/>
          </a:bodyPr>
          <a:lstStyle/>
          <a:p>
            <a:r>
              <a:rPr lang="en-US" altLang="zh-CN" sz="2400" b="1" dirty="0">
                <a:solidFill>
                  <a:schemeClr val="accent1">
                    <a:lumMod val="50000"/>
                  </a:schemeClr>
                </a:solidFill>
              </a:rPr>
              <a:t>03 </a:t>
            </a:r>
            <a:r>
              <a:rPr lang="zh-CN" altLang="en-US" sz="2400" b="1" dirty="0">
                <a:solidFill>
                  <a:schemeClr val="accent1">
                    <a:lumMod val="50000"/>
                  </a:schemeClr>
                </a:solidFill>
              </a:rPr>
              <a:t>总框架</a:t>
            </a:r>
          </a:p>
        </p:txBody>
      </p:sp>
      <p:pic>
        <p:nvPicPr>
          <p:cNvPr id="10" name="图片 9"/>
          <p:cNvPicPr/>
          <p:nvPr/>
        </p:nvPicPr>
        <p:blipFill>
          <a:blip r:embed="rId3">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4" name="图片 3">
            <a:extLst>
              <a:ext uri="{FF2B5EF4-FFF2-40B4-BE49-F238E27FC236}">
                <a16:creationId xmlns:a16="http://schemas.microsoft.com/office/drawing/2014/main" id="{13C6E20B-E0AF-027D-E5BF-80C57FF73ED7}"/>
              </a:ext>
            </a:extLst>
          </p:cNvPr>
          <p:cNvPicPr>
            <a:picLocks noChangeAspect="1"/>
          </p:cNvPicPr>
          <p:nvPr/>
        </p:nvPicPr>
        <p:blipFill>
          <a:blip r:embed="rId4"/>
          <a:stretch>
            <a:fillRect/>
          </a:stretch>
        </p:blipFill>
        <p:spPr>
          <a:xfrm>
            <a:off x="316865" y="918644"/>
            <a:ext cx="11001633" cy="50497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2459328" cy="461665"/>
          </a:xfrm>
          <a:prstGeom prst="rect">
            <a:avLst/>
          </a:prstGeom>
        </p:spPr>
        <p:txBody>
          <a:bodyPr wrap="none">
            <a:spAutoFit/>
          </a:bodyPr>
          <a:lstStyle/>
          <a:p>
            <a:r>
              <a:rPr lang="en-US" altLang="zh-CN" sz="2400" b="1" dirty="0">
                <a:solidFill>
                  <a:schemeClr val="accent1">
                    <a:lumMod val="50000"/>
                  </a:schemeClr>
                </a:solidFill>
              </a:rPr>
              <a:t>04 </a:t>
            </a:r>
            <a:r>
              <a:rPr lang="zh-CN" altLang="en-US" sz="2400" b="1" dirty="0">
                <a:solidFill>
                  <a:schemeClr val="accent1">
                    <a:lumMod val="50000"/>
                  </a:schemeClr>
                </a:solidFill>
              </a:rPr>
              <a:t>专家轨迹生成</a:t>
            </a:r>
          </a:p>
        </p:txBody>
      </p:sp>
      <p:pic>
        <p:nvPicPr>
          <p:cNvPr id="10" name="图片 9"/>
          <p:cNvPicPr/>
          <p:nvPr/>
        </p:nvPicPr>
        <p:blipFill>
          <a:blip r:embed="rId3">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42656089-F6C9-5B59-B93B-63901141762D}"/>
                  </a:ext>
                </a:extLst>
              </p:cNvPr>
              <p:cNvSpPr txBox="1"/>
              <p:nvPr/>
            </p:nvSpPr>
            <p:spPr>
              <a:xfrm>
                <a:off x="7420965" y="1466947"/>
                <a:ext cx="3892379" cy="3785652"/>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solidFill>
                      <a:schemeClr val="accent5">
                        <a:lumMod val="50000"/>
                      </a:schemeClr>
                    </a:solidFill>
                    <a:cs typeface="+mn-ea"/>
                  </a:rPr>
                  <a:t>多范式混合提示</a:t>
                </a:r>
                <a:r>
                  <a:rPr lang="zh-CN" altLang="en-US" dirty="0"/>
                  <a:t>：融合 </a:t>
                </a:r>
                <a:r>
                  <a:rPr lang="en-US" altLang="zh-CN" dirty="0"/>
                  <a:t>Box-to-Point </a:t>
                </a:r>
                <a:r>
                  <a:rPr lang="zh-CN" altLang="en-US" dirty="0"/>
                  <a:t>与 </a:t>
                </a:r>
                <a:r>
                  <a:rPr lang="en-US" altLang="zh-CN" dirty="0"/>
                  <a:t>Sequential-Click</a:t>
                </a:r>
                <a:r>
                  <a:rPr lang="zh-CN" altLang="en-US" dirty="0"/>
                  <a:t>，模拟人类专家先宏观限制、后微调纠错的直观逻辑</a:t>
                </a:r>
                <a:endParaRPr lang="en-US" altLang="zh-CN" dirty="0"/>
              </a:p>
              <a:p>
                <a:pPr marL="342900" indent="-342900">
                  <a:buFont typeface="Arial" panose="020B0604020202020204" pitchFamily="34" charset="0"/>
                  <a:buChar char="•"/>
                </a:pPr>
                <a:r>
                  <a:rPr lang="zh-CN" altLang="en-US" sz="2000" dirty="0">
                    <a:solidFill>
                      <a:schemeClr val="accent5">
                        <a:lumMod val="50000"/>
                      </a:schemeClr>
                    </a:solidFill>
                    <a:cs typeface="+mn-ea"/>
                  </a:rPr>
                  <a:t>单步 </a:t>
                </a:r>
                <a:r>
                  <a:rPr lang="en-US" altLang="zh-CN" sz="2000" dirty="0" err="1">
                    <a:solidFill>
                      <a:schemeClr val="accent5">
                        <a:lumMod val="50000"/>
                      </a:schemeClr>
                    </a:solidFill>
                    <a:cs typeface="+mn-ea"/>
                  </a:rPr>
                  <a:t>IoU</a:t>
                </a:r>
                <a:r>
                  <a:rPr lang="en-US" altLang="zh-CN" sz="2000" dirty="0">
                    <a:solidFill>
                      <a:schemeClr val="accent5">
                        <a:lumMod val="50000"/>
                      </a:schemeClr>
                    </a:solidFill>
                    <a:cs typeface="+mn-ea"/>
                  </a:rPr>
                  <a:t> </a:t>
                </a:r>
                <a:r>
                  <a:rPr lang="zh-CN" altLang="en-US" sz="2000" dirty="0">
                    <a:solidFill>
                      <a:schemeClr val="accent5">
                        <a:lumMod val="50000"/>
                      </a:schemeClr>
                    </a:solidFill>
                    <a:cs typeface="+mn-ea"/>
                  </a:rPr>
                  <a:t>约束与重试</a:t>
                </a:r>
                <a:r>
                  <a:rPr lang="zh-CN" altLang="en-US" dirty="0"/>
                  <a:t>：</a:t>
                </a:r>
                <a:r>
                  <a:rPr lang="zh-CN" altLang="zh-CN" b="0" i="0" dirty="0">
                    <a:solidFill>
                      <a:srgbClr val="2B2D31"/>
                    </a:solidFill>
                    <a:effectLst/>
                    <a:latin typeface="Inter"/>
                  </a:rPr>
                  <a:t> 强制要求单步 </a:t>
                </a:r>
                <a14:m>
                  <m:oMath xmlns:m="http://schemas.openxmlformats.org/officeDocument/2006/math">
                    <m:r>
                      <m:rPr>
                        <m:sty m:val="p"/>
                      </m:rPr>
                      <a:rPr lang="en-US" altLang="zh-CN">
                        <a:latin typeface="Cambria Math" panose="02040503050406030204" pitchFamily="18" charset="0"/>
                      </a:rPr>
                      <m:t>Δ</m:t>
                    </m:r>
                    <m:r>
                      <a:rPr lang="zh-CN" altLang="en-US" i="1">
                        <a:latin typeface="Cambria Math" panose="02040503050406030204" pitchFamily="18" charset="0"/>
                      </a:rPr>
                      <m:t>𝐼𝑜𝑈</m:t>
                    </m:r>
                    <m:r>
                      <a:rPr lang="zh-CN" altLang="en-US" i="0">
                        <a:latin typeface="Cambria Math" panose="02040503050406030204" pitchFamily="18" charset="0"/>
                      </a:rPr>
                      <m:t>≥</m:t>
                    </m:r>
                    <m:r>
                      <a:rPr lang="en-US" altLang="zh-CN" i="0">
                        <a:latin typeface="Cambria Math" panose="02040503050406030204" pitchFamily="18" charset="0"/>
                      </a:rPr>
                      <m:t>0.04</m:t>
                    </m:r>
                  </m:oMath>
                </a14:m>
                <a:r>
                  <a:rPr lang="zh-CN" altLang="en-US" dirty="0">
                    <a:latin typeface="Courier New" panose="02070309020205020404" pitchFamily="49" charset="0"/>
                  </a:rPr>
                  <a:t>，</a:t>
                </a:r>
                <a:r>
                  <a:rPr lang="zh-CN" altLang="zh-CN" b="0" i="0" dirty="0">
                    <a:solidFill>
                      <a:srgbClr val="2B2D31"/>
                    </a:solidFill>
                    <a:effectLst/>
                    <a:latin typeface="Inter"/>
                  </a:rPr>
                  <a:t>剔除低效冗余的废步；若未达标则触发 </a:t>
                </a:r>
                <a:r>
                  <a:rPr lang="zh-CN" altLang="zh-CN" b="1" i="0" dirty="0">
                    <a:solidFill>
                      <a:srgbClr val="2B2D31"/>
                    </a:solidFill>
                    <a:effectLst/>
                    <a:latin typeface="Inter"/>
                  </a:rPr>
                  <a:t>Resample</a:t>
                </a:r>
                <a:r>
                  <a:rPr lang="zh-CN" altLang="zh-CN" b="0" i="0" dirty="0">
                    <a:solidFill>
                      <a:srgbClr val="2B2D31"/>
                    </a:solidFill>
                    <a:effectLst/>
                    <a:latin typeface="Inter"/>
                  </a:rPr>
                  <a:t>重新落点（上限5次）。</a:t>
                </a:r>
                <a:endParaRPr lang="en-US" altLang="zh-CN" dirty="0"/>
              </a:p>
              <a:p>
                <a:pPr marL="342900" indent="-342900">
                  <a:buFont typeface="Arial" panose="020B0604020202020204" pitchFamily="34" charset="0"/>
                  <a:buChar char="•"/>
                </a:pPr>
                <a:r>
                  <a:rPr lang="zh-CN" altLang="en-US" sz="2000" dirty="0">
                    <a:solidFill>
                      <a:schemeClr val="accent5">
                        <a:lumMod val="50000"/>
                      </a:schemeClr>
                    </a:solidFill>
                    <a:cs typeface="+mn-ea"/>
                  </a:rPr>
                  <a:t>全局 </a:t>
                </a:r>
                <a:r>
                  <a:rPr lang="en-US" altLang="zh-CN" sz="2000" dirty="0" err="1">
                    <a:solidFill>
                      <a:schemeClr val="accent5">
                        <a:lumMod val="50000"/>
                      </a:schemeClr>
                    </a:solidFill>
                    <a:cs typeface="+mn-ea"/>
                  </a:rPr>
                  <a:t>IoU</a:t>
                </a:r>
                <a:r>
                  <a:rPr lang="en-US" altLang="zh-CN" sz="2000" dirty="0">
                    <a:solidFill>
                      <a:schemeClr val="accent5">
                        <a:lumMod val="50000"/>
                      </a:schemeClr>
                    </a:solidFill>
                    <a:cs typeface="+mn-ea"/>
                  </a:rPr>
                  <a:t> </a:t>
                </a:r>
                <a:r>
                  <a:rPr lang="zh-CN" altLang="en-US" sz="2000" dirty="0">
                    <a:solidFill>
                      <a:schemeClr val="accent5">
                        <a:lumMod val="50000"/>
                      </a:schemeClr>
                    </a:solidFill>
                    <a:cs typeface="+mn-ea"/>
                  </a:rPr>
                  <a:t>过滤</a:t>
                </a:r>
                <a:r>
                  <a:rPr lang="zh-CN" altLang="en-US" dirty="0"/>
                  <a:t>：</a:t>
                </a:r>
                <a:r>
                  <a:rPr lang="zh-CN" altLang="zh-CN" b="0" i="0" dirty="0">
                    <a:solidFill>
                      <a:srgbClr val="2B2D31"/>
                    </a:solidFill>
                    <a:effectLst/>
                    <a:latin typeface="Inter"/>
                  </a:rPr>
                  <a:t>直接丢弃最终 IoU 评分低于 0.7 的失败轨迹，确保输出的轨迹数据集 </a:t>
                </a:r>
                <a14:m>
                  <m:oMath xmlns:m="http://schemas.openxmlformats.org/officeDocument/2006/math">
                    <m:d>
                      <m:dPr>
                        <m:begChr m:val="{"/>
                        <m:endChr m:val="}"/>
                        <m:sep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𝑜</m:t>
                            </m:r>
                          </m:e>
                          <m:sub>
                            <m:r>
                              <a:rPr lang="zh-CN" altLang="en-US" i="1">
                                <a:latin typeface="Cambria Math" panose="02040503050406030204" pitchFamily="18" charset="0"/>
                              </a:rPr>
                              <m:t>𝑖</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𝑖</m:t>
                            </m:r>
                          </m:sub>
                        </m:sSub>
                      </m:e>
                    </m:d>
                  </m:oMath>
                </a14:m>
                <a:r>
                  <a:rPr lang="zh-CN" altLang="zh-CN" b="0" i="0" dirty="0">
                    <a:solidFill>
                      <a:srgbClr val="2B2D31"/>
                    </a:solidFill>
                    <a:effectLst/>
                    <a:latin typeface="Inter"/>
                  </a:rPr>
                  <a:t>绝对高质量。</a:t>
                </a:r>
                <a:endParaRPr lang="zh-CN" altLang="en-US" dirty="0"/>
              </a:p>
            </p:txBody>
          </p:sp>
        </mc:Choice>
        <mc:Fallback>
          <p:sp>
            <p:nvSpPr>
              <p:cNvPr id="9" name="文本框 8">
                <a:extLst>
                  <a:ext uri="{FF2B5EF4-FFF2-40B4-BE49-F238E27FC236}">
                    <a16:creationId xmlns:a16="http://schemas.microsoft.com/office/drawing/2014/main" id="{42656089-F6C9-5B59-B93B-63901141762D}"/>
                  </a:ext>
                </a:extLst>
              </p:cNvPr>
              <p:cNvSpPr txBox="1">
                <a:spLocks noRot="1" noChangeAspect="1" noMove="1" noResize="1" noEditPoints="1" noAdjustHandles="1" noChangeArrowheads="1" noChangeShapeType="1" noTextEdit="1"/>
              </p:cNvSpPr>
              <p:nvPr/>
            </p:nvSpPr>
            <p:spPr>
              <a:xfrm>
                <a:off x="7420965" y="1466947"/>
                <a:ext cx="3892379" cy="3785652"/>
              </a:xfrm>
              <a:prstGeom prst="rect">
                <a:avLst/>
              </a:prstGeom>
              <a:blipFill>
                <a:blip r:embed="rId4"/>
                <a:stretch>
                  <a:fillRect l="-1408" t="-966" r="-1252" b="-1610"/>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519BBA1F-15F7-A755-4EF3-AEAEE350651A}"/>
              </a:ext>
            </a:extLst>
          </p:cNvPr>
          <p:cNvPicPr>
            <a:picLocks noChangeAspect="1"/>
          </p:cNvPicPr>
          <p:nvPr/>
        </p:nvPicPr>
        <p:blipFill>
          <a:blip r:embed="rId5"/>
          <a:stretch>
            <a:fillRect/>
          </a:stretch>
        </p:blipFill>
        <p:spPr>
          <a:xfrm>
            <a:off x="878656" y="1344637"/>
            <a:ext cx="4915586" cy="28102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2151551" cy="461665"/>
          </a:xfrm>
          <a:prstGeom prst="rect">
            <a:avLst/>
          </a:prstGeom>
        </p:spPr>
        <p:txBody>
          <a:bodyPr wrap="none">
            <a:spAutoFit/>
          </a:bodyPr>
          <a:lstStyle/>
          <a:p>
            <a:r>
              <a:rPr lang="en-US" altLang="zh-CN" sz="2400" b="1" dirty="0">
                <a:solidFill>
                  <a:schemeClr val="accent1">
                    <a:lumMod val="50000"/>
                  </a:schemeClr>
                </a:solidFill>
              </a:rPr>
              <a:t>05 </a:t>
            </a:r>
            <a:r>
              <a:rPr lang="zh-CN" altLang="en-US" sz="2400" b="1" dirty="0">
                <a:solidFill>
                  <a:schemeClr val="accent1">
                    <a:lumMod val="50000"/>
                  </a:schemeClr>
                </a:solidFill>
              </a:rPr>
              <a:t>两阶段训练</a:t>
            </a:r>
          </a:p>
        </p:txBody>
      </p:sp>
      <p:pic>
        <p:nvPicPr>
          <p:cNvPr id="10" name="图片 9"/>
          <p:cNvPicPr/>
          <p:nvPr/>
        </p:nvPicPr>
        <p:blipFill>
          <a:blip r:embed="rId3">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4" name="图片 3">
            <a:extLst>
              <a:ext uri="{FF2B5EF4-FFF2-40B4-BE49-F238E27FC236}">
                <a16:creationId xmlns:a16="http://schemas.microsoft.com/office/drawing/2014/main" id="{A3242812-D87C-516F-F4C3-426B2CDE7641}"/>
              </a:ext>
            </a:extLst>
          </p:cNvPr>
          <p:cNvPicPr>
            <a:picLocks noChangeAspect="1"/>
          </p:cNvPicPr>
          <p:nvPr/>
        </p:nvPicPr>
        <p:blipFill>
          <a:blip r:embed="rId4"/>
          <a:stretch>
            <a:fillRect/>
          </a:stretch>
        </p:blipFill>
        <p:spPr>
          <a:xfrm>
            <a:off x="1173220" y="1146911"/>
            <a:ext cx="9050013" cy="2867425"/>
          </a:xfrm>
          <a:prstGeom prst="rect">
            <a:avLst/>
          </a:prstGeom>
        </p:spPr>
      </p:pic>
      <p:sp>
        <p:nvSpPr>
          <p:cNvPr id="6" name="流程图: 可选过程 5">
            <a:extLst>
              <a:ext uri="{FF2B5EF4-FFF2-40B4-BE49-F238E27FC236}">
                <a16:creationId xmlns:a16="http://schemas.microsoft.com/office/drawing/2014/main" id="{49C2E71F-20D5-BABB-88C9-FE30C50639A5}"/>
              </a:ext>
            </a:extLst>
          </p:cNvPr>
          <p:cNvSpPr/>
          <p:nvPr/>
        </p:nvSpPr>
        <p:spPr>
          <a:xfrm>
            <a:off x="423555" y="4183136"/>
            <a:ext cx="3669833" cy="1213662"/>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337AB68A-08F5-683B-24CF-F07A52D9C791}"/>
              </a:ext>
            </a:extLst>
          </p:cNvPr>
          <p:cNvSpPr txBox="1"/>
          <p:nvPr/>
        </p:nvSpPr>
        <p:spPr>
          <a:xfrm>
            <a:off x="541824" y="4211089"/>
            <a:ext cx="3333299" cy="1200329"/>
          </a:xfrm>
          <a:prstGeom prst="rect">
            <a:avLst/>
          </a:prstGeom>
          <a:noFill/>
        </p:spPr>
        <p:txBody>
          <a:bodyPr wrap="square" rtlCol="0">
            <a:spAutoFit/>
          </a:bodyPr>
          <a:lstStyle/>
          <a:p>
            <a:r>
              <a:rPr lang="en-US" altLang="zh-CN" dirty="0">
                <a:solidFill>
                  <a:schemeClr val="accent5">
                    <a:lumMod val="50000"/>
                  </a:schemeClr>
                </a:solidFill>
                <a:cs typeface="+mn-ea"/>
              </a:rPr>
              <a:t>Stage 1 SFT </a:t>
            </a:r>
            <a:r>
              <a:rPr lang="zh-CN" altLang="en-US" dirty="0">
                <a:solidFill>
                  <a:schemeClr val="accent5">
                    <a:lumMod val="50000"/>
                  </a:schemeClr>
                </a:solidFill>
                <a:cs typeface="+mn-ea"/>
              </a:rPr>
              <a:t>冷启动</a:t>
            </a:r>
            <a:r>
              <a:rPr lang="zh-CN" altLang="en-US" dirty="0"/>
              <a:t>：自回归拟合 </a:t>
            </a:r>
            <a:r>
              <a:rPr lang="en-US" altLang="zh-CN" dirty="0"/>
              <a:t>44.9 </a:t>
            </a:r>
            <a:r>
              <a:rPr lang="zh-CN" altLang="en-US" dirty="0"/>
              <a:t>万条专家轨迹，建立大模型工具调用规范与空间定位直觉。</a:t>
            </a:r>
          </a:p>
        </p:txBody>
      </p:sp>
      <p:sp>
        <p:nvSpPr>
          <p:cNvPr id="11" name="流程图: 可选过程 10">
            <a:extLst>
              <a:ext uri="{FF2B5EF4-FFF2-40B4-BE49-F238E27FC236}">
                <a16:creationId xmlns:a16="http://schemas.microsoft.com/office/drawing/2014/main" id="{255F7EAF-1595-A054-10E2-124AE654F363}"/>
              </a:ext>
            </a:extLst>
          </p:cNvPr>
          <p:cNvSpPr/>
          <p:nvPr/>
        </p:nvSpPr>
        <p:spPr>
          <a:xfrm>
            <a:off x="4211657" y="4176965"/>
            <a:ext cx="3669833" cy="1213662"/>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02321A67-B532-CBEC-AC4D-B96F1ACAB588}"/>
              </a:ext>
            </a:extLst>
          </p:cNvPr>
          <p:cNvSpPr txBox="1"/>
          <p:nvPr/>
        </p:nvSpPr>
        <p:spPr>
          <a:xfrm>
            <a:off x="4211657" y="4153271"/>
            <a:ext cx="3333299" cy="1200329"/>
          </a:xfrm>
          <a:prstGeom prst="rect">
            <a:avLst/>
          </a:prstGeom>
          <a:noFill/>
        </p:spPr>
        <p:txBody>
          <a:bodyPr wrap="square" rtlCol="0">
            <a:spAutoFit/>
          </a:bodyPr>
          <a:lstStyle/>
          <a:p>
            <a:r>
              <a:rPr lang="en-US" altLang="zh-CN" dirty="0">
                <a:solidFill>
                  <a:schemeClr val="accent5">
                    <a:lumMod val="50000"/>
                  </a:schemeClr>
                </a:solidFill>
                <a:cs typeface="+mn-ea"/>
              </a:rPr>
              <a:t>Stage 2 RL </a:t>
            </a:r>
            <a:r>
              <a:rPr lang="zh-CN" altLang="en-US" dirty="0">
                <a:solidFill>
                  <a:schemeClr val="accent5">
                    <a:lumMod val="50000"/>
                  </a:schemeClr>
                </a:solidFill>
                <a:cs typeface="+mn-ea"/>
              </a:rPr>
              <a:t>强化训练</a:t>
            </a:r>
            <a:r>
              <a:rPr lang="zh-CN" altLang="en-US" dirty="0"/>
              <a:t>：抛弃专家答案进行自主多轮探索（</a:t>
            </a:r>
            <a:r>
              <a:rPr lang="en-US" altLang="zh-CN" dirty="0"/>
              <a:t>Rollout</a:t>
            </a:r>
            <a:r>
              <a:rPr lang="zh-CN" altLang="en-US" dirty="0"/>
              <a:t>），采用 </a:t>
            </a:r>
            <a:r>
              <a:rPr lang="en-US" altLang="zh-CN" dirty="0"/>
              <a:t>GRPO </a:t>
            </a:r>
            <a:r>
              <a:rPr lang="zh-CN" altLang="en-US" dirty="0"/>
              <a:t>算法实现策略的自我迭代。</a:t>
            </a:r>
          </a:p>
        </p:txBody>
      </p:sp>
      <p:pic>
        <p:nvPicPr>
          <p:cNvPr id="14" name="图片 13">
            <a:extLst>
              <a:ext uri="{FF2B5EF4-FFF2-40B4-BE49-F238E27FC236}">
                <a16:creationId xmlns:a16="http://schemas.microsoft.com/office/drawing/2014/main" id="{1BE7A7A9-5777-8249-5BCF-1A55E38C3B13}"/>
              </a:ext>
            </a:extLst>
          </p:cNvPr>
          <p:cNvPicPr>
            <a:picLocks noChangeAspect="1"/>
          </p:cNvPicPr>
          <p:nvPr/>
        </p:nvPicPr>
        <p:blipFill>
          <a:blip r:embed="rId5"/>
          <a:stretch>
            <a:fillRect/>
          </a:stretch>
        </p:blipFill>
        <p:spPr>
          <a:xfrm>
            <a:off x="7121550" y="5553256"/>
            <a:ext cx="4413394" cy="9369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3690434" cy="461665"/>
          </a:xfrm>
          <a:prstGeom prst="rect">
            <a:avLst/>
          </a:prstGeom>
        </p:spPr>
        <p:txBody>
          <a:bodyPr wrap="none">
            <a:spAutoFit/>
          </a:bodyPr>
          <a:lstStyle/>
          <a:p>
            <a:r>
              <a:rPr lang="en-US" altLang="zh-CN" sz="2400" b="1" dirty="0">
                <a:solidFill>
                  <a:schemeClr val="accent1">
                    <a:lumMod val="50000"/>
                  </a:schemeClr>
                </a:solidFill>
              </a:rPr>
              <a:t>06 </a:t>
            </a:r>
            <a:r>
              <a:rPr lang="zh-CN" altLang="en-US" sz="2400" b="1" dirty="0">
                <a:solidFill>
                  <a:schemeClr val="accent1">
                    <a:lumMod val="50000"/>
                  </a:schemeClr>
                </a:solidFill>
              </a:rPr>
              <a:t>实验部分（对比试验）</a:t>
            </a:r>
          </a:p>
        </p:txBody>
      </p:sp>
      <p:pic>
        <p:nvPicPr>
          <p:cNvPr id="10" name="图片 9"/>
          <p:cNvPicPr/>
          <p:nvPr/>
        </p:nvPicPr>
        <p:blipFill>
          <a:blip r:embed="rId3">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3" name="图片 2">
            <a:extLst>
              <a:ext uri="{FF2B5EF4-FFF2-40B4-BE49-F238E27FC236}">
                <a16:creationId xmlns:a16="http://schemas.microsoft.com/office/drawing/2014/main" id="{FECE3D36-4DAF-33E1-D702-8E983D037002}"/>
              </a:ext>
            </a:extLst>
          </p:cNvPr>
          <p:cNvPicPr>
            <a:picLocks noChangeAspect="1"/>
          </p:cNvPicPr>
          <p:nvPr/>
        </p:nvPicPr>
        <p:blipFill>
          <a:blip r:embed="rId4"/>
          <a:stretch>
            <a:fillRect/>
          </a:stretch>
        </p:blipFill>
        <p:spPr>
          <a:xfrm>
            <a:off x="1150558" y="884700"/>
            <a:ext cx="9890883" cy="50885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3690434" cy="461665"/>
          </a:xfrm>
          <a:prstGeom prst="rect">
            <a:avLst/>
          </a:prstGeom>
        </p:spPr>
        <p:txBody>
          <a:bodyPr wrap="none">
            <a:spAutoFit/>
          </a:bodyPr>
          <a:lstStyle/>
          <a:p>
            <a:r>
              <a:rPr lang="en-US" altLang="zh-CN" sz="2400" b="1" dirty="0">
                <a:solidFill>
                  <a:schemeClr val="accent1">
                    <a:lumMod val="50000"/>
                  </a:schemeClr>
                </a:solidFill>
              </a:rPr>
              <a:t>07 </a:t>
            </a:r>
            <a:r>
              <a:rPr lang="zh-CN" altLang="en-US" sz="2400" b="1" dirty="0">
                <a:solidFill>
                  <a:schemeClr val="accent1">
                    <a:lumMod val="50000"/>
                  </a:schemeClr>
                </a:solidFill>
              </a:rPr>
              <a:t>实验部分（消融实验）</a:t>
            </a:r>
          </a:p>
        </p:txBody>
      </p:sp>
      <p:pic>
        <p:nvPicPr>
          <p:cNvPr id="10" name="图片 9"/>
          <p:cNvPicPr/>
          <p:nvPr/>
        </p:nvPicPr>
        <p:blipFill>
          <a:blip r:embed="rId3">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3" name="图片 2">
            <a:extLst>
              <a:ext uri="{FF2B5EF4-FFF2-40B4-BE49-F238E27FC236}">
                <a16:creationId xmlns:a16="http://schemas.microsoft.com/office/drawing/2014/main" id="{A2250C56-61D1-E49B-45FA-2A84D14A55D4}"/>
              </a:ext>
            </a:extLst>
          </p:cNvPr>
          <p:cNvPicPr>
            <a:picLocks noChangeAspect="1"/>
          </p:cNvPicPr>
          <p:nvPr/>
        </p:nvPicPr>
        <p:blipFill>
          <a:blip r:embed="rId4"/>
          <a:stretch>
            <a:fillRect/>
          </a:stretch>
        </p:blipFill>
        <p:spPr>
          <a:xfrm>
            <a:off x="2944570" y="1117144"/>
            <a:ext cx="6302860" cy="44462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81488" y="468038"/>
            <a:ext cx="397168" cy="311888"/>
            <a:chOff x="377024" y="308837"/>
            <a:chExt cx="463343" cy="363854"/>
          </a:xfrm>
        </p:grpSpPr>
        <p:sp>
          <p:nvSpPr>
            <p:cNvPr id="17" name="等腰三角形 16"/>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1006955" y="331594"/>
            <a:ext cx="4921540" cy="461665"/>
          </a:xfrm>
          <a:prstGeom prst="rect">
            <a:avLst/>
          </a:prstGeom>
        </p:spPr>
        <p:txBody>
          <a:bodyPr wrap="none">
            <a:spAutoFit/>
          </a:bodyPr>
          <a:lstStyle/>
          <a:p>
            <a:pPr algn="l"/>
            <a:r>
              <a:rPr lang="en-US" altLang="zh-CN" sz="2400" b="1" dirty="0">
                <a:solidFill>
                  <a:schemeClr val="accent1">
                    <a:lumMod val="50000"/>
                  </a:schemeClr>
                </a:solidFill>
                <a:sym typeface="+mn-ea"/>
              </a:rPr>
              <a:t>08 </a:t>
            </a:r>
            <a:r>
              <a:rPr lang="zh-CN" altLang="en-US" sz="2400" b="1" dirty="0">
                <a:solidFill>
                  <a:schemeClr val="accent1">
                    <a:lumMod val="50000"/>
                  </a:schemeClr>
                </a:solidFill>
                <a:sym typeface="+mn-ea"/>
              </a:rPr>
              <a:t>实验部分（零样本工具无关性）</a:t>
            </a:r>
            <a:endParaRPr lang="zh-CN" altLang="en-US" sz="2400" b="1" dirty="0">
              <a:solidFill>
                <a:schemeClr val="accent1">
                  <a:lumMod val="50000"/>
                </a:schemeClr>
              </a:solidFill>
            </a:endParaRPr>
          </a:p>
        </p:txBody>
      </p:sp>
      <p:pic>
        <p:nvPicPr>
          <p:cNvPr id="10" name="图片 9"/>
          <p:cNvPicPr/>
          <p:nvPr/>
        </p:nvPicPr>
        <p:blipFill>
          <a:blip r:embed="rId3">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pic>
        <p:nvPicPr>
          <p:cNvPr id="3" name="图片 2">
            <a:extLst>
              <a:ext uri="{FF2B5EF4-FFF2-40B4-BE49-F238E27FC236}">
                <a16:creationId xmlns:a16="http://schemas.microsoft.com/office/drawing/2014/main" id="{556EA7BE-8E8C-26F5-22C9-FD8D50DA31BA}"/>
              </a:ext>
            </a:extLst>
          </p:cNvPr>
          <p:cNvPicPr>
            <a:picLocks noChangeAspect="1"/>
          </p:cNvPicPr>
          <p:nvPr/>
        </p:nvPicPr>
        <p:blipFill>
          <a:blip r:embed="rId4"/>
          <a:stretch>
            <a:fillRect/>
          </a:stretch>
        </p:blipFill>
        <p:spPr>
          <a:xfrm>
            <a:off x="2370217" y="941028"/>
            <a:ext cx="6674929" cy="536091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4742A-7BDE-1984-CC66-3671C16306E1}"/>
            </a:ext>
          </a:extLst>
        </p:cNvPr>
        <p:cNvGrpSpPr/>
        <p:nvPr/>
      </p:nvGrpSpPr>
      <p:grpSpPr>
        <a:xfrm>
          <a:off x="0" y="0"/>
          <a:ext cx="0" cy="0"/>
          <a:chOff x="0" y="0"/>
          <a:chExt cx="0" cy="0"/>
        </a:xfrm>
      </p:grpSpPr>
      <p:grpSp>
        <p:nvGrpSpPr>
          <p:cNvPr id="18" name="组合 17">
            <a:extLst>
              <a:ext uri="{FF2B5EF4-FFF2-40B4-BE49-F238E27FC236}">
                <a16:creationId xmlns:a16="http://schemas.microsoft.com/office/drawing/2014/main" id="{21EE66D0-109C-0435-D5DE-F69B8AB68449}"/>
              </a:ext>
            </a:extLst>
          </p:cNvPr>
          <p:cNvGrpSpPr/>
          <p:nvPr/>
        </p:nvGrpSpPr>
        <p:grpSpPr>
          <a:xfrm>
            <a:off x="481488" y="468038"/>
            <a:ext cx="397168" cy="311888"/>
            <a:chOff x="377024" y="308837"/>
            <a:chExt cx="463343" cy="363854"/>
          </a:xfrm>
        </p:grpSpPr>
        <p:sp>
          <p:nvSpPr>
            <p:cNvPr id="17" name="等腰三角形 16">
              <a:extLst>
                <a:ext uri="{FF2B5EF4-FFF2-40B4-BE49-F238E27FC236}">
                  <a16:creationId xmlns:a16="http://schemas.microsoft.com/office/drawing/2014/main" id="{FA389A50-D510-7139-034A-F94EB1AC6BEA}"/>
                </a:ext>
              </a:extLst>
            </p:cNvPr>
            <p:cNvSpPr/>
            <p:nvPr/>
          </p:nvSpPr>
          <p:spPr>
            <a:xfrm rot="5400000">
              <a:off x="501606" y="333930"/>
              <a:ext cx="363854" cy="313668"/>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a:extLst>
                <a:ext uri="{FF2B5EF4-FFF2-40B4-BE49-F238E27FC236}">
                  <a16:creationId xmlns:a16="http://schemas.microsoft.com/office/drawing/2014/main" id="{6C804DF2-3EBF-BBEC-1CB3-6FDED42C18A6}"/>
                </a:ext>
              </a:extLst>
            </p:cNvPr>
            <p:cNvSpPr/>
            <p:nvPr/>
          </p:nvSpPr>
          <p:spPr>
            <a:xfrm rot="5400000">
              <a:off x="356429" y="362045"/>
              <a:ext cx="298630" cy="257440"/>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a:extLst>
              <a:ext uri="{FF2B5EF4-FFF2-40B4-BE49-F238E27FC236}">
                <a16:creationId xmlns:a16="http://schemas.microsoft.com/office/drawing/2014/main" id="{D48C01E6-18A7-3F56-2C70-C7A7A0032C13}"/>
              </a:ext>
            </a:extLst>
          </p:cNvPr>
          <p:cNvSpPr/>
          <p:nvPr/>
        </p:nvSpPr>
        <p:spPr>
          <a:xfrm>
            <a:off x="1006955" y="331594"/>
            <a:ext cx="1228221" cy="461665"/>
          </a:xfrm>
          <a:prstGeom prst="rect">
            <a:avLst/>
          </a:prstGeom>
        </p:spPr>
        <p:txBody>
          <a:bodyPr wrap="none">
            <a:spAutoFit/>
          </a:bodyPr>
          <a:lstStyle/>
          <a:p>
            <a:pPr algn="l"/>
            <a:r>
              <a:rPr lang="en-US" altLang="zh-CN" sz="2400" b="1" dirty="0">
                <a:solidFill>
                  <a:schemeClr val="accent1">
                    <a:lumMod val="50000"/>
                  </a:schemeClr>
                </a:solidFill>
                <a:sym typeface="+mn-ea"/>
              </a:rPr>
              <a:t>09 </a:t>
            </a:r>
            <a:r>
              <a:rPr lang="zh-CN" altLang="en-US" sz="2400" b="1" dirty="0">
                <a:solidFill>
                  <a:schemeClr val="accent1">
                    <a:lumMod val="50000"/>
                  </a:schemeClr>
                </a:solidFill>
                <a:sym typeface="+mn-ea"/>
              </a:rPr>
              <a:t>总结</a:t>
            </a:r>
            <a:endParaRPr lang="zh-CN" altLang="en-US" sz="2400" b="1" dirty="0">
              <a:solidFill>
                <a:schemeClr val="accent1">
                  <a:lumMod val="50000"/>
                </a:schemeClr>
              </a:solidFill>
            </a:endParaRPr>
          </a:p>
        </p:txBody>
      </p:sp>
      <p:pic>
        <p:nvPicPr>
          <p:cNvPr id="10" name="图片 9">
            <a:extLst>
              <a:ext uri="{FF2B5EF4-FFF2-40B4-BE49-F238E27FC236}">
                <a16:creationId xmlns:a16="http://schemas.microsoft.com/office/drawing/2014/main" id="{78C8DC4D-4695-87E0-455F-5753EC5DFD38}"/>
              </a:ext>
            </a:extLst>
          </p:cNvPr>
          <p:cNvPicPr/>
          <p:nvPr/>
        </p:nvPicPr>
        <p:blipFill>
          <a:blip r:embed="rId3">
            <a:clrChange>
              <a:clrFrom>
                <a:srgbClr val="FFFFFF">
                  <a:alpha val="100000"/>
                </a:srgbClr>
              </a:clrFrom>
              <a:clrTo>
                <a:srgbClr val="FFFFFF">
                  <a:alpha val="100000"/>
                  <a:alpha val="0"/>
                </a:srgbClr>
              </a:clrTo>
            </a:clrChange>
          </a:blip>
          <a:srcRect t="20172" b="24603"/>
          <a:stretch>
            <a:fillRect/>
          </a:stretch>
        </p:blipFill>
        <p:spPr>
          <a:xfrm>
            <a:off x="10120630" y="193675"/>
            <a:ext cx="1754505" cy="530225"/>
          </a:xfrm>
          <a:prstGeom prst="rect">
            <a:avLst/>
          </a:prstGeom>
        </p:spPr>
      </p:pic>
      <p:sp>
        <p:nvSpPr>
          <p:cNvPr id="4" name="文本框 3">
            <a:extLst>
              <a:ext uri="{FF2B5EF4-FFF2-40B4-BE49-F238E27FC236}">
                <a16:creationId xmlns:a16="http://schemas.microsoft.com/office/drawing/2014/main" id="{375A61E4-CA78-5E94-F16C-46CE62A784A7}"/>
              </a:ext>
            </a:extLst>
          </p:cNvPr>
          <p:cNvSpPr txBox="1"/>
          <p:nvPr/>
        </p:nvSpPr>
        <p:spPr>
          <a:xfrm>
            <a:off x="702160" y="623982"/>
            <a:ext cx="10379641" cy="4972515"/>
          </a:xfrm>
          <a:prstGeom prst="rect">
            <a:avLst/>
          </a:prstGeom>
          <a:noFill/>
        </p:spPr>
        <p:txBody>
          <a:bodyPr wrap="square">
            <a:spAutoFit/>
          </a:bodyPr>
          <a:lstStyle/>
          <a:p>
            <a:pPr indent="720000" algn="just">
              <a:lnSpc>
                <a:spcPct val="150000"/>
              </a:lnSpc>
              <a:spcAft>
                <a:spcPts val="1350"/>
              </a:spcAft>
              <a:buNone/>
            </a:pPr>
            <a:r>
              <a:rPr lang="zh-CN" altLang="zh-CN" dirty="0"/>
              <a:t>面对医学图像分割中</a:t>
            </a:r>
            <a:r>
              <a:rPr lang="zh-CN" altLang="zh-CN" b="1" dirty="0"/>
              <a:t>人工提示依赖度高与多轮交互策略僵化、动作冗余</a:t>
            </a:r>
            <a:r>
              <a:rPr lang="zh-CN" altLang="zh-CN" dirty="0"/>
              <a:t>的问题，文章提出了一种 “基于多轮智能体强化学习的交互式分割框架 (MedSAM-Agent)” ，通过引入混合提示策略与过程奖励强化学习的双重策略，有效解决了智能体在交互式分割中自主化程度不足和推理路径低效的问题。</a:t>
            </a:r>
          </a:p>
          <a:p>
            <a:pPr indent="720000" algn="just">
              <a:lnSpc>
                <a:spcPct val="150000"/>
              </a:lnSpc>
              <a:spcAft>
                <a:spcPts val="1350"/>
              </a:spcAft>
              <a:buNone/>
            </a:pPr>
            <a:r>
              <a:rPr lang="zh-CN" altLang="zh-CN" dirty="0"/>
              <a:t>首先，文章引入了专家策划轨迹生成的混合提示策略。该方法融合了</a:t>
            </a:r>
            <a:r>
              <a:rPr lang="zh-CN" altLang="zh-CN" b="1" dirty="0"/>
              <a:t>从面到点</a:t>
            </a:r>
            <a:r>
              <a:rPr lang="zh-CN" altLang="zh-CN" dirty="0"/>
              <a:t>与</a:t>
            </a:r>
            <a:r>
              <a:rPr lang="zh-CN" altLang="zh-CN" b="1" dirty="0"/>
              <a:t>纯点击</a:t>
            </a:r>
            <a:r>
              <a:rPr lang="zh-CN" altLang="zh-CN" dirty="0"/>
              <a:t>范式，通过几何距离变换自动合成</a:t>
            </a:r>
            <a:r>
              <a:rPr lang="zh-CN" altLang="en-US" dirty="0"/>
              <a:t>类似</a:t>
            </a:r>
            <a:r>
              <a:rPr lang="zh-CN" altLang="zh-CN" dirty="0"/>
              <a:t>人</a:t>
            </a:r>
            <a:r>
              <a:rPr lang="zh-CN" altLang="en-US" dirty="0"/>
              <a:t>类</a:t>
            </a:r>
            <a:r>
              <a:rPr lang="zh-CN" altLang="zh-CN" dirty="0"/>
              <a:t>决策的高质量交互轨迹。这种轨迹数据作为有监督微调（SFT）的冷启动教材，</a:t>
            </a:r>
            <a:r>
              <a:rPr lang="zh-CN" altLang="en-US" dirty="0"/>
              <a:t>冷启动作为后续强化学习阶段的基础</a:t>
            </a:r>
            <a:r>
              <a:rPr lang="zh-CN" altLang="zh-CN" dirty="0"/>
              <a:t>。</a:t>
            </a:r>
          </a:p>
          <a:p>
            <a:pPr indent="720000" algn="just">
              <a:lnSpc>
                <a:spcPct val="150000"/>
              </a:lnSpc>
              <a:buNone/>
            </a:pPr>
            <a:r>
              <a:rPr lang="zh-CN" altLang="zh-CN" dirty="0"/>
              <a:t>其次，为了优化多轮交互的效率、避免冗余废步，文章设计了高临床保真度的过程奖励强化训练机制。在轻量化 GRPO 强化学习框架下，该机制不仅评估最终的分割精度（Dice/IoU），更在交互过程中对单步改进予以奖励，并对过度调试（Overshoot）和工具使用成本进行惩罚</a:t>
            </a:r>
            <a:r>
              <a:rPr lang="zh-CN" altLang="zh-CN"/>
              <a:t>。这强制</a:t>
            </a:r>
            <a:r>
              <a:rPr lang="zh-CN" altLang="zh-CN" dirty="0"/>
              <a:t>约束了智能体，使其在完全没有真实标签的推理阶段，依然能形成见好就收、以最简步骤画出最准解剖边界的临床决策智慧。</a:t>
            </a:r>
          </a:p>
        </p:txBody>
      </p:sp>
    </p:spTree>
    <p:extLst>
      <p:ext uri="{BB962C8B-B14F-4D97-AF65-F5344CB8AC3E}">
        <p14:creationId xmlns:p14="http://schemas.microsoft.com/office/powerpoint/2010/main" val="318322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直接连接符 15"/>
          <p:cNvCxnSpPr/>
          <p:nvPr/>
        </p:nvCxnSpPr>
        <p:spPr>
          <a:xfrm>
            <a:off x="5640421" y="3947364"/>
            <a:ext cx="911157" cy="0"/>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0" name="Freeform 5"/>
          <p:cNvSpPr>
            <a:spLocks noEditPoints="1"/>
          </p:cNvSpPr>
          <p:nvPr/>
        </p:nvSpPr>
        <p:spPr bwMode="auto">
          <a:xfrm>
            <a:off x="5760018" y="520406"/>
            <a:ext cx="671963" cy="769033"/>
          </a:xfrm>
          <a:custGeom>
            <a:avLst/>
            <a:gdLst>
              <a:gd name="T0" fmla="*/ 1898 w 2872"/>
              <a:gd name="T1" fmla="*/ 1941 h 3284"/>
              <a:gd name="T2" fmla="*/ 2681 w 2872"/>
              <a:gd name="T3" fmla="*/ 328 h 3284"/>
              <a:gd name="T4" fmla="*/ 332 w 2872"/>
              <a:gd name="T5" fmla="*/ 0 h 3284"/>
              <a:gd name="T6" fmla="*/ 4 w 2872"/>
              <a:gd name="T7" fmla="*/ 3014 h 3284"/>
              <a:gd name="T8" fmla="*/ 378 w 2872"/>
              <a:gd name="T9" fmla="*/ 3234 h 3284"/>
              <a:gd name="T10" fmla="*/ 1491 w 2872"/>
              <a:gd name="T11" fmla="*/ 2781 h 3284"/>
              <a:gd name="T12" fmla="*/ 987 w 2872"/>
              <a:gd name="T13" fmla="*/ 1006 h 3284"/>
              <a:gd name="T14" fmla="*/ 1069 w 2872"/>
              <a:gd name="T15" fmla="*/ 924 h 3284"/>
              <a:gd name="T16" fmla="*/ 2073 w 2872"/>
              <a:gd name="T17" fmla="*/ 948 h 3284"/>
              <a:gd name="T18" fmla="*/ 2097 w 2872"/>
              <a:gd name="T19" fmla="*/ 1114 h 3284"/>
              <a:gd name="T20" fmla="*/ 2015 w 2872"/>
              <a:gd name="T21" fmla="*/ 1196 h 3284"/>
              <a:gd name="T22" fmla="*/ 1011 w 2872"/>
              <a:gd name="T23" fmla="*/ 1172 h 3284"/>
              <a:gd name="T24" fmla="*/ 987 w 2872"/>
              <a:gd name="T25" fmla="*/ 1006 h 3284"/>
              <a:gd name="T26" fmla="*/ 672 w 2872"/>
              <a:gd name="T27" fmla="*/ 1885 h 3284"/>
              <a:gd name="T28" fmla="*/ 590 w 2872"/>
              <a:gd name="T29" fmla="*/ 1803 h 3284"/>
              <a:gd name="T30" fmla="*/ 614 w 2872"/>
              <a:gd name="T31" fmla="*/ 1641 h 3284"/>
              <a:gd name="T32" fmla="*/ 778 w 2872"/>
              <a:gd name="T33" fmla="*/ 1617 h 3284"/>
              <a:gd name="T34" fmla="*/ 860 w 2872"/>
              <a:gd name="T35" fmla="*/ 1699 h 3284"/>
              <a:gd name="T36" fmla="*/ 836 w 2872"/>
              <a:gd name="T37" fmla="*/ 1861 h 3284"/>
              <a:gd name="T38" fmla="*/ 778 w 2872"/>
              <a:gd name="T39" fmla="*/ 1192 h 3284"/>
              <a:gd name="T40" fmla="*/ 614 w 2872"/>
              <a:gd name="T41" fmla="*/ 1168 h 3284"/>
              <a:gd name="T42" fmla="*/ 590 w 2872"/>
              <a:gd name="T43" fmla="*/ 1006 h 3284"/>
              <a:gd name="T44" fmla="*/ 672 w 2872"/>
              <a:gd name="T45" fmla="*/ 924 h 3284"/>
              <a:gd name="T46" fmla="*/ 836 w 2872"/>
              <a:gd name="T47" fmla="*/ 948 h 3284"/>
              <a:gd name="T48" fmla="*/ 860 w 2872"/>
              <a:gd name="T49" fmla="*/ 1113 h 3284"/>
              <a:gd name="T50" fmla="*/ 778 w 2872"/>
              <a:gd name="T51" fmla="*/ 1195 h 3284"/>
              <a:gd name="T52" fmla="*/ 1069 w 2872"/>
              <a:gd name="T53" fmla="*/ 1885 h 3284"/>
              <a:gd name="T54" fmla="*/ 987 w 2872"/>
              <a:gd name="T55" fmla="*/ 1803 h 3284"/>
              <a:gd name="T56" fmla="*/ 1011 w 2872"/>
              <a:gd name="T57" fmla="*/ 1641 h 3284"/>
              <a:gd name="T58" fmla="*/ 2015 w 2872"/>
              <a:gd name="T59" fmla="*/ 1617 h 3284"/>
              <a:gd name="T60" fmla="*/ 2097 w 2872"/>
              <a:gd name="T61" fmla="*/ 1699 h 3284"/>
              <a:gd name="T62" fmla="*/ 2073 w 2872"/>
              <a:gd name="T63" fmla="*/ 1861 h 3284"/>
              <a:gd name="T64" fmla="*/ 1069 w 2872"/>
              <a:gd name="T65" fmla="*/ 1885 h 3284"/>
              <a:gd name="T66" fmla="*/ 1579 w 2872"/>
              <a:gd name="T67" fmla="*/ 2633 h 3284"/>
              <a:gd name="T68" fmla="*/ 2872 w 2872"/>
              <a:gd name="T69" fmla="*/ 2627 h 3284"/>
              <a:gd name="T70" fmla="*/ 2216 w 2872"/>
              <a:gd name="T71" fmla="*/ 1980 h 3284"/>
              <a:gd name="T72" fmla="*/ 1770 w 2872"/>
              <a:gd name="T73" fmla="*/ 2622 h 3284"/>
              <a:gd name="T74" fmla="*/ 2131 w 2872"/>
              <a:gd name="T75" fmla="*/ 2655 h 3284"/>
              <a:gd name="T76" fmla="*/ 2671 w 2872"/>
              <a:gd name="T77" fmla="*/ 2460 h 3284"/>
              <a:gd name="T78" fmla="*/ 2128 w 2872"/>
              <a:gd name="T79" fmla="*/ 2950 h 3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72" h="3284">
                <a:moveTo>
                  <a:pt x="1468" y="2605"/>
                </a:moveTo>
                <a:cubicBezTo>
                  <a:pt x="1471" y="2320"/>
                  <a:pt x="1638" y="2061"/>
                  <a:pt x="1898" y="1941"/>
                </a:cubicBezTo>
                <a:cubicBezTo>
                  <a:pt x="2158" y="1822"/>
                  <a:pt x="2463" y="1864"/>
                  <a:pt x="2681" y="2048"/>
                </a:cubicBezTo>
                <a:cubicBezTo>
                  <a:pt x="2681" y="328"/>
                  <a:pt x="2681" y="328"/>
                  <a:pt x="2681" y="328"/>
                </a:cubicBezTo>
                <a:cubicBezTo>
                  <a:pt x="2681" y="147"/>
                  <a:pt x="2535" y="0"/>
                  <a:pt x="2354" y="0"/>
                </a:cubicBezTo>
                <a:cubicBezTo>
                  <a:pt x="332" y="0"/>
                  <a:pt x="332" y="0"/>
                  <a:pt x="332" y="0"/>
                </a:cubicBezTo>
                <a:cubicBezTo>
                  <a:pt x="151" y="0"/>
                  <a:pt x="4" y="147"/>
                  <a:pt x="4" y="328"/>
                </a:cubicBezTo>
                <a:cubicBezTo>
                  <a:pt x="4" y="3014"/>
                  <a:pt x="4" y="3014"/>
                  <a:pt x="4" y="3014"/>
                </a:cubicBezTo>
                <a:cubicBezTo>
                  <a:pt x="0" y="3105"/>
                  <a:pt x="44" y="3191"/>
                  <a:pt x="121" y="3240"/>
                </a:cubicBezTo>
                <a:cubicBezTo>
                  <a:pt x="201" y="3284"/>
                  <a:pt x="299" y="3282"/>
                  <a:pt x="378" y="3234"/>
                </a:cubicBezTo>
                <a:cubicBezTo>
                  <a:pt x="1350" y="2704"/>
                  <a:pt x="1350" y="2704"/>
                  <a:pt x="1350" y="2704"/>
                </a:cubicBezTo>
                <a:cubicBezTo>
                  <a:pt x="1491" y="2781"/>
                  <a:pt x="1491" y="2781"/>
                  <a:pt x="1491" y="2781"/>
                </a:cubicBezTo>
                <a:cubicBezTo>
                  <a:pt x="1476" y="2723"/>
                  <a:pt x="1469" y="2665"/>
                  <a:pt x="1468" y="2605"/>
                </a:cubicBezTo>
                <a:close/>
                <a:moveTo>
                  <a:pt x="987" y="1006"/>
                </a:moveTo>
                <a:cubicBezTo>
                  <a:pt x="987" y="985"/>
                  <a:pt x="996" y="964"/>
                  <a:pt x="1011" y="948"/>
                </a:cubicBezTo>
                <a:cubicBezTo>
                  <a:pt x="1027" y="933"/>
                  <a:pt x="1048" y="924"/>
                  <a:pt x="1069" y="924"/>
                </a:cubicBezTo>
                <a:cubicBezTo>
                  <a:pt x="2015" y="924"/>
                  <a:pt x="2015" y="924"/>
                  <a:pt x="2015" y="924"/>
                </a:cubicBezTo>
                <a:cubicBezTo>
                  <a:pt x="2036" y="924"/>
                  <a:pt x="2057" y="933"/>
                  <a:pt x="2073" y="948"/>
                </a:cubicBezTo>
                <a:cubicBezTo>
                  <a:pt x="2088" y="964"/>
                  <a:pt x="2097" y="985"/>
                  <a:pt x="2097" y="1006"/>
                </a:cubicBezTo>
                <a:cubicBezTo>
                  <a:pt x="2097" y="1114"/>
                  <a:pt x="2097" y="1114"/>
                  <a:pt x="2097" y="1114"/>
                </a:cubicBezTo>
                <a:cubicBezTo>
                  <a:pt x="2097" y="1135"/>
                  <a:pt x="2088" y="1156"/>
                  <a:pt x="2073" y="1172"/>
                </a:cubicBezTo>
                <a:cubicBezTo>
                  <a:pt x="2057" y="1187"/>
                  <a:pt x="2036" y="1196"/>
                  <a:pt x="2015" y="1196"/>
                </a:cubicBezTo>
                <a:cubicBezTo>
                  <a:pt x="1069" y="1196"/>
                  <a:pt x="1069" y="1196"/>
                  <a:pt x="1069" y="1196"/>
                </a:cubicBezTo>
                <a:cubicBezTo>
                  <a:pt x="1048" y="1196"/>
                  <a:pt x="1027" y="1187"/>
                  <a:pt x="1011" y="1172"/>
                </a:cubicBezTo>
                <a:cubicBezTo>
                  <a:pt x="996" y="1156"/>
                  <a:pt x="987" y="1135"/>
                  <a:pt x="987" y="1114"/>
                </a:cubicBezTo>
                <a:lnTo>
                  <a:pt x="987" y="1006"/>
                </a:lnTo>
                <a:close/>
                <a:moveTo>
                  <a:pt x="778" y="1885"/>
                </a:moveTo>
                <a:cubicBezTo>
                  <a:pt x="672" y="1885"/>
                  <a:pt x="672" y="1885"/>
                  <a:pt x="672" y="1885"/>
                </a:cubicBezTo>
                <a:cubicBezTo>
                  <a:pt x="650" y="1885"/>
                  <a:pt x="629" y="1876"/>
                  <a:pt x="614" y="1861"/>
                </a:cubicBezTo>
                <a:cubicBezTo>
                  <a:pt x="599" y="1845"/>
                  <a:pt x="590" y="1824"/>
                  <a:pt x="590" y="1803"/>
                </a:cubicBezTo>
                <a:cubicBezTo>
                  <a:pt x="590" y="1699"/>
                  <a:pt x="590" y="1699"/>
                  <a:pt x="590" y="1699"/>
                </a:cubicBezTo>
                <a:cubicBezTo>
                  <a:pt x="590" y="1678"/>
                  <a:pt x="599" y="1657"/>
                  <a:pt x="614" y="1641"/>
                </a:cubicBezTo>
                <a:cubicBezTo>
                  <a:pt x="629" y="1626"/>
                  <a:pt x="650" y="1617"/>
                  <a:pt x="672" y="1617"/>
                </a:cubicBezTo>
                <a:cubicBezTo>
                  <a:pt x="778" y="1617"/>
                  <a:pt x="778" y="1617"/>
                  <a:pt x="778" y="1617"/>
                </a:cubicBezTo>
                <a:cubicBezTo>
                  <a:pt x="799" y="1617"/>
                  <a:pt x="820" y="1626"/>
                  <a:pt x="836" y="1641"/>
                </a:cubicBezTo>
                <a:cubicBezTo>
                  <a:pt x="851" y="1657"/>
                  <a:pt x="860" y="1678"/>
                  <a:pt x="860" y="1699"/>
                </a:cubicBezTo>
                <a:cubicBezTo>
                  <a:pt x="860" y="1803"/>
                  <a:pt x="860" y="1803"/>
                  <a:pt x="860" y="1803"/>
                </a:cubicBezTo>
                <a:cubicBezTo>
                  <a:pt x="860" y="1824"/>
                  <a:pt x="851" y="1845"/>
                  <a:pt x="836" y="1861"/>
                </a:cubicBezTo>
                <a:cubicBezTo>
                  <a:pt x="820" y="1876"/>
                  <a:pt x="799" y="1885"/>
                  <a:pt x="778" y="1885"/>
                </a:cubicBezTo>
                <a:close/>
                <a:moveTo>
                  <a:pt x="778" y="1192"/>
                </a:moveTo>
                <a:cubicBezTo>
                  <a:pt x="672" y="1192"/>
                  <a:pt x="672" y="1192"/>
                  <a:pt x="672" y="1192"/>
                </a:cubicBezTo>
                <a:cubicBezTo>
                  <a:pt x="650" y="1192"/>
                  <a:pt x="629" y="1183"/>
                  <a:pt x="614" y="1168"/>
                </a:cubicBezTo>
                <a:cubicBezTo>
                  <a:pt x="599" y="1152"/>
                  <a:pt x="590" y="1131"/>
                  <a:pt x="590" y="1110"/>
                </a:cubicBezTo>
                <a:cubicBezTo>
                  <a:pt x="590" y="1006"/>
                  <a:pt x="590" y="1006"/>
                  <a:pt x="590" y="1006"/>
                </a:cubicBezTo>
                <a:cubicBezTo>
                  <a:pt x="590" y="984"/>
                  <a:pt x="599" y="963"/>
                  <a:pt x="614" y="948"/>
                </a:cubicBezTo>
                <a:cubicBezTo>
                  <a:pt x="629" y="932"/>
                  <a:pt x="650" y="924"/>
                  <a:pt x="672" y="924"/>
                </a:cubicBezTo>
                <a:cubicBezTo>
                  <a:pt x="778" y="924"/>
                  <a:pt x="778" y="924"/>
                  <a:pt x="778" y="924"/>
                </a:cubicBezTo>
                <a:cubicBezTo>
                  <a:pt x="800" y="924"/>
                  <a:pt x="821" y="932"/>
                  <a:pt x="836" y="948"/>
                </a:cubicBezTo>
                <a:cubicBezTo>
                  <a:pt x="852" y="963"/>
                  <a:pt x="860" y="984"/>
                  <a:pt x="860" y="1006"/>
                </a:cubicBezTo>
                <a:cubicBezTo>
                  <a:pt x="860" y="1113"/>
                  <a:pt x="860" y="1113"/>
                  <a:pt x="860" y="1113"/>
                </a:cubicBezTo>
                <a:cubicBezTo>
                  <a:pt x="860" y="1135"/>
                  <a:pt x="852" y="1155"/>
                  <a:pt x="836" y="1171"/>
                </a:cubicBezTo>
                <a:cubicBezTo>
                  <a:pt x="821" y="1186"/>
                  <a:pt x="800" y="1195"/>
                  <a:pt x="778" y="1195"/>
                </a:cubicBezTo>
                <a:lnTo>
                  <a:pt x="778" y="1192"/>
                </a:lnTo>
                <a:close/>
                <a:moveTo>
                  <a:pt x="1069" y="1885"/>
                </a:moveTo>
                <a:cubicBezTo>
                  <a:pt x="1048" y="1885"/>
                  <a:pt x="1027" y="1876"/>
                  <a:pt x="1011" y="1861"/>
                </a:cubicBezTo>
                <a:cubicBezTo>
                  <a:pt x="996" y="1845"/>
                  <a:pt x="987" y="1824"/>
                  <a:pt x="987" y="1803"/>
                </a:cubicBezTo>
                <a:cubicBezTo>
                  <a:pt x="987" y="1699"/>
                  <a:pt x="987" y="1699"/>
                  <a:pt x="987" y="1699"/>
                </a:cubicBezTo>
                <a:cubicBezTo>
                  <a:pt x="987" y="1678"/>
                  <a:pt x="996" y="1657"/>
                  <a:pt x="1011" y="1641"/>
                </a:cubicBezTo>
                <a:cubicBezTo>
                  <a:pt x="1027" y="1626"/>
                  <a:pt x="1048" y="1617"/>
                  <a:pt x="1069" y="1617"/>
                </a:cubicBezTo>
                <a:cubicBezTo>
                  <a:pt x="2015" y="1617"/>
                  <a:pt x="2015" y="1617"/>
                  <a:pt x="2015" y="1617"/>
                </a:cubicBezTo>
                <a:cubicBezTo>
                  <a:pt x="2036" y="1617"/>
                  <a:pt x="2057" y="1626"/>
                  <a:pt x="2073" y="1641"/>
                </a:cubicBezTo>
                <a:cubicBezTo>
                  <a:pt x="2088" y="1657"/>
                  <a:pt x="2097" y="1678"/>
                  <a:pt x="2097" y="1699"/>
                </a:cubicBezTo>
                <a:cubicBezTo>
                  <a:pt x="2097" y="1803"/>
                  <a:pt x="2097" y="1803"/>
                  <a:pt x="2097" y="1803"/>
                </a:cubicBezTo>
                <a:cubicBezTo>
                  <a:pt x="2097" y="1824"/>
                  <a:pt x="2088" y="1845"/>
                  <a:pt x="2073" y="1861"/>
                </a:cubicBezTo>
                <a:cubicBezTo>
                  <a:pt x="2057" y="1876"/>
                  <a:pt x="2036" y="1885"/>
                  <a:pt x="2015" y="1885"/>
                </a:cubicBezTo>
                <a:lnTo>
                  <a:pt x="1069" y="1885"/>
                </a:lnTo>
                <a:close/>
                <a:moveTo>
                  <a:pt x="2216" y="1980"/>
                </a:moveTo>
                <a:cubicBezTo>
                  <a:pt x="1860" y="1985"/>
                  <a:pt x="1576" y="2277"/>
                  <a:pt x="1579" y="2633"/>
                </a:cubicBezTo>
                <a:cubicBezTo>
                  <a:pt x="1582" y="2988"/>
                  <a:pt x="1872" y="3275"/>
                  <a:pt x="2228" y="3273"/>
                </a:cubicBezTo>
                <a:cubicBezTo>
                  <a:pt x="2584" y="3271"/>
                  <a:pt x="2872" y="2983"/>
                  <a:pt x="2872" y="2627"/>
                </a:cubicBezTo>
                <a:cubicBezTo>
                  <a:pt x="2872" y="2454"/>
                  <a:pt x="2802" y="2288"/>
                  <a:pt x="2679" y="2167"/>
                </a:cubicBezTo>
                <a:cubicBezTo>
                  <a:pt x="2556" y="2045"/>
                  <a:pt x="2389" y="1978"/>
                  <a:pt x="2216" y="1980"/>
                </a:cubicBezTo>
                <a:close/>
                <a:moveTo>
                  <a:pt x="2128" y="2950"/>
                </a:moveTo>
                <a:cubicBezTo>
                  <a:pt x="1770" y="2622"/>
                  <a:pt x="1770" y="2622"/>
                  <a:pt x="1770" y="2622"/>
                </a:cubicBezTo>
                <a:cubicBezTo>
                  <a:pt x="1934" y="2476"/>
                  <a:pt x="1934" y="2476"/>
                  <a:pt x="1934" y="2476"/>
                </a:cubicBezTo>
                <a:cubicBezTo>
                  <a:pt x="2131" y="2655"/>
                  <a:pt x="2131" y="2655"/>
                  <a:pt x="2131" y="2655"/>
                </a:cubicBezTo>
                <a:cubicBezTo>
                  <a:pt x="2507" y="2314"/>
                  <a:pt x="2507" y="2314"/>
                  <a:pt x="2507" y="2314"/>
                </a:cubicBezTo>
                <a:cubicBezTo>
                  <a:pt x="2671" y="2460"/>
                  <a:pt x="2671" y="2460"/>
                  <a:pt x="2671" y="2460"/>
                </a:cubicBezTo>
                <a:lnTo>
                  <a:pt x="2128" y="2950"/>
                </a:lnTo>
                <a:close/>
                <a:moveTo>
                  <a:pt x="2128" y="2950"/>
                </a:moveTo>
                <a:cubicBezTo>
                  <a:pt x="2128" y="2950"/>
                  <a:pt x="2128" y="2950"/>
                  <a:pt x="2128" y="2950"/>
                </a:cubicBezTo>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 name="文本框 2"/>
          <p:cNvSpPr txBox="1"/>
          <p:nvPr/>
        </p:nvSpPr>
        <p:spPr>
          <a:xfrm>
            <a:off x="2785110" y="2649220"/>
            <a:ext cx="6622415" cy="1013460"/>
          </a:xfrm>
          <a:prstGeom prst="rect">
            <a:avLst/>
          </a:prstGeom>
          <a:noFill/>
        </p:spPr>
        <p:txBody>
          <a:bodyPr wrap="square" rtlCol="0">
            <a:noAutofit/>
          </a:bodyPr>
          <a:lstStyle/>
          <a:p>
            <a:pPr algn="l">
              <a:buClrTx/>
              <a:buSzTx/>
              <a:buFont typeface="Wingdings" panose="05000000000000000000" charset="0"/>
            </a:pPr>
            <a:r>
              <a:rPr lang="zh-CN" altLang="en-US" sz="5400" b="1" dirty="0">
                <a:solidFill>
                  <a:schemeClr val="accent1">
                    <a:lumMod val="50000"/>
                  </a:schemeClr>
                </a:solidFill>
                <a:cs typeface="+mn-ea"/>
                <a:sym typeface="+mn-lt"/>
              </a:rPr>
              <a:t>请老师同学批评指正！</a:t>
            </a:r>
            <a:endParaRPr lang="zh-CN" altLang="en-US" sz="5400" b="1" dirty="0">
              <a:solidFill>
                <a:schemeClr val="accent1">
                  <a:lumMod val="50000"/>
                </a:schemeClr>
              </a:solidFill>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00031],&quot;70&quot;:[3321880,331585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88.74818897637795,&quot;left&quot;:72.08771653543307,&quot;top&quot;:26.10976377952756,&quot;width&quot;:815.824566929133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96.8,&quot;left&quot;:75.06135442541509,&quot;top&quot;:67.5,&quot;width&quot;:741.088645574585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96.8,&quot;left&quot;:75.06135442541509,&quot;top&quot;:67.5,&quot;width&quot;:741.088645574585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96.8,&quot;left&quot;:75.06135442541509,&quot;top&quot;:67.5,&quot;width&quot;:741.088645574585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96.8,&quot;left&quot;:75.06135442541509,&quot;top&quot;:67.5,&quot;width&quot;:741.088645574585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6.8,&quot;left&quot;:75.06135442541509,&quot;top&quot;:67.5,&quot;width&quot;:741.088645574585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88.74818897637795,&quot;left&quot;:72.08771653543307,&quot;top&quot;:26.10976377952756,&quot;width&quot;:815.824566929133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73.55,&quot;left&quot;:79.3,&quot;top&quot;:90.75,&quot;width&quot;:736.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q1ayxfd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4217</TotalTime>
  <Words>663</Words>
  <Application>Microsoft Office PowerPoint</Application>
  <PresentationFormat>宽屏</PresentationFormat>
  <Paragraphs>32</Paragraphs>
  <Slides>12</Slides>
  <Notes>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vt:i4>
      </vt:variant>
    </vt:vector>
  </HeadingPairs>
  <TitlesOfParts>
    <vt:vector size="19" baseType="lpstr">
      <vt:lpstr>Inter</vt:lpstr>
      <vt:lpstr>Arial</vt:lpstr>
      <vt:lpstr>Calibri</vt:lpstr>
      <vt:lpstr>Cambria Math</vt:lpstr>
      <vt:lpstr>Courier New</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office2016mac10413</dc:creator>
  <cp:lastModifiedBy>志洋 彭</cp:lastModifiedBy>
  <cp:revision>237</cp:revision>
  <dcterms:created xsi:type="dcterms:W3CDTF">2021-06-29T08:54:00Z</dcterms:created>
  <dcterms:modified xsi:type="dcterms:W3CDTF">2026-06-12T16:47:34Z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KSOTemplateUUID">
    <vt:lpwstr>v1.0_mb_3/AUWq/N1aYnYRXji2t99Q==</vt:lpwstr>
  </property>
  <property fmtid="{D5CDD505-2E9C-101B-9397-08002B2CF9AE}" pid="4" name="ICV">
    <vt:lpwstr>F3CCCED4F8D6492AB87A4B373DD5B26C_11</vt:lpwstr>
  </property>
</Properties>
</file>