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4" r:id="rId8"/>
    <p:sldId id="3457" r:id="rId9"/>
    <p:sldId id="3449" r:id="rId10"/>
    <p:sldId id="3459" r:id="rId11"/>
    <p:sldId id="3458" r:id="rId12"/>
    <p:sldId id="3472" r:id="rId13"/>
    <p:sldId id="3473" r:id="rId14"/>
    <p:sldId id="3474" r:id="rId15"/>
    <p:sldId id="3231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216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84320" y="2675255"/>
            <a:ext cx="8277225" cy="1508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3765"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Spatial-SAM: Spatially Consistent 3D Electron Microscopy Segmentation with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3765"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SDF Memory and Semi-Supervised Learning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CVPR 2026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  <a:endParaRPr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861695"/>
            <a:ext cx="8469630" cy="5544820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3540" y="949325"/>
            <a:ext cx="4475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三维电子显微镜图像分割的难点</a:t>
            </a:r>
            <a:endParaRPr lang="zh-CN" altLang="en-US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95" y="1892300"/>
            <a:ext cx="7516495" cy="355981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80695" y="1525905"/>
            <a:ext cx="35979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标注成本高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三维数据规模大，逐切片人工标注耗时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传统全监督方法依赖大量完整标签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80695" y="3862070"/>
            <a:ext cx="406400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空间一致性不足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单张切片结果可能看起来准确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相邻切片之间容易出现位置跳变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三维重建后产生断裂、锯齿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3835" y="1038860"/>
            <a:ext cx="2635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SAM2</a:t>
            </a:r>
            <a:r>
              <a:rPr lang="zh-CN" altLang="en-US" sz="2400" b="1"/>
              <a:t>的局限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3540" y="1666875"/>
            <a:ext cx="4676775" cy="2445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空间一致性不足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Memory</a:t>
            </a:r>
            <a:r>
              <a:rPr lang="zh-CN" altLang="en-US"/>
              <a:t>来源于历史二维预测，缺少显示三维结构信息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难以确保切片间的空间连续性和结构完整性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错误预测被写入</a:t>
            </a:r>
            <a:r>
              <a:rPr lang="en-US" altLang="zh-CN"/>
              <a:t>Memory</a:t>
            </a:r>
            <a:r>
              <a:rPr lang="zh-CN" altLang="en-US"/>
              <a:t>后会不断积累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9730" y="4535805"/>
            <a:ext cx="4485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少标注泛化困难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不同样本间外观差异较大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少量人工标注难以支持稳定的三维分割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21400" y="1038860"/>
            <a:ext cx="2635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本文</a:t>
            </a:r>
            <a:r>
              <a:rPr lang="en-US" altLang="zh-CN" sz="2400" b="1"/>
              <a:t>Motivation</a:t>
            </a:r>
            <a:endParaRPr lang="en-US" altLang="zh-CN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6430010" y="1749425"/>
            <a:ext cx="50888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需要比历史二维</a:t>
            </a:r>
            <a:r>
              <a:rPr lang="en-US" altLang="zh-CN" b="1"/>
              <a:t>Memory</a:t>
            </a:r>
            <a:r>
              <a:rPr lang="zh-CN" altLang="en-US" b="1"/>
              <a:t>更可靠的三维记忆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由</a:t>
            </a:r>
            <a:r>
              <a:rPr lang="en-US" altLang="zh-CN"/>
              <a:t>3D U-Net</a:t>
            </a:r>
            <a:r>
              <a:rPr lang="zh-CN" altLang="en-US"/>
              <a:t>预测整个体数据的三维几何表示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提供平滑、双向且不容易累积错误的结构引导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358890" y="3599815"/>
            <a:ext cx="4485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需要充分利用少量标注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利用</a:t>
            </a:r>
            <a:r>
              <a:rPr lang="en-US" altLang="zh-CN"/>
              <a:t>SAM2</a:t>
            </a:r>
            <a:r>
              <a:rPr lang="zh-CN" altLang="en-US"/>
              <a:t>少样本能力生成初始伪标签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SDF</a:t>
            </a:r>
            <a:r>
              <a:rPr lang="zh-CN" altLang="en-US"/>
              <a:t>回归与</a:t>
            </a:r>
            <a:r>
              <a:rPr lang="en-US" altLang="zh-CN"/>
              <a:t>Mask</a:t>
            </a:r>
            <a:r>
              <a:rPr lang="zh-CN" altLang="en-US"/>
              <a:t>学习之间交替优化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445"/>
            <a:ext cx="12192000" cy="30340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58005"/>
            <a:ext cx="5969000" cy="10896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105" y="4041775"/>
            <a:ext cx="4074795" cy="9169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878955" y="5073015"/>
            <a:ext cx="5080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同时读取当前切片前后邻近切片的</a:t>
            </a:r>
            <a:r>
              <a:rPr lang="en-US" altLang="zh-CN"/>
              <a:t>Memory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排除当前切片自身的</a:t>
            </a:r>
            <a:r>
              <a:rPr lang="en-US" altLang="zh-CN"/>
              <a:t>Memory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邻域</a:t>
            </a:r>
            <a:r>
              <a:rPr lang="en-US" altLang="zh-CN"/>
              <a:t>SDF</a:t>
            </a:r>
            <a:r>
              <a:rPr lang="zh-CN" altLang="en-US"/>
              <a:t>提供三维结构参考，当前图像负责精细边界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671320"/>
            <a:ext cx="4830445" cy="47161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30400" y="1120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双轨半监督训练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6558280" y="1080135"/>
            <a:ext cx="50641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b="1"/>
              <a:t>伪标签初始化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用少量标注切片作为</a:t>
            </a:r>
            <a:r>
              <a:rPr lang="en-US" altLang="zh-CN"/>
              <a:t>SAM2</a:t>
            </a:r>
            <a:r>
              <a:rPr lang="zh-CN" altLang="en-US"/>
              <a:t>的条件帧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利用</a:t>
            </a:r>
            <a:r>
              <a:rPr lang="en-US" altLang="zh-CN"/>
              <a:t>SAM2</a:t>
            </a:r>
            <a:r>
              <a:rPr lang="zh-CN" altLang="en-US"/>
              <a:t>的传播能力生成完整体数据的初始伪标签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58280" y="2833370"/>
            <a:ext cx="4064000" cy="1441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en-US" altLang="zh-CN" b="1"/>
              <a:t>SDF</a:t>
            </a:r>
            <a:r>
              <a:rPr lang="zh-CN" altLang="en-US" b="1"/>
              <a:t>轨道：学习三维几何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将伪标签转化为伪</a:t>
            </a:r>
            <a:r>
              <a:rPr lang="en-US" altLang="zh-CN"/>
              <a:t>SDF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用伪</a:t>
            </a:r>
            <a:r>
              <a:rPr lang="en-US" altLang="zh-CN"/>
              <a:t>SDF</a:t>
            </a:r>
            <a:r>
              <a:rPr lang="zh-CN" altLang="en-US"/>
              <a:t>监督</a:t>
            </a:r>
            <a:r>
              <a:rPr lang="en-US" altLang="zh-CN"/>
              <a:t>3D U-Net</a:t>
            </a:r>
            <a:r>
              <a:rPr lang="zh-CN" altLang="en-US"/>
              <a:t>预测三维</a:t>
            </a:r>
            <a:r>
              <a:rPr lang="en-US" altLang="zh-CN"/>
              <a:t>SDF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58280" y="4182110"/>
            <a:ext cx="5189855" cy="2457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en-US" altLang="zh-CN" b="1"/>
              <a:t>Mask</a:t>
            </a:r>
            <a:r>
              <a:rPr lang="zh-CN" altLang="en-US" b="1"/>
              <a:t>轨道：细化二维分割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将预测</a:t>
            </a:r>
            <a:r>
              <a:rPr lang="en-US" altLang="zh-CN"/>
              <a:t>SDF</a:t>
            </a:r>
            <a:r>
              <a:rPr lang="zh-CN" altLang="en-US"/>
              <a:t>编码为</a:t>
            </a:r>
            <a:r>
              <a:rPr lang="en-US" altLang="zh-CN"/>
              <a:t>Memory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SAM2</a:t>
            </a:r>
            <a:r>
              <a:rPr lang="zh-CN" altLang="en-US"/>
              <a:t>结合当前图像与邻域</a:t>
            </a:r>
            <a:r>
              <a:rPr lang="en-US" altLang="zh-CN"/>
              <a:t>Memory</a:t>
            </a:r>
            <a:r>
              <a:rPr lang="zh-CN" altLang="en-US"/>
              <a:t>预测</a:t>
            </a:r>
            <a:r>
              <a:rPr lang="en-US" altLang="zh-CN"/>
              <a:t>Mask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新预测结果更新伪标签，进入下一轮训练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362075"/>
            <a:ext cx="10915650" cy="413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" y="1505585"/>
            <a:ext cx="11531600" cy="4048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923415"/>
            <a:ext cx="10332085" cy="3498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总结与思考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5200" y="1111885"/>
            <a:ext cx="8483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b="1"/>
              <a:t>论文核心结论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用</a:t>
            </a:r>
            <a:r>
              <a:rPr lang="en-US" altLang="zh-CN"/>
              <a:t>3D U-Net</a:t>
            </a:r>
            <a:r>
              <a:rPr lang="zh-CN" altLang="en-US"/>
              <a:t>预测的</a:t>
            </a:r>
            <a:r>
              <a:rPr lang="en-US" altLang="zh-CN"/>
              <a:t>SDF</a:t>
            </a:r>
            <a:r>
              <a:rPr lang="zh-CN" altLang="en-US"/>
              <a:t>代替</a:t>
            </a:r>
            <a:r>
              <a:rPr lang="en-US" altLang="zh-CN"/>
              <a:t>SAM2</a:t>
            </a:r>
            <a:r>
              <a:rPr lang="zh-CN" altLang="en-US"/>
              <a:t>基于历史</a:t>
            </a:r>
            <a:r>
              <a:rPr lang="en-US" altLang="zh-CN"/>
              <a:t>Mask</a:t>
            </a:r>
            <a:r>
              <a:rPr lang="zh-CN" altLang="en-US"/>
              <a:t>的</a:t>
            </a:r>
            <a:r>
              <a:rPr lang="en-US" altLang="zh-CN"/>
              <a:t>Memory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双向读取当前切片的邻域</a:t>
            </a:r>
            <a:r>
              <a:rPr lang="en-US" altLang="zh-CN"/>
              <a:t>Memory</a:t>
            </a:r>
            <a:r>
              <a:rPr lang="zh-CN" altLang="en-US"/>
              <a:t>，并排除当前切片自身的粗</a:t>
            </a:r>
            <a:r>
              <a:rPr lang="en-US" altLang="zh-CN"/>
              <a:t>SDF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通过</a:t>
            </a:r>
            <a:r>
              <a:rPr lang="en-US" altLang="zh-CN"/>
              <a:t>SDF</a:t>
            </a:r>
            <a:r>
              <a:rPr lang="zh-CN" altLang="en-US"/>
              <a:t>回归与</a:t>
            </a:r>
            <a:r>
              <a:rPr lang="en-US" altLang="zh-CN"/>
              <a:t>Mask</a:t>
            </a:r>
            <a:r>
              <a:rPr lang="zh-CN" altLang="en-US"/>
              <a:t>学习交替训练，仅用</a:t>
            </a:r>
            <a:r>
              <a:rPr lang="en-US" altLang="zh-CN"/>
              <a:t>1/64</a:t>
            </a:r>
            <a:r>
              <a:rPr lang="zh-CN" altLang="en-US"/>
              <a:t>标注切片就可接近全监督方法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3491230"/>
            <a:ext cx="8483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b="1"/>
              <a:t>对</a:t>
            </a:r>
            <a:r>
              <a:rPr lang="en-US" altLang="zh-CN" b="1"/>
              <a:t>OCT</a:t>
            </a:r>
            <a:r>
              <a:rPr lang="zh-CN" altLang="en-US" b="1"/>
              <a:t>任务的启发</a:t>
            </a:r>
            <a:endParaRPr lang="zh-CN" altLang="en-US" b="1"/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对连续</a:t>
            </a:r>
            <a:r>
              <a:rPr lang="en-US" altLang="zh-CN"/>
              <a:t>OCT B-scan</a:t>
            </a:r>
            <a:r>
              <a:rPr lang="zh-CN" altLang="en-US"/>
              <a:t>独立分割时，相邻切片的层边界可能发生位置跳变，导致三维重建曲面不连续。借鉴本文方法，可以将前后</a:t>
            </a:r>
            <a:r>
              <a:rPr lang="en-US" altLang="zh-CN"/>
              <a:t>B-scan</a:t>
            </a:r>
            <a:r>
              <a:rPr lang="zh-CN" altLang="en-US"/>
              <a:t>的层边界坐标或距离图编码为几何</a:t>
            </a:r>
            <a:r>
              <a:rPr lang="en-US" altLang="zh-CN"/>
              <a:t>Memory</a:t>
            </a:r>
            <a:r>
              <a:rPr lang="zh-CN" altLang="en-US"/>
              <a:t>，在当前切片模糊时提供层面位置和变化趋势参考。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8271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"/>
    </mc:Choice>
    <mc:Fallback>
      <p:transition advClick="0" advTm="1000"/>
    </mc:Fallback>
  </mc:AlternateContent>
</p:sld>
</file>

<file path=ppt/tags/tag1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WPS 演示</Application>
  <PresentationFormat>宽屏</PresentationFormat>
  <Paragraphs>176</Paragraphs>
  <Slides>11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Times New Roman</vt:lpstr>
      <vt:lpstr>Arial Unicode MS</vt:lpstr>
      <vt:lpstr>等线 Light</vt:lpstr>
      <vt:lpstr>Calibri Light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王书博</cp:lastModifiedBy>
  <cp:revision>960</cp:revision>
  <dcterms:created xsi:type="dcterms:W3CDTF">2019-03-09T08:01:00Z</dcterms:created>
  <dcterms:modified xsi:type="dcterms:W3CDTF">2026-07-27T02:16:46Z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0C95BC188EFC487BA7C01F2F718226AD_13</vt:lpwstr>
  </property>
</Properties>
</file>