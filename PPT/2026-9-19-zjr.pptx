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2.svg" ContentType="image/svg+xml"/>
  <Override PartName="/ppt/media/image1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3" r:id="rId3"/>
    <p:sldMasterId id="2147483666" r:id="rId4"/>
  </p:sldMasterIdLst>
  <p:notesMasterIdLst>
    <p:notesMasterId r:id="rId7"/>
  </p:notesMasterIdLst>
  <p:sldIdLst>
    <p:sldId id="3228" r:id="rId5"/>
    <p:sldId id="270" r:id="rId6"/>
    <p:sldId id="293" r:id="rId8"/>
    <p:sldId id="3351" r:id="rId9"/>
    <p:sldId id="3261" r:id="rId10"/>
    <p:sldId id="549" r:id="rId11"/>
    <p:sldId id="3324" r:id="rId12"/>
    <p:sldId id="3349" r:id="rId13"/>
    <p:sldId id="3348" r:id="rId14"/>
    <p:sldId id="3352" r:id="rId15"/>
    <p:sldId id="3353" r:id="rId16"/>
    <p:sldId id="3233" r:id="rId17"/>
    <p:sldId id="322" r:id="rId18"/>
    <p:sldId id="3231" r:id="rId19"/>
  </p:sldIdLst>
  <p:sldSz cx="12192000" cy="6858000"/>
  <p:notesSz cx="6858000" cy="9144000"/>
  <p:custDataLst>
    <p:tags r:id="rId2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4" userDrawn="1">
          <p15:clr>
            <a:srgbClr val="A4A3A4"/>
          </p15:clr>
        </p15:guide>
        <p15:guide id="2" pos="390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78C3"/>
    <a:srgbClr val="1A78C2"/>
    <a:srgbClr val="1B6299"/>
    <a:srgbClr val="8609AD"/>
    <a:srgbClr val="1C6299"/>
    <a:srgbClr val="1B6298"/>
    <a:srgbClr val="96C4D1"/>
    <a:srgbClr val="6F3A97"/>
    <a:srgbClr val="D7E0E6"/>
    <a:srgbClr val="286B9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68" autoAdjust="0"/>
    <p:restoredTop sz="94660"/>
  </p:normalViewPr>
  <p:slideViewPr>
    <p:cSldViewPr snapToGrid="0" showGuides="1">
      <p:cViewPr>
        <p:scale>
          <a:sx n="66" d="100"/>
          <a:sy n="66" d="100"/>
        </p:scale>
        <p:origin x="888" y="579"/>
      </p:cViewPr>
      <p:guideLst>
        <p:guide orient="horz" pos="2154"/>
        <p:guide pos="3906"/>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notesMaster" Target="notesMasters/notesMaster1.xml"/><Relationship Id="rId6" Type="http://schemas.openxmlformats.org/officeDocument/2006/relationships/slide" Target="slides/slide2.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3" Type="http://schemas.openxmlformats.org/officeDocument/2006/relationships/tags" Target="tags/tag36.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893C12-D317-442F-945E-D6517EECB5C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933A62-8780-4CAA-8D19-25292B7F568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B933A62-8780-4CAA-8D19-25292B7F5684}"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B933A62-8780-4CAA-8D19-25292B7F568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​​研究问题​​：这篇文章要解决的问题是如何提高医疗视觉语言模型（</a:t>
            </a:r>
            <a:r>
              <a:rPr lang="en-US" altLang="zh-CN"/>
              <a:t>VLMs）</a:t>
            </a:r>
            <a:r>
              <a:rPr lang="zh-CN" altLang="en-US"/>
              <a:t>在医学图像分析中的推理能力，使其能够生成显式的自然语言推理，从而增强透明度和可信度。​​研究难点​​：该问题的研究难点包括：现有的监督微调（</a:t>
            </a:r>
            <a:r>
              <a:rPr lang="en-US" altLang="zh-CN"/>
              <a:t>SFT）</a:t>
            </a:r>
            <a:r>
              <a:rPr lang="zh-CN" altLang="en-US"/>
              <a:t>方法容易导致过拟合和对训练分布的依赖，缺乏对推理能力的激励；此外，高质量链式思维（</a:t>
            </a:r>
            <a:r>
              <a:rPr lang="en-US" altLang="zh-CN"/>
              <a:t>CoT）</a:t>
            </a:r>
            <a:r>
              <a:rPr lang="zh-CN" altLang="en-US"/>
              <a:t>数据的构建成本高昂，难以扩展。​​相关工作​​：该问题的研究相关工作有：</a:t>
            </a:r>
            <a:r>
              <a:rPr lang="en-US" altLang="zh-CN"/>
              <a:t>LLaVA-Med</a:t>
            </a:r>
            <a:r>
              <a:rPr lang="zh-CN" altLang="en-US"/>
              <a:t>和</a:t>
            </a:r>
            <a:r>
              <a:rPr lang="en-US" altLang="zh-CN"/>
              <a:t>HuatuoGPT-Vision</a:t>
            </a:r>
            <a:r>
              <a:rPr lang="zh-CN" altLang="en-US"/>
              <a:t>等系统在放射学</a:t>
            </a:r>
            <a:r>
              <a:rPr lang="en-US" altLang="zh-CN"/>
              <a:t>VQA</a:t>
            </a:r>
            <a:r>
              <a:rPr lang="zh-CN" altLang="en-US"/>
              <a:t>和相关诊断任务中取得了显著成果；</a:t>
            </a:r>
            <a:r>
              <a:rPr lang="en-US" altLang="zh-CN"/>
              <a:t>SFT</a:t>
            </a:r>
            <a:r>
              <a:rPr lang="zh-CN" altLang="en-US"/>
              <a:t>是主流的模型适应策略，但依赖于高质量的图像-文本数据，且容易导致过拟合；强化学习（</a:t>
            </a:r>
            <a:r>
              <a:rPr lang="en-US" altLang="zh-CN"/>
              <a:t>RL）</a:t>
            </a:r>
            <a:r>
              <a:rPr lang="zh-CN" altLang="en-US"/>
              <a:t>作为一种替代方法，可以提高模型的推理能力和泛化性能，但传统的</a:t>
            </a:r>
            <a:r>
              <a:rPr lang="en-US" altLang="zh-CN"/>
              <a:t>RL</a:t>
            </a:r>
            <a:r>
              <a:rPr lang="zh-CN" altLang="en-US"/>
              <a:t>管道需要大量的神经奖励模型，计算需求高。</a:t>
            </a:r>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95DCBA-0CD2-47DC-90CF-EC7D70760B5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​​研究问题​​：这篇文章要解决的问题是如何提高医疗视觉语言模型（</a:t>
            </a:r>
            <a:r>
              <a:rPr lang="en-US" altLang="zh-CN"/>
              <a:t>VLMs）</a:t>
            </a:r>
            <a:r>
              <a:rPr lang="zh-CN" altLang="en-US"/>
              <a:t>在医学图像分析中的推理能力，使其能够生成显式的自然语言推理，从而增强透明度和可信度。​​研究难点​​：该问题的研究难点包括：现有的监督微调（</a:t>
            </a:r>
            <a:r>
              <a:rPr lang="en-US" altLang="zh-CN"/>
              <a:t>SFT）</a:t>
            </a:r>
            <a:r>
              <a:rPr lang="zh-CN" altLang="en-US"/>
              <a:t>方法容易导致过拟合和对训练分布的依赖，缺乏对推理能力的激励；此外，高质量链式思维（</a:t>
            </a:r>
            <a:r>
              <a:rPr lang="en-US" altLang="zh-CN"/>
              <a:t>CoT）</a:t>
            </a:r>
            <a:r>
              <a:rPr lang="zh-CN" altLang="en-US"/>
              <a:t>数据的构建成本高昂，难以扩展。​​相关工作​​：该问题的研究相关工作有：</a:t>
            </a:r>
            <a:r>
              <a:rPr lang="en-US" altLang="zh-CN"/>
              <a:t>LLaVA-Med</a:t>
            </a:r>
            <a:r>
              <a:rPr lang="zh-CN" altLang="en-US"/>
              <a:t>和</a:t>
            </a:r>
            <a:r>
              <a:rPr lang="en-US" altLang="zh-CN"/>
              <a:t>HuatuoGPT-Vision</a:t>
            </a:r>
            <a:r>
              <a:rPr lang="zh-CN" altLang="en-US"/>
              <a:t>等系统在放射学</a:t>
            </a:r>
            <a:r>
              <a:rPr lang="en-US" altLang="zh-CN"/>
              <a:t>VQA</a:t>
            </a:r>
            <a:r>
              <a:rPr lang="zh-CN" altLang="en-US"/>
              <a:t>和相关诊断任务中取得了显著成果；</a:t>
            </a:r>
            <a:r>
              <a:rPr lang="en-US" altLang="zh-CN"/>
              <a:t>SFT</a:t>
            </a:r>
            <a:r>
              <a:rPr lang="zh-CN" altLang="en-US"/>
              <a:t>是主流的模型适应策略，但依赖于高质量的图像-文本数据，且容易导致过拟合；强化学习（</a:t>
            </a:r>
            <a:r>
              <a:rPr lang="en-US" altLang="zh-CN"/>
              <a:t>RL）</a:t>
            </a:r>
            <a:r>
              <a:rPr lang="zh-CN" altLang="en-US"/>
              <a:t>作为一种替代方法，可以提高模型的推理能力和泛化性能，但传统的</a:t>
            </a:r>
            <a:r>
              <a:rPr lang="en-US" altLang="zh-CN"/>
              <a:t>RL</a:t>
            </a:r>
            <a:r>
              <a:rPr lang="zh-CN" altLang="en-US"/>
              <a:t>管道需要大量的神经奖励模型，计算需求高。</a:t>
            </a:r>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95DCBA-0CD2-47DC-90CF-EC7D70760B5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B933A62-8780-4CAA-8D19-25292B7F568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这篇论文提出了</a:t>
            </a:r>
            <a:r>
              <a:rPr lang="en-US" altLang="zh-CN"/>
              <a:t>MedVLM-R1，</a:t>
            </a:r>
            <a:r>
              <a:rPr lang="zh-CN" altLang="en-US"/>
              <a:t>一种通过强化学习激励医学</a:t>
            </a:r>
            <a:r>
              <a:rPr lang="en-US" altLang="zh-CN"/>
              <a:t>VLMs</a:t>
            </a:r>
            <a:r>
              <a:rPr lang="zh-CN" altLang="en-US"/>
              <a:t>显式推理能力的方法。具体来说，</a:t>
            </a:r>
            <a:endParaRPr lang="zh-CN" altLang="en-US"/>
          </a:p>
          <a:p>
            <a:endParaRPr lang="en-US" altLang="zh-CN"/>
          </a:p>
          <a:p>
            <a:r>
              <a:rPr lang="zh-CN" altLang="en-US"/>
              <a:t>​​模型输入提示​​：模型接收一个包含问题和固定系统消息的文本提示，并要求模型在标签内逐步思考，然后在标签内提供最终答案。</a:t>
            </a:r>
            <a:endParaRPr lang="zh-CN" altLang="en-US"/>
          </a:p>
          <a:p>
            <a:r>
              <a:rPr lang="zh-CN" altLang="en-US"/>
              <a:t>​​2. 组相对策略优化（</a:t>
            </a:r>
            <a:r>
              <a:rPr lang="en-US" altLang="zh-CN"/>
              <a:t>GRPO）​​：GRPO</a:t>
            </a:r>
            <a:r>
              <a:rPr lang="zh-CN" altLang="en-US"/>
              <a:t>算法通过关注组相对优势而不是学习到的价值函数来鼓励稳健、可解释的响应。具体步骤如下：</a:t>
            </a:r>
            <a:endParaRPr lang="zh-CN" altLang="en-US"/>
          </a:p>
          <a:p>
            <a:endParaRPr lang="en-US" altLang="zh-CN"/>
          </a:p>
          <a:p>
            <a:r>
              <a:rPr lang="zh-CN" altLang="en-US"/>
              <a:t>从当前参数前的模型中采样</a:t>
            </a:r>
            <a:r>
              <a:rPr lang="en-US" altLang="zh-CN"/>
              <a:t>G</a:t>
            </a:r>
            <a:r>
              <a:rPr lang="zh-CN" altLang="en-US"/>
              <a:t>个候选输出。</a:t>
            </a:r>
            <a:endParaRPr lang="zh-CN" altLang="en-US"/>
          </a:p>
          <a:p>
            <a:r>
              <a:rPr lang="zh-CN" altLang="en-US"/>
              <a:t>使用奖励函数计算每个输出的奖励，并基于奖励计算组相对优势。</a:t>
            </a:r>
            <a:endParaRPr lang="zh-CN" altLang="en-US"/>
          </a:p>
          <a:p>
            <a:r>
              <a:rPr lang="zh-CN" altLang="en-US"/>
              <a:t>通过最大化包含相对优势估计的正则化项的目标函数来更新模型参数。</a:t>
            </a:r>
            <a:endParaRPr lang="zh-CN" altLang="en-US"/>
          </a:p>
          <a:p>
            <a:r>
              <a:rPr lang="zh-CN" altLang="en-US"/>
              <a:t>​​3. 奖励函数​​：提出了一个两部分规则奖励函数：</a:t>
            </a:r>
            <a:endParaRPr lang="zh-CN" altLang="en-US"/>
          </a:p>
          <a:p>
            <a:endParaRPr lang="en-US" altLang="zh-CN"/>
          </a:p>
          <a:p>
            <a:r>
              <a:rPr lang="zh-CN" altLang="en-US"/>
              <a:t>​​格式奖励​​：激励模型在和标签内提供推理轨迹和简洁的最终答案。</a:t>
            </a:r>
            <a:endParaRPr lang="zh-CN" altLang="en-US"/>
          </a:p>
          <a:p>
            <a:r>
              <a:rPr lang="zh-CN" altLang="en-US"/>
              <a:t>​​准确性奖励​​：在验证格式正确后，评估最终答案的正确性。</a:t>
            </a:r>
            <a:endParaRPr lang="zh-CN" altLang="en-US"/>
          </a:p>
          <a:p>
            <a:r>
              <a:rPr lang="zh-CN" altLang="en-US"/>
              <a:t>总奖励为格式奖励和准确性奖励之和。</a:t>
            </a:r>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85546F3-DA74-492A-8CCE-24C05625148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85546F3-DA74-492A-8CCE-24C05625148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85546F3-DA74-492A-8CCE-24C05625148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85546F3-DA74-492A-8CCE-24C05625148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85546F3-DA74-492A-8CCE-24C05625148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B933A62-8780-4CAA-8D19-25292B7F568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B933A62-8780-4CAA-8D19-25292B7F568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6C6DC35-3D39-4E5D-813A-1465AB5946E1}"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1BC6EB1-3B9C-423A-A463-BABF6B6D69D7}"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2" y="1122364"/>
            <a:ext cx="9144000" cy="2387600"/>
          </a:xfrm>
        </p:spPr>
        <p:txBody>
          <a:bodyPr anchor="b"/>
          <a:lstStyle>
            <a:lvl1pPr algn="ctr">
              <a:defRPr sz="5995"/>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524002" y="3602038"/>
            <a:ext cx="9144000" cy="1655763"/>
          </a:xfrm>
        </p:spPr>
        <p:txBody>
          <a:bodyPr/>
          <a:lstStyle>
            <a:lvl1pPr marL="0" indent="0" algn="ctr">
              <a:buNone/>
              <a:defRPr sz="2400"/>
            </a:lvl1pPr>
            <a:lvl2pPr marL="457200" indent="0" algn="ctr">
              <a:buNone/>
              <a:defRPr sz="2000"/>
            </a:lvl2pPr>
            <a:lvl3pPr marL="913765" indent="0" algn="ctr">
              <a:buNone/>
              <a:defRPr sz="1800"/>
            </a:lvl3pPr>
            <a:lvl4pPr marL="1370965" indent="0" algn="ctr">
              <a:buNone/>
              <a:defRPr sz="1600"/>
            </a:lvl4pPr>
            <a:lvl5pPr marL="1827530" indent="0" algn="ctr">
              <a:buNone/>
              <a:defRPr sz="1600"/>
            </a:lvl5pPr>
            <a:lvl6pPr marL="2284730" indent="0" algn="ctr">
              <a:buNone/>
              <a:defRPr sz="1600"/>
            </a:lvl6pPr>
            <a:lvl7pPr marL="2741930" indent="0" algn="ctr">
              <a:buNone/>
              <a:defRPr sz="1600"/>
            </a:lvl7pPr>
            <a:lvl8pPr marL="3198495" indent="0" algn="ctr">
              <a:buNone/>
              <a:defRPr sz="1600"/>
            </a:lvl8pPr>
            <a:lvl9pPr marL="3655695"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C5B72DE3-FE0A-428A-AB10-325226F2F56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12C7F20-4EEE-4847-AC76-B538472E8A39}" type="slidenum">
              <a:rPr lang="zh-CN" altLang="en-US" smtClean="0"/>
            </a:fld>
            <a:endParaRPr lang="zh-CN" altLang="en-US"/>
          </a:p>
        </p:txBody>
      </p:sp>
    </p:spTree>
  </p:cSld>
  <p:clrMapOvr>
    <a:masterClrMapping/>
  </p:clrMapOvr>
  <p:transition spd="slow" advClick="0" advTm="1000">
    <p:randomBar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C5B72DE3-FE0A-428A-AB10-325226F2F56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12C7F20-4EEE-4847-AC76-B538472E8A39}" type="slidenum">
              <a:rPr lang="zh-CN" altLang="en-US" smtClean="0"/>
            </a:fld>
            <a:endParaRPr lang="zh-CN" altLang="en-US"/>
          </a:p>
        </p:txBody>
      </p:sp>
    </p:spTree>
  </p:cSld>
  <p:clrMapOvr>
    <a:masterClrMapping/>
  </p:clrMapOvr>
  <p:transition spd="slow" advClick="0" advTm="1000">
    <p:randomBar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1"/>
            <a:ext cx="10515600" cy="2852737"/>
          </a:xfrm>
        </p:spPr>
        <p:txBody>
          <a:bodyPr anchor="b"/>
          <a:lstStyle>
            <a:lvl1pPr>
              <a:defRPr sz="5995"/>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3765" indent="0">
              <a:buNone/>
              <a:defRPr sz="1800">
                <a:solidFill>
                  <a:schemeClr val="tx1">
                    <a:tint val="75000"/>
                  </a:schemeClr>
                </a:solidFill>
              </a:defRPr>
            </a:lvl3pPr>
            <a:lvl4pPr marL="1370965" indent="0">
              <a:buNone/>
              <a:defRPr sz="1600">
                <a:solidFill>
                  <a:schemeClr val="tx1">
                    <a:tint val="75000"/>
                  </a:schemeClr>
                </a:solidFill>
              </a:defRPr>
            </a:lvl4pPr>
            <a:lvl5pPr marL="1827530" indent="0">
              <a:buNone/>
              <a:defRPr sz="1600">
                <a:solidFill>
                  <a:schemeClr val="tx1">
                    <a:tint val="75000"/>
                  </a:schemeClr>
                </a:solidFill>
              </a:defRPr>
            </a:lvl5pPr>
            <a:lvl6pPr marL="2284730" indent="0">
              <a:buNone/>
              <a:defRPr sz="1600">
                <a:solidFill>
                  <a:schemeClr val="tx1">
                    <a:tint val="75000"/>
                  </a:schemeClr>
                </a:solidFill>
              </a:defRPr>
            </a:lvl6pPr>
            <a:lvl7pPr marL="2741930" indent="0">
              <a:buNone/>
              <a:defRPr sz="1600">
                <a:solidFill>
                  <a:schemeClr val="tx1">
                    <a:tint val="75000"/>
                  </a:schemeClr>
                </a:solidFill>
              </a:defRPr>
            </a:lvl7pPr>
            <a:lvl8pPr marL="3198495" indent="0">
              <a:buNone/>
              <a:defRPr sz="1600">
                <a:solidFill>
                  <a:schemeClr val="tx1">
                    <a:tint val="75000"/>
                  </a:schemeClr>
                </a:solidFill>
              </a:defRPr>
            </a:lvl8pPr>
            <a:lvl9pPr marL="3655695" indent="0">
              <a:buNone/>
              <a:defRPr sz="1600">
                <a:solidFill>
                  <a:schemeClr val="tx1">
                    <a:tint val="75000"/>
                  </a:schemeClr>
                </a:solidFill>
              </a:defRPr>
            </a:lvl9pPr>
          </a:lstStyle>
          <a:p>
            <a:pPr lvl="0"/>
            <a:r>
              <a:rPr lang="zh-CN" altLang="en-US"/>
              <a:t>编辑母版文本样式</a:t>
            </a:r>
            <a:endParaRPr lang="zh-CN" altLang="en-US"/>
          </a:p>
        </p:txBody>
      </p:sp>
      <p:sp>
        <p:nvSpPr>
          <p:cNvPr id="4" name="Date Placeholder 3"/>
          <p:cNvSpPr>
            <a:spLocks noGrp="1"/>
          </p:cNvSpPr>
          <p:nvPr>
            <p:ph type="dt" sz="half" idx="10"/>
          </p:nvPr>
        </p:nvSpPr>
        <p:spPr/>
        <p:txBody>
          <a:bodyPr/>
          <a:lstStyle/>
          <a:p>
            <a:fld id="{C5B72DE3-FE0A-428A-AB10-325226F2F56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12C7F20-4EEE-4847-AC76-B538472E8A39}" type="slidenum">
              <a:rPr lang="zh-CN" altLang="en-US" smtClean="0"/>
            </a:fld>
            <a:endParaRPr lang="zh-CN" altLang="en-US"/>
          </a:p>
        </p:txBody>
      </p:sp>
    </p:spTree>
  </p:cSld>
  <p:clrMapOvr>
    <a:masterClrMapping/>
  </p:clrMapOvr>
  <p:transition spd="slow" advClick="0" advTm="1000">
    <p:randomBar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838201" y="1825627"/>
            <a:ext cx="5181600" cy="4351339"/>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hasCustomPrompt="1"/>
          </p:nvPr>
        </p:nvSpPr>
        <p:spPr>
          <a:xfrm>
            <a:off x="6172201" y="1825627"/>
            <a:ext cx="5181600" cy="4351339"/>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C5B72DE3-FE0A-428A-AB10-325226F2F564}"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12C7F20-4EEE-4847-AC76-B538472E8A39}" type="slidenum">
              <a:rPr lang="zh-CN" altLang="en-US" smtClean="0"/>
            </a:fld>
            <a:endParaRPr lang="zh-CN" altLang="en-US"/>
          </a:p>
        </p:txBody>
      </p:sp>
    </p:spTree>
  </p:cSld>
  <p:clrMapOvr>
    <a:masterClrMapping/>
  </p:clrMapOvr>
  <p:transition spd="slow" advClick="0" advTm="1000">
    <p:randomBar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9790" y="1681163"/>
            <a:ext cx="5157786" cy="823912"/>
          </a:xfrm>
        </p:spPr>
        <p:txBody>
          <a:bodyPr anchor="b"/>
          <a:lstStyle>
            <a:lvl1pPr marL="0" indent="0">
              <a:buNone/>
              <a:defRPr sz="2400" b="1"/>
            </a:lvl1pPr>
            <a:lvl2pPr marL="457200" indent="0">
              <a:buNone/>
              <a:defRPr sz="2000" b="1"/>
            </a:lvl2pPr>
            <a:lvl3pPr marL="913765" indent="0">
              <a:buNone/>
              <a:defRPr sz="1800" b="1"/>
            </a:lvl3pPr>
            <a:lvl4pPr marL="1370965" indent="0">
              <a:buNone/>
              <a:defRPr sz="1600" b="1"/>
            </a:lvl4pPr>
            <a:lvl5pPr marL="1827530" indent="0">
              <a:buNone/>
              <a:defRPr sz="1600" b="1"/>
            </a:lvl5pPr>
            <a:lvl6pPr marL="2284730" indent="0">
              <a:buNone/>
              <a:defRPr sz="1600" b="1"/>
            </a:lvl6pPr>
            <a:lvl7pPr marL="2741930" indent="0">
              <a:buNone/>
              <a:defRPr sz="1600" b="1"/>
            </a:lvl7pPr>
            <a:lvl8pPr marL="3198495" indent="0">
              <a:buNone/>
              <a:defRPr sz="1600" b="1"/>
            </a:lvl8pPr>
            <a:lvl9pPr marL="3655695" indent="0">
              <a:buNone/>
              <a:defRPr sz="16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839790" y="2505076"/>
            <a:ext cx="5157786"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6172201" y="1681163"/>
            <a:ext cx="5183189" cy="823912"/>
          </a:xfrm>
        </p:spPr>
        <p:txBody>
          <a:bodyPr anchor="b"/>
          <a:lstStyle>
            <a:lvl1pPr marL="0" indent="0">
              <a:buNone/>
              <a:defRPr sz="2400" b="1"/>
            </a:lvl1pPr>
            <a:lvl2pPr marL="457200" indent="0">
              <a:buNone/>
              <a:defRPr sz="2000" b="1"/>
            </a:lvl2pPr>
            <a:lvl3pPr marL="913765" indent="0">
              <a:buNone/>
              <a:defRPr sz="1800" b="1"/>
            </a:lvl3pPr>
            <a:lvl4pPr marL="1370965" indent="0">
              <a:buNone/>
              <a:defRPr sz="1600" b="1"/>
            </a:lvl4pPr>
            <a:lvl5pPr marL="1827530" indent="0">
              <a:buNone/>
              <a:defRPr sz="1600" b="1"/>
            </a:lvl5pPr>
            <a:lvl6pPr marL="2284730" indent="0">
              <a:buNone/>
              <a:defRPr sz="1600" b="1"/>
            </a:lvl6pPr>
            <a:lvl7pPr marL="2741930" indent="0">
              <a:buNone/>
              <a:defRPr sz="1600" b="1"/>
            </a:lvl7pPr>
            <a:lvl8pPr marL="3198495" indent="0">
              <a:buNone/>
              <a:defRPr sz="1600" b="1"/>
            </a:lvl8pPr>
            <a:lvl9pPr marL="3655695" indent="0">
              <a:buNone/>
              <a:defRPr sz="1600" b="1"/>
            </a:lvl9pPr>
          </a:lstStyle>
          <a:p>
            <a:pPr lvl="0"/>
            <a:r>
              <a:rPr lang="zh-CN" altLang="en-US"/>
              <a:t>编辑母版文本样式</a:t>
            </a:r>
            <a:endParaRPr lang="zh-CN" altLang="en-US"/>
          </a:p>
        </p:txBody>
      </p:sp>
      <p:sp>
        <p:nvSpPr>
          <p:cNvPr id="6" name="Content Placeholder 5"/>
          <p:cNvSpPr>
            <a:spLocks noGrp="1"/>
          </p:cNvSpPr>
          <p:nvPr>
            <p:ph sz="quarter" idx="4" hasCustomPrompt="1"/>
          </p:nvPr>
        </p:nvSpPr>
        <p:spPr>
          <a:xfrm>
            <a:off x="6172201" y="2505076"/>
            <a:ext cx="5183189"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C5B72DE3-FE0A-428A-AB10-325226F2F564}"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D12C7F20-4EEE-4847-AC76-B538472E8A39}" type="slidenum">
              <a:rPr lang="zh-CN" altLang="en-US" smtClean="0"/>
            </a:fld>
            <a:endParaRPr lang="zh-CN" altLang="en-US"/>
          </a:p>
        </p:txBody>
      </p:sp>
    </p:spTree>
  </p:cSld>
  <p:clrMapOvr>
    <a:masterClrMapping/>
  </p:clrMapOvr>
  <p:transition spd="slow" advClick="0" advTm="1000">
    <p:randomBar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5B72DE3-FE0A-428A-AB10-325226F2F564}"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D12C7F20-4EEE-4847-AC76-B538472E8A39}" type="slidenum">
              <a:rPr lang="zh-CN" altLang="en-US" smtClean="0"/>
            </a:fld>
            <a:endParaRPr lang="zh-CN" altLang="en-US"/>
          </a:p>
        </p:txBody>
      </p:sp>
    </p:spTree>
  </p:cSld>
  <p:clrMapOvr>
    <a:masterClrMapping/>
  </p:clrMapOvr>
  <p:transition spd="slow" advClick="0" advTm="1000">
    <p:randomBar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B72DE3-FE0A-428A-AB10-325226F2F564}"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D12C7F20-4EEE-4847-AC76-B538472E8A39}" type="slidenum">
              <a:rPr lang="zh-CN" altLang="en-US" smtClean="0"/>
            </a:fld>
            <a:endParaRPr lang="zh-CN" altLang="en-US"/>
          </a:p>
        </p:txBody>
      </p:sp>
    </p:spTree>
  </p:cSld>
  <p:clrMapOvr>
    <a:masterClrMapping/>
  </p:clrMapOvr>
  <p:transition spd="slow" advClick="0" advTm="1000">
    <p:randomBar dir="ver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1"/>
            <a:ext cx="3932238" cy="1600199"/>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5183190" y="987428"/>
            <a:ext cx="6172199"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hasCustomPrompt="1"/>
          </p:nvPr>
        </p:nvSpPr>
        <p:spPr>
          <a:xfrm>
            <a:off x="839788" y="2057401"/>
            <a:ext cx="3932238" cy="3811588"/>
          </a:xfrm>
        </p:spPr>
        <p:txBody>
          <a:bodyPr/>
          <a:lstStyle>
            <a:lvl1pPr marL="0" indent="0">
              <a:buNone/>
              <a:defRPr sz="1600"/>
            </a:lvl1pPr>
            <a:lvl2pPr marL="457200" indent="0">
              <a:buNone/>
              <a:defRPr sz="1400"/>
            </a:lvl2pPr>
            <a:lvl3pPr marL="913765" indent="0">
              <a:buNone/>
              <a:defRPr sz="1200"/>
            </a:lvl3pPr>
            <a:lvl4pPr marL="1370965" indent="0">
              <a:buNone/>
              <a:defRPr sz="1000"/>
            </a:lvl4pPr>
            <a:lvl5pPr marL="1827530" indent="0">
              <a:buNone/>
              <a:defRPr sz="1000"/>
            </a:lvl5pPr>
            <a:lvl6pPr marL="2284730" indent="0">
              <a:buNone/>
              <a:defRPr sz="1000"/>
            </a:lvl6pPr>
            <a:lvl7pPr marL="2741930" indent="0">
              <a:buNone/>
              <a:defRPr sz="1000"/>
            </a:lvl7pPr>
            <a:lvl8pPr marL="3198495" indent="0">
              <a:buNone/>
              <a:defRPr sz="1000"/>
            </a:lvl8pPr>
            <a:lvl9pPr marL="3655695"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C5B72DE3-FE0A-428A-AB10-325226F2F564}"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12C7F20-4EEE-4847-AC76-B538472E8A39}" type="slidenum">
              <a:rPr lang="zh-CN" altLang="en-US" smtClean="0"/>
            </a:fld>
            <a:endParaRPr lang="zh-CN" altLang="en-US"/>
          </a:p>
        </p:txBody>
      </p:sp>
    </p:spTree>
  </p:cSld>
  <p:clrMapOvr>
    <a:masterClrMapping/>
  </p:clrMapOvr>
  <p:transition spd="slow" advClick="0" advTm="1000">
    <p:randomBar dir="vert"/>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1"/>
            <a:ext cx="3932238" cy="1600199"/>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90" y="987428"/>
            <a:ext cx="6172199" cy="4873625"/>
          </a:xfrm>
        </p:spPr>
        <p:txBody>
          <a:bodyPr anchor="t"/>
          <a:lstStyle>
            <a:lvl1pPr marL="0" indent="0">
              <a:buNone/>
              <a:defRPr sz="3200"/>
            </a:lvl1pPr>
            <a:lvl2pPr marL="457200" indent="0">
              <a:buNone/>
              <a:defRPr sz="2800"/>
            </a:lvl2pPr>
            <a:lvl3pPr marL="913765" indent="0">
              <a:buNone/>
              <a:defRPr sz="2400"/>
            </a:lvl3pPr>
            <a:lvl4pPr marL="1370965" indent="0">
              <a:buNone/>
              <a:defRPr sz="2000"/>
            </a:lvl4pPr>
            <a:lvl5pPr marL="1827530" indent="0">
              <a:buNone/>
              <a:defRPr sz="2000"/>
            </a:lvl5pPr>
            <a:lvl6pPr marL="2284730" indent="0">
              <a:buNone/>
              <a:defRPr sz="2000"/>
            </a:lvl6pPr>
            <a:lvl7pPr marL="2741930" indent="0">
              <a:buNone/>
              <a:defRPr sz="2000"/>
            </a:lvl7pPr>
            <a:lvl8pPr marL="3198495" indent="0">
              <a:buNone/>
              <a:defRPr sz="2000"/>
            </a:lvl8pPr>
            <a:lvl9pPr marL="3655695"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39788" y="2057401"/>
            <a:ext cx="3932238" cy="3811588"/>
          </a:xfrm>
        </p:spPr>
        <p:txBody>
          <a:bodyPr/>
          <a:lstStyle>
            <a:lvl1pPr marL="0" indent="0">
              <a:buNone/>
              <a:defRPr sz="1600"/>
            </a:lvl1pPr>
            <a:lvl2pPr marL="457200" indent="0">
              <a:buNone/>
              <a:defRPr sz="1400"/>
            </a:lvl2pPr>
            <a:lvl3pPr marL="913765" indent="0">
              <a:buNone/>
              <a:defRPr sz="1200"/>
            </a:lvl3pPr>
            <a:lvl4pPr marL="1370965" indent="0">
              <a:buNone/>
              <a:defRPr sz="1000"/>
            </a:lvl4pPr>
            <a:lvl5pPr marL="1827530" indent="0">
              <a:buNone/>
              <a:defRPr sz="1000"/>
            </a:lvl5pPr>
            <a:lvl6pPr marL="2284730" indent="0">
              <a:buNone/>
              <a:defRPr sz="1000"/>
            </a:lvl6pPr>
            <a:lvl7pPr marL="2741930" indent="0">
              <a:buNone/>
              <a:defRPr sz="1000"/>
            </a:lvl7pPr>
            <a:lvl8pPr marL="3198495" indent="0">
              <a:buNone/>
              <a:defRPr sz="1000"/>
            </a:lvl8pPr>
            <a:lvl9pPr marL="3655695"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C5B72DE3-FE0A-428A-AB10-325226F2F564}"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12C7F20-4EEE-4847-AC76-B538472E8A39}" type="slidenum">
              <a:rPr lang="zh-CN" altLang="en-US" smtClean="0"/>
            </a:fld>
            <a:endParaRPr lang="zh-CN" altLang="en-US"/>
          </a:p>
        </p:txBody>
      </p:sp>
    </p:spTree>
  </p:cSld>
  <p:clrMapOvr>
    <a:masterClrMapping/>
  </p:clrMapOvr>
  <p:transition spd="slow" advClick="0" advTm="1000">
    <p:randomBar dir="vert"/>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C5B72DE3-FE0A-428A-AB10-325226F2F56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12C7F20-4EEE-4847-AC76-B538472E8A39}" type="slidenum">
              <a:rPr lang="zh-CN" altLang="en-US" smtClean="0"/>
            </a:fld>
            <a:endParaRPr lang="zh-CN" altLang="en-US"/>
          </a:p>
        </p:txBody>
      </p:sp>
    </p:spTree>
  </p:cSld>
  <p:clrMapOvr>
    <a:masterClrMapping/>
  </p:clrMapOvr>
  <p:transition spd="slow" advClick="0" advTm="1000">
    <p:randomBar dir="vert"/>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8"/>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838202" y="365128"/>
            <a:ext cx="7734301"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C5B72DE3-FE0A-428A-AB10-325226F2F56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12C7F20-4EEE-4847-AC76-B538472E8A39}" type="slidenum">
              <a:rPr lang="zh-CN" altLang="en-US" smtClean="0"/>
            </a:fld>
            <a:endParaRPr lang="zh-CN" altLang="en-US"/>
          </a:p>
        </p:txBody>
      </p:sp>
    </p:spTree>
  </p:cSld>
  <p:clrMapOvr>
    <a:masterClrMapping/>
  </p:clrMapOvr>
  <p:transition spd="slow" advClick="0" advTm="1000">
    <p:randomBar dir="vert"/>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 y="0"/>
            <a:ext cx="12192000" cy="6858000"/>
          </a:xfrm>
          <a:prstGeom prst="rect">
            <a:avLst/>
          </a:prstGeom>
        </p:spPr>
      </p:pic>
    </p:spTree>
  </p:cSld>
  <p:clrMapOvr>
    <a:masterClrMapping/>
  </p:clrMapOvr>
  <p:transition spd="slow" advClick="0" advTm="1000">
    <p:randomBar dir="vert"/>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3_空白">
    <p:bg>
      <p:bgRef idx="1001">
        <a:schemeClr val="bg1"/>
      </p:bgRef>
    </p:bg>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7_标题和内容">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slideLayout" Target="../slideLayouts/slideLayout12.xml"/><Relationship Id="rId7" Type="http://schemas.openxmlformats.org/officeDocument/2006/relationships/slideLayout" Target="../slideLayouts/slideLayout11.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 Id="rId3" Type="http://schemas.openxmlformats.org/officeDocument/2006/relationships/slideLayout" Target="../slideLayouts/slideLayout7.xml"/><Relationship Id="rId2" Type="http://schemas.openxmlformats.org/officeDocument/2006/relationships/slideLayout" Target="../slideLayouts/slideLayout6.xml"/><Relationship Id="rId13" Type="http://schemas.openxmlformats.org/officeDocument/2006/relationships/theme" Target="../theme/theme2.xml"/><Relationship Id="rId12" Type="http://schemas.openxmlformats.org/officeDocument/2006/relationships/slideLayout" Target="../slideLayouts/slideLayout16.xml"/><Relationship Id="rId11" Type="http://schemas.openxmlformats.org/officeDocument/2006/relationships/slideLayout" Target="../slideLayouts/slideLayout15.xml"/><Relationship Id="rId10" Type="http://schemas.openxmlformats.org/officeDocument/2006/relationships/slideLayout" Target="../slideLayouts/slideLayout14.xml"/><Relationship Id="rId1"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4" Type="http://schemas.openxmlformats.org/officeDocument/2006/relationships/theme" Target="../theme/theme3.xml"/><Relationship Id="rId3" Type="http://schemas.openxmlformats.org/officeDocument/2006/relationships/slideLayout" Target="../slideLayouts/slideLayout19.xml"/><Relationship Id="rId2" Type="http://schemas.openxmlformats.org/officeDocument/2006/relationships/slideLayout" Target="../slideLayouts/slideLayout18.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wdUpDiag">
          <a:fgClr>
            <a:schemeClr val="bg1">
              <a:lumMod val="95000"/>
            </a:schemeClr>
          </a:fgClr>
          <a:bgClr>
            <a:schemeClr val="bg1"/>
          </a:bgClr>
        </a:patt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1"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1" y="1825627"/>
            <a:ext cx="10515600" cy="4351339"/>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B72DE3-FE0A-428A-AB10-325226F2F564}" type="datetimeFigureOut">
              <a:rPr lang="zh-CN" altLang="en-US" smtClean="0"/>
            </a:fld>
            <a:endParaRPr lang="zh-CN" altLang="en-US"/>
          </a:p>
        </p:txBody>
      </p:sp>
      <p:sp>
        <p:nvSpPr>
          <p:cNvPr id="5" name="Footer Placeholder 4"/>
          <p:cNvSpPr>
            <a:spLocks noGrp="1"/>
          </p:cNvSpPr>
          <p:nvPr>
            <p:ph type="ftr" sz="quarter" idx="3"/>
          </p:nvPr>
        </p:nvSpPr>
        <p:spPr>
          <a:xfrm>
            <a:off x="4038601"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2C7F20-4EEE-4847-AC76-B538472E8A3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Lst>
  <p:transition spd="slow" advClick="0" advTm="1000">
    <p:randomBar dir="vert"/>
  </p:transition>
  <p:txStyles>
    <p:titleStyle>
      <a:lvl1pPr algn="l" defTabSz="913765" rtl="0" eaLnBrk="1" latinLnBrk="0" hangingPunct="1">
        <a:lnSpc>
          <a:spcPct val="90000"/>
        </a:lnSpc>
        <a:spcBef>
          <a:spcPct val="0"/>
        </a:spcBef>
        <a:buNone/>
        <a:defRPr sz="4395" kern="1200">
          <a:solidFill>
            <a:schemeClr val="tx1"/>
          </a:solidFill>
          <a:latin typeface="+mj-lt"/>
          <a:ea typeface="+mj-ea"/>
          <a:cs typeface="+mj-cs"/>
        </a:defRPr>
      </a:lvl1pPr>
    </p:titleStyle>
    <p:bodyStyle>
      <a:lvl1pPr marL="228600" indent="-228600" algn="l" defTabSz="913765"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165" indent="-228600" algn="l" defTabSz="91376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365"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5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1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09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29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3765"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7530" algn="l" defTabSz="913765" rtl="0" eaLnBrk="1" latinLnBrk="0" hangingPunct="1">
        <a:defRPr sz="1800" kern="1200">
          <a:solidFill>
            <a:schemeClr val="tx1"/>
          </a:solidFill>
          <a:latin typeface="+mn-lt"/>
          <a:ea typeface="+mn-ea"/>
          <a:cs typeface="+mn-cs"/>
        </a:defRPr>
      </a:lvl5pPr>
      <a:lvl6pPr marL="2284730" algn="l" defTabSz="913765" rtl="0" eaLnBrk="1" latinLnBrk="0" hangingPunct="1">
        <a:defRPr sz="1800" kern="1200">
          <a:solidFill>
            <a:schemeClr val="tx1"/>
          </a:solidFill>
          <a:latin typeface="+mn-lt"/>
          <a:ea typeface="+mn-ea"/>
          <a:cs typeface="+mn-cs"/>
        </a:defRPr>
      </a:lvl6pPr>
      <a:lvl7pPr marL="2741930" algn="l" defTabSz="913765" rtl="0" eaLnBrk="1" latinLnBrk="0" hangingPunct="1">
        <a:defRPr sz="1800" kern="1200">
          <a:solidFill>
            <a:schemeClr val="tx1"/>
          </a:solidFill>
          <a:latin typeface="+mn-lt"/>
          <a:ea typeface="+mn-ea"/>
          <a:cs typeface="+mn-cs"/>
        </a:defRPr>
      </a:lvl7pPr>
      <a:lvl8pPr marL="3198495" algn="l" defTabSz="913765" rtl="0" eaLnBrk="1" latinLnBrk="0" hangingPunct="1">
        <a:defRPr sz="1800" kern="1200">
          <a:solidFill>
            <a:schemeClr val="tx1"/>
          </a:solidFill>
          <a:latin typeface="+mn-lt"/>
          <a:ea typeface="+mn-ea"/>
          <a:cs typeface="+mn-cs"/>
        </a:defRPr>
      </a:lvl8pPr>
      <a:lvl9pPr marL="3655695" algn="l" defTabSz="913765"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389" y="365780"/>
            <a:ext cx="10515224" cy="1324636"/>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389" y="1825890"/>
            <a:ext cx="10515224" cy="4351729"/>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389" y="6356747"/>
            <a:ext cx="2742447" cy="364275"/>
          </a:xfrm>
          <a:prstGeom prst="rect">
            <a:avLst/>
          </a:prstGeom>
        </p:spPr>
        <p:txBody>
          <a:bodyPr vert="horz" lIns="91440" tIns="45720" rIns="91440" bIns="45720" rtlCol="0" anchor="ctr"/>
          <a:lstStyle>
            <a:lvl1pPr algn="l">
              <a:defRPr sz="1140">
                <a:solidFill>
                  <a:schemeClr val="tx1">
                    <a:tint val="75000"/>
                  </a:schemeClr>
                </a:solidFill>
              </a:defRPr>
            </a:lvl1pPr>
          </a:lstStyle>
          <a:p>
            <a:fld id="{43A93E93-166D-47F5-9EF1-ACEABE24AEEA}" type="datetimeFigureOut">
              <a:rPr lang="zh-CN" altLang="en-US" smtClean="0"/>
            </a:fld>
            <a:endParaRPr lang="zh-CN" altLang="en-US"/>
          </a:p>
        </p:txBody>
      </p:sp>
      <p:sp>
        <p:nvSpPr>
          <p:cNvPr id="5" name="页脚占位符 4"/>
          <p:cNvSpPr>
            <a:spLocks noGrp="1"/>
          </p:cNvSpPr>
          <p:nvPr>
            <p:ph type="ftr" sz="quarter" idx="3"/>
          </p:nvPr>
        </p:nvSpPr>
        <p:spPr>
          <a:xfrm>
            <a:off x="4038413" y="6356747"/>
            <a:ext cx="4115176" cy="364275"/>
          </a:xfrm>
          <a:prstGeom prst="rect">
            <a:avLst/>
          </a:prstGeom>
        </p:spPr>
        <p:txBody>
          <a:bodyPr vert="horz" lIns="91440" tIns="45720" rIns="91440" bIns="45720" rtlCol="0" anchor="ctr"/>
          <a:lstStyle>
            <a:lvl1pPr algn="ctr">
              <a:defRPr sz="114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1166" y="6356747"/>
            <a:ext cx="2742447" cy="364275"/>
          </a:xfrm>
          <a:prstGeom prst="rect">
            <a:avLst/>
          </a:prstGeom>
        </p:spPr>
        <p:txBody>
          <a:bodyPr vert="horz" lIns="91440" tIns="45720" rIns="91440" bIns="45720" rtlCol="0" anchor="ctr"/>
          <a:lstStyle>
            <a:lvl1pPr algn="r">
              <a:defRPr sz="1140">
                <a:solidFill>
                  <a:schemeClr val="tx1">
                    <a:tint val="75000"/>
                  </a:schemeClr>
                </a:solidFill>
              </a:defRPr>
            </a:lvl1pPr>
          </a:lstStyle>
          <a:p>
            <a:fld id="{118D5ACA-62CA-46DB-AD6B-12EDD6D51A23}"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Lst>
  <p:txStyles>
    <p:titleStyle>
      <a:lvl1pPr algn="l" defTabSz="866775" rtl="0" eaLnBrk="1" latinLnBrk="0" hangingPunct="1">
        <a:lnSpc>
          <a:spcPct val="90000"/>
        </a:lnSpc>
        <a:spcBef>
          <a:spcPct val="0"/>
        </a:spcBef>
        <a:buNone/>
        <a:defRPr sz="4170" kern="1200">
          <a:solidFill>
            <a:schemeClr val="tx1"/>
          </a:solidFill>
          <a:latin typeface="+mj-lt"/>
          <a:ea typeface="+mj-ea"/>
          <a:cs typeface="+mj-cs"/>
        </a:defRPr>
      </a:lvl1pPr>
    </p:titleStyle>
    <p:bodyStyle>
      <a:lvl1pPr marL="216535" indent="-216535" algn="l" defTabSz="866775" rtl="0" eaLnBrk="1" latinLnBrk="0" hangingPunct="1">
        <a:lnSpc>
          <a:spcPct val="90000"/>
        </a:lnSpc>
        <a:spcBef>
          <a:spcPts val="950"/>
        </a:spcBef>
        <a:buFont typeface="Arial" panose="020B0604020202020204" pitchFamily="34" charset="0"/>
        <a:buChar char="•"/>
        <a:defRPr sz="2655" kern="1200">
          <a:solidFill>
            <a:schemeClr val="tx1"/>
          </a:solidFill>
          <a:latin typeface="+mn-lt"/>
          <a:ea typeface="+mn-ea"/>
          <a:cs typeface="+mn-cs"/>
        </a:defRPr>
      </a:lvl1pPr>
      <a:lvl2pPr marL="650240" indent="-216535" algn="l" defTabSz="866775" rtl="0" eaLnBrk="1" latinLnBrk="0" hangingPunct="1">
        <a:lnSpc>
          <a:spcPct val="90000"/>
        </a:lnSpc>
        <a:spcBef>
          <a:spcPts val="475"/>
        </a:spcBef>
        <a:buFont typeface="Arial" panose="020B0604020202020204" pitchFamily="34" charset="0"/>
        <a:buChar char="•"/>
        <a:defRPr sz="2275" kern="1200">
          <a:solidFill>
            <a:schemeClr val="tx1"/>
          </a:solidFill>
          <a:latin typeface="+mn-lt"/>
          <a:ea typeface="+mn-ea"/>
          <a:cs typeface="+mn-cs"/>
        </a:defRPr>
      </a:lvl2pPr>
      <a:lvl3pPr marL="1083945" indent="-216535" algn="l" defTabSz="866775" rtl="0" eaLnBrk="1" latinLnBrk="0" hangingPunct="1">
        <a:lnSpc>
          <a:spcPct val="90000"/>
        </a:lnSpc>
        <a:spcBef>
          <a:spcPts val="475"/>
        </a:spcBef>
        <a:buFont typeface="Arial" panose="020B0604020202020204" pitchFamily="34" charset="0"/>
        <a:buChar char="•"/>
        <a:defRPr sz="1895" kern="1200">
          <a:solidFill>
            <a:schemeClr val="tx1"/>
          </a:solidFill>
          <a:latin typeface="+mn-lt"/>
          <a:ea typeface="+mn-ea"/>
          <a:cs typeface="+mn-cs"/>
        </a:defRPr>
      </a:lvl3pPr>
      <a:lvl4pPr marL="1517015" indent="-216535" algn="l" defTabSz="866775" rtl="0" eaLnBrk="1" latinLnBrk="0" hangingPunct="1">
        <a:lnSpc>
          <a:spcPct val="90000"/>
        </a:lnSpc>
        <a:spcBef>
          <a:spcPts val="475"/>
        </a:spcBef>
        <a:buFont typeface="Arial" panose="020B0604020202020204" pitchFamily="34" charset="0"/>
        <a:buChar char="•"/>
        <a:defRPr sz="1705" kern="1200">
          <a:solidFill>
            <a:schemeClr val="tx1"/>
          </a:solidFill>
          <a:latin typeface="+mn-lt"/>
          <a:ea typeface="+mn-ea"/>
          <a:cs typeface="+mn-cs"/>
        </a:defRPr>
      </a:lvl4pPr>
      <a:lvl5pPr marL="1950720" indent="-216535" algn="l" defTabSz="866775" rtl="0" eaLnBrk="1" latinLnBrk="0" hangingPunct="1">
        <a:lnSpc>
          <a:spcPct val="90000"/>
        </a:lnSpc>
        <a:spcBef>
          <a:spcPts val="475"/>
        </a:spcBef>
        <a:buFont typeface="Arial" panose="020B0604020202020204" pitchFamily="34" charset="0"/>
        <a:buChar char="•"/>
        <a:defRPr sz="1705" kern="1200">
          <a:solidFill>
            <a:schemeClr val="tx1"/>
          </a:solidFill>
          <a:latin typeface="+mn-lt"/>
          <a:ea typeface="+mn-ea"/>
          <a:cs typeface="+mn-cs"/>
        </a:defRPr>
      </a:lvl5pPr>
      <a:lvl6pPr marL="2383790" indent="-216535" algn="l" defTabSz="866775" rtl="0" eaLnBrk="1" latinLnBrk="0" hangingPunct="1">
        <a:lnSpc>
          <a:spcPct val="90000"/>
        </a:lnSpc>
        <a:spcBef>
          <a:spcPts val="475"/>
        </a:spcBef>
        <a:buFont typeface="Arial" panose="020B0604020202020204" pitchFamily="34" charset="0"/>
        <a:buChar char="•"/>
        <a:defRPr sz="1705" kern="1200">
          <a:solidFill>
            <a:schemeClr val="tx1"/>
          </a:solidFill>
          <a:latin typeface="+mn-lt"/>
          <a:ea typeface="+mn-ea"/>
          <a:cs typeface="+mn-cs"/>
        </a:defRPr>
      </a:lvl6pPr>
      <a:lvl7pPr marL="2817495" indent="-216535" algn="l" defTabSz="866775" rtl="0" eaLnBrk="1" latinLnBrk="0" hangingPunct="1">
        <a:lnSpc>
          <a:spcPct val="90000"/>
        </a:lnSpc>
        <a:spcBef>
          <a:spcPts val="475"/>
        </a:spcBef>
        <a:buFont typeface="Arial" panose="020B0604020202020204" pitchFamily="34" charset="0"/>
        <a:buChar char="•"/>
        <a:defRPr sz="1705" kern="1200">
          <a:solidFill>
            <a:schemeClr val="tx1"/>
          </a:solidFill>
          <a:latin typeface="+mn-lt"/>
          <a:ea typeface="+mn-ea"/>
          <a:cs typeface="+mn-cs"/>
        </a:defRPr>
      </a:lvl7pPr>
      <a:lvl8pPr marL="3251200" indent="-216535" algn="l" defTabSz="866775" rtl="0" eaLnBrk="1" latinLnBrk="0" hangingPunct="1">
        <a:lnSpc>
          <a:spcPct val="90000"/>
        </a:lnSpc>
        <a:spcBef>
          <a:spcPts val="475"/>
        </a:spcBef>
        <a:buFont typeface="Arial" panose="020B0604020202020204" pitchFamily="34" charset="0"/>
        <a:buChar char="•"/>
        <a:defRPr sz="1705" kern="1200">
          <a:solidFill>
            <a:schemeClr val="tx1"/>
          </a:solidFill>
          <a:latin typeface="+mn-lt"/>
          <a:ea typeface="+mn-ea"/>
          <a:cs typeface="+mn-cs"/>
        </a:defRPr>
      </a:lvl8pPr>
      <a:lvl9pPr marL="3684270" indent="-216535" algn="l" defTabSz="866775" rtl="0" eaLnBrk="1" latinLnBrk="0" hangingPunct="1">
        <a:lnSpc>
          <a:spcPct val="90000"/>
        </a:lnSpc>
        <a:spcBef>
          <a:spcPts val="475"/>
        </a:spcBef>
        <a:buFont typeface="Arial" panose="020B0604020202020204" pitchFamily="34" charset="0"/>
        <a:buChar char="•"/>
        <a:defRPr sz="1705" kern="1200">
          <a:solidFill>
            <a:schemeClr val="tx1"/>
          </a:solidFill>
          <a:latin typeface="+mn-lt"/>
          <a:ea typeface="+mn-ea"/>
          <a:cs typeface="+mn-cs"/>
        </a:defRPr>
      </a:lvl9pPr>
    </p:bodyStyle>
    <p:otherStyle>
      <a:defPPr>
        <a:defRPr lang="zh-CN"/>
      </a:defPPr>
      <a:lvl1pPr marL="0" algn="l" defTabSz="866775" rtl="0" eaLnBrk="1" latinLnBrk="0" hangingPunct="1">
        <a:defRPr sz="1705" kern="1200">
          <a:solidFill>
            <a:schemeClr val="tx1"/>
          </a:solidFill>
          <a:latin typeface="+mn-lt"/>
          <a:ea typeface="+mn-ea"/>
          <a:cs typeface="+mn-cs"/>
        </a:defRPr>
      </a:lvl1pPr>
      <a:lvl2pPr marL="433705" algn="l" defTabSz="866775" rtl="0" eaLnBrk="1" latinLnBrk="0" hangingPunct="1">
        <a:defRPr sz="1705" kern="1200">
          <a:solidFill>
            <a:schemeClr val="tx1"/>
          </a:solidFill>
          <a:latin typeface="+mn-lt"/>
          <a:ea typeface="+mn-ea"/>
          <a:cs typeface="+mn-cs"/>
        </a:defRPr>
      </a:lvl2pPr>
      <a:lvl3pPr marL="866775" algn="l" defTabSz="866775" rtl="0" eaLnBrk="1" latinLnBrk="0" hangingPunct="1">
        <a:defRPr sz="1705" kern="1200">
          <a:solidFill>
            <a:schemeClr val="tx1"/>
          </a:solidFill>
          <a:latin typeface="+mn-lt"/>
          <a:ea typeface="+mn-ea"/>
          <a:cs typeface="+mn-cs"/>
        </a:defRPr>
      </a:lvl3pPr>
      <a:lvl4pPr marL="1300480" algn="l" defTabSz="866775" rtl="0" eaLnBrk="1" latinLnBrk="0" hangingPunct="1">
        <a:defRPr sz="1705" kern="1200">
          <a:solidFill>
            <a:schemeClr val="tx1"/>
          </a:solidFill>
          <a:latin typeface="+mn-lt"/>
          <a:ea typeface="+mn-ea"/>
          <a:cs typeface="+mn-cs"/>
        </a:defRPr>
      </a:lvl4pPr>
      <a:lvl5pPr marL="1734185" algn="l" defTabSz="866775" rtl="0" eaLnBrk="1" latinLnBrk="0" hangingPunct="1">
        <a:defRPr sz="1705" kern="1200">
          <a:solidFill>
            <a:schemeClr val="tx1"/>
          </a:solidFill>
          <a:latin typeface="+mn-lt"/>
          <a:ea typeface="+mn-ea"/>
          <a:cs typeface="+mn-cs"/>
        </a:defRPr>
      </a:lvl5pPr>
      <a:lvl6pPr marL="2167255" algn="l" defTabSz="866775" rtl="0" eaLnBrk="1" latinLnBrk="0" hangingPunct="1">
        <a:defRPr sz="1705" kern="1200">
          <a:solidFill>
            <a:schemeClr val="tx1"/>
          </a:solidFill>
          <a:latin typeface="+mn-lt"/>
          <a:ea typeface="+mn-ea"/>
          <a:cs typeface="+mn-cs"/>
        </a:defRPr>
      </a:lvl6pPr>
      <a:lvl7pPr marL="2600960" algn="l" defTabSz="866775" rtl="0" eaLnBrk="1" latinLnBrk="0" hangingPunct="1">
        <a:defRPr sz="1705" kern="1200">
          <a:solidFill>
            <a:schemeClr val="tx1"/>
          </a:solidFill>
          <a:latin typeface="+mn-lt"/>
          <a:ea typeface="+mn-ea"/>
          <a:cs typeface="+mn-cs"/>
        </a:defRPr>
      </a:lvl7pPr>
      <a:lvl8pPr marL="3034030" algn="l" defTabSz="866775" rtl="0" eaLnBrk="1" latinLnBrk="0" hangingPunct="1">
        <a:defRPr sz="1705" kern="1200">
          <a:solidFill>
            <a:schemeClr val="tx1"/>
          </a:solidFill>
          <a:latin typeface="+mn-lt"/>
          <a:ea typeface="+mn-ea"/>
          <a:cs typeface="+mn-cs"/>
        </a:defRPr>
      </a:lvl8pPr>
      <a:lvl9pPr marL="3467735" algn="l" defTabSz="866775" rtl="0" eaLnBrk="1" latinLnBrk="0" hangingPunct="1">
        <a:defRPr sz="170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microsoft.com/office/2007/relationships/hdphoto" Target="../media/image5.wdp"/><Relationship Id="rId3" Type="http://schemas.openxmlformats.org/officeDocument/2006/relationships/image" Target="../media/image4.png"/><Relationship Id="rId2" Type="http://schemas.microsoft.com/office/2007/relationships/hdphoto" Target="../media/image3.wdp"/><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6" Type="http://schemas.openxmlformats.org/officeDocument/2006/relationships/notesSlide" Target="../notesSlides/notesSlide1.xml"/><Relationship Id="rId15" Type="http://schemas.openxmlformats.org/officeDocument/2006/relationships/slideLayout" Target="../slideLayouts/slideLayout2.xml"/><Relationship Id="rId14" Type="http://schemas.openxmlformats.org/officeDocument/2006/relationships/image" Target="../media/image7.jpeg"/><Relationship Id="rId13" Type="http://schemas.openxmlformats.org/officeDocument/2006/relationships/image" Target="../media/image6.png"/><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4.xml"/><Relationship Id="rId2" Type="http://schemas.openxmlformats.org/officeDocument/2006/relationships/image" Target="../media/image10.png"/><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9" Type="http://schemas.openxmlformats.org/officeDocument/2006/relationships/tags" Target="../tags/tag20.xml"/><Relationship Id="rId8" Type="http://schemas.openxmlformats.org/officeDocument/2006/relationships/tags" Target="../tags/tag19.xml"/><Relationship Id="rId7" Type="http://schemas.openxmlformats.org/officeDocument/2006/relationships/tags" Target="../tags/tag18.xml"/><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tags" Target="../tags/tag15.xml"/><Relationship Id="rId3" Type="http://schemas.openxmlformats.org/officeDocument/2006/relationships/tags" Target="../tags/tag14.xml"/><Relationship Id="rId2" Type="http://schemas.openxmlformats.org/officeDocument/2006/relationships/tags" Target="../tags/tag13.xml"/><Relationship Id="rId11" Type="http://schemas.openxmlformats.org/officeDocument/2006/relationships/notesSlide" Target="../notesSlides/notesSlide4.xml"/><Relationship Id="rId10" Type="http://schemas.openxmlformats.org/officeDocument/2006/relationships/slideLayout" Target="../slideLayouts/slideLayout4.xml"/><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6.png"/><Relationship Id="rId3" Type="http://schemas.openxmlformats.org/officeDocument/2006/relationships/image" Target="../media/image13.jpeg"/><Relationship Id="rId2" Type="http://schemas.openxmlformats.org/officeDocument/2006/relationships/image" Target="../media/image12.svg"/><Relationship Id="rId1" Type="http://schemas.openxmlformats.org/officeDocument/2006/relationships/image" Target="../media/image11.png"/></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tags" Target="../tags/tag23.xml"/><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tags" Target="../tags/tag26.xml"/><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tags" Target="../tags/tag29.xml"/><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image" Target="../media/image9.png"/><Relationship Id="rId1" Type="http://schemas.openxmlformats.org/officeDocument/2006/relationships/image" Target="../media/image17.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3.xml"/><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6.png"/><Relationship Id="rId3" Type="http://schemas.openxmlformats.org/officeDocument/2006/relationships/image" Target="../media/image13.jpeg"/><Relationship Id="rId2" Type="http://schemas.openxmlformats.org/officeDocument/2006/relationships/image" Target="../media/image19.svg"/><Relationship Id="rId1" Type="http://schemas.openxmlformats.org/officeDocument/2006/relationships/image" Target="../media/image18.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9.png"/><Relationship Id="rId1"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wdUpDiag">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5" name="矩形 4"/>
          <p:cNvSpPr/>
          <p:nvPr/>
        </p:nvSpPr>
        <p:spPr>
          <a:xfrm>
            <a:off x="0" y="2546580"/>
            <a:ext cx="12191331" cy="1838567"/>
          </a:xfrm>
          <a:prstGeom prst="rect">
            <a:avLst/>
          </a:prstGeom>
          <a:solidFill>
            <a:srgbClr val="1A78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dirty="0">
              <a:solidFill>
                <a:prstClr val="white"/>
              </a:solidFill>
              <a:latin typeface="Calibri" panose="020F0502020204030204"/>
              <a:ea typeface="等线" panose="02010600030101010101" pitchFamily="2" charset="-122"/>
            </a:endParaRPr>
          </a:p>
        </p:txBody>
      </p:sp>
      <p:sp>
        <p:nvSpPr>
          <p:cNvPr id="11" name="矩形 10"/>
          <p:cNvSpPr/>
          <p:nvPr/>
        </p:nvSpPr>
        <p:spPr>
          <a:xfrm>
            <a:off x="2943225" y="3580765"/>
            <a:ext cx="8698230" cy="674370"/>
          </a:xfrm>
          <a:prstGeom prst="rect">
            <a:avLst/>
          </a:prstGeom>
        </p:spPr>
        <p:txBody>
          <a:bodyPr wrap="square" lIns="91397" tIns="45699" rIns="91397" bIns="45699">
            <a:spAutoFit/>
          </a:bodyPr>
          <a:lstStyle/>
          <a:p>
            <a:pPr defTabSz="913765">
              <a:defRPr/>
            </a:pPr>
            <a:r>
              <a:rPr lang="en-US" altLang="zh-CN" b="1" dirty="0">
                <a:solidFill>
                  <a:prstClr val="white"/>
                </a:solidFill>
                <a:latin typeface="微软雅黑" panose="020B0503020204020204" pitchFamily="34" charset="-122"/>
                <a:ea typeface="微软雅黑" panose="020B0503020204020204" pitchFamily="34" charset="-122"/>
              </a:rPr>
              <a:t>MedVLM-R1: Incentivizing Medical Reasoning Capability of Vision-Language Models (VLMs) via Reinforcement Learning  </a:t>
            </a:r>
            <a:r>
              <a:rPr lang="en-US" altLang="zh-CN" sz="2000" b="1" dirty="0">
                <a:solidFill>
                  <a:prstClr val="white"/>
                </a:solidFill>
                <a:latin typeface="微软雅黑" panose="020B0503020204020204" pitchFamily="34" charset="-122"/>
                <a:ea typeface="微软雅黑" panose="020B0503020204020204" pitchFamily="34" charset="-122"/>
              </a:rPr>
              <a:t>MICCAI 2025</a:t>
            </a:r>
            <a:endParaRPr lang="en-US" altLang="zh-CN" sz="2000" b="1" dirty="0">
              <a:solidFill>
                <a:prstClr val="white"/>
              </a:solidFill>
              <a:latin typeface="微软雅黑" panose="020B0503020204020204" pitchFamily="34" charset="-122"/>
              <a:ea typeface="微软雅黑" panose="020B0503020204020204" pitchFamily="34" charset="-122"/>
            </a:endParaRPr>
          </a:p>
        </p:txBody>
      </p:sp>
      <p:sp>
        <p:nvSpPr>
          <p:cNvPr id="12" name="椭圆 11"/>
          <p:cNvSpPr/>
          <p:nvPr/>
        </p:nvSpPr>
        <p:spPr>
          <a:xfrm>
            <a:off x="165453" y="2152457"/>
            <a:ext cx="2624273" cy="2624273"/>
          </a:xfrm>
          <a:prstGeom prst="ellipse">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prstClr val="white"/>
              </a:solidFill>
              <a:latin typeface="Calibri" panose="020F0502020204030204"/>
              <a:ea typeface="等线" panose="02010600030101010101" pitchFamily="2" charset="-122"/>
            </a:endParaRPr>
          </a:p>
        </p:txBody>
      </p:sp>
      <p:pic>
        <p:nvPicPr>
          <p:cNvPr id="9" name="图片 8"/>
          <p:cNvPicPr>
            <a:picLocks noChangeAspect="1"/>
          </p:cNvPicPr>
          <p:nvPr/>
        </p:nvPicPr>
        <p:blipFill>
          <a:blip r:embed="rId1">
            <a:extLst>
              <a:ext uri="{BEBA8EAE-BF5A-486C-A8C5-ECC9F3942E4B}">
                <a14:imgProps xmlns:a14="http://schemas.microsoft.com/office/drawing/2010/main">
                  <a14:imgLayer r:embed="rId2">
                    <a14:imgEffect>
                      <a14:brightnessContrast bright="14000" contrast="21000"/>
                    </a14:imgEffect>
                    <a14:imgEffect>
                      <a14:colorTemperature colorTemp="6700"/>
                    </a14:imgEffect>
                  </a14:imgLayer>
                </a14:imgProps>
              </a:ext>
              <a:ext uri="{28A0092B-C50C-407E-A947-70E740481C1C}">
                <a14:useLocalDpi xmlns:a14="http://schemas.microsoft.com/office/drawing/2010/main" val="0"/>
              </a:ext>
            </a:extLst>
          </a:blip>
          <a:stretch>
            <a:fillRect/>
          </a:stretch>
        </p:blipFill>
        <p:spPr>
          <a:xfrm>
            <a:off x="-92719" y="2012799"/>
            <a:ext cx="3140616" cy="2903588"/>
          </a:xfrm>
          <a:prstGeom prst="rect">
            <a:avLst/>
          </a:prstGeom>
        </p:spPr>
      </p:pic>
      <p:sp>
        <p:nvSpPr>
          <p:cNvPr id="8" name="文本框 7"/>
          <p:cNvSpPr txBox="1"/>
          <p:nvPr/>
        </p:nvSpPr>
        <p:spPr>
          <a:xfrm>
            <a:off x="2943225" y="2592070"/>
            <a:ext cx="8810625" cy="781685"/>
          </a:xfrm>
          <a:prstGeom prst="rect">
            <a:avLst/>
          </a:prstGeom>
          <a:noFill/>
        </p:spPr>
        <p:txBody>
          <a:bodyPr wrap="none" rtlCol="0">
            <a:noAutofit/>
          </a:bodyPr>
          <a:lstStyle/>
          <a:p>
            <a:pPr algn="l" defTabSz="913765">
              <a:defRPr/>
            </a:pPr>
            <a:r>
              <a:rPr lang="en-US" altLang="zh-CN" sz="2800" b="1"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rPr>
              <a:t>MedVLM-R1：</a:t>
            </a:r>
            <a:endParaRPr lang="en-US" altLang="zh-CN" sz="2800" b="1"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endParaRPr>
          </a:p>
          <a:p>
            <a:pPr algn="l" defTabSz="913765">
              <a:defRPr/>
            </a:pPr>
            <a:r>
              <a:rPr lang="zh-CN" altLang="en-US" sz="2800" b="1"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rPr>
              <a:t>通过强化学习激发医学视觉语言模型的推理能力</a:t>
            </a:r>
            <a:endParaRPr lang="zh-CN" altLang="en-US" sz="2800" b="1"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0" name="图片 9"/>
          <p:cNvPicPr>
            <a:picLocks noChangeAspect="1"/>
          </p:cNvPicPr>
          <p:nvPr/>
        </p:nvPicPr>
        <p:blipFill>
          <a:blip r:embed="rId3" cstate="print">
            <a:extLst>
              <a:ext uri="{BEBA8EAE-BF5A-486C-A8C5-ECC9F3942E4B}">
                <a14:imgProps xmlns:a14="http://schemas.microsoft.com/office/drawing/2010/main">
                  <a14:imgLayer r:embed="rId4">
                    <a14:imgEffect>
                      <a14:brightnessContrast bright="14000" contrast="21000"/>
                    </a14:imgEffect>
                    <a14:imgEffect>
                      <a14:colorTemperature colorTemp="6700"/>
                    </a14:imgEffect>
                    <a14:imgEffect>
                      <a14:sharpenSoften amount="3000"/>
                    </a14:imgEffect>
                  </a14:imgLayer>
                </a14:imgProps>
              </a:ext>
              <a:ext uri="{28A0092B-C50C-407E-A947-70E740481C1C}">
                <a14:useLocalDpi xmlns:a14="http://schemas.microsoft.com/office/drawing/2010/main" val="0"/>
              </a:ext>
            </a:extLst>
          </a:blip>
          <a:stretch>
            <a:fillRect/>
          </a:stretch>
        </p:blipFill>
        <p:spPr>
          <a:xfrm>
            <a:off x="9897401" y="150150"/>
            <a:ext cx="1966449" cy="575997"/>
          </a:xfrm>
          <a:prstGeom prst="rect">
            <a:avLst/>
          </a:prstGeom>
        </p:spPr>
      </p:pic>
      <p:grpSp>
        <p:nvGrpSpPr>
          <p:cNvPr id="13" name="组合 12"/>
          <p:cNvGrpSpPr/>
          <p:nvPr/>
        </p:nvGrpSpPr>
        <p:grpSpPr>
          <a:xfrm>
            <a:off x="4977429" y="5239093"/>
            <a:ext cx="3028952" cy="799311"/>
            <a:chOff x="4977763" y="4912139"/>
            <a:chExt cx="3028952" cy="799311"/>
          </a:xfrm>
        </p:grpSpPr>
        <p:sp>
          <p:nvSpPr>
            <p:cNvPr id="16" name="文本占位符 56"/>
            <p:cNvSpPr txBox="1"/>
            <p:nvPr/>
          </p:nvSpPr>
          <p:spPr>
            <a:xfrm>
              <a:off x="5183890" y="4912139"/>
              <a:ext cx="2616200" cy="353060"/>
            </a:xfrm>
            <a:custGeom>
              <a:avLst/>
              <a:gdLst>
                <a:gd name="connsiteX0" fmla="*/ 0 w 1747925"/>
                <a:gd name="connsiteY0" fmla="*/ 176559 h 353120"/>
                <a:gd name="connsiteX1" fmla="*/ 0 w 1747925"/>
                <a:gd name="connsiteY1" fmla="*/ 176560 h 353120"/>
                <a:gd name="connsiteX2" fmla="*/ 0 w 1747925"/>
                <a:gd name="connsiteY2" fmla="*/ 176560 h 353120"/>
                <a:gd name="connsiteX3" fmla="*/ 176560 w 1747925"/>
                <a:gd name="connsiteY3" fmla="*/ 0 h 353120"/>
                <a:gd name="connsiteX4" fmla="*/ 1571365 w 1747925"/>
                <a:gd name="connsiteY4" fmla="*/ 0 h 353120"/>
                <a:gd name="connsiteX5" fmla="*/ 1747925 w 1747925"/>
                <a:gd name="connsiteY5" fmla="*/ 176560 h 353120"/>
                <a:gd name="connsiteX6" fmla="*/ 1747924 w 1747925"/>
                <a:gd name="connsiteY6" fmla="*/ 176560 h 353120"/>
                <a:gd name="connsiteX7" fmla="*/ 1571364 w 1747925"/>
                <a:gd name="connsiteY7" fmla="*/ 353120 h 353120"/>
                <a:gd name="connsiteX8" fmla="*/ 176560 w 1747925"/>
                <a:gd name="connsiteY8" fmla="*/ 353119 h 353120"/>
                <a:gd name="connsiteX9" fmla="*/ 13875 w 1747925"/>
                <a:gd name="connsiteY9" fmla="*/ 245284 h 353120"/>
                <a:gd name="connsiteX10" fmla="*/ 0 w 1747925"/>
                <a:gd name="connsiteY10" fmla="*/ 176560 h 353120"/>
                <a:gd name="connsiteX11" fmla="*/ 13875 w 1747925"/>
                <a:gd name="connsiteY11" fmla="*/ 107835 h 353120"/>
                <a:gd name="connsiteX12" fmla="*/ 176560 w 1747925"/>
                <a:gd name="connsiteY12" fmla="*/ 0 h 353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47925" h="353120">
                  <a:moveTo>
                    <a:pt x="0" y="176559"/>
                  </a:moveTo>
                  <a:lnTo>
                    <a:pt x="0" y="176560"/>
                  </a:lnTo>
                  <a:lnTo>
                    <a:pt x="0" y="176560"/>
                  </a:lnTo>
                  <a:close/>
                  <a:moveTo>
                    <a:pt x="176560" y="0"/>
                  </a:moveTo>
                  <a:lnTo>
                    <a:pt x="1571365" y="0"/>
                  </a:lnTo>
                  <a:cubicBezTo>
                    <a:pt x="1668876" y="0"/>
                    <a:pt x="1747925" y="79049"/>
                    <a:pt x="1747925" y="176560"/>
                  </a:cubicBezTo>
                  <a:lnTo>
                    <a:pt x="1747924" y="176560"/>
                  </a:lnTo>
                  <a:cubicBezTo>
                    <a:pt x="1747924" y="274071"/>
                    <a:pt x="1668875" y="353120"/>
                    <a:pt x="1571364" y="353120"/>
                  </a:cubicBezTo>
                  <a:lnTo>
                    <a:pt x="176560" y="353119"/>
                  </a:lnTo>
                  <a:cubicBezTo>
                    <a:pt x="103427" y="353119"/>
                    <a:pt x="40679" y="308654"/>
                    <a:pt x="13875" y="245284"/>
                  </a:cubicBezTo>
                  <a:lnTo>
                    <a:pt x="0" y="176560"/>
                  </a:lnTo>
                  <a:lnTo>
                    <a:pt x="13875" y="107835"/>
                  </a:lnTo>
                  <a:cubicBezTo>
                    <a:pt x="40679" y="44465"/>
                    <a:pt x="103427" y="0"/>
                    <a:pt x="176560" y="0"/>
                  </a:cubicBezTo>
                  <a:close/>
                </a:path>
              </a:pathLst>
            </a:custGeom>
            <a:solidFill>
              <a:srgbClr val="1A78C3"/>
            </a:solidFill>
          </p:spPr>
          <p:txBody>
            <a:bodyPr vert="horz" wrap="square" lIns="91440" tIns="45720" rIns="91440" bIns="45720" rtlCol="0" anchor="ctr" anchorCtr="0">
              <a:noAutofit/>
            </a:bodyPr>
            <a:lstStyle>
              <a:lvl1pPr marL="0" indent="0" algn="ctr" defTabSz="914400" rtl="0" eaLnBrk="1" latinLnBrk="0" hangingPunct="1">
                <a:lnSpc>
                  <a:spcPct val="90000"/>
                </a:lnSpc>
                <a:spcBef>
                  <a:spcPts val="1000"/>
                </a:spcBef>
                <a:buFontTx/>
                <a:buNone/>
                <a:defRPr sz="140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Tx/>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dirty="0">
                  <a:solidFill>
                    <a:sysClr val="window" lastClr="FFFFFF"/>
                  </a:solidFill>
                  <a:latin typeface="Arial" panose="020B0604020202020204"/>
                  <a:ea typeface="微软雅黑" panose="020B0503020204020204" pitchFamily="34" charset="-122"/>
                </a:rPr>
                <a:t>汇报人：周嘉芮</a:t>
              </a:r>
              <a:endParaRPr lang="zh-CN" altLang="en-US" dirty="0">
                <a:solidFill>
                  <a:sysClr val="window" lastClr="FFFFFF"/>
                </a:solidFill>
                <a:latin typeface="Arial" panose="020B0604020202020204"/>
                <a:ea typeface="微软雅黑" panose="020B0503020204020204" pitchFamily="34" charset="-122"/>
              </a:endParaRPr>
            </a:p>
          </p:txBody>
        </p:sp>
        <p:sp>
          <p:nvSpPr>
            <p:cNvPr id="17" name="文本占位符 13"/>
            <p:cNvSpPr txBox="1"/>
            <p:nvPr/>
          </p:nvSpPr>
          <p:spPr>
            <a:xfrm>
              <a:off x="4977763" y="5415179"/>
              <a:ext cx="3028952" cy="296271"/>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1400" b="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altLang="zh-CN" dirty="0">
                  <a:solidFill>
                    <a:sysClr val="windowText" lastClr="000000"/>
                  </a:solidFill>
                  <a:latin typeface="Arial" panose="020B0604020202020204"/>
                  <a:ea typeface="微软雅黑" panose="020B0503020204020204" pitchFamily="34" charset="-122"/>
                </a:rPr>
                <a:t> 2026 / 09 / 19</a:t>
              </a:r>
              <a:endParaRPr lang="zh-CN" altLang="en-US" dirty="0">
                <a:solidFill>
                  <a:sysClr val="windowText" lastClr="000000"/>
                </a:solidFill>
                <a:latin typeface="Arial" panose="020B0604020202020204"/>
                <a:ea typeface="微软雅黑" panose="020B0503020204020204" pitchFamily="34" charset="-122"/>
              </a:endParaRPr>
            </a:p>
          </p:txBody>
        </p:sp>
      </p:grpSp>
    </p:spTree>
  </p:cSld>
  <p:clrMapOvr>
    <a:masterClrMapping/>
  </p:clrMapOvr>
  <p:transition spd="slow" advClick="0" advTm="1000">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anim calcmode="lin" valueType="num">
                                      <p:cBhvr>
                                        <p:cTn id="10" dur="500" fill="hold"/>
                                        <p:tgtEl>
                                          <p:spTgt spid="13"/>
                                        </p:tgtEl>
                                        <p:attrNameLst>
                                          <p:attrName>ppt_x</p:attrName>
                                        </p:attrNameLst>
                                      </p:cBhvr>
                                      <p:tavLst>
                                        <p:tav tm="0">
                                          <p:val>
                                            <p:fltVal val="0.5"/>
                                          </p:val>
                                        </p:tav>
                                        <p:tav tm="100000">
                                          <p:val>
                                            <p:strVal val="#ppt_x"/>
                                          </p:val>
                                        </p:tav>
                                      </p:tavLst>
                                    </p:anim>
                                    <p:anim calcmode="lin" valueType="num">
                                      <p:cBhvr>
                                        <p:cTn id="11" dur="500" fill="hold"/>
                                        <p:tgtEl>
                                          <p:spTgt spid="13"/>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形状 4"/>
          <p:cNvSpPr/>
          <p:nvPr/>
        </p:nvSpPr>
        <p:spPr>
          <a:xfrm flipH="1">
            <a:off x="0" y="0"/>
            <a:ext cx="12192000" cy="723900"/>
          </a:xfrm>
          <a:custGeom>
            <a:avLst/>
            <a:gdLst>
              <a:gd name="connsiteX0" fmla="*/ 12192000 w 12192000"/>
              <a:gd name="connsiteY0" fmla="*/ 0 h 723900"/>
              <a:gd name="connsiteX1" fmla="*/ 2755900 w 12192000"/>
              <a:gd name="connsiteY1" fmla="*/ 0 h 723900"/>
              <a:gd name="connsiteX2" fmla="*/ 4 w 12192000"/>
              <a:gd name="connsiteY2" fmla="*/ 0 h 723900"/>
              <a:gd name="connsiteX3" fmla="*/ 0 w 12192000"/>
              <a:gd name="connsiteY3" fmla="*/ 0 h 723900"/>
              <a:gd name="connsiteX4" fmla="*/ 0 w 12192000"/>
              <a:gd name="connsiteY4" fmla="*/ 723900 h 723900"/>
              <a:gd name="connsiteX5" fmla="*/ 1987354 w 12192000"/>
              <a:gd name="connsiteY5" fmla="*/ 723900 h 723900"/>
              <a:gd name="connsiteX6" fmla="*/ 2038350 w 12192000"/>
              <a:gd name="connsiteY6" fmla="*/ 717550 h 723900"/>
              <a:gd name="connsiteX7" fmla="*/ 2753650 w 12192000"/>
              <a:gd name="connsiteY7" fmla="*/ 288000 h 723900"/>
              <a:gd name="connsiteX8" fmla="*/ 12192000 w 12192000"/>
              <a:gd name="connsiteY8" fmla="*/ 28800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723900">
                <a:moveTo>
                  <a:pt x="12192000" y="0"/>
                </a:moveTo>
                <a:lnTo>
                  <a:pt x="2755900" y="0"/>
                </a:lnTo>
                <a:lnTo>
                  <a:pt x="4" y="0"/>
                </a:lnTo>
                <a:lnTo>
                  <a:pt x="0" y="0"/>
                </a:lnTo>
                <a:lnTo>
                  <a:pt x="0" y="723900"/>
                </a:lnTo>
                <a:lnTo>
                  <a:pt x="1987354" y="723900"/>
                </a:lnTo>
                <a:lnTo>
                  <a:pt x="2038350" y="717550"/>
                </a:lnTo>
                <a:cubicBezTo>
                  <a:pt x="2497291" y="642783"/>
                  <a:pt x="2432975" y="321492"/>
                  <a:pt x="2753650" y="288000"/>
                </a:cubicBezTo>
                <a:cubicBezTo>
                  <a:pt x="3074325" y="254508"/>
                  <a:pt x="9045883" y="288000"/>
                  <a:pt x="12192000" y="288000"/>
                </a:cubicBezTo>
                <a:close/>
              </a:path>
            </a:pathLst>
          </a:custGeom>
          <a:solidFill>
            <a:srgbClr val="1C6299"/>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 name="矩形 5"/>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7" name="文本框 6"/>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 name="文本框 7"/>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grpSp>
        <p:nvGrpSpPr>
          <p:cNvPr id="17" name="组合 16"/>
          <p:cNvGrpSpPr/>
          <p:nvPr>
            <p:custDataLst>
              <p:tags r:id="rId1"/>
            </p:custDataLst>
          </p:nvPr>
        </p:nvGrpSpPr>
        <p:grpSpPr>
          <a:xfrm>
            <a:off x="3785242" y="1134978"/>
            <a:ext cx="3235325" cy="1267266"/>
            <a:chOff x="5576876" y="540040"/>
            <a:chExt cx="3235325" cy="1267266"/>
          </a:xfrm>
        </p:grpSpPr>
        <p:sp>
          <p:nvSpPr>
            <p:cNvPr id="18" name="文本框 17"/>
            <p:cNvSpPr txBox="1"/>
            <p:nvPr>
              <p:custDataLst>
                <p:tags r:id="rId2"/>
              </p:custDataLst>
            </p:nvPr>
          </p:nvSpPr>
          <p:spPr>
            <a:xfrm>
              <a:off x="5576876" y="540040"/>
              <a:ext cx="779381"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300" normalizeH="0" baseline="0" noProof="0" dirty="0">
                  <a:ln>
                    <a:noFill/>
                  </a:ln>
                  <a:gradFill flip="none" rotWithShape="1">
                    <a:gsLst>
                      <a:gs pos="0">
                        <a:srgbClr val="1C6299"/>
                      </a:gs>
                      <a:gs pos="74000">
                        <a:schemeClr val="accent1">
                          <a:lumMod val="45000"/>
                          <a:lumOff val="55000"/>
                        </a:schemeClr>
                      </a:gs>
                      <a:gs pos="83000">
                        <a:schemeClr val="accent1">
                          <a:lumMod val="45000"/>
                          <a:lumOff val="55000"/>
                        </a:schemeClr>
                      </a:gs>
                      <a:gs pos="100000">
                        <a:schemeClr val="bg1"/>
                      </a:gs>
                    </a:gsLst>
                    <a:lin ang="5400000" scaled="1"/>
                    <a:tileRect/>
                  </a:gradFill>
                  <a:effectLst/>
                  <a:uLnTx/>
                  <a:uFillTx/>
                  <a:latin typeface="Impact" panose="020B0806030902050204" pitchFamily="34" charset="0"/>
                  <a:ea typeface="微软雅黑" panose="020B0503020204020204" pitchFamily="34" charset="-122"/>
                  <a:cs typeface="+mn-cs"/>
                </a:rPr>
                <a:t>01</a:t>
              </a:r>
              <a:endParaRPr kumimoji="0" lang="zh-CN" altLang="en-US" sz="4400" b="0" i="0" u="none" strike="noStrike" kern="1200" cap="none" spc="300" normalizeH="0" baseline="0" noProof="0" dirty="0">
                <a:ln>
                  <a:noFill/>
                </a:ln>
                <a:gradFill flip="none" rotWithShape="1">
                  <a:gsLst>
                    <a:gs pos="0">
                      <a:srgbClr val="1C6299"/>
                    </a:gs>
                    <a:gs pos="74000">
                      <a:schemeClr val="accent1">
                        <a:lumMod val="45000"/>
                        <a:lumOff val="55000"/>
                      </a:schemeClr>
                    </a:gs>
                    <a:gs pos="83000">
                      <a:schemeClr val="accent1">
                        <a:lumMod val="45000"/>
                        <a:lumOff val="55000"/>
                      </a:schemeClr>
                    </a:gs>
                    <a:gs pos="100000">
                      <a:schemeClr val="bg1"/>
                    </a:gs>
                  </a:gsLst>
                  <a:lin ang="5400000" scaled="1"/>
                  <a:tileRect/>
                </a:gradFill>
                <a:effectLst/>
                <a:uLnTx/>
                <a:uFillTx/>
                <a:latin typeface="Impact" panose="020B0806030902050204" pitchFamily="34" charset="0"/>
                <a:ea typeface="微软雅黑" panose="020B0503020204020204" pitchFamily="34" charset="-122"/>
                <a:cs typeface="+mn-cs"/>
              </a:endParaRPr>
            </a:p>
          </p:txBody>
        </p:sp>
        <p:sp>
          <p:nvSpPr>
            <p:cNvPr id="19" name="文本框 18"/>
            <p:cNvSpPr txBox="1"/>
            <p:nvPr>
              <p:custDataLst>
                <p:tags r:id="rId3"/>
              </p:custDataLst>
            </p:nvPr>
          </p:nvSpPr>
          <p:spPr>
            <a:xfrm>
              <a:off x="5576876" y="977361"/>
              <a:ext cx="2405380" cy="82994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spc="10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j-cs"/>
                  <a:sym typeface="+mn-ea"/>
                </a:rPr>
                <a:t>研究背景与问题</a:t>
              </a:r>
              <a:endParaRPr kumimoji="0" lang="zh-CN" altLang="en-US" sz="2400" b="1" i="0" u="none" strike="noStrike" kern="1200" cap="none" spc="10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j-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300" normalizeH="0" baseline="0" noProof="0" dirty="0">
                <a:ln>
                  <a:noFill/>
                </a:ln>
                <a:solidFill>
                  <a:srgbClr val="44546A">
                    <a:lumMod val="50000"/>
                  </a:srgbClr>
                </a:solidFill>
                <a:effectLst/>
                <a:uLnTx/>
                <a:uFillTx/>
                <a:latin typeface="Arial" panose="020B0604020202020204"/>
                <a:ea typeface="微软雅黑" panose="020B0503020204020204" pitchFamily="34" charset="-122"/>
                <a:cs typeface="+mn-cs"/>
              </a:endParaRPr>
            </a:p>
          </p:txBody>
        </p:sp>
        <p:sp>
          <p:nvSpPr>
            <p:cNvPr id="20" name="文本框 19"/>
            <p:cNvSpPr txBox="1"/>
            <p:nvPr>
              <p:custDataLst>
                <p:tags r:id="rId4"/>
              </p:custDataLst>
            </p:nvPr>
          </p:nvSpPr>
          <p:spPr>
            <a:xfrm>
              <a:off x="5576876" y="1461058"/>
              <a:ext cx="3235325" cy="284480"/>
            </a:xfrm>
            <a:prstGeom prst="rect">
              <a:avLst/>
            </a:prstGeom>
            <a:noFill/>
          </p:spPr>
          <p:txBody>
            <a:bodyPr wrap="none" rtlCol="0">
              <a:spAutoFit/>
            </a:bodyPr>
            <a:lstStyle/>
            <a:p>
              <a:pPr marL="0" marR="0" lvl="0" indent="0" algn="l" defTabSz="914400" rtl="0" eaLnBrk="1" fontAlgn="auto" latinLnBrk="0" hangingPunct="1">
                <a:lnSpc>
                  <a:spcPct val="90000"/>
                </a:lnSpc>
                <a:spcBef>
                  <a:spcPts val="1000"/>
                </a:spcBef>
                <a:spcAft>
                  <a:spcPts val="0"/>
                </a:spcAft>
                <a:buClrTx/>
                <a:buSzTx/>
                <a:buFontTx/>
                <a:buNone/>
                <a:defRPr/>
              </a:pPr>
              <a:r>
                <a:rPr kumimoji="0" lang="en-US" altLang="zh-CN" sz="1400" b="0" i="0" u="none" strike="noStrike" kern="1200" cap="none" spc="100" normalizeH="0" baseline="0" noProof="0" dirty="0">
                  <a:ln>
                    <a:noFill/>
                  </a:ln>
                  <a:solidFill>
                    <a:prstClr val="white">
                      <a:lumMod val="75000"/>
                    </a:prstClr>
                  </a:solidFill>
                  <a:effectLst/>
                  <a:uLnTx/>
                  <a:uFillTx/>
                  <a:latin typeface="Arial" panose="020B0604020202020204"/>
                  <a:ea typeface="微软雅黑" panose="020B0503020204020204" pitchFamily="34" charset="-122"/>
                  <a:cs typeface="+mn-cs"/>
                </a:rPr>
                <a:t>Research Background and Issues</a:t>
              </a:r>
              <a:endParaRPr kumimoji="0" lang="en-US" altLang="zh-CN" sz="1400" b="0" i="0" u="none" strike="noStrike" kern="1200" cap="none" spc="100" normalizeH="0" baseline="0" noProof="0" dirty="0">
                <a:ln>
                  <a:noFill/>
                </a:ln>
                <a:solidFill>
                  <a:prstClr val="white">
                    <a:lumMod val="75000"/>
                  </a:prstClr>
                </a:solidFill>
                <a:effectLst/>
                <a:uLnTx/>
                <a:uFillTx/>
                <a:latin typeface="Arial" panose="020B0604020202020204"/>
                <a:ea typeface="微软雅黑" panose="020B0503020204020204" pitchFamily="34" charset="-122"/>
                <a:cs typeface="+mn-cs"/>
              </a:endParaRPr>
            </a:p>
          </p:txBody>
        </p:sp>
      </p:grpSp>
      <p:grpSp>
        <p:nvGrpSpPr>
          <p:cNvPr id="21" name="组合 20"/>
          <p:cNvGrpSpPr/>
          <p:nvPr>
            <p:custDataLst>
              <p:tags r:id="rId5"/>
            </p:custDataLst>
          </p:nvPr>
        </p:nvGrpSpPr>
        <p:grpSpPr>
          <a:xfrm>
            <a:off x="7789084" y="1134978"/>
            <a:ext cx="1879600" cy="1205498"/>
            <a:chOff x="8704421" y="540040"/>
            <a:chExt cx="1879600" cy="1205498"/>
          </a:xfrm>
        </p:grpSpPr>
        <p:sp>
          <p:nvSpPr>
            <p:cNvPr id="22" name="文本框 21"/>
            <p:cNvSpPr txBox="1"/>
            <p:nvPr>
              <p:custDataLst>
                <p:tags r:id="rId6"/>
              </p:custDataLst>
            </p:nvPr>
          </p:nvSpPr>
          <p:spPr>
            <a:xfrm>
              <a:off x="8704421" y="540040"/>
              <a:ext cx="848309" cy="769441"/>
            </a:xfrm>
            <a:prstGeom prst="rect">
              <a:avLst/>
            </a:prstGeom>
            <a:noFill/>
          </p:spPr>
          <p:txBody>
            <a:bodyPr wrap="none" rtlCol="0">
              <a:spAutoFit/>
            </a:bodyPr>
            <a:lstStyle>
              <a:defPPr>
                <a:defRPr lang="zh-CN"/>
              </a:defPPr>
              <a:lvl1pPr>
                <a:defRPr sz="4400" spc="300">
                  <a:gradFill>
                    <a:gsLst>
                      <a:gs pos="0">
                        <a:srgbClr val="5C307D"/>
                      </a:gs>
                      <a:gs pos="90000">
                        <a:srgbClr val="5C307D">
                          <a:alpha val="0"/>
                        </a:srgbClr>
                      </a:gs>
                    </a:gsLst>
                    <a:lin ang="5400000" scaled="1"/>
                  </a:gradFill>
                  <a:latin typeface="Impact" panose="020B0806030902050204" pitchFamily="34" charset="0"/>
                  <a:ea typeface="微软雅黑" panose="020B0503020204020204"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300" normalizeH="0" baseline="0" noProof="0" dirty="0">
                  <a:ln>
                    <a:noFill/>
                  </a:ln>
                  <a:gradFill flip="none" rotWithShape="1">
                    <a:gsLst>
                      <a:gs pos="0">
                        <a:srgbClr val="1C6299"/>
                      </a:gs>
                      <a:gs pos="97403">
                        <a:srgbClr val="5C307D">
                          <a:alpha val="0"/>
                        </a:srgbClr>
                      </a:gs>
                      <a:gs pos="97000">
                        <a:schemeClr val="bg1"/>
                      </a:gs>
                    </a:gsLst>
                    <a:lin ang="5400000" scaled="1"/>
                    <a:tileRect/>
                  </a:gradFill>
                  <a:effectLst/>
                  <a:uLnTx/>
                  <a:uFillTx/>
                  <a:latin typeface="Impact" panose="020B0806030902050204" pitchFamily="34" charset="0"/>
                  <a:ea typeface="微软雅黑" panose="020B0503020204020204" pitchFamily="34" charset="-122"/>
                  <a:cs typeface="+mn-cs"/>
                </a:rPr>
                <a:t>02</a:t>
              </a:r>
              <a:endParaRPr kumimoji="0" lang="zh-CN" altLang="en-US" sz="4400" b="0" i="0" u="none" strike="noStrike" kern="1200" cap="none" spc="300" normalizeH="0" baseline="0" noProof="0" dirty="0">
                <a:ln>
                  <a:noFill/>
                </a:ln>
                <a:gradFill flip="none" rotWithShape="1">
                  <a:gsLst>
                    <a:gs pos="0">
                      <a:srgbClr val="1C6299"/>
                    </a:gs>
                    <a:gs pos="97403">
                      <a:srgbClr val="5C307D">
                        <a:alpha val="0"/>
                      </a:srgbClr>
                    </a:gs>
                    <a:gs pos="97000">
                      <a:schemeClr val="bg1"/>
                    </a:gs>
                  </a:gsLst>
                  <a:lin ang="5400000" scaled="1"/>
                  <a:tileRect/>
                </a:gradFill>
                <a:effectLst/>
                <a:uLnTx/>
                <a:uFillTx/>
                <a:latin typeface="Impact" panose="020B0806030902050204" pitchFamily="34" charset="0"/>
                <a:ea typeface="微软雅黑" panose="020B0503020204020204" pitchFamily="34" charset="-122"/>
                <a:cs typeface="+mn-cs"/>
              </a:endParaRPr>
            </a:p>
          </p:txBody>
        </p:sp>
        <p:sp>
          <p:nvSpPr>
            <p:cNvPr id="23" name="文本框 22"/>
            <p:cNvSpPr txBox="1"/>
            <p:nvPr>
              <p:custDataLst>
                <p:tags r:id="rId7"/>
              </p:custDataLst>
            </p:nvPr>
          </p:nvSpPr>
          <p:spPr>
            <a:xfrm>
              <a:off x="8704421" y="977361"/>
              <a:ext cx="155448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300" normalizeH="0" baseline="0" noProof="0" dirty="0">
                  <a:ln>
                    <a:noFill/>
                  </a:ln>
                  <a:solidFill>
                    <a:srgbClr val="44546A">
                      <a:lumMod val="50000"/>
                    </a:srgbClr>
                  </a:solidFill>
                  <a:effectLst/>
                  <a:uLnTx/>
                  <a:uFillTx/>
                  <a:latin typeface="Arial" panose="020B0604020202020204"/>
                  <a:ea typeface="微软雅黑" panose="020B0503020204020204" pitchFamily="34" charset="-122"/>
                  <a:cs typeface="+mn-cs"/>
                </a:rPr>
                <a:t>研究</a:t>
              </a:r>
              <a:r>
                <a:rPr kumimoji="0" lang="zh-CN" altLang="en-US" sz="2400" b="1" i="0" u="none" strike="noStrike" kern="1200" cap="none" spc="300" normalizeH="0" baseline="0" noProof="0" dirty="0">
                  <a:ln>
                    <a:noFill/>
                  </a:ln>
                  <a:solidFill>
                    <a:srgbClr val="44546A">
                      <a:lumMod val="50000"/>
                    </a:srgbClr>
                  </a:solidFill>
                  <a:effectLst/>
                  <a:uLnTx/>
                  <a:uFillTx/>
                  <a:latin typeface="Arial" panose="020B0604020202020204"/>
                  <a:ea typeface="微软雅黑" panose="020B0503020204020204" pitchFamily="34" charset="-122"/>
                  <a:cs typeface="+mn-cs"/>
                </a:rPr>
                <a:t>方法</a:t>
              </a:r>
              <a:endParaRPr kumimoji="0" lang="zh-CN" altLang="en-US" sz="2400" b="1" i="0" u="none" strike="noStrike" kern="1200" cap="none" spc="300" normalizeH="0" baseline="0" noProof="0" dirty="0">
                <a:ln>
                  <a:noFill/>
                </a:ln>
                <a:solidFill>
                  <a:srgbClr val="44546A">
                    <a:lumMod val="50000"/>
                  </a:srgbClr>
                </a:solidFill>
                <a:effectLst/>
                <a:uLnTx/>
                <a:uFillTx/>
                <a:latin typeface="Arial" panose="020B0604020202020204"/>
                <a:ea typeface="微软雅黑" panose="020B0503020204020204" pitchFamily="34" charset="-122"/>
                <a:cs typeface="+mn-cs"/>
              </a:endParaRPr>
            </a:p>
          </p:txBody>
        </p:sp>
        <p:sp>
          <p:nvSpPr>
            <p:cNvPr id="24" name="文本框 23"/>
            <p:cNvSpPr txBox="1"/>
            <p:nvPr>
              <p:custDataLst>
                <p:tags r:id="rId8"/>
              </p:custDataLst>
            </p:nvPr>
          </p:nvSpPr>
          <p:spPr>
            <a:xfrm>
              <a:off x="8704421" y="1461058"/>
              <a:ext cx="1879600" cy="284480"/>
            </a:xfrm>
            <a:prstGeom prst="rect">
              <a:avLst/>
            </a:prstGeom>
            <a:noFill/>
          </p:spPr>
          <p:txBody>
            <a:bodyPr wrap="none" rtlCol="0">
              <a:spAutoFit/>
            </a:bodyPr>
            <a:lstStyle/>
            <a:p>
              <a:pPr marL="0" marR="0" lvl="0" indent="0" algn="l" defTabSz="914400" rtl="0" eaLnBrk="1" fontAlgn="auto" latinLnBrk="0" hangingPunct="1">
                <a:lnSpc>
                  <a:spcPct val="90000"/>
                </a:lnSpc>
                <a:spcBef>
                  <a:spcPts val="1000"/>
                </a:spcBef>
                <a:spcAft>
                  <a:spcPts val="0"/>
                </a:spcAft>
                <a:buClrTx/>
                <a:buSzTx/>
                <a:buFontTx/>
                <a:buNone/>
                <a:defRPr/>
              </a:pPr>
              <a:r>
                <a:rPr lang="en-US" altLang="zh-CN" sz="1400" spc="100" noProof="0" dirty="0">
                  <a:ln>
                    <a:noFill/>
                  </a:ln>
                  <a:solidFill>
                    <a:sysClr val="window" lastClr="FFFFFF">
                      <a:lumMod val="65000"/>
                    </a:sysClr>
                  </a:solidFill>
                  <a:effectLst/>
                  <a:uLnTx/>
                  <a:uFillTx/>
                  <a:latin typeface="Arial" panose="020B0604020202020204"/>
                  <a:ea typeface="微软雅黑" panose="020B0503020204020204" pitchFamily="34" charset="-122"/>
                  <a:sym typeface="+mn-ea"/>
                </a:rPr>
                <a:t>Research Methods</a:t>
              </a:r>
              <a:endParaRPr kumimoji="0" lang="en-US" altLang="zh-CN" sz="1400" b="0" i="0" u="none" strike="noStrike" kern="1200" cap="none" spc="100" normalizeH="0" baseline="0" noProof="0" dirty="0">
                <a:ln>
                  <a:noFill/>
                </a:ln>
                <a:solidFill>
                  <a:prstClr val="white">
                    <a:lumMod val="75000"/>
                  </a:prstClr>
                </a:solidFill>
                <a:effectLst/>
                <a:uLnTx/>
                <a:uFillTx/>
                <a:latin typeface="Arial" panose="020B0604020202020204"/>
                <a:ea typeface="微软雅黑" panose="020B0503020204020204" pitchFamily="34" charset="-122"/>
                <a:cs typeface="+mn-cs"/>
              </a:endParaRPr>
            </a:p>
          </p:txBody>
        </p:sp>
      </p:grpSp>
      <p:grpSp>
        <p:nvGrpSpPr>
          <p:cNvPr id="25" name="组合 24"/>
          <p:cNvGrpSpPr/>
          <p:nvPr>
            <p:custDataLst>
              <p:tags r:id="rId9"/>
            </p:custDataLst>
          </p:nvPr>
        </p:nvGrpSpPr>
        <p:grpSpPr>
          <a:xfrm>
            <a:off x="3785242" y="3304959"/>
            <a:ext cx="1882140" cy="1174956"/>
            <a:chOff x="5576876" y="2230747"/>
            <a:chExt cx="1882140" cy="1174956"/>
          </a:xfrm>
        </p:grpSpPr>
        <p:sp>
          <p:nvSpPr>
            <p:cNvPr id="26" name="文本框 25"/>
            <p:cNvSpPr txBox="1"/>
            <p:nvPr>
              <p:custDataLst>
                <p:tags r:id="rId10"/>
              </p:custDataLst>
            </p:nvPr>
          </p:nvSpPr>
          <p:spPr>
            <a:xfrm>
              <a:off x="5576876" y="2230747"/>
              <a:ext cx="864339" cy="769441"/>
            </a:xfrm>
            <a:prstGeom prst="rect">
              <a:avLst/>
            </a:prstGeom>
            <a:noFill/>
          </p:spPr>
          <p:txBody>
            <a:bodyPr wrap="none" rtlCol="0">
              <a:spAutoFit/>
            </a:bodyPr>
            <a:lstStyle>
              <a:defPPr>
                <a:defRPr lang="zh-CN"/>
              </a:defPPr>
              <a:lvl1pPr>
                <a:defRPr sz="4400" spc="300">
                  <a:gradFill>
                    <a:gsLst>
                      <a:gs pos="0">
                        <a:srgbClr val="5C307D"/>
                      </a:gs>
                      <a:gs pos="90000">
                        <a:srgbClr val="5C307D">
                          <a:alpha val="0"/>
                        </a:srgbClr>
                      </a:gs>
                    </a:gsLst>
                    <a:lin ang="5400000" scaled="1"/>
                  </a:gradFill>
                  <a:latin typeface="Impact" panose="020B0806030902050204" pitchFamily="34" charset="0"/>
                  <a:ea typeface="微软雅黑" panose="020B0503020204020204"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300" normalizeH="0" baseline="0" noProof="0" dirty="0">
                  <a:ln>
                    <a:noFill/>
                  </a:ln>
                  <a:gradFill>
                    <a:gsLst>
                      <a:gs pos="0">
                        <a:srgbClr val="1C6299"/>
                      </a:gs>
                      <a:gs pos="90000">
                        <a:schemeClr val="bg1"/>
                      </a:gs>
                    </a:gsLst>
                    <a:lin ang="5400000" scaled="1"/>
                  </a:gradFill>
                  <a:effectLst/>
                  <a:uLnTx/>
                  <a:uFillTx/>
                  <a:latin typeface="Impact" panose="020B0806030902050204" pitchFamily="34" charset="0"/>
                  <a:ea typeface="微软雅黑" panose="020B0503020204020204" pitchFamily="34" charset="-122"/>
                  <a:cs typeface="+mn-cs"/>
                </a:rPr>
                <a:t>03</a:t>
              </a:r>
              <a:endParaRPr kumimoji="0" lang="zh-CN" altLang="en-US" sz="4400" b="0" i="0" u="none" strike="noStrike" kern="1200" cap="none" spc="300" normalizeH="0" baseline="0" noProof="0" dirty="0">
                <a:ln>
                  <a:noFill/>
                </a:ln>
                <a:gradFill>
                  <a:gsLst>
                    <a:gs pos="0">
                      <a:srgbClr val="1C6299"/>
                    </a:gs>
                    <a:gs pos="90000">
                      <a:schemeClr val="bg1"/>
                    </a:gs>
                  </a:gsLst>
                  <a:lin ang="5400000" scaled="1"/>
                </a:gradFill>
                <a:effectLst/>
                <a:uLnTx/>
                <a:uFillTx/>
                <a:latin typeface="Impact" panose="020B0806030902050204" pitchFamily="34" charset="0"/>
                <a:ea typeface="微软雅黑" panose="020B0503020204020204" pitchFamily="34" charset="-122"/>
                <a:cs typeface="+mn-cs"/>
              </a:endParaRPr>
            </a:p>
          </p:txBody>
        </p:sp>
        <p:sp>
          <p:nvSpPr>
            <p:cNvPr id="27" name="文本框 26"/>
            <p:cNvSpPr txBox="1"/>
            <p:nvPr>
              <p:custDataLst>
                <p:tags r:id="rId11"/>
              </p:custDataLst>
            </p:nvPr>
          </p:nvSpPr>
          <p:spPr>
            <a:xfrm>
              <a:off x="5576876" y="2637526"/>
              <a:ext cx="1452880" cy="423545"/>
            </a:xfrm>
            <a:prstGeom prst="rect">
              <a:avLst/>
            </a:prstGeom>
            <a:noFill/>
          </p:spPr>
          <p:txBody>
            <a:bodyPr wrap="none" rtlCol="0">
              <a:spAutoFit/>
            </a:bodyPr>
            <a:lstStyle/>
            <a:p>
              <a:pPr marL="0" marR="0" lvl="0" indent="0" algn="l" defTabSz="914400" rtl="0" eaLnBrk="1" fontAlgn="auto" latinLnBrk="0" hangingPunct="1">
                <a:lnSpc>
                  <a:spcPct val="90000"/>
                </a:lnSpc>
                <a:spcBef>
                  <a:spcPct val="0"/>
                </a:spcBef>
                <a:spcAft>
                  <a:spcPts val="0"/>
                </a:spcAft>
                <a:buClrTx/>
                <a:buSzTx/>
                <a:buFontTx/>
                <a:buNone/>
                <a:defRPr/>
              </a:pPr>
              <a:r>
                <a:rPr lang="zh-CN" altLang="en-US" sz="2400" b="1" spc="10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j-cs"/>
                  <a:sym typeface="+mn-ea"/>
                </a:rPr>
                <a:t>研究成果</a:t>
              </a:r>
              <a:endParaRPr kumimoji="0" lang="zh-CN" altLang="en-US" sz="2400" b="1" i="0" u="none" strike="noStrike" kern="1200" cap="none" spc="300" normalizeH="0" baseline="0" noProof="0" dirty="0">
                <a:ln>
                  <a:noFill/>
                </a:ln>
                <a:solidFill>
                  <a:srgbClr val="44546A">
                    <a:lumMod val="50000"/>
                  </a:srgbClr>
                </a:solidFill>
                <a:effectLst/>
                <a:uLnTx/>
                <a:uFillTx/>
                <a:latin typeface="Arial" panose="020B0604020202020204"/>
                <a:ea typeface="微软雅黑" panose="020B0503020204020204" pitchFamily="34" charset="-122"/>
                <a:cs typeface="+mn-cs"/>
              </a:endParaRPr>
            </a:p>
          </p:txBody>
        </p:sp>
        <p:sp>
          <p:nvSpPr>
            <p:cNvPr id="28" name="文本框 27"/>
            <p:cNvSpPr txBox="1"/>
            <p:nvPr>
              <p:custDataLst>
                <p:tags r:id="rId12"/>
              </p:custDataLst>
            </p:nvPr>
          </p:nvSpPr>
          <p:spPr>
            <a:xfrm>
              <a:off x="5576876" y="3121223"/>
              <a:ext cx="1882140" cy="284480"/>
            </a:xfrm>
            <a:prstGeom prst="rect">
              <a:avLst/>
            </a:prstGeom>
            <a:noFill/>
          </p:spPr>
          <p:txBody>
            <a:bodyPr wrap="none" rtlCol="0">
              <a:spAutoFit/>
            </a:bodyPr>
            <a:lstStyle/>
            <a:p>
              <a:pPr marL="0" marR="0" lvl="0" indent="0" algn="l" defTabSz="914400" rtl="0" eaLnBrk="1" fontAlgn="auto" latinLnBrk="0" hangingPunct="1">
                <a:lnSpc>
                  <a:spcPct val="90000"/>
                </a:lnSpc>
                <a:spcBef>
                  <a:spcPts val="1000"/>
                </a:spcBef>
                <a:spcAft>
                  <a:spcPts val="0"/>
                </a:spcAft>
                <a:buClrTx/>
                <a:buSzTx/>
                <a:buFontTx/>
                <a:buNone/>
                <a:defRPr/>
              </a:pPr>
              <a:r>
                <a:rPr lang="en-US" altLang="zh-CN" sz="1400" spc="100" noProof="0" dirty="0">
                  <a:ln>
                    <a:noFill/>
                  </a:ln>
                  <a:solidFill>
                    <a:sysClr val="window" lastClr="FFFFFF">
                      <a:lumMod val="65000"/>
                    </a:sysClr>
                  </a:solidFill>
                  <a:effectLst/>
                  <a:uLnTx/>
                  <a:uFillTx/>
                  <a:latin typeface="Arial" panose="020B0604020202020204"/>
                  <a:ea typeface="微软雅黑" panose="020B0503020204020204" pitchFamily="34" charset="-122"/>
                  <a:sym typeface="+mn-ea"/>
                </a:rPr>
                <a:t>Research Findings</a:t>
              </a:r>
              <a:endParaRPr kumimoji="0" lang="en-US" altLang="zh-CN" sz="1400" b="0" i="0" u="none" strike="noStrike" kern="1200" cap="none" spc="100" normalizeH="0" baseline="0" noProof="0" dirty="0">
                <a:ln>
                  <a:noFill/>
                </a:ln>
                <a:solidFill>
                  <a:prstClr val="white">
                    <a:lumMod val="75000"/>
                  </a:prstClr>
                </a:solidFill>
                <a:effectLst/>
                <a:uLnTx/>
                <a:uFillTx/>
                <a:latin typeface="Arial" panose="020B0604020202020204"/>
                <a:ea typeface="微软雅黑" panose="020B0503020204020204" pitchFamily="34" charset="-122"/>
                <a:cs typeface="+mn-cs"/>
              </a:endParaRPr>
            </a:p>
          </p:txBody>
        </p:sp>
      </p:grpSp>
      <p:grpSp>
        <p:nvGrpSpPr>
          <p:cNvPr id="2" name="组合 1"/>
          <p:cNvGrpSpPr/>
          <p:nvPr/>
        </p:nvGrpSpPr>
        <p:grpSpPr>
          <a:xfrm>
            <a:off x="457933" y="870126"/>
            <a:ext cx="1601400" cy="5445722"/>
            <a:chOff x="457933" y="870126"/>
            <a:chExt cx="1601400" cy="5445722"/>
          </a:xfrm>
        </p:grpSpPr>
        <p:sp>
          <p:nvSpPr>
            <p:cNvPr id="37" name="文本框 36"/>
            <p:cNvSpPr txBox="1"/>
            <p:nvPr/>
          </p:nvSpPr>
          <p:spPr>
            <a:xfrm rot="16200000">
              <a:off x="-1541653" y="2869712"/>
              <a:ext cx="5445722" cy="144655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8800" b="1" i="0" u="none" strike="noStrike" kern="1200" cap="none" spc="50" normalizeH="0" baseline="0" noProof="0" dirty="0">
                  <a:ln>
                    <a:noFill/>
                  </a:ln>
                  <a:solidFill>
                    <a:prstClr val="white">
                      <a:lumMod val="85000"/>
                    </a:prstClr>
                  </a:solidFill>
                  <a:effectLst/>
                  <a:uLnTx/>
                  <a:uFillTx/>
                  <a:latin typeface="Arial" panose="020B0604020202020204"/>
                  <a:ea typeface="微软雅黑" panose="020B0503020204020204" pitchFamily="34" charset="-122"/>
                  <a:cs typeface="+mn-cs"/>
                </a:rPr>
                <a:t>Contents</a:t>
              </a:r>
              <a:r>
                <a:rPr kumimoji="0" lang="en-US" altLang="zh-CN" sz="8800" b="1" i="0" u="none" strike="noStrike" kern="1200" cap="none" spc="50" normalizeH="0" baseline="0" noProof="0" dirty="0">
                  <a:ln>
                    <a:noFill/>
                  </a:ln>
                  <a:solidFill>
                    <a:srgbClr val="1C6299"/>
                  </a:solidFill>
                  <a:effectLst/>
                  <a:uLnTx/>
                  <a:uFillTx/>
                  <a:latin typeface="Arial" panose="020B0604020202020204"/>
                  <a:ea typeface="微软雅黑" panose="020B0503020204020204" pitchFamily="34" charset="-122"/>
                  <a:cs typeface="+mn-cs"/>
                </a:rPr>
                <a:t>.</a:t>
              </a:r>
              <a:endParaRPr kumimoji="0" lang="zh-CN" altLang="en-US" sz="8800" b="1" i="0" u="none" strike="noStrike" kern="1200" cap="none" spc="50" normalizeH="0" baseline="0" noProof="0" dirty="0">
                <a:ln>
                  <a:noFill/>
                </a:ln>
                <a:solidFill>
                  <a:srgbClr val="1C6299"/>
                </a:solidFill>
                <a:effectLst/>
                <a:uLnTx/>
                <a:uFillTx/>
                <a:latin typeface="Arial" panose="020B0604020202020204"/>
                <a:ea typeface="微软雅黑" panose="020B0503020204020204" pitchFamily="34" charset="-122"/>
                <a:cs typeface="+mn-cs"/>
              </a:endParaRPr>
            </a:p>
          </p:txBody>
        </p:sp>
        <p:sp>
          <p:nvSpPr>
            <p:cNvPr id="38" name="文本框 37"/>
            <p:cNvSpPr txBox="1"/>
            <p:nvPr/>
          </p:nvSpPr>
          <p:spPr>
            <a:xfrm>
              <a:off x="1320669" y="5117804"/>
              <a:ext cx="738664" cy="1169551"/>
            </a:xfrm>
            <a:prstGeom prst="rect">
              <a:avLst/>
            </a:prstGeom>
            <a:noFill/>
          </p:spPr>
          <p:txBody>
            <a:bodyPr vert="eaVert"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600" b="1" i="0" u="none" strike="noStrike" kern="1200" cap="none" spc="600" normalizeH="0" baseline="0" noProof="0" dirty="0">
                  <a:ln>
                    <a:noFill/>
                  </a:ln>
                  <a:solidFill>
                    <a:srgbClr val="1C6299"/>
                  </a:solidFill>
                  <a:effectLst/>
                  <a:uLnTx/>
                  <a:uFillTx/>
                  <a:latin typeface="Arial" panose="020B0604020202020204"/>
                  <a:ea typeface="微软雅黑" panose="020B0503020204020204" pitchFamily="34" charset="-122"/>
                  <a:cs typeface="+mn-cs"/>
                </a:rPr>
                <a:t>目录</a:t>
              </a:r>
              <a:endParaRPr kumimoji="0" lang="zh-CN" altLang="en-US" sz="3600" b="1" i="0" u="none" strike="noStrike" kern="1200" cap="none" spc="600" normalizeH="0" baseline="0" noProof="0" dirty="0">
                <a:ln>
                  <a:noFill/>
                </a:ln>
                <a:solidFill>
                  <a:srgbClr val="1C6299"/>
                </a:solidFill>
                <a:effectLst/>
                <a:uLnTx/>
                <a:uFillTx/>
                <a:latin typeface="Arial" panose="020B0604020202020204"/>
                <a:ea typeface="微软雅黑" panose="020B0503020204020204" pitchFamily="34" charset="-122"/>
                <a:cs typeface="+mn-cs"/>
              </a:endParaRPr>
            </a:p>
          </p:txBody>
        </p:sp>
      </p:grpSp>
      <p:grpSp>
        <p:nvGrpSpPr>
          <p:cNvPr id="39" name="组合 38"/>
          <p:cNvGrpSpPr/>
          <p:nvPr/>
        </p:nvGrpSpPr>
        <p:grpSpPr>
          <a:xfrm>
            <a:off x="10718598" y="6315848"/>
            <a:ext cx="1052654" cy="108000"/>
            <a:chOff x="10467218" y="6126091"/>
            <a:chExt cx="1052654" cy="108000"/>
          </a:xfrm>
          <a:gradFill>
            <a:gsLst>
              <a:gs pos="0">
                <a:srgbClr val="1C6299"/>
              </a:gs>
              <a:gs pos="100000">
                <a:srgbClr val="5C307D">
                  <a:alpha val="40000"/>
                </a:srgbClr>
              </a:gs>
            </a:gsLst>
            <a:lin ang="0" scaled="0"/>
          </a:gradFill>
        </p:grpSpPr>
        <p:sp>
          <p:nvSpPr>
            <p:cNvPr id="40" name="椭圆 39"/>
            <p:cNvSpPr/>
            <p:nvPr/>
          </p:nvSpPr>
          <p:spPr>
            <a:xfrm>
              <a:off x="10467218" y="6126091"/>
              <a:ext cx="108000" cy="108000"/>
            </a:xfrm>
            <a:prstGeom prst="ellipse">
              <a:avLst/>
            </a:prstGeom>
            <a:grp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5C307D"/>
                </a:solidFill>
                <a:effectLst/>
                <a:uLnTx/>
                <a:uFillTx/>
                <a:latin typeface="Arial" panose="020B0604020202020204"/>
                <a:ea typeface="微软雅黑" panose="020B0503020204020204" pitchFamily="34" charset="-122"/>
                <a:cs typeface="+mn-cs"/>
              </a:endParaRPr>
            </a:p>
          </p:txBody>
        </p:sp>
        <p:sp>
          <p:nvSpPr>
            <p:cNvPr id="41" name="椭圆 40"/>
            <p:cNvSpPr/>
            <p:nvPr/>
          </p:nvSpPr>
          <p:spPr>
            <a:xfrm>
              <a:off x="10703381" y="6126091"/>
              <a:ext cx="108000" cy="108000"/>
            </a:xfrm>
            <a:prstGeom prst="ellipse">
              <a:avLst/>
            </a:prstGeom>
            <a:grp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5C307D"/>
                </a:solidFill>
                <a:effectLst/>
                <a:uLnTx/>
                <a:uFillTx/>
                <a:latin typeface="Arial" panose="020B0604020202020204"/>
                <a:ea typeface="微软雅黑" panose="020B0503020204020204" pitchFamily="34" charset="-122"/>
                <a:cs typeface="+mn-cs"/>
              </a:endParaRPr>
            </a:p>
          </p:txBody>
        </p:sp>
        <p:sp>
          <p:nvSpPr>
            <p:cNvPr id="42" name="椭圆 41"/>
            <p:cNvSpPr/>
            <p:nvPr/>
          </p:nvSpPr>
          <p:spPr>
            <a:xfrm>
              <a:off x="10939545" y="6126091"/>
              <a:ext cx="108000" cy="108000"/>
            </a:xfrm>
            <a:prstGeom prst="ellipse">
              <a:avLst/>
            </a:prstGeom>
            <a:grp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5C307D"/>
                </a:solidFill>
                <a:effectLst/>
                <a:uLnTx/>
                <a:uFillTx/>
                <a:latin typeface="Arial" panose="020B0604020202020204"/>
                <a:ea typeface="微软雅黑" panose="020B0503020204020204" pitchFamily="34" charset="-122"/>
                <a:cs typeface="+mn-cs"/>
              </a:endParaRPr>
            </a:p>
          </p:txBody>
        </p:sp>
        <p:sp>
          <p:nvSpPr>
            <p:cNvPr id="43" name="椭圆 42"/>
            <p:cNvSpPr/>
            <p:nvPr/>
          </p:nvSpPr>
          <p:spPr>
            <a:xfrm>
              <a:off x="11175708" y="6126091"/>
              <a:ext cx="108000" cy="108000"/>
            </a:xfrm>
            <a:prstGeom prst="ellipse">
              <a:avLst/>
            </a:prstGeom>
            <a:grp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5C307D"/>
                </a:solidFill>
                <a:effectLst/>
                <a:uLnTx/>
                <a:uFillTx/>
                <a:latin typeface="Arial" panose="020B0604020202020204"/>
                <a:ea typeface="微软雅黑" panose="020B0503020204020204" pitchFamily="34" charset="-122"/>
                <a:cs typeface="+mn-cs"/>
              </a:endParaRPr>
            </a:p>
          </p:txBody>
        </p:sp>
        <p:sp>
          <p:nvSpPr>
            <p:cNvPr id="44" name="椭圆 43"/>
            <p:cNvSpPr/>
            <p:nvPr/>
          </p:nvSpPr>
          <p:spPr>
            <a:xfrm>
              <a:off x="11411872" y="6126091"/>
              <a:ext cx="108000" cy="108000"/>
            </a:xfrm>
            <a:prstGeom prst="ellipse">
              <a:avLst/>
            </a:prstGeom>
            <a:grp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5C307D"/>
                </a:solidFill>
                <a:effectLst/>
                <a:uLnTx/>
                <a:uFillTx/>
                <a:latin typeface="Arial" panose="020B0604020202020204"/>
                <a:ea typeface="微软雅黑" panose="020B0503020204020204" pitchFamily="34" charset="-122"/>
                <a:cs typeface="+mn-cs"/>
              </a:endParaRPr>
            </a:p>
          </p:txBody>
        </p:sp>
      </p:grpSp>
      <p:pic>
        <p:nvPicPr>
          <p:cNvPr id="12" name="图片 11"/>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107837" y="136675"/>
            <a:ext cx="1663415" cy="487234"/>
          </a:xfrm>
          <a:prstGeom prst="rect">
            <a:avLst/>
          </a:prstGeom>
        </p:spPr>
      </p:pic>
      <p:pic>
        <p:nvPicPr>
          <p:cNvPr id="45" name="图片 4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9309735" y="4553585"/>
            <a:ext cx="2116455" cy="1410970"/>
          </a:xfrm>
          <a:prstGeom prst="rect">
            <a:avLst/>
          </a:prstGeom>
          <a:ln>
            <a:noFill/>
          </a:ln>
          <a:effectLst>
            <a:softEdge rad="112500"/>
          </a:effectLst>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0" presetClass="entr" presetSubtype="0" fill="hold" nodeType="after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10" presetClass="entr" presetSubtype="0" fill="hold" nodeType="withEffect">
                                  <p:stCondLst>
                                    <p:cond delay="15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500"/>
                                        <p:tgtEl>
                                          <p:spTgt spid="21"/>
                                        </p:tgtEl>
                                      </p:cBhvr>
                                    </p:animEffect>
                                  </p:childTnLst>
                                </p:cTn>
                              </p:par>
                              <p:par>
                                <p:cTn id="17" presetID="10" presetClass="entr" presetSubtype="0" fill="hold" nodeType="withEffect">
                                  <p:stCondLst>
                                    <p:cond delay="30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0"/>
            <a:ext cx="12192000" cy="6858000"/>
          </a:xfrm>
          <a:prstGeom prst="rect">
            <a:avLst/>
          </a:prstGeom>
          <a:pattFill prst="wdUpDiag">
            <a:fgClr>
              <a:schemeClr val="bg1">
                <a:lumMod val="95000"/>
              </a:schemeClr>
            </a:fgClr>
            <a:bgClr>
              <a:schemeClr val="bg1"/>
            </a:bgClr>
          </a:patt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pitchFamily="2" charset="-122"/>
              <a:ea typeface="等线" panose="02010600030101010101" pitchFamily="2" charset="-122"/>
              <a:cs typeface="+mn-cs"/>
            </a:endParaRPr>
          </a:p>
        </p:txBody>
      </p:sp>
      <p:sp>
        <p:nvSpPr>
          <p:cNvPr id="7" name="文本框 6"/>
          <p:cNvSpPr txBox="1"/>
          <p:nvPr/>
        </p:nvSpPr>
        <p:spPr>
          <a:xfrm>
            <a:off x="59409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 name="文本框 7"/>
          <p:cNvSpPr txBox="1"/>
          <p:nvPr/>
        </p:nvSpPr>
        <p:spPr>
          <a:xfrm>
            <a:off x="8655288" y="6583649"/>
            <a:ext cx="2967479" cy="246221"/>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rPr>
              <a:t>Tsinghua University of China</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12" name="文本框 11"/>
          <p:cNvSpPr txBox="1"/>
          <p:nvPr/>
        </p:nvSpPr>
        <p:spPr>
          <a:xfrm>
            <a:off x="1558171" y="2105561"/>
            <a:ext cx="2214068" cy="264687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600" b="0" i="0" u="none" strike="noStrike" kern="1200" cap="none" spc="300" normalizeH="0" baseline="0" noProof="0" dirty="0">
                <a:ln>
                  <a:noFill/>
                </a:ln>
                <a:gradFill>
                  <a:gsLst>
                    <a:gs pos="98052">
                      <a:schemeClr val="bg1"/>
                    </a:gs>
                    <a:gs pos="0">
                      <a:srgbClr val="1C6299"/>
                    </a:gs>
                    <a:gs pos="100000">
                      <a:schemeClr val="bg1"/>
                    </a:gs>
                  </a:gsLst>
                  <a:lin ang="5400000" scaled="1"/>
                </a:gradFill>
                <a:effectLst/>
                <a:uLnTx/>
                <a:uFillTx/>
                <a:latin typeface="Impact" panose="020B0806030902050204" pitchFamily="34" charset="0"/>
                <a:ea typeface="微软雅黑" panose="020B0503020204020204" pitchFamily="34" charset="-122"/>
                <a:cs typeface="+mn-cs"/>
              </a:rPr>
              <a:t>01</a:t>
            </a:r>
            <a:endParaRPr kumimoji="0" lang="zh-CN" altLang="en-US" sz="16600" b="0" i="0" u="none" strike="noStrike" kern="1200" cap="none" spc="300" normalizeH="0" baseline="0" noProof="0" dirty="0">
              <a:ln>
                <a:noFill/>
              </a:ln>
              <a:gradFill>
                <a:gsLst>
                  <a:gs pos="98052">
                    <a:schemeClr val="bg1"/>
                  </a:gs>
                  <a:gs pos="0">
                    <a:srgbClr val="1C6299"/>
                  </a:gs>
                  <a:gs pos="100000">
                    <a:schemeClr val="bg1"/>
                  </a:gs>
                </a:gsLst>
                <a:lin ang="5400000" scaled="1"/>
              </a:gradFill>
              <a:effectLst/>
              <a:uLnTx/>
              <a:uFillTx/>
              <a:latin typeface="Impact" panose="020B0806030902050204" pitchFamily="34" charset="0"/>
              <a:ea typeface="微软雅黑" panose="020B0503020204020204" pitchFamily="34" charset="-122"/>
              <a:cs typeface="+mn-cs"/>
            </a:endParaRPr>
          </a:p>
        </p:txBody>
      </p:sp>
      <p:sp>
        <p:nvSpPr>
          <p:cNvPr id="13" name="标题 1"/>
          <p:cNvSpPr txBox="1"/>
          <p:nvPr/>
        </p:nvSpPr>
        <p:spPr>
          <a:xfrm>
            <a:off x="5560176" y="2143126"/>
            <a:ext cx="6713702" cy="1035858"/>
          </a:xfrm>
          <a:prstGeom prst="rect">
            <a:avLst/>
          </a:prstGeom>
        </p:spPr>
        <p:txBody>
          <a:bodyPr vert="horz" lIns="0" tIns="45720" rIns="91440" bIns="45720" rtlCol="0" anchor="ctr" anchorCtr="0">
            <a:normAutofit/>
          </a:bodyPr>
          <a:lstStyle>
            <a:lvl1pPr algn="l" defTabSz="914400" rtl="0" eaLnBrk="1" latinLnBrk="0" hangingPunct="1">
              <a:lnSpc>
                <a:spcPct val="90000"/>
              </a:lnSpc>
              <a:spcBef>
                <a:spcPct val="0"/>
              </a:spcBef>
              <a:buNone/>
              <a:defRPr sz="4000" b="1" kern="1200" spc="10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4000" b="1" i="0" u="none" strike="noStrike" kern="1200" cap="none" spc="10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j-cs"/>
              </a:rPr>
              <a:t>研究背景与</a:t>
            </a:r>
            <a:r>
              <a:rPr kumimoji="0" lang="zh-CN" altLang="en-US" sz="4000" b="1" i="0" u="none" strike="noStrike" kern="1200" cap="none" spc="10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j-cs"/>
              </a:rPr>
              <a:t>问题</a:t>
            </a:r>
            <a:endParaRPr kumimoji="0" lang="zh-CN" altLang="en-US" sz="4000" b="1" i="0" u="none" strike="noStrike" kern="1200" cap="none" spc="10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j-cs"/>
            </a:endParaRPr>
          </a:p>
        </p:txBody>
      </p:sp>
      <p:sp>
        <p:nvSpPr>
          <p:cNvPr id="14" name="文本占位符 2"/>
          <p:cNvSpPr txBox="1"/>
          <p:nvPr/>
        </p:nvSpPr>
        <p:spPr>
          <a:xfrm>
            <a:off x="5560176" y="3787775"/>
            <a:ext cx="6792912" cy="927100"/>
          </a:xfrm>
          <a:prstGeom prst="rect">
            <a:avLst/>
          </a:prstGeom>
        </p:spPr>
        <p:txBody>
          <a:bodyPr vert="horz" lIns="0" tIns="45720" rIns="91440" bIns="45720" rtlCol="0" anchor="ctr" anchorCtr="0">
            <a:normAutofit/>
          </a:bodyPr>
          <a:lstStyle>
            <a:lvl1pPr marL="0" indent="0" algn="l" defTabSz="914400" rtl="0" eaLnBrk="1" latinLnBrk="0" hangingPunct="1">
              <a:lnSpc>
                <a:spcPct val="90000"/>
              </a:lnSpc>
              <a:spcBef>
                <a:spcPts val="1000"/>
              </a:spcBef>
              <a:buFontTx/>
              <a:buNone/>
              <a:defRPr sz="1800" kern="1200" spc="100" baseline="0">
                <a:solidFill>
                  <a:schemeClr val="bg1">
                    <a:lumMod val="65000"/>
                  </a:schemeClr>
                </a:solidFill>
                <a:latin typeface="+mn-lt"/>
                <a:ea typeface="+mn-ea"/>
                <a:cs typeface="+mn-cs"/>
              </a:defRPr>
            </a:lvl1pPr>
            <a:lvl2pPr marL="457200" indent="0" algn="l" defTabSz="914400" rtl="0" eaLnBrk="1" latinLnBrk="0" hangingPunct="1">
              <a:lnSpc>
                <a:spcPct val="90000"/>
              </a:lnSpc>
              <a:spcBef>
                <a:spcPts val="500"/>
              </a:spcBef>
              <a:buFontTx/>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Tx/>
              <a:buNone/>
              <a:defRPr/>
            </a:pPr>
            <a:r>
              <a:rPr kumimoji="0" lang="en-US" altLang="zh-CN" sz="1800" b="0" i="0" u="none" strike="noStrike" kern="1200" cap="none" spc="100" normalizeH="0" baseline="0" noProof="0" dirty="0">
                <a:ln>
                  <a:noFill/>
                </a:ln>
                <a:solidFill>
                  <a:sysClr val="window" lastClr="FFFFFF">
                    <a:lumMod val="65000"/>
                  </a:sysClr>
                </a:solidFill>
                <a:effectLst/>
                <a:uLnTx/>
                <a:uFillTx/>
                <a:latin typeface="Arial" panose="020B0604020202020204"/>
                <a:ea typeface="微软雅黑" panose="020B0503020204020204" pitchFamily="34" charset="-122"/>
                <a:cs typeface="+mn-cs"/>
              </a:rPr>
              <a:t>Research Background and Issues</a:t>
            </a:r>
            <a:endParaRPr kumimoji="0" lang="en-US" altLang="zh-CN" sz="1800" b="0" i="0" u="none" strike="noStrike" kern="1200" cap="none" spc="100" normalizeH="0" baseline="0" noProof="0" dirty="0">
              <a:ln>
                <a:noFill/>
              </a:ln>
              <a:solidFill>
                <a:sysClr val="window" lastClr="FFFFFF">
                  <a:lumMod val="65000"/>
                </a:sysClr>
              </a:solidFill>
              <a:effectLst/>
              <a:uLnTx/>
              <a:uFillTx/>
              <a:latin typeface="Arial" panose="020B0604020202020204"/>
              <a:ea typeface="微软雅黑" panose="020B0503020204020204" pitchFamily="34" charset="-122"/>
              <a:cs typeface="+mn-cs"/>
            </a:endParaRPr>
          </a:p>
        </p:txBody>
      </p:sp>
      <p:cxnSp>
        <p:nvCxnSpPr>
          <p:cNvPr id="15" name="直接连接符 14"/>
          <p:cNvCxnSpPr/>
          <p:nvPr/>
        </p:nvCxnSpPr>
        <p:spPr>
          <a:xfrm>
            <a:off x="4619693" y="2143125"/>
            <a:ext cx="0" cy="2571750"/>
          </a:xfrm>
          <a:prstGeom prst="line">
            <a:avLst/>
          </a:prstGeom>
          <a:noFill/>
          <a:ln w="12700" cap="flat" cmpd="sng" algn="ctr">
            <a:solidFill>
              <a:sysClr val="window" lastClr="FFFFFF">
                <a:lumMod val="50000"/>
              </a:sysClr>
            </a:solidFill>
            <a:prstDash val="dashDot"/>
            <a:miter lim="800000"/>
          </a:ln>
          <a:effectLst/>
        </p:spPr>
      </p:cxnSp>
      <p:sp>
        <p:nvSpPr>
          <p:cNvPr id="16" name="矩形 15"/>
          <p:cNvSpPr/>
          <p:nvPr/>
        </p:nvSpPr>
        <p:spPr>
          <a:xfrm>
            <a:off x="5560176" y="3432579"/>
            <a:ext cx="720000" cy="1016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17" name="任意多边形: 形状 16"/>
          <p:cNvSpPr/>
          <p:nvPr/>
        </p:nvSpPr>
        <p:spPr>
          <a:xfrm flipH="1">
            <a:off x="0" y="0"/>
            <a:ext cx="12192000" cy="723900"/>
          </a:xfrm>
          <a:custGeom>
            <a:avLst/>
            <a:gdLst>
              <a:gd name="connsiteX0" fmla="*/ 12192000 w 12192000"/>
              <a:gd name="connsiteY0" fmla="*/ 0 h 723900"/>
              <a:gd name="connsiteX1" fmla="*/ 2755900 w 12192000"/>
              <a:gd name="connsiteY1" fmla="*/ 0 h 723900"/>
              <a:gd name="connsiteX2" fmla="*/ 4 w 12192000"/>
              <a:gd name="connsiteY2" fmla="*/ 0 h 723900"/>
              <a:gd name="connsiteX3" fmla="*/ 0 w 12192000"/>
              <a:gd name="connsiteY3" fmla="*/ 0 h 723900"/>
              <a:gd name="connsiteX4" fmla="*/ 0 w 12192000"/>
              <a:gd name="connsiteY4" fmla="*/ 723900 h 723900"/>
              <a:gd name="connsiteX5" fmla="*/ 1987354 w 12192000"/>
              <a:gd name="connsiteY5" fmla="*/ 723900 h 723900"/>
              <a:gd name="connsiteX6" fmla="*/ 2038350 w 12192000"/>
              <a:gd name="connsiteY6" fmla="*/ 717550 h 723900"/>
              <a:gd name="connsiteX7" fmla="*/ 2753650 w 12192000"/>
              <a:gd name="connsiteY7" fmla="*/ 288000 h 723900"/>
              <a:gd name="connsiteX8" fmla="*/ 12192000 w 12192000"/>
              <a:gd name="connsiteY8" fmla="*/ 28800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723900">
                <a:moveTo>
                  <a:pt x="12192000" y="0"/>
                </a:moveTo>
                <a:lnTo>
                  <a:pt x="2755900" y="0"/>
                </a:lnTo>
                <a:lnTo>
                  <a:pt x="4" y="0"/>
                </a:lnTo>
                <a:lnTo>
                  <a:pt x="0" y="0"/>
                </a:lnTo>
                <a:lnTo>
                  <a:pt x="0" y="723900"/>
                </a:lnTo>
                <a:lnTo>
                  <a:pt x="1987354" y="723900"/>
                </a:lnTo>
                <a:lnTo>
                  <a:pt x="2038350" y="717550"/>
                </a:lnTo>
                <a:cubicBezTo>
                  <a:pt x="2497291" y="642783"/>
                  <a:pt x="2432975" y="321492"/>
                  <a:pt x="2753650" y="288000"/>
                </a:cubicBezTo>
                <a:cubicBezTo>
                  <a:pt x="3074325" y="254508"/>
                  <a:pt x="9045883" y="288000"/>
                  <a:pt x="12192000" y="288000"/>
                </a:cubicBezTo>
                <a:close/>
              </a:path>
            </a:pathLst>
          </a:custGeom>
          <a:solidFill>
            <a:srgbClr val="1C6299"/>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pic>
        <p:nvPicPr>
          <p:cNvPr id="18" name="图片 1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107837" y="136675"/>
            <a:ext cx="1663415" cy="487234"/>
          </a:xfrm>
          <a:prstGeom prst="rect">
            <a:avLst/>
          </a:prstGeom>
        </p:spPr>
      </p:pic>
      <p:sp>
        <p:nvSpPr>
          <p:cNvPr id="20" name="矩形 19"/>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1" name="文本框 20"/>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2" name="文本框 21"/>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23" name="椭圆 22"/>
          <p:cNvSpPr/>
          <p:nvPr/>
        </p:nvSpPr>
        <p:spPr>
          <a:xfrm>
            <a:off x="8917027" y="597107"/>
            <a:ext cx="6452568" cy="5936919"/>
          </a:xfrm>
          <a:prstGeom prst="ellipse">
            <a:avLst/>
          </a:prstGeom>
          <a:blipFill dpi="0" rotWithShape="1">
            <a:blip r:embed="rId2">
              <a:alphaModFix amt="11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defTabSz="963930" fontAlgn="auto">
              <a:spcBef>
                <a:spcPts val="0"/>
              </a:spcBef>
              <a:spcAft>
                <a:spcPts val="0"/>
              </a:spcAft>
            </a:pPr>
            <a:endParaRPr lang="zh-CN" altLang="en-US" sz="1900" dirty="0">
              <a:solidFill>
                <a:prstClr val="white"/>
              </a:solidFill>
              <a:latin typeface="Calibri" panose="020F0502020204030204"/>
              <a:ea typeface="宋体" panose="02010600030101010101"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anim calcmode="lin" valueType="num">
                                      <p:cBhvr>
                                        <p:cTn id="10" dur="500" fill="hold"/>
                                        <p:tgtEl>
                                          <p:spTgt spid="12"/>
                                        </p:tgtEl>
                                        <p:attrNameLst>
                                          <p:attrName>ppt_x</p:attrName>
                                        </p:attrNameLst>
                                      </p:cBhvr>
                                      <p:tavLst>
                                        <p:tav tm="0">
                                          <p:val>
                                            <p:fltVal val="0.5"/>
                                          </p:val>
                                        </p:tav>
                                        <p:tav tm="100000">
                                          <p:val>
                                            <p:strVal val="#ppt_x"/>
                                          </p:val>
                                        </p:tav>
                                      </p:tavLst>
                                    </p:anim>
                                    <p:anim calcmode="lin" valueType="num">
                                      <p:cBhvr>
                                        <p:cTn id="11" dur="500" fill="hold"/>
                                        <p:tgtEl>
                                          <p:spTgt spid="12"/>
                                        </p:tgtEl>
                                        <p:attrNameLst>
                                          <p:attrName>ppt_y</p:attrName>
                                        </p:attrNameLst>
                                      </p:cBhvr>
                                      <p:tavLst>
                                        <p:tav tm="0">
                                          <p:val>
                                            <p:fltVal val="0.5"/>
                                          </p:val>
                                        </p:tav>
                                        <p:tav tm="100000">
                                          <p:val>
                                            <p:strVal val="#ppt_y"/>
                                          </p:val>
                                        </p:tav>
                                      </p:tavLst>
                                    </p:anim>
                                  </p:childTnLst>
                                </p:cTn>
                              </p:par>
                              <p:par>
                                <p:cTn id="12" presetID="53" presetClass="entr" presetSubtype="528" fill="hold" nodeType="withEffect">
                                  <p:stCondLst>
                                    <p:cond delay="250"/>
                                  </p:stCondLst>
                                  <p:childTnLst>
                                    <p:set>
                                      <p:cBhvr>
                                        <p:cTn id="13" dur="1" fill="hold">
                                          <p:stCondLst>
                                            <p:cond delay="0"/>
                                          </p:stCondLst>
                                        </p:cTn>
                                        <p:tgtEl>
                                          <p:spTgt spid="15"/>
                                        </p:tgtEl>
                                        <p:attrNameLst>
                                          <p:attrName>style.visibility</p:attrName>
                                        </p:attrNameLst>
                                      </p:cBhvr>
                                      <p:to>
                                        <p:strVal val="visible"/>
                                      </p:to>
                                    </p:set>
                                    <p:anim calcmode="lin" valueType="num">
                                      <p:cBhvr>
                                        <p:cTn id="14" dur="500" fill="hold"/>
                                        <p:tgtEl>
                                          <p:spTgt spid="15"/>
                                        </p:tgtEl>
                                        <p:attrNameLst>
                                          <p:attrName>ppt_w</p:attrName>
                                        </p:attrNameLst>
                                      </p:cBhvr>
                                      <p:tavLst>
                                        <p:tav tm="0">
                                          <p:val>
                                            <p:fltVal val="0"/>
                                          </p:val>
                                        </p:tav>
                                        <p:tav tm="100000">
                                          <p:val>
                                            <p:strVal val="#ppt_w"/>
                                          </p:val>
                                        </p:tav>
                                      </p:tavLst>
                                    </p:anim>
                                    <p:anim calcmode="lin" valueType="num">
                                      <p:cBhvr>
                                        <p:cTn id="15" dur="500" fill="hold"/>
                                        <p:tgtEl>
                                          <p:spTgt spid="15"/>
                                        </p:tgtEl>
                                        <p:attrNameLst>
                                          <p:attrName>ppt_h</p:attrName>
                                        </p:attrNameLst>
                                      </p:cBhvr>
                                      <p:tavLst>
                                        <p:tav tm="0">
                                          <p:val>
                                            <p:fltVal val="0"/>
                                          </p:val>
                                        </p:tav>
                                        <p:tav tm="100000">
                                          <p:val>
                                            <p:strVal val="#ppt_h"/>
                                          </p:val>
                                        </p:tav>
                                      </p:tavLst>
                                    </p:anim>
                                    <p:animEffect transition="in" filter="fade">
                                      <p:cBhvr>
                                        <p:cTn id="16" dur="500"/>
                                        <p:tgtEl>
                                          <p:spTgt spid="15"/>
                                        </p:tgtEl>
                                      </p:cBhvr>
                                    </p:animEffect>
                                    <p:anim calcmode="lin" valueType="num">
                                      <p:cBhvr>
                                        <p:cTn id="17" dur="500" fill="hold"/>
                                        <p:tgtEl>
                                          <p:spTgt spid="15"/>
                                        </p:tgtEl>
                                        <p:attrNameLst>
                                          <p:attrName>ppt_x</p:attrName>
                                        </p:attrNameLst>
                                      </p:cBhvr>
                                      <p:tavLst>
                                        <p:tav tm="0">
                                          <p:val>
                                            <p:fltVal val="0.5"/>
                                          </p:val>
                                        </p:tav>
                                        <p:tav tm="100000">
                                          <p:val>
                                            <p:strVal val="#ppt_x"/>
                                          </p:val>
                                        </p:tav>
                                      </p:tavLst>
                                    </p:anim>
                                    <p:anim calcmode="lin" valueType="num">
                                      <p:cBhvr>
                                        <p:cTn id="18" dur="500" fill="hold"/>
                                        <p:tgtEl>
                                          <p:spTgt spid="15"/>
                                        </p:tgtEl>
                                        <p:attrNameLst>
                                          <p:attrName>ppt_y</p:attrName>
                                        </p:attrNameLst>
                                      </p:cBhvr>
                                      <p:tavLst>
                                        <p:tav tm="0">
                                          <p:val>
                                            <p:fltVal val="0.5"/>
                                          </p:val>
                                        </p:tav>
                                        <p:tav tm="100000">
                                          <p:val>
                                            <p:strVal val="#ppt_y"/>
                                          </p:val>
                                        </p:tav>
                                      </p:tavLst>
                                    </p:anim>
                                  </p:childTnLst>
                                </p:cTn>
                              </p:par>
                            </p:childTnLst>
                          </p:cTn>
                        </p:par>
                        <p:par>
                          <p:cTn id="19" fill="hold">
                            <p:stCondLst>
                              <p:cond delay="500"/>
                            </p:stCondLst>
                            <p:childTnLst>
                              <p:par>
                                <p:cTn id="20" presetID="42" presetClass="entr" presetSubtype="0" fill="hold" grpId="0" nodeType="after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750"/>
                                        <p:tgtEl>
                                          <p:spTgt spid="13"/>
                                        </p:tgtEl>
                                      </p:cBhvr>
                                    </p:animEffect>
                                    <p:anim calcmode="lin" valueType="num">
                                      <p:cBhvr>
                                        <p:cTn id="23" dur="750" fill="hold"/>
                                        <p:tgtEl>
                                          <p:spTgt spid="13"/>
                                        </p:tgtEl>
                                        <p:attrNameLst>
                                          <p:attrName>ppt_x</p:attrName>
                                        </p:attrNameLst>
                                      </p:cBhvr>
                                      <p:tavLst>
                                        <p:tav tm="0">
                                          <p:val>
                                            <p:strVal val="#ppt_x"/>
                                          </p:val>
                                        </p:tav>
                                        <p:tav tm="100000">
                                          <p:val>
                                            <p:strVal val="#ppt_x"/>
                                          </p:val>
                                        </p:tav>
                                      </p:tavLst>
                                    </p:anim>
                                    <p:anim calcmode="lin" valueType="num">
                                      <p:cBhvr>
                                        <p:cTn id="24" dur="750" fill="hold"/>
                                        <p:tgtEl>
                                          <p:spTgt spid="13"/>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10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750"/>
                                        <p:tgtEl>
                                          <p:spTgt spid="16"/>
                                        </p:tgtEl>
                                      </p:cBhvr>
                                    </p:animEffect>
                                    <p:anim calcmode="lin" valueType="num">
                                      <p:cBhvr>
                                        <p:cTn id="28" dur="750" fill="hold"/>
                                        <p:tgtEl>
                                          <p:spTgt spid="16"/>
                                        </p:tgtEl>
                                        <p:attrNameLst>
                                          <p:attrName>ppt_x</p:attrName>
                                        </p:attrNameLst>
                                      </p:cBhvr>
                                      <p:tavLst>
                                        <p:tav tm="0">
                                          <p:val>
                                            <p:strVal val="#ppt_x"/>
                                          </p:val>
                                        </p:tav>
                                        <p:tav tm="100000">
                                          <p:val>
                                            <p:strVal val="#ppt_x"/>
                                          </p:val>
                                        </p:tav>
                                      </p:tavLst>
                                    </p:anim>
                                    <p:anim calcmode="lin" valueType="num">
                                      <p:cBhvr>
                                        <p:cTn id="29" dur="750" fill="hold"/>
                                        <p:tgtEl>
                                          <p:spTgt spid="16"/>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20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750"/>
                                        <p:tgtEl>
                                          <p:spTgt spid="14"/>
                                        </p:tgtEl>
                                      </p:cBhvr>
                                    </p:animEffect>
                                    <p:anim calcmode="lin" valueType="num">
                                      <p:cBhvr>
                                        <p:cTn id="33" dur="750" fill="hold"/>
                                        <p:tgtEl>
                                          <p:spTgt spid="14"/>
                                        </p:tgtEl>
                                        <p:attrNameLst>
                                          <p:attrName>ppt_x</p:attrName>
                                        </p:attrNameLst>
                                      </p:cBhvr>
                                      <p:tavLst>
                                        <p:tav tm="0">
                                          <p:val>
                                            <p:strVal val="#ppt_x"/>
                                          </p:val>
                                        </p:tav>
                                        <p:tav tm="100000">
                                          <p:val>
                                            <p:strVal val="#ppt_x"/>
                                          </p:val>
                                        </p:tav>
                                      </p:tavLst>
                                    </p:anim>
                                    <p:anim calcmode="lin" valueType="num">
                                      <p:cBhvr>
                                        <p:cTn id="34" dur="75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1" name="直接连接符 50"/>
          <p:cNvCxnSpPr/>
          <p:nvPr/>
        </p:nvCxnSpPr>
        <p:spPr>
          <a:xfrm>
            <a:off x="660400" y="760413"/>
            <a:ext cx="10858500" cy="0"/>
          </a:xfrm>
          <a:prstGeom prst="line">
            <a:avLst/>
          </a:prstGeom>
          <a:noFill/>
          <a:ln w="22225" cap="flat" cmpd="sng" algn="ctr">
            <a:solidFill>
              <a:srgbClr val="1C6299"/>
            </a:solidFill>
            <a:prstDash val="solid"/>
            <a:miter lim="800000"/>
          </a:ln>
          <a:effectLst/>
        </p:spPr>
      </p:cxnSp>
      <p:sp>
        <p:nvSpPr>
          <p:cNvPr id="52" name="标题占位符 1"/>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2600" b="1" i="0" u="none" strike="noStrike" kern="1200" cap="none" spc="0" normalizeH="0" baseline="0" noProof="0" dirty="0">
                <a:ln>
                  <a:noFill/>
                </a:ln>
                <a:solidFill>
                  <a:sysClr val="windowText" lastClr="000000"/>
                </a:solidFill>
                <a:effectLst/>
                <a:uLnTx/>
                <a:uFillTx/>
                <a:latin typeface="Arial" panose="020B0604020202020204"/>
                <a:ea typeface="微软雅黑" panose="020B0503020204020204" pitchFamily="34" charset="-122"/>
                <a:cs typeface="+mj-cs"/>
              </a:rPr>
              <a:t>作者背景</a:t>
            </a:r>
            <a:endParaRPr kumimoji="0" lang="zh-CN" altLang="en-US" sz="2600" b="1" i="0" u="none" strike="noStrike" kern="1200" cap="none" spc="0" normalizeH="0" baseline="0" noProof="0" dirty="0">
              <a:ln>
                <a:noFill/>
              </a:ln>
              <a:solidFill>
                <a:sysClr val="windowText" lastClr="000000"/>
              </a:solidFill>
              <a:effectLst/>
              <a:uLnTx/>
              <a:uFillTx/>
              <a:latin typeface="Arial" panose="020B0604020202020204"/>
              <a:ea typeface="微软雅黑" panose="020B0503020204020204" pitchFamily="34" charset="-122"/>
              <a:cs typeface="+mj-cs"/>
            </a:endParaRPr>
          </a:p>
        </p:txBody>
      </p:sp>
      <p:grpSp>
        <p:nvGrpSpPr>
          <p:cNvPr id="54" name="组合 53"/>
          <p:cNvGrpSpPr/>
          <p:nvPr/>
        </p:nvGrpSpPr>
        <p:grpSpPr>
          <a:xfrm>
            <a:off x="203760" y="159728"/>
            <a:ext cx="725344" cy="619478"/>
            <a:chOff x="178632" y="159728"/>
            <a:chExt cx="725344" cy="619478"/>
          </a:xfrm>
        </p:grpSpPr>
        <p:sp>
          <p:nvSpPr>
            <p:cNvPr id="55" name="椭圆 54"/>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6" name="文本框 55"/>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01</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7" name="椭圆 56"/>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59" name="文本框 58"/>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pic>
        <p:nvPicPr>
          <p:cNvPr id="61" name="图片 6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62" name="矩形 61"/>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3" name="文本框 62"/>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4" name="文本框 63"/>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pic>
        <p:nvPicPr>
          <p:cNvPr id="2" name="图片 1"/>
          <p:cNvPicPr>
            <a:picLocks noChangeAspect="1"/>
          </p:cNvPicPr>
          <p:nvPr/>
        </p:nvPicPr>
        <p:blipFill>
          <a:blip r:embed="rId2"/>
          <a:stretch>
            <a:fillRect/>
          </a:stretch>
        </p:blipFill>
        <p:spPr>
          <a:xfrm>
            <a:off x="755650" y="913765"/>
            <a:ext cx="10209530" cy="545401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1" name="直接连接符 50"/>
          <p:cNvCxnSpPr/>
          <p:nvPr/>
        </p:nvCxnSpPr>
        <p:spPr>
          <a:xfrm>
            <a:off x="660400" y="760413"/>
            <a:ext cx="10858500" cy="0"/>
          </a:xfrm>
          <a:prstGeom prst="line">
            <a:avLst/>
          </a:prstGeom>
          <a:noFill/>
          <a:ln w="22225" cap="flat" cmpd="sng" algn="ctr">
            <a:solidFill>
              <a:srgbClr val="1C6299"/>
            </a:solidFill>
            <a:prstDash val="solid"/>
            <a:miter lim="800000"/>
          </a:ln>
          <a:effectLst/>
        </p:spPr>
      </p:cxnSp>
      <p:sp>
        <p:nvSpPr>
          <p:cNvPr id="52" name="标题占位符 1"/>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2600" b="1" i="0" u="none" strike="noStrike" kern="1200" cap="none" spc="0" normalizeH="0" baseline="0" noProof="0" dirty="0">
                <a:ln>
                  <a:noFill/>
                </a:ln>
                <a:solidFill>
                  <a:sysClr val="windowText" lastClr="000000"/>
                </a:solidFill>
                <a:effectLst/>
                <a:uLnTx/>
                <a:uFillTx/>
                <a:latin typeface="Arial" panose="020B0604020202020204"/>
                <a:ea typeface="微软雅黑" panose="020B0503020204020204" pitchFamily="34" charset="-122"/>
                <a:cs typeface="+mj-cs"/>
              </a:rPr>
              <a:t>研究背景与</a:t>
            </a:r>
            <a:r>
              <a:rPr kumimoji="0" lang="zh-CN" altLang="en-US" sz="2600" b="1" i="0" u="none" strike="noStrike" kern="1200" cap="none" spc="0" normalizeH="0" baseline="0" noProof="0" dirty="0">
                <a:ln>
                  <a:noFill/>
                </a:ln>
                <a:solidFill>
                  <a:sysClr val="windowText" lastClr="000000"/>
                </a:solidFill>
                <a:effectLst/>
                <a:uLnTx/>
                <a:uFillTx/>
                <a:latin typeface="Arial" panose="020B0604020202020204"/>
                <a:ea typeface="微软雅黑" panose="020B0503020204020204" pitchFamily="34" charset="-122"/>
                <a:cs typeface="+mj-cs"/>
              </a:rPr>
              <a:t>问题</a:t>
            </a:r>
            <a:endParaRPr kumimoji="0" lang="zh-CN" altLang="en-US" sz="2600" b="1" i="0" u="none" strike="noStrike" kern="1200" cap="none" spc="0" normalizeH="0" baseline="0" noProof="0" dirty="0">
              <a:ln>
                <a:noFill/>
              </a:ln>
              <a:solidFill>
                <a:sysClr val="windowText" lastClr="000000"/>
              </a:solidFill>
              <a:effectLst/>
              <a:uLnTx/>
              <a:uFillTx/>
              <a:latin typeface="Arial" panose="020B0604020202020204"/>
              <a:ea typeface="微软雅黑" panose="020B0503020204020204" pitchFamily="34" charset="-122"/>
              <a:cs typeface="+mj-cs"/>
            </a:endParaRPr>
          </a:p>
        </p:txBody>
      </p:sp>
      <p:grpSp>
        <p:nvGrpSpPr>
          <p:cNvPr id="54" name="组合 53"/>
          <p:cNvGrpSpPr/>
          <p:nvPr/>
        </p:nvGrpSpPr>
        <p:grpSpPr>
          <a:xfrm>
            <a:off x="203760" y="159728"/>
            <a:ext cx="725344" cy="619478"/>
            <a:chOff x="178632" y="159728"/>
            <a:chExt cx="725344" cy="619478"/>
          </a:xfrm>
        </p:grpSpPr>
        <p:sp>
          <p:nvSpPr>
            <p:cNvPr id="55" name="椭圆 54"/>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6" name="文本框 55"/>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01</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7" name="椭圆 56"/>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59" name="文本框 58"/>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pic>
        <p:nvPicPr>
          <p:cNvPr id="61" name="图片 6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62" name="矩形 61"/>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3" name="文本框 62"/>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4" name="文本框 63"/>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4" name="矩形: 圆角 2"/>
          <p:cNvSpPr/>
          <p:nvPr>
            <p:custDataLst>
              <p:tags r:id="rId2"/>
            </p:custDataLst>
          </p:nvPr>
        </p:nvSpPr>
        <p:spPr>
          <a:xfrm>
            <a:off x="765175" y="2552700"/>
            <a:ext cx="5102225" cy="3790315"/>
          </a:xfrm>
          <a:prstGeom prst="roundRect">
            <a:avLst>
              <a:gd name="adj" fmla="val 0"/>
            </a:avLst>
          </a:prstGeom>
          <a:solidFill>
            <a:schemeClr val="tx1">
              <a:lumMod val="40000"/>
              <a:lumOff val="60000"/>
              <a:alpha val="15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p>
            <a:endParaRPr lang="zh-CN" altLang="en-US" sz="1440">
              <a:solidFill>
                <a:schemeClr val="bg1"/>
              </a:solidFill>
              <a:latin typeface="+mj-ea"/>
              <a:ea typeface="+mj-ea"/>
            </a:endParaRPr>
          </a:p>
        </p:txBody>
      </p:sp>
      <p:sp>
        <p:nvSpPr>
          <p:cNvPr id="60" name="圆角矩形 59"/>
          <p:cNvSpPr/>
          <p:nvPr>
            <p:custDataLst>
              <p:tags r:id="rId3"/>
            </p:custDataLst>
          </p:nvPr>
        </p:nvSpPr>
        <p:spPr>
          <a:xfrm>
            <a:off x="1029653" y="2017713"/>
            <a:ext cx="793750" cy="777875"/>
          </a:xfrm>
          <a:prstGeom prst="roundRect">
            <a:avLst>
              <a:gd name="adj" fmla="val 0"/>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wrap="none" lIns="0" tIns="0" rIns="0" bIns="0" rtlCol="0" anchor="ctr">
            <a:normAutofit/>
          </a:bodyPr>
          <a:p>
            <a:pPr algn="ctr">
              <a:spcBef>
                <a:spcPct val="0"/>
              </a:spcBef>
              <a:spcAft>
                <a:spcPct val="0"/>
              </a:spcAft>
            </a:pPr>
            <a:r>
              <a:rPr lang="en-US" altLang="zh-CN" sz="2400" b="1" dirty="0">
                <a:solidFill>
                  <a:srgbClr val="FFFFFF"/>
                </a:solidFill>
                <a:latin typeface="+mn-ea"/>
                <a:cs typeface="+mn-ea"/>
                <a:sym typeface="+mn-ea"/>
              </a:rPr>
              <a:t>01</a:t>
            </a:r>
            <a:endParaRPr lang="en-US" altLang="zh-CN" sz="2400" b="1" dirty="0">
              <a:solidFill>
                <a:srgbClr val="FFFFFF"/>
              </a:solidFill>
              <a:latin typeface="+mn-ea"/>
              <a:cs typeface="+mn-ea"/>
              <a:sym typeface="+mn-ea"/>
            </a:endParaRPr>
          </a:p>
        </p:txBody>
      </p:sp>
      <p:cxnSp>
        <p:nvCxnSpPr>
          <p:cNvPr id="80" name="直接连接符 79"/>
          <p:cNvCxnSpPr/>
          <p:nvPr>
            <p:custDataLst>
              <p:tags r:id="rId4"/>
            </p:custDataLst>
          </p:nvPr>
        </p:nvCxnSpPr>
        <p:spPr>
          <a:xfrm flipV="1">
            <a:off x="984568" y="3587433"/>
            <a:ext cx="4662805" cy="0"/>
          </a:xfrm>
          <a:prstGeom prst="line">
            <a:avLst/>
          </a:prstGeom>
          <a:ln w="22225">
            <a:solidFill>
              <a:schemeClr val="accent1">
                <a:alpha val="50000"/>
              </a:schemeClr>
            </a:solidFill>
          </a:ln>
        </p:spPr>
        <p:style>
          <a:lnRef idx="2">
            <a:schemeClr val="accent1"/>
          </a:lnRef>
          <a:fillRef idx="0">
            <a:srgbClr val="FFFFFF"/>
          </a:fillRef>
          <a:effectRef idx="0">
            <a:srgbClr val="FFFFFF"/>
          </a:effectRef>
          <a:fontRef idx="minor">
            <a:schemeClr val="tx1"/>
          </a:fontRef>
        </p:style>
      </p:cxnSp>
      <p:sp>
        <p:nvSpPr>
          <p:cNvPr id="6" name="矩形 5"/>
          <p:cNvSpPr/>
          <p:nvPr>
            <p:custDataLst>
              <p:tags r:id="rId5"/>
            </p:custDataLst>
          </p:nvPr>
        </p:nvSpPr>
        <p:spPr>
          <a:xfrm>
            <a:off x="1032828" y="2991803"/>
            <a:ext cx="4492625" cy="443230"/>
          </a:xfrm>
          <a:prstGeom prst="rect">
            <a:avLst/>
          </a:prstGeom>
          <a:noFill/>
        </p:spPr>
        <p:txBody>
          <a:bodyPr wrap="square" lIns="0" tIns="0" rIns="0" bIns="0" rtlCol="0" anchor="ctr" anchorCtr="0">
            <a:noAutofit/>
          </a:bodyPr>
          <a:p>
            <a:pPr>
              <a:spcBef>
                <a:spcPct val="0"/>
              </a:spcBef>
              <a:spcAft>
                <a:spcPct val="0"/>
              </a:spcAft>
            </a:pPr>
            <a:r>
              <a:rPr lang="zh-CN" altLang="en-US" sz="2200" b="1" dirty="0">
                <a:solidFill>
                  <a:schemeClr val="accent1"/>
                </a:solidFill>
                <a:latin typeface="+mn-ea"/>
                <a:cs typeface="+mn-ea"/>
              </a:rPr>
              <a:t>主流微调范式 </a:t>
            </a:r>
            <a:r>
              <a:rPr lang="en-US" altLang="zh-CN" sz="2200" b="1" dirty="0">
                <a:solidFill>
                  <a:schemeClr val="accent1"/>
                </a:solidFill>
                <a:latin typeface="+mn-ea"/>
                <a:cs typeface="+mn-ea"/>
              </a:rPr>
              <a:t>SFT </a:t>
            </a:r>
            <a:r>
              <a:rPr lang="zh-CN" altLang="en-US" sz="2200" b="1" dirty="0">
                <a:solidFill>
                  <a:schemeClr val="accent1"/>
                </a:solidFill>
                <a:latin typeface="+mn-ea"/>
                <a:cs typeface="+mn-ea"/>
              </a:rPr>
              <a:t>存在固有缺陷</a:t>
            </a:r>
            <a:endParaRPr lang="zh-CN" altLang="en-US" sz="2200" b="1" dirty="0">
              <a:solidFill>
                <a:schemeClr val="accent1"/>
              </a:solidFill>
              <a:latin typeface="+mn-ea"/>
              <a:cs typeface="+mn-ea"/>
            </a:endParaRPr>
          </a:p>
        </p:txBody>
      </p:sp>
      <p:sp>
        <p:nvSpPr>
          <p:cNvPr id="33" name="矩形: 圆角 2"/>
          <p:cNvSpPr/>
          <p:nvPr>
            <p:custDataLst>
              <p:tags r:id="rId6"/>
            </p:custDataLst>
          </p:nvPr>
        </p:nvSpPr>
        <p:spPr>
          <a:xfrm>
            <a:off x="6462395" y="2552700"/>
            <a:ext cx="5102225" cy="3790315"/>
          </a:xfrm>
          <a:prstGeom prst="roundRect">
            <a:avLst>
              <a:gd name="adj" fmla="val 0"/>
            </a:avLst>
          </a:prstGeom>
          <a:solidFill>
            <a:schemeClr val="tx1">
              <a:lumMod val="40000"/>
              <a:lumOff val="60000"/>
              <a:alpha val="15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p>
            <a:endParaRPr lang="zh-CN" altLang="en-US" sz="1440">
              <a:solidFill>
                <a:schemeClr val="bg1"/>
              </a:solidFill>
              <a:latin typeface="+mj-ea"/>
              <a:ea typeface="+mj-ea"/>
            </a:endParaRPr>
          </a:p>
        </p:txBody>
      </p:sp>
      <p:sp>
        <p:nvSpPr>
          <p:cNvPr id="40" name="圆角矩形 39"/>
          <p:cNvSpPr/>
          <p:nvPr>
            <p:custDataLst>
              <p:tags r:id="rId7"/>
            </p:custDataLst>
          </p:nvPr>
        </p:nvSpPr>
        <p:spPr>
          <a:xfrm>
            <a:off x="6726873" y="2017713"/>
            <a:ext cx="793750" cy="777875"/>
          </a:xfrm>
          <a:prstGeom prst="roundRect">
            <a:avLst>
              <a:gd name="adj" fmla="val 0"/>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wrap="none" lIns="0" tIns="0" rIns="0" bIns="0" rtlCol="0" anchor="ctr">
            <a:normAutofit/>
          </a:bodyPr>
          <a:p>
            <a:pPr algn="ctr">
              <a:spcBef>
                <a:spcPct val="0"/>
              </a:spcBef>
              <a:spcAft>
                <a:spcPct val="0"/>
              </a:spcAft>
            </a:pPr>
            <a:r>
              <a:rPr lang="en-US" altLang="zh-CN" sz="2400" b="1">
                <a:solidFill>
                  <a:srgbClr val="FFFFFF"/>
                </a:solidFill>
                <a:latin typeface="+mn-ea"/>
                <a:cs typeface="+mn-ea"/>
                <a:sym typeface="+mn-ea"/>
              </a:rPr>
              <a:t>02</a:t>
            </a:r>
            <a:endParaRPr lang="en-US" altLang="zh-CN" sz="2400" b="1" dirty="0">
              <a:solidFill>
                <a:srgbClr val="FFFFFF"/>
              </a:solidFill>
              <a:latin typeface="+mn-ea"/>
              <a:cs typeface="+mn-ea"/>
              <a:sym typeface="+mn-ea"/>
            </a:endParaRPr>
          </a:p>
        </p:txBody>
      </p:sp>
      <p:cxnSp>
        <p:nvCxnSpPr>
          <p:cNvPr id="74" name="直接连接符 73"/>
          <p:cNvCxnSpPr/>
          <p:nvPr>
            <p:custDataLst>
              <p:tags r:id="rId8"/>
            </p:custDataLst>
          </p:nvPr>
        </p:nvCxnSpPr>
        <p:spPr>
          <a:xfrm flipV="1">
            <a:off x="6682423" y="3593148"/>
            <a:ext cx="4662170" cy="0"/>
          </a:xfrm>
          <a:prstGeom prst="line">
            <a:avLst/>
          </a:prstGeom>
          <a:ln w="22225">
            <a:solidFill>
              <a:schemeClr val="accent1">
                <a:alpha val="50000"/>
              </a:schemeClr>
            </a:solidFill>
          </a:ln>
        </p:spPr>
        <p:style>
          <a:lnRef idx="2">
            <a:schemeClr val="accent1"/>
          </a:lnRef>
          <a:fillRef idx="0">
            <a:srgbClr val="FFFFFF"/>
          </a:fillRef>
          <a:effectRef idx="0">
            <a:srgbClr val="FFFFFF"/>
          </a:effectRef>
          <a:fontRef idx="minor">
            <a:schemeClr val="tx1"/>
          </a:fontRef>
        </p:style>
      </p:cxnSp>
      <p:sp>
        <p:nvSpPr>
          <p:cNvPr id="8" name="矩形 7"/>
          <p:cNvSpPr/>
          <p:nvPr>
            <p:custDataLst>
              <p:tags r:id="rId9"/>
            </p:custDataLst>
          </p:nvPr>
        </p:nvSpPr>
        <p:spPr>
          <a:xfrm>
            <a:off x="6732588" y="2991803"/>
            <a:ext cx="4492625" cy="443230"/>
          </a:xfrm>
          <a:prstGeom prst="rect">
            <a:avLst/>
          </a:prstGeom>
          <a:noFill/>
        </p:spPr>
        <p:txBody>
          <a:bodyPr wrap="square" lIns="0" tIns="0" rIns="0" bIns="0" rtlCol="0" anchor="ctr" anchorCtr="0">
            <a:noAutofit/>
          </a:bodyPr>
          <a:p>
            <a:pPr>
              <a:spcBef>
                <a:spcPct val="0"/>
              </a:spcBef>
              <a:spcAft>
                <a:spcPct val="0"/>
              </a:spcAft>
            </a:pPr>
            <a:r>
              <a:rPr lang="zh-CN" altLang="en-US" sz="2200" b="1">
                <a:solidFill>
                  <a:schemeClr val="accent1"/>
                </a:solidFill>
                <a:latin typeface="+mn-ea"/>
                <a:cs typeface="+mn-ea"/>
              </a:rPr>
              <a:t>强化学习方案落地医学场景存在短板</a:t>
            </a:r>
            <a:endParaRPr lang="zh-CN" altLang="en-US" sz="2200" b="1">
              <a:solidFill>
                <a:schemeClr val="accent1"/>
              </a:solidFill>
              <a:latin typeface="+mn-ea"/>
              <a:cs typeface="+mn-ea"/>
            </a:endParaRPr>
          </a:p>
        </p:txBody>
      </p:sp>
      <p:sp>
        <p:nvSpPr>
          <p:cNvPr id="9" name="文本框 8"/>
          <p:cNvSpPr txBox="1"/>
          <p:nvPr/>
        </p:nvSpPr>
        <p:spPr>
          <a:xfrm>
            <a:off x="929005" y="893445"/>
            <a:ext cx="10525125" cy="922020"/>
          </a:xfrm>
          <a:prstGeom prst="rect">
            <a:avLst/>
          </a:prstGeom>
          <a:noFill/>
        </p:spPr>
        <p:txBody>
          <a:bodyPr wrap="square" rtlCol="0">
            <a:spAutoFit/>
          </a:bodyPr>
          <a:p>
            <a:r>
              <a:rPr lang="zh-CN" altLang="en-US" b="1"/>
              <a:t>放射学图像</a:t>
            </a:r>
            <a:r>
              <a:rPr lang="zh-CN" altLang="en-US"/>
              <a:t>是现代医疗保健的基石，随着诊断需求的增长，对高效</a:t>
            </a:r>
            <a:r>
              <a:rPr lang="en-US" altLang="zh-CN"/>
              <a:t>AI</a:t>
            </a:r>
            <a:r>
              <a:rPr lang="zh-CN" altLang="en-US"/>
              <a:t>驱动解读的需求也日益迫切。我们认为，现有</a:t>
            </a:r>
            <a:r>
              <a:rPr lang="zh-CN" altLang="en-US" b="1"/>
              <a:t>医学</a:t>
            </a:r>
            <a:r>
              <a:rPr lang="en-US" altLang="zh-CN" b="1"/>
              <a:t>VLM</a:t>
            </a:r>
            <a:r>
              <a:rPr lang="zh-CN" altLang="en-US"/>
              <a:t>推理能力有限，主要归咎于</a:t>
            </a:r>
            <a:r>
              <a:rPr lang="zh-CN" altLang="en-US" b="1"/>
              <a:t>监督微调</a:t>
            </a:r>
            <a:r>
              <a:rPr lang="zh-CN" altLang="en-US"/>
              <a:t>（</a:t>
            </a:r>
            <a:r>
              <a:rPr lang="en-US" altLang="zh-CN"/>
              <a:t>SFT）</a:t>
            </a:r>
            <a:r>
              <a:rPr lang="zh-CN" altLang="en-US"/>
              <a:t>的内在缺陷，</a:t>
            </a:r>
            <a:r>
              <a:rPr lang="en-US" altLang="zh-CN"/>
              <a:t>SFT</a:t>
            </a:r>
            <a:r>
              <a:rPr lang="zh-CN" altLang="en-US"/>
              <a:t>是将大型基础模型适配到专门医学任务的最常用策略。尽管</a:t>
            </a:r>
            <a:r>
              <a:rPr lang="en-US" altLang="zh-CN"/>
              <a:t>SFT</a:t>
            </a:r>
            <a:r>
              <a:rPr lang="zh-CN" altLang="en-US"/>
              <a:t>方法简单，但它面临两个关键挑战。</a:t>
            </a:r>
            <a:endParaRPr lang="zh-CN" altLang="en-US"/>
          </a:p>
        </p:txBody>
      </p:sp>
      <p:sp>
        <p:nvSpPr>
          <p:cNvPr id="10" name="文本框 9"/>
          <p:cNvSpPr txBox="1"/>
          <p:nvPr/>
        </p:nvSpPr>
        <p:spPr>
          <a:xfrm>
            <a:off x="1033145" y="3631565"/>
            <a:ext cx="4479925" cy="2303145"/>
          </a:xfrm>
          <a:prstGeom prst="rect">
            <a:avLst/>
          </a:prstGeom>
          <a:noFill/>
        </p:spPr>
        <p:txBody>
          <a:bodyPr wrap="square" rtlCol="0" anchor="t">
            <a:noAutofit/>
          </a:bodyPr>
          <a:p>
            <a:pPr marL="171450" marR="0" lvl="0" indent="-171450" algn="l" defTabSz="1218565" rtl="0" eaLnBrk="1" fontAlgn="auto" latinLnBrk="0" hangingPunct="1">
              <a:lnSpc>
                <a:spcPct val="120000"/>
              </a:lnSpc>
              <a:spcBef>
                <a:spcPct val="20000"/>
              </a:spcBef>
              <a:spcAft>
                <a:spcPts val="0"/>
              </a:spcAft>
              <a:buClrTx/>
              <a:buSzTx/>
              <a:buFont typeface="Wingdings" panose="05000000000000000000" pitchFamily="2" charset="2"/>
              <a:buChar char="l"/>
              <a:defRPr/>
            </a:pP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仅标注最终答案的监督方式易引发过拟合，模型在分布外医学影像数据上泛化差，高风险临床场景隐患突出；</a:t>
            </a:r>
            <a:endPar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a:p>
            <a:pPr marL="171450" marR="0" lvl="0" indent="-171450" algn="l" defTabSz="1218565" rtl="0" eaLnBrk="1" fontAlgn="auto" latinLnBrk="0" hangingPunct="1">
              <a:lnSpc>
                <a:spcPct val="120000"/>
              </a:lnSpc>
              <a:spcBef>
                <a:spcPct val="20000"/>
              </a:spcBef>
              <a:spcAft>
                <a:spcPts val="0"/>
              </a:spcAft>
              <a:buClrTx/>
              <a:buSzTx/>
              <a:buFont typeface="Wingdings" panose="05000000000000000000" pitchFamily="2" charset="2"/>
              <a:buChar char="l"/>
              <a:defRPr/>
            </a:pP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缺少对分步推理过程的监督信号，无法有效激发模型真实逻辑推理能力；</a:t>
            </a:r>
            <a:endPar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a:p>
            <a:pPr marL="171450" marR="0" lvl="0" indent="-171450" algn="l" defTabSz="1218565" rtl="0" eaLnBrk="1" fontAlgn="auto" latinLnBrk="0" hangingPunct="1">
              <a:lnSpc>
                <a:spcPct val="120000"/>
              </a:lnSpc>
              <a:spcBef>
                <a:spcPct val="20000"/>
              </a:spcBef>
              <a:spcAft>
                <a:spcPts val="0"/>
              </a:spcAft>
              <a:buClrTx/>
              <a:buSzTx/>
              <a:buFont typeface="Wingdings" panose="05000000000000000000" pitchFamily="2" charset="2"/>
              <a:buChar char="l"/>
              <a:defRPr/>
            </a:pP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依靠教师模型蒸馏思维链 </a:t>
            </a:r>
            <a:r>
              <a:rPr lang="en-US" altLang="zh-CN"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CoT </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缓解缺陷的方案，在医学领域标注成本极高，难以大规模落地，最终导致现有医学 </a:t>
            </a:r>
            <a:r>
              <a:rPr lang="en-US" altLang="zh-CN"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VLM </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解释不透明。</a:t>
            </a:r>
            <a:endPar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p:txBody>
      </p:sp>
      <p:sp>
        <p:nvSpPr>
          <p:cNvPr id="11" name="文本框 10"/>
          <p:cNvSpPr txBox="1"/>
          <p:nvPr/>
        </p:nvSpPr>
        <p:spPr>
          <a:xfrm>
            <a:off x="6727190" y="3751580"/>
            <a:ext cx="4479925" cy="2303145"/>
          </a:xfrm>
          <a:prstGeom prst="rect">
            <a:avLst/>
          </a:prstGeom>
          <a:noFill/>
        </p:spPr>
        <p:txBody>
          <a:bodyPr wrap="square" rtlCol="0" anchor="t">
            <a:noAutofit/>
          </a:bodyPr>
          <a:p>
            <a:pPr marL="171450" marR="0" lvl="0" indent="-171450" algn="l" defTabSz="1218565" rtl="0" eaLnBrk="1" fontAlgn="auto" latinLnBrk="0" hangingPunct="1">
              <a:lnSpc>
                <a:spcPct val="120000"/>
              </a:lnSpc>
              <a:spcBef>
                <a:spcPct val="20000"/>
              </a:spcBef>
              <a:spcAft>
                <a:spcPts val="0"/>
              </a:spcAft>
              <a:buClrTx/>
              <a:buSzTx/>
              <a:buFont typeface="Wingdings" panose="05000000000000000000" pitchFamily="2" charset="2"/>
              <a:buChar char="l"/>
              <a:defRPr/>
            </a:pP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传统 </a:t>
            </a:r>
            <a:r>
              <a:rPr lang="en-US" altLang="zh-CN"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RL </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需额外训练、维护神经奖励模型，计算资源开销大，适配医疗数据受限场景难度高；</a:t>
            </a:r>
            <a:endPar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a:p>
            <a:pPr marL="171450" marR="0" lvl="0" indent="-171450" algn="l" defTabSz="1218565" rtl="0" eaLnBrk="1" fontAlgn="auto" latinLnBrk="0" hangingPunct="1">
              <a:lnSpc>
                <a:spcPct val="120000"/>
              </a:lnSpc>
              <a:spcBef>
                <a:spcPct val="20000"/>
              </a:spcBef>
              <a:spcAft>
                <a:spcPts val="0"/>
              </a:spcAft>
              <a:buClrTx/>
              <a:buSzTx/>
              <a:buFont typeface="Wingdings" panose="05000000000000000000" pitchFamily="2" charset="2"/>
              <a:buChar char="l"/>
              <a:defRPr/>
            </a:pP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具备低资源优势、强推理效果的 </a:t>
            </a:r>
            <a:r>
              <a:rPr lang="en-US" altLang="zh-CN"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GRPO </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算法尚未在放射学医学视觉语言任务中得到验证与应用。</a:t>
            </a:r>
            <a:endPar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linds(horizontal)">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 grpId="1"/>
      <p:bldP spid="11" grpId="0"/>
      <p:bldP spid="11"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0"/>
            <a:ext cx="12192000" cy="6858000"/>
          </a:xfrm>
          <a:prstGeom prst="rect">
            <a:avLst/>
          </a:prstGeom>
          <a:pattFill prst="wdUpDiag">
            <a:fgClr>
              <a:schemeClr val="bg1">
                <a:lumMod val="95000"/>
              </a:schemeClr>
            </a:fgClr>
            <a:bgClr>
              <a:schemeClr val="bg1"/>
            </a:bgClr>
          </a:patt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等线" panose="02010600030101010101" pitchFamily="2" charset="-122"/>
                <a:ea typeface="等线" panose="02010600030101010101" pitchFamily="2" charset="-122"/>
                <a:cs typeface="+mn-cs"/>
              </a:rPr>
              <a:t>https://www.bing.com/aclick?ld=e8u9oqm58_UIbU_a_jgR69MTVUCUwyjG7WN0GEmwmIW1dvJIiiYwpIiIUPAr6Bs0-9lj_4o38Fz4-QO653z3-Rl-jBdxQhUX7_bdNGYi5lny9r3lgyzIC80OH14KzyS-qs-artRdxM5HgzUQUxCCiEdyJaORXagEBY9WYtrEDh0yE22f-dB3_5KMwKO1cBtjyvC2EBAA&amp;u=aHR0cHMlM2ElMmYlMmZ3d3cuZG91YmFvLmNvbSUyZmNoYXQlMmYlM2ZjaGFubmVsJTNkYmluZ19zZW0lMjZzb3VyY2UlM2RkYndlYl95bF9zZW1fdHlfZmFueV9mYW55X2Zhbnlfb2NwY19mYXh4XzIwJTI2a2V5d29yZGlkJTNkNzY4OTc1OTc2MTUwMjklMjZtc2Nsa2lkJTNkYTdjM2ZiM2IxNjIyMThkNDFlN2M5M2QwOTAyZDFjZmM&amp;rlid=a7c3fb3b162218d41e7c93d0902d1cfc</a:t>
            </a:r>
            <a:endParaRPr kumimoji="0" lang="zh-CN" altLang="en-US" sz="1800" b="0" i="0" u="none" strike="noStrike" kern="1200" cap="none" spc="0" normalizeH="0" baseline="0" noProof="0" dirty="0">
              <a:ln>
                <a:noFill/>
              </a:ln>
              <a:solidFill>
                <a:prstClr val="white"/>
              </a:solidFill>
              <a:effectLst/>
              <a:uLnTx/>
              <a:uFillTx/>
              <a:latin typeface="等线" panose="02010600030101010101" pitchFamily="2" charset="-122"/>
              <a:ea typeface="等线" panose="02010600030101010101" pitchFamily="2" charset="-122"/>
              <a:cs typeface="+mn-cs"/>
            </a:endParaRPr>
          </a:p>
        </p:txBody>
      </p:sp>
      <p:sp>
        <p:nvSpPr>
          <p:cNvPr id="7" name="文本框 6"/>
          <p:cNvSpPr txBox="1"/>
          <p:nvPr/>
        </p:nvSpPr>
        <p:spPr>
          <a:xfrm>
            <a:off x="59409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 name="文本框 7"/>
          <p:cNvSpPr txBox="1"/>
          <p:nvPr/>
        </p:nvSpPr>
        <p:spPr>
          <a:xfrm>
            <a:off x="8655288" y="6583649"/>
            <a:ext cx="2967479" cy="246221"/>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rPr>
              <a:t>Tsinghua University of China</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pic>
        <p:nvPicPr>
          <p:cNvPr id="11" name="图形 10"/>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61601" y="174280"/>
            <a:ext cx="1257299" cy="396000"/>
          </a:xfrm>
          <a:prstGeom prst="rect">
            <a:avLst/>
          </a:prstGeom>
        </p:spPr>
      </p:pic>
      <p:sp>
        <p:nvSpPr>
          <p:cNvPr id="12" name="文本框 11"/>
          <p:cNvSpPr txBox="1"/>
          <p:nvPr/>
        </p:nvSpPr>
        <p:spPr>
          <a:xfrm>
            <a:off x="1558171" y="2105561"/>
            <a:ext cx="2472152" cy="264687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600" b="0" i="0" u="none" strike="noStrike" kern="1200" cap="none" spc="300" normalizeH="0" baseline="0" noProof="0" dirty="0">
                <a:ln>
                  <a:noFill/>
                </a:ln>
                <a:gradFill>
                  <a:gsLst>
                    <a:gs pos="0">
                      <a:srgbClr val="1C6299"/>
                    </a:gs>
                    <a:gs pos="90000">
                      <a:schemeClr val="bg1"/>
                    </a:gs>
                  </a:gsLst>
                  <a:lin ang="5400000" scaled="1"/>
                </a:gradFill>
                <a:effectLst/>
                <a:uLnTx/>
                <a:uFillTx/>
                <a:latin typeface="Impact" panose="020B0806030902050204" pitchFamily="34" charset="0"/>
                <a:ea typeface="微软雅黑" panose="020B0503020204020204" pitchFamily="34" charset="-122"/>
                <a:cs typeface="+mn-cs"/>
              </a:rPr>
              <a:t>02</a:t>
            </a:r>
            <a:endParaRPr kumimoji="0" lang="zh-CN" altLang="en-US" sz="16600" b="0" i="0" u="none" strike="noStrike" kern="1200" cap="none" spc="300" normalizeH="0" baseline="0" noProof="0" dirty="0">
              <a:ln>
                <a:noFill/>
              </a:ln>
              <a:gradFill>
                <a:gsLst>
                  <a:gs pos="0">
                    <a:srgbClr val="1C6299"/>
                  </a:gs>
                  <a:gs pos="90000">
                    <a:schemeClr val="bg1"/>
                  </a:gs>
                </a:gsLst>
                <a:lin ang="5400000" scaled="1"/>
              </a:gradFill>
              <a:effectLst/>
              <a:uLnTx/>
              <a:uFillTx/>
              <a:latin typeface="Impact" panose="020B0806030902050204" pitchFamily="34" charset="0"/>
              <a:ea typeface="微软雅黑" panose="020B0503020204020204" pitchFamily="34" charset="-122"/>
              <a:cs typeface="+mn-cs"/>
            </a:endParaRPr>
          </a:p>
        </p:txBody>
      </p:sp>
      <p:sp>
        <p:nvSpPr>
          <p:cNvPr id="13" name="标题 1"/>
          <p:cNvSpPr txBox="1"/>
          <p:nvPr/>
        </p:nvSpPr>
        <p:spPr>
          <a:xfrm>
            <a:off x="5560176" y="2143126"/>
            <a:ext cx="6713702" cy="1035858"/>
          </a:xfrm>
          <a:prstGeom prst="rect">
            <a:avLst/>
          </a:prstGeom>
        </p:spPr>
        <p:txBody>
          <a:bodyPr vert="horz" lIns="0" tIns="45720" rIns="91440" bIns="45720" rtlCol="0" anchor="ctr" anchorCtr="0">
            <a:normAutofit/>
          </a:bodyPr>
          <a:lstStyle>
            <a:lvl1pPr algn="l" defTabSz="914400" rtl="0" eaLnBrk="1" latinLnBrk="0" hangingPunct="1">
              <a:lnSpc>
                <a:spcPct val="90000"/>
              </a:lnSpc>
              <a:spcBef>
                <a:spcPct val="0"/>
              </a:spcBef>
              <a:buNone/>
              <a:defRPr sz="4000" b="1" kern="1200" spc="10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4000" b="1" i="0" u="none" strike="noStrike" kern="1200" cap="none" spc="10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j-cs"/>
              </a:rPr>
              <a:t>研究</a:t>
            </a:r>
            <a:r>
              <a:rPr kumimoji="0" lang="zh-CN" altLang="en-US" sz="4000" b="1" i="0" u="none" strike="noStrike" kern="1200" cap="none" spc="10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j-cs"/>
              </a:rPr>
              <a:t>方法</a:t>
            </a:r>
            <a:endParaRPr kumimoji="0" lang="zh-CN" altLang="en-US" sz="4000" b="1" i="0" u="none" strike="noStrike" kern="1200" cap="none" spc="10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j-cs"/>
            </a:endParaRPr>
          </a:p>
        </p:txBody>
      </p:sp>
      <p:sp>
        <p:nvSpPr>
          <p:cNvPr id="14" name="文本占位符 2"/>
          <p:cNvSpPr txBox="1"/>
          <p:nvPr/>
        </p:nvSpPr>
        <p:spPr>
          <a:xfrm>
            <a:off x="5560176" y="3787775"/>
            <a:ext cx="6792912" cy="927100"/>
          </a:xfrm>
          <a:prstGeom prst="rect">
            <a:avLst/>
          </a:prstGeom>
        </p:spPr>
        <p:txBody>
          <a:bodyPr vert="horz" lIns="0" tIns="45720" rIns="91440" bIns="45720" rtlCol="0" anchor="ctr" anchorCtr="0">
            <a:normAutofit/>
          </a:bodyPr>
          <a:lstStyle>
            <a:lvl1pPr marL="0" indent="0" algn="l" defTabSz="914400" rtl="0" eaLnBrk="1" latinLnBrk="0" hangingPunct="1">
              <a:lnSpc>
                <a:spcPct val="90000"/>
              </a:lnSpc>
              <a:spcBef>
                <a:spcPts val="1000"/>
              </a:spcBef>
              <a:buFontTx/>
              <a:buNone/>
              <a:defRPr sz="1800" kern="1200" spc="100" baseline="0">
                <a:solidFill>
                  <a:schemeClr val="bg1">
                    <a:lumMod val="65000"/>
                  </a:schemeClr>
                </a:solidFill>
                <a:latin typeface="+mn-lt"/>
                <a:ea typeface="+mn-ea"/>
                <a:cs typeface="+mn-cs"/>
              </a:defRPr>
            </a:lvl1pPr>
            <a:lvl2pPr marL="457200" indent="0" algn="l" defTabSz="914400" rtl="0" eaLnBrk="1" latinLnBrk="0" hangingPunct="1">
              <a:lnSpc>
                <a:spcPct val="90000"/>
              </a:lnSpc>
              <a:spcBef>
                <a:spcPts val="500"/>
              </a:spcBef>
              <a:buFontTx/>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Tx/>
              <a:buNone/>
              <a:defRPr/>
            </a:pPr>
            <a:r>
              <a:rPr kumimoji="0" lang="en-US" altLang="zh-CN" sz="1800" b="0" i="0" u="none" strike="noStrike" kern="1200" cap="none" spc="100" normalizeH="0" baseline="0" noProof="0" dirty="0">
                <a:ln>
                  <a:noFill/>
                </a:ln>
                <a:solidFill>
                  <a:sysClr val="window" lastClr="FFFFFF">
                    <a:lumMod val="65000"/>
                  </a:sysClr>
                </a:solidFill>
                <a:effectLst/>
                <a:uLnTx/>
                <a:uFillTx/>
                <a:latin typeface="Arial" panose="020B0604020202020204"/>
                <a:ea typeface="微软雅黑" panose="020B0503020204020204" pitchFamily="34" charset="-122"/>
                <a:cs typeface="+mn-cs"/>
              </a:rPr>
              <a:t>Research Methods</a:t>
            </a:r>
            <a:endParaRPr kumimoji="0" lang="en-US" altLang="zh-CN" sz="1800" b="0" i="0" u="none" strike="noStrike" kern="1200" cap="none" spc="100" normalizeH="0" baseline="0" noProof="0" dirty="0">
              <a:ln>
                <a:noFill/>
              </a:ln>
              <a:solidFill>
                <a:sysClr val="window" lastClr="FFFFFF">
                  <a:lumMod val="65000"/>
                </a:sysClr>
              </a:solidFill>
              <a:effectLst/>
              <a:uLnTx/>
              <a:uFillTx/>
              <a:latin typeface="Arial" panose="020B0604020202020204"/>
              <a:ea typeface="微软雅黑" panose="020B0503020204020204" pitchFamily="34" charset="-122"/>
              <a:cs typeface="+mn-cs"/>
            </a:endParaRPr>
          </a:p>
        </p:txBody>
      </p:sp>
      <p:cxnSp>
        <p:nvCxnSpPr>
          <p:cNvPr id="15" name="直接连接符 14"/>
          <p:cNvCxnSpPr/>
          <p:nvPr/>
        </p:nvCxnSpPr>
        <p:spPr>
          <a:xfrm>
            <a:off x="4619693" y="2143125"/>
            <a:ext cx="0" cy="2571750"/>
          </a:xfrm>
          <a:prstGeom prst="line">
            <a:avLst/>
          </a:prstGeom>
          <a:noFill/>
          <a:ln w="12700" cap="flat" cmpd="sng" algn="ctr">
            <a:solidFill>
              <a:sysClr val="window" lastClr="FFFFFF">
                <a:lumMod val="50000"/>
              </a:sysClr>
            </a:solidFill>
            <a:prstDash val="dashDot"/>
            <a:miter lim="800000"/>
          </a:ln>
          <a:effectLst/>
        </p:spPr>
      </p:cxnSp>
      <p:sp>
        <p:nvSpPr>
          <p:cNvPr id="16" name="矩形 15"/>
          <p:cNvSpPr/>
          <p:nvPr/>
        </p:nvSpPr>
        <p:spPr>
          <a:xfrm>
            <a:off x="5560176" y="3432579"/>
            <a:ext cx="720000" cy="101600"/>
          </a:xfrm>
          <a:prstGeom prst="rect">
            <a:avLst/>
          </a:prstGeom>
          <a:gradFill>
            <a:gsLst>
              <a:gs pos="0">
                <a:srgbClr val="1C6299"/>
              </a:gs>
              <a:gs pos="100000">
                <a:srgbClr val="5C307D"/>
              </a:gs>
            </a:gsLst>
            <a:lin ang="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blipFill>
                <a:blip r:embed="rId3">
                  <a:extLst>
                    <a:ext uri="{28A0092B-C50C-407E-A947-70E740481C1C}">
                      <a14:useLocalDpi xmlns:a14="http://schemas.microsoft.com/office/drawing/2010/main" val="0"/>
                    </a:ext>
                  </a:extLst>
                </a:blip>
                <a:stretch>
                  <a:fillRect/>
                </a:stretch>
              </a:blipFill>
              <a:effectLst/>
              <a:uLnTx/>
              <a:uFillTx/>
              <a:latin typeface="Arial" panose="020B0604020202020204"/>
              <a:ea typeface="微软雅黑" panose="020B0503020204020204" pitchFamily="34" charset="-122"/>
              <a:cs typeface="+mn-cs"/>
            </a:endParaRPr>
          </a:p>
        </p:txBody>
      </p:sp>
      <p:sp>
        <p:nvSpPr>
          <p:cNvPr id="17" name="文本框 16"/>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8" name="矩形 17"/>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19" name="文本框 18"/>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0" name="文本框 19"/>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25" name="任意多边形: 形状 24"/>
          <p:cNvSpPr/>
          <p:nvPr/>
        </p:nvSpPr>
        <p:spPr>
          <a:xfrm flipH="1">
            <a:off x="0" y="0"/>
            <a:ext cx="12192000" cy="723900"/>
          </a:xfrm>
          <a:custGeom>
            <a:avLst/>
            <a:gdLst>
              <a:gd name="connsiteX0" fmla="*/ 12192000 w 12192000"/>
              <a:gd name="connsiteY0" fmla="*/ 0 h 723900"/>
              <a:gd name="connsiteX1" fmla="*/ 2755900 w 12192000"/>
              <a:gd name="connsiteY1" fmla="*/ 0 h 723900"/>
              <a:gd name="connsiteX2" fmla="*/ 4 w 12192000"/>
              <a:gd name="connsiteY2" fmla="*/ 0 h 723900"/>
              <a:gd name="connsiteX3" fmla="*/ 0 w 12192000"/>
              <a:gd name="connsiteY3" fmla="*/ 0 h 723900"/>
              <a:gd name="connsiteX4" fmla="*/ 0 w 12192000"/>
              <a:gd name="connsiteY4" fmla="*/ 723900 h 723900"/>
              <a:gd name="connsiteX5" fmla="*/ 1987354 w 12192000"/>
              <a:gd name="connsiteY5" fmla="*/ 723900 h 723900"/>
              <a:gd name="connsiteX6" fmla="*/ 2038350 w 12192000"/>
              <a:gd name="connsiteY6" fmla="*/ 717550 h 723900"/>
              <a:gd name="connsiteX7" fmla="*/ 2753650 w 12192000"/>
              <a:gd name="connsiteY7" fmla="*/ 288000 h 723900"/>
              <a:gd name="connsiteX8" fmla="*/ 12192000 w 12192000"/>
              <a:gd name="connsiteY8" fmla="*/ 28800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723900">
                <a:moveTo>
                  <a:pt x="12192000" y="0"/>
                </a:moveTo>
                <a:lnTo>
                  <a:pt x="2755900" y="0"/>
                </a:lnTo>
                <a:lnTo>
                  <a:pt x="4" y="0"/>
                </a:lnTo>
                <a:lnTo>
                  <a:pt x="0" y="0"/>
                </a:lnTo>
                <a:lnTo>
                  <a:pt x="0" y="723900"/>
                </a:lnTo>
                <a:lnTo>
                  <a:pt x="1987354" y="723900"/>
                </a:lnTo>
                <a:lnTo>
                  <a:pt x="2038350" y="717550"/>
                </a:lnTo>
                <a:cubicBezTo>
                  <a:pt x="2497291" y="642783"/>
                  <a:pt x="2432975" y="321492"/>
                  <a:pt x="2753650" y="288000"/>
                </a:cubicBezTo>
                <a:cubicBezTo>
                  <a:pt x="3074325" y="254508"/>
                  <a:pt x="9045883" y="288000"/>
                  <a:pt x="12192000" y="288000"/>
                </a:cubicBezTo>
                <a:close/>
              </a:path>
            </a:pathLst>
          </a:custGeom>
          <a:solidFill>
            <a:srgbClr val="1C6299"/>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pic>
        <p:nvPicPr>
          <p:cNvPr id="26" name="图片 2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07837" y="136675"/>
            <a:ext cx="1663415" cy="487234"/>
          </a:xfrm>
          <a:prstGeom prst="rect">
            <a:avLst/>
          </a:prstGeom>
        </p:spPr>
      </p:pic>
      <p:sp>
        <p:nvSpPr>
          <p:cNvPr id="27" name="椭圆 26"/>
          <p:cNvSpPr/>
          <p:nvPr/>
        </p:nvSpPr>
        <p:spPr>
          <a:xfrm>
            <a:off x="8917027" y="597107"/>
            <a:ext cx="6452568" cy="5936919"/>
          </a:xfrm>
          <a:prstGeom prst="ellipse">
            <a:avLst/>
          </a:prstGeom>
          <a:blipFill dpi="0" rotWithShape="1">
            <a:blip r:embed="rId5">
              <a:alphaModFix amt="11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defTabSz="963930" fontAlgn="auto">
              <a:spcBef>
                <a:spcPts val="0"/>
              </a:spcBef>
              <a:spcAft>
                <a:spcPts val="0"/>
              </a:spcAft>
            </a:pPr>
            <a:endParaRPr lang="zh-CN" altLang="en-US" sz="1900" dirty="0">
              <a:solidFill>
                <a:prstClr val="white"/>
              </a:solidFill>
              <a:latin typeface="Calibri" panose="020F0502020204030204"/>
              <a:ea typeface="宋体" panose="02010600030101010101"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anim calcmode="lin" valueType="num">
                                      <p:cBhvr>
                                        <p:cTn id="10" dur="500" fill="hold"/>
                                        <p:tgtEl>
                                          <p:spTgt spid="12"/>
                                        </p:tgtEl>
                                        <p:attrNameLst>
                                          <p:attrName>ppt_x</p:attrName>
                                        </p:attrNameLst>
                                      </p:cBhvr>
                                      <p:tavLst>
                                        <p:tav tm="0">
                                          <p:val>
                                            <p:fltVal val="0.5"/>
                                          </p:val>
                                        </p:tav>
                                        <p:tav tm="100000">
                                          <p:val>
                                            <p:strVal val="#ppt_x"/>
                                          </p:val>
                                        </p:tav>
                                      </p:tavLst>
                                    </p:anim>
                                    <p:anim calcmode="lin" valueType="num">
                                      <p:cBhvr>
                                        <p:cTn id="11" dur="500" fill="hold"/>
                                        <p:tgtEl>
                                          <p:spTgt spid="12"/>
                                        </p:tgtEl>
                                        <p:attrNameLst>
                                          <p:attrName>ppt_y</p:attrName>
                                        </p:attrNameLst>
                                      </p:cBhvr>
                                      <p:tavLst>
                                        <p:tav tm="0">
                                          <p:val>
                                            <p:fltVal val="0.5"/>
                                          </p:val>
                                        </p:tav>
                                        <p:tav tm="100000">
                                          <p:val>
                                            <p:strVal val="#ppt_y"/>
                                          </p:val>
                                        </p:tav>
                                      </p:tavLst>
                                    </p:anim>
                                  </p:childTnLst>
                                </p:cTn>
                              </p:par>
                              <p:par>
                                <p:cTn id="12" presetID="53" presetClass="entr" presetSubtype="528" fill="hold" nodeType="withEffect">
                                  <p:stCondLst>
                                    <p:cond delay="250"/>
                                  </p:stCondLst>
                                  <p:childTnLst>
                                    <p:set>
                                      <p:cBhvr>
                                        <p:cTn id="13" dur="1" fill="hold">
                                          <p:stCondLst>
                                            <p:cond delay="0"/>
                                          </p:stCondLst>
                                        </p:cTn>
                                        <p:tgtEl>
                                          <p:spTgt spid="15"/>
                                        </p:tgtEl>
                                        <p:attrNameLst>
                                          <p:attrName>style.visibility</p:attrName>
                                        </p:attrNameLst>
                                      </p:cBhvr>
                                      <p:to>
                                        <p:strVal val="visible"/>
                                      </p:to>
                                    </p:set>
                                    <p:anim calcmode="lin" valueType="num">
                                      <p:cBhvr>
                                        <p:cTn id="14" dur="500" fill="hold"/>
                                        <p:tgtEl>
                                          <p:spTgt spid="15"/>
                                        </p:tgtEl>
                                        <p:attrNameLst>
                                          <p:attrName>ppt_w</p:attrName>
                                        </p:attrNameLst>
                                      </p:cBhvr>
                                      <p:tavLst>
                                        <p:tav tm="0">
                                          <p:val>
                                            <p:fltVal val="0"/>
                                          </p:val>
                                        </p:tav>
                                        <p:tav tm="100000">
                                          <p:val>
                                            <p:strVal val="#ppt_w"/>
                                          </p:val>
                                        </p:tav>
                                      </p:tavLst>
                                    </p:anim>
                                    <p:anim calcmode="lin" valueType="num">
                                      <p:cBhvr>
                                        <p:cTn id="15" dur="500" fill="hold"/>
                                        <p:tgtEl>
                                          <p:spTgt spid="15"/>
                                        </p:tgtEl>
                                        <p:attrNameLst>
                                          <p:attrName>ppt_h</p:attrName>
                                        </p:attrNameLst>
                                      </p:cBhvr>
                                      <p:tavLst>
                                        <p:tav tm="0">
                                          <p:val>
                                            <p:fltVal val="0"/>
                                          </p:val>
                                        </p:tav>
                                        <p:tav tm="100000">
                                          <p:val>
                                            <p:strVal val="#ppt_h"/>
                                          </p:val>
                                        </p:tav>
                                      </p:tavLst>
                                    </p:anim>
                                    <p:animEffect transition="in" filter="fade">
                                      <p:cBhvr>
                                        <p:cTn id="16" dur="500"/>
                                        <p:tgtEl>
                                          <p:spTgt spid="15"/>
                                        </p:tgtEl>
                                      </p:cBhvr>
                                    </p:animEffect>
                                    <p:anim calcmode="lin" valueType="num">
                                      <p:cBhvr>
                                        <p:cTn id="17" dur="500" fill="hold"/>
                                        <p:tgtEl>
                                          <p:spTgt spid="15"/>
                                        </p:tgtEl>
                                        <p:attrNameLst>
                                          <p:attrName>ppt_x</p:attrName>
                                        </p:attrNameLst>
                                      </p:cBhvr>
                                      <p:tavLst>
                                        <p:tav tm="0">
                                          <p:val>
                                            <p:fltVal val="0.5"/>
                                          </p:val>
                                        </p:tav>
                                        <p:tav tm="100000">
                                          <p:val>
                                            <p:strVal val="#ppt_x"/>
                                          </p:val>
                                        </p:tav>
                                      </p:tavLst>
                                    </p:anim>
                                    <p:anim calcmode="lin" valueType="num">
                                      <p:cBhvr>
                                        <p:cTn id="18" dur="500" fill="hold"/>
                                        <p:tgtEl>
                                          <p:spTgt spid="15"/>
                                        </p:tgtEl>
                                        <p:attrNameLst>
                                          <p:attrName>ppt_y</p:attrName>
                                        </p:attrNameLst>
                                      </p:cBhvr>
                                      <p:tavLst>
                                        <p:tav tm="0">
                                          <p:val>
                                            <p:fltVal val="0.5"/>
                                          </p:val>
                                        </p:tav>
                                        <p:tav tm="100000">
                                          <p:val>
                                            <p:strVal val="#ppt_y"/>
                                          </p:val>
                                        </p:tav>
                                      </p:tavLst>
                                    </p:anim>
                                  </p:childTnLst>
                                </p:cTn>
                              </p:par>
                            </p:childTnLst>
                          </p:cTn>
                        </p:par>
                        <p:par>
                          <p:cTn id="19" fill="hold">
                            <p:stCondLst>
                              <p:cond delay="500"/>
                            </p:stCondLst>
                            <p:childTnLst>
                              <p:par>
                                <p:cTn id="20" presetID="42" presetClass="entr" presetSubtype="0" fill="hold" grpId="0" nodeType="after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750"/>
                                        <p:tgtEl>
                                          <p:spTgt spid="13"/>
                                        </p:tgtEl>
                                      </p:cBhvr>
                                    </p:animEffect>
                                    <p:anim calcmode="lin" valueType="num">
                                      <p:cBhvr>
                                        <p:cTn id="23" dur="750" fill="hold"/>
                                        <p:tgtEl>
                                          <p:spTgt spid="13"/>
                                        </p:tgtEl>
                                        <p:attrNameLst>
                                          <p:attrName>ppt_x</p:attrName>
                                        </p:attrNameLst>
                                      </p:cBhvr>
                                      <p:tavLst>
                                        <p:tav tm="0">
                                          <p:val>
                                            <p:strVal val="#ppt_x"/>
                                          </p:val>
                                        </p:tav>
                                        <p:tav tm="100000">
                                          <p:val>
                                            <p:strVal val="#ppt_x"/>
                                          </p:val>
                                        </p:tav>
                                      </p:tavLst>
                                    </p:anim>
                                    <p:anim calcmode="lin" valueType="num">
                                      <p:cBhvr>
                                        <p:cTn id="24" dur="750" fill="hold"/>
                                        <p:tgtEl>
                                          <p:spTgt spid="13"/>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10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750"/>
                                        <p:tgtEl>
                                          <p:spTgt spid="14"/>
                                        </p:tgtEl>
                                      </p:cBhvr>
                                    </p:animEffect>
                                    <p:anim calcmode="lin" valueType="num">
                                      <p:cBhvr>
                                        <p:cTn id="28" dur="750" fill="hold"/>
                                        <p:tgtEl>
                                          <p:spTgt spid="14"/>
                                        </p:tgtEl>
                                        <p:attrNameLst>
                                          <p:attrName>ppt_x</p:attrName>
                                        </p:attrNameLst>
                                      </p:cBhvr>
                                      <p:tavLst>
                                        <p:tav tm="0">
                                          <p:val>
                                            <p:strVal val="#ppt_x"/>
                                          </p:val>
                                        </p:tav>
                                        <p:tav tm="100000">
                                          <p:val>
                                            <p:strVal val="#ppt_x"/>
                                          </p:val>
                                        </p:tav>
                                      </p:tavLst>
                                    </p:anim>
                                    <p:anim calcmode="lin" valueType="num">
                                      <p:cBhvr>
                                        <p:cTn id="29" dur="750" fill="hold"/>
                                        <p:tgtEl>
                                          <p:spTgt spid="14"/>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20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750"/>
                                        <p:tgtEl>
                                          <p:spTgt spid="16"/>
                                        </p:tgtEl>
                                      </p:cBhvr>
                                    </p:animEffect>
                                    <p:anim calcmode="lin" valueType="num">
                                      <p:cBhvr>
                                        <p:cTn id="33" dur="750" fill="hold"/>
                                        <p:tgtEl>
                                          <p:spTgt spid="16"/>
                                        </p:tgtEl>
                                        <p:attrNameLst>
                                          <p:attrName>ppt_x</p:attrName>
                                        </p:attrNameLst>
                                      </p:cBhvr>
                                      <p:tavLst>
                                        <p:tav tm="0">
                                          <p:val>
                                            <p:strVal val="#ppt_x"/>
                                          </p:val>
                                        </p:tav>
                                        <p:tav tm="100000">
                                          <p:val>
                                            <p:strVal val="#ppt_x"/>
                                          </p:val>
                                        </p:tav>
                                      </p:tavLst>
                                    </p:anim>
                                    <p:anim calcmode="lin" valueType="num">
                                      <p:cBhvr>
                                        <p:cTn id="34" dur="75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文本框 36"/>
          <p:cNvSpPr txBox="1"/>
          <p:nvPr/>
        </p:nvSpPr>
        <p:spPr>
          <a:xfrm>
            <a:off x="8610404" y="6583649"/>
            <a:ext cx="3012363" cy="246221"/>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Tsinghua University of China</a:t>
            </a:r>
            <a:endParaRPr kumimoji="0" lang="zh-CN" altLang="en-US" sz="1000" b="0"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62" name="文本框 61"/>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4" name="矩形 63"/>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6" name="文本框 65"/>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8" name="文本框 67"/>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cxnSp>
        <p:nvCxnSpPr>
          <p:cNvPr id="69" name="直接连接符 68"/>
          <p:cNvCxnSpPr/>
          <p:nvPr/>
        </p:nvCxnSpPr>
        <p:spPr>
          <a:xfrm>
            <a:off x="660400" y="760413"/>
            <a:ext cx="10858500" cy="0"/>
          </a:xfrm>
          <a:prstGeom prst="line">
            <a:avLst/>
          </a:prstGeom>
          <a:noFill/>
          <a:ln w="22225" cap="flat" cmpd="sng" algn="ctr">
            <a:solidFill>
              <a:srgbClr val="1C6299"/>
            </a:solidFill>
            <a:prstDash val="solid"/>
            <a:miter lim="800000"/>
          </a:ln>
          <a:effectLst/>
        </p:spPr>
      </p:cxnSp>
      <p:grpSp>
        <p:nvGrpSpPr>
          <p:cNvPr id="70" name="组合 69"/>
          <p:cNvGrpSpPr/>
          <p:nvPr/>
        </p:nvGrpSpPr>
        <p:grpSpPr>
          <a:xfrm>
            <a:off x="203760" y="159728"/>
            <a:ext cx="725344" cy="619478"/>
            <a:chOff x="178632" y="159728"/>
            <a:chExt cx="725344" cy="619478"/>
          </a:xfrm>
        </p:grpSpPr>
        <p:sp>
          <p:nvSpPr>
            <p:cNvPr id="71" name="椭圆 70"/>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2" name="文本框 71"/>
            <p:cNvSpPr txBox="1"/>
            <p:nvPr/>
          </p:nvSpPr>
          <p:spPr>
            <a:xfrm>
              <a:off x="230876" y="233483"/>
              <a:ext cx="673100" cy="33718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02</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3" name="椭圆 72"/>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pic>
        <p:nvPicPr>
          <p:cNvPr id="74" name="图片 7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75" name="标题占位符 1"/>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lnSpc>
                <a:spcPct val="100000"/>
              </a:lnSpc>
              <a:spcBef>
                <a:spcPts val="0"/>
              </a:spcBef>
            </a:pPr>
            <a:r>
              <a:rPr lang="zh-CN" altLang="en-US" sz="2600" b="1" dirty="0">
                <a:solidFill>
                  <a:sysClr val="windowText" lastClr="000000"/>
                </a:solidFill>
                <a:latin typeface="Arial" panose="020B0604020202020204"/>
                <a:ea typeface="微软雅黑" panose="020B0503020204020204" pitchFamily="34" charset="-122"/>
                <a:cs typeface="+mn-cs"/>
              </a:rPr>
              <a:t>研究方法</a:t>
            </a:r>
            <a:r>
              <a:rPr lang="en-US" altLang="zh-CN" sz="2600" b="1" dirty="0">
                <a:solidFill>
                  <a:sysClr val="windowText" lastClr="000000"/>
                </a:solidFill>
                <a:latin typeface="Arial" panose="020B0604020202020204"/>
                <a:ea typeface="微软雅黑" panose="020B0503020204020204" pitchFamily="34" charset="-122"/>
                <a:cs typeface="+mn-cs"/>
              </a:rPr>
              <a:t>——MedVLM-R1 </a:t>
            </a:r>
            <a:r>
              <a:rPr lang="zh-CN" altLang="en-US" sz="2600" b="1" dirty="0">
                <a:solidFill>
                  <a:sysClr val="windowText" lastClr="000000"/>
                </a:solidFill>
                <a:latin typeface="Arial" panose="020B0604020202020204"/>
                <a:ea typeface="微软雅黑" panose="020B0503020204020204" pitchFamily="34" charset="-122"/>
                <a:cs typeface="+mn-cs"/>
              </a:rPr>
              <a:t>框架</a:t>
            </a:r>
            <a:endParaRPr lang="zh-CN" altLang="en-US" sz="2600" b="1" dirty="0">
              <a:solidFill>
                <a:sysClr val="windowText" lastClr="000000"/>
              </a:solidFill>
              <a:latin typeface="Arial" panose="020B0604020202020204"/>
              <a:ea typeface="微软雅黑" panose="020B0503020204020204" pitchFamily="34" charset="-122"/>
              <a:cs typeface="+mn-cs"/>
            </a:endParaRPr>
          </a:p>
        </p:txBody>
      </p:sp>
      <p:sp>
        <p:nvSpPr>
          <p:cNvPr id="20" name="矩形: 圆角 20"/>
          <p:cNvSpPr/>
          <p:nvPr>
            <p:custDataLst>
              <p:tags r:id="rId2"/>
            </p:custDataLst>
          </p:nvPr>
        </p:nvSpPr>
        <p:spPr>
          <a:xfrm>
            <a:off x="594360" y="1100455"/>
            <a:ext cx="10687050" cy="4638040"/>
          </a:xfrm>
          <a:prstGeom prst="roundRect">
            <a:avLst>
              <a:gd name="adj" fmla="val 5616"/>
            </a:avLst>
          </a:prstGeom>
          <a:gradFill>
            <a:gsLst>
              <a:gs pos="100000">
                <a:schemeClr val="accent1">
                  <a:alpha val="0"/>
                </a:schemeClr>
              </a:gs>
              <a:gs pos="100000">
                <a:schemeClr val="accent1">
                  <a:alpha val="100000"/>
                </a:schemeClr>
              </a:gs>
              <a:gs pos="0">
                <a:schemeClr val="accent1">
                  <a:lumMod val="20000"/>
                  <a:lumOff val="80000"/>
                  <a:alpha val="10000"/>
                </a:schemeClr>
              </a:gs>
            </a:gsLst>
            <a:lin ang="5400000" scaled="0"/>
          </a:gradFill>
          <a:ln>
            <a:gradFill>
              <a:gsLst>
                <a:gs pos="20000">
                  <a:schemeClr val="accent1">
                    <a:alpha val="0"/>
                  </a:schemeClr>
                </a:gs>
                <a:gs pos="100000">
                  <a:schemeClr val="accent1">
                    <a:lumMod val="60000"/>
                    <a:lumOff val="40000"/>
                    <a:alpha val="100000"/>
                  </a:schemeClr>
                </a:gs>
              </a:gsLst>
              <a:lin ang="16200000" scaled="1"/>
            </a:gradFill>
          </a:ln>
          <a:effectLst>
            <a:outerShdw blurRad="152400" dist="38100" dir="13500000" algn="br" rotWithShape="0">
              <a:schemeClr val="accent1">
                <a:lumMod val="75000"/>
                <a:alpha val="7000"/>
              </a:schemeClr>
            </a:outerShdw>
          </a:effectLst>
        </p:spPr>
        <p:style>
          <a:lnRef idx="1">
            <a:schemeClr val="accent1"/>
          </a:lnRef>
          <a:fillRef idx="2">
            <a:schemeClr val="accent1"/>
          </a:fillRef>
          <a:effectRef idx="1">
            <a:schemeClr val="accent1"/>
          </a:effectRef>
          <a:fontRef idx="minor">
            <a:schemeClr val="dk1"/>
          </a:fontRef>
        </p:style>
        <p:txBody>
          <a:bodyPr vertOverflow="overflow" horzOverflow="overflow" vert="horz" wrap="square" lIns="360045" tIns="360045" rIns="288290" bIns="360045" numCol="1" spcCol="0" rtlCol="0" fromWordArt="0" anchor="b" anchorCtr="1" forceAA="0" compatLnSpc="1">
            <a:noAutofit/>
          </a:bodyPr>
          <a:p>
            <a:pPr lvl="0" algn="just">
              <a:lnSpc>
                <a:spcPct val="150000"/>
              </a:lnSpc>
              <a:spcBef>
                <a:spcPts val="0"/>
              </a:spcBef>
              <a:spcAft>
                <a:spcPts val="0"/>
              </a:spcAft>
              <a:buClrTx/>
              <a:buSzTx/>
              <a:buFontTx/>
            </a:pPr>
            <a:endParaRPr lang="zh-CN" altLang="en-US" sz="1600" kern="0" dirty="0">
              <a:ln>
                <a:noFill/>
                <a:prstDash val="sysDot"/>
              </a:ln>
              <a:solidFill>
                <a:srgbClr val="292929"/>
              </a:solidFill>
              <a:latin typeface="+mn-ea"/>
              <a:sym typeface="+mn-ea"/>
            </a:endParaRPr>
          </a:p>
        </p:txBody>
      </p:sp>
      <p:sp>
        <p:nvSpPr>
          <p:cNvPr id="4" name="文本框 3"/>
          <p:cNvSpPr txBox="1"/>
          <p:nvPr>
            <p:custDataLst>
              <p:tags r:id="rId3"/>
            </p:custDataLst>
          </p:nvPr>
        </p:nvSpPr>
        <p:spPr>
          <a:xfrm>
            <a:off x="903605" y="1100455"/>
            <a:ext cx="10005060" cy="757555"/>
          </a:xfrm>
          <a:prstGeom prst="rect">
            <a:avLst/>
          </a:prstGeom>
          <a:noFill/>
        </p:spPr>
        <p:txBody>
          <a:bodyPr wrap="square" lIns="0" tIns="0" rIns="0" bIns="0" rtlCol="0" anchor="ctr" anchorCtr="0">
            <a:noAutofit/>
          </a:bodyPr>
          <a:p>
            <a:pPr lvl="0" algn="l">
              <a:lnSpc>
                <a:spcPct val="120000"/>
              </a:lnSpc>
              <a:buClrTx/>
              <a:buSzTx/>
              <a:buFontTx/>
            </a:pPr>
            <a:r>
              <a:rPr lang="zh-CN" altLang="en-US" sz="2400" b="1">
                <a:solidFill>
                  <a:schemeClr val="accent1"/>
                </a:solidFill>
                <a:latin typeface="+mn-ea"/>
                <a:cs typeface="+mn-ea"/>
                <a:sym typeface="+mn-ea"/>
              </a:rPr>
              <a:t>一、</a:t>
            </a:r>
            <a:r>
              <a:rPr lang="en-US" altLang="zh-CN" sz="2400" b="1">
                <a:solidFill>
                  <a:schemeClr val="accent1"/>
                </a:solidFill>
                <a:latin typeface="+mn-ea"/>
                <a:cs typeface="+mn-ea"/>
                <a:sym typeface="+mn-ea"/>
              </a:rPr>
              <a:t>MedVLM-R1 </a:t>
            </a:r>
            <a:r>
              <a:rPr lang="zh-CN" altLang="en-US" sz="2400" b="1">
                <a:solidFill>
                  <a:schemeClr val="accent1"/>
                </a:solidFill>
                <a:latin typeface="+mn-ea"/>
                <a:cs typeface="+mn-ea"/>
                <a:sym typeface="+mn-ea"/>
              </a:rPr>
              <a:t>的</a:t>
            </a:r>
            <a:r>
              <a:rPr lang="en-US" altLang="zh-CN" sz="2400" b="1">
                <a:solidFill>
                  <a:schemeClr val="accent1"/>
                </a:solidFill>
                <a:latin typeface="+mn-ea"/>
                <a:cs typeface="+mn-ea"/>
                <a:sym typeface="+mn-ea"/>
              </a:rPr>
              <a:t> Prompt </a:t>
            </a:r>
            <a:r>
              <a:rPr lang="zh-CN" altLang="en-US" sz="2400" b="1">
                <a:solidFill>
                  <a:schemeClr val="accent1"/>
                </a:solidFill>
                <a:latin typeface="+mn-ea"/>
                <a:cs typeface="+mn-ea"/>
                <a:sym typeface="+mn-ea"/>
              </a:rPr>
              <a:t>模板</a:t>
            </a:r>
            <a:endParaRPr lang="zh-CN" altLang="en-US" sz="2400" b="1">
              <a:solidFill>
                <a:schemeClr val="accent1"/>
              </a:solidFill>
              <a:latin typeface="+mn-ea"/>
              <a:cs typeface="+mn-ea"/>
              <a:sym typeface="+mn-ea"/>
            </a:endParaRPr>
          </a:p>
        </p:txBody>
      </p:sp>
      <p:cxnSp>
        <p:nvCxnSpPr>
          <p:cNvPr id="7" name="直接连接符 6"/>
          <p:cNvCxnSpPr/>
          <p:nvPr>
            <p:custDataLst>
              <p:tags r:id="rId4"/>
            </p:custDataLst>
          </p:nvPr>
        </p:nvCxnSpPr>
        <p:spPr>
          <a:xfrm>
            <a:off x="959803" y="1923733"/>
            <a:ext cx="10038080" cy="54610"/>
          </a:xfrm>
          <a:prstGeom prst="line">
            <a:avLst/>
          </a:prstGeom>
          <a:ln>
            <a:gradFill>
              <a:gsLst>
                <a:gs pos="0">
                  <a:schemeClr val="accent1">
                    <a:alpha val="10000"/>
                  </a:schemeClr>
                </a:gs>
                <a:gs pos="100000">
                  <a:schemeClr val="accent1">
                    <a:alpha val="80000"/>
                  </a:schemeClr>
                </a:gs>
              </a:gsLst>
              <a:lin ang="10800000" scaled="1"/>
            </a:gradFill>
            <a:headEnd type="oval"/>
            <a:tailEnd type="none"/>
          </a:ln>
        </p:spPr>
        <p:style>
          <a:lnRef idx="2">
            <a:schemeClr val="accent1"/>
          </a:lnRef>
          <a:fillRef idx="0">
            <a:srgbClr val="FFFFFF"/>
          </a:fillRef>
          <a:effectRef idx="0">
            <a:srgbClr val="FFFFFF"/>
          </a:effectRef>
          <a:fontRef idx="minor">
            <a:schemeClr val="tx1"/>
          </a:fontRef>
        </p:style>
      </p:cxnSp>
      <p:sp>
        <p:nvSpPr>
          <p:cNvPr id="3" name="文本框 2"/>
          <p:cNvSpPr txBox="1"/>
          <p:nvPr/>
        </p:nvSpPr>
        <p:spPr>
          <a:xfrm>
            <a:off x="978535" y="2190115"/>
            <a:ext cx="4284980" cy="4184015"/>
          </a:xfrm>
          <a:prstGeom prst="rect">
            <a:avLst/>
          </a:prstGeom>
          <a:noFill/>
        </p:spPr>
        <p:txBody>
          <a:bodyPr wrap="square" rtlCol="0" anchor="t">
            <a:noAutofit/>
          </a:bodyPr>
          <a:p>
            <a:pPr marL="171450" marR="0" lvl="0" indent="-171450" algn="l" defTabSz="1218565" rtl="0" eaLnBrk="1" fontAlgn="auto" latinLnBrk="0" hangingPunct="1">
              <a:lnSpc>
                <a:spcPct val="120000"/>
              </a:lnSpc>
              <a:spcBef>
                <a:spcPct val="20000"/>
              </a:spcBef>
              <a:spcAft>
                <a:spcPts val="0"/>
              </a:spcAft>
              <a:buClrTx/>
              <a:buSzTx/>
              <a:buFont typeface="Wingdings" panose="05000000000000000000" pitchFamily="2" charset="2"/>
              <a:buChar char="l"/>
              <a:defRPr/>
            </a:pPr>
            <a:r>
              <a:rPr lang="en-US" altLang="zh-CN"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MedVLM-R1</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用</a:t>
            </a:r>
            <a:r>
              <a:rPr lang="en-US" altLang="zh-CN"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 Qwen2-VL-2B </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作</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为基础模型，</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分为 4 个分层模块，是</a:t>
            </a:r>
            <a:r>
              <a:rPr lang="zh-CN" altLang="en-US" sz="16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 </a:t>
            </a:r>
            <a:r>
              <a:rPr lang="en-US" altLang="zh-CN" sz="16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GRPO </a:t>
            </a:r>
            <a:r>
              <a:rPr lang="zh-CN" altLang="en-US" sz="16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强化学习</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训练的核心规则依据。</a:t>
            </a:r>
            <a:endPar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a:p>
            <a:pPr marL="171450" marR="0" lvl="0" indent="-171450" algn="l" defTabSz="1218565" rtl="0" eaLnBrk="1" fontAlgn="auto" latinLnBrk="0" hangingPunct="1">
              <a:lnSpc>
                <a:spcPct val="120000"/>
              </a:lnSpc>
              <a:spcBef>
                <a:spcPct val="20000"/>
              </a:spcBef>
              <a:spcAft>
                <a:spcPts val="0"/>
              </a:spcAft>
              <a:buClrTx/>
              <a:buSzTx/>
              <a:buFont typeface="Wingdings" panose="05000000000000000000" pitchFamily="2" charset="2"/>
              <a:buChar char="l"/>
              <a:defRPr/>
            </a:pP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模块 1：医疗多选 </a:t>
            </a:r>
            <a:r>
              <a:rPr lang="en-US" altLang="zh-CN"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VQA </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格式</a:t>
            </a:r>
            <a:endPar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a:p>
            <a:pPr marL="171450" marR="0" lvl="0" indent="-171450" algn="l" defTabSz="1218565" rtl="0" eaLnBrk="1" fontAlgn="auto" latinLnBrk="0" hangingPunct="1">
              <a:lnSpc>
                <a:spcPct val="120000"/>
              </a:lnSpc>
              <a:spcBef>
                <a:spcPct val="20000"/>
              </a:spcBef>
              <a:spcAft>
                <a:spcPts val="0"/>
              </a:spcAft>
              <a:buClrTx/>
              <a:buSzTx/>
              <a:buFont typeface="Wingdings" panose="05000000000000000000" pitchFamily="2" charset="2"/>
              <a:buChar char="l"/>
              <a:defRPr/>
            </a:pP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模块 2：强制结构化输入指令</a:t>
            </a:r>
            <a:endPar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a:p>
            <a:pPr marL="171450" marR="0" lvl="0" indent="-171450" algn="l" defTabSz="1218565" rtl="0" eaLnBrk="1" fontAlgn="auto" latinLnBrk="0" hangingPunct="1">
              <a:lnSpc>
                <a:spcPct val="120000"/>
              </a:lnSpc>
              <a:spcBef>
                <a:spcPct val="20000"/>
              </a:spcBef>
              <a:spcAft>
                <a:spcPts val="0"/>
              </a:spcAft>
              <a:buClrTx/>
              <a:buSzTx/>
              <a:buFont typeface="Wingdings" panose="05000000000000000000" pitchFamily="2" charset="2"/>
              <a:buChar char="l"/>
              <a:defRPr/>
            </a:pP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模块 3：模型输出样例</a:t>
            </a:r>
            <a:r>
              <a:rPr lang="en-US" altLang="zh-CN"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 </a:t>
            </a:r>
            <a:endParaRPr lang="en-US" altLang="zh-CN"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a:p>
            <a:pPr marL="171450" marR="0" lvl="0" indent="-171450" algn="l" defTabSz="1218565" rtl="0" eaLnBrk="1" fontAlgn="auto" latinLnBrk="0" hangingPunct="1">
              <a:lnSpc>
                <a:spcPct val="120000"/>
              </a:lnSpc>
              <a:spcBef>
                <a:spcPct val="20000"/>
              </a:spcBef>
              <a:spcAft>
                <a:spcPts val="0"/>
              </a:spcAft>
              <a:buClrTx/>
              <a:buSzTx/>
              <a:buFont typeface="Wingdings" panose="05000000000000000000" pitchFamily="2" charset="2"/>
              <a:buChar char="l"/>
              <a:defRPr/>
            </a:pP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模块 4：两类规则化奖励</a:t>
            </a:r>
            <a:endPar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a:p>
            <a:pPr marL="171450" marR="0" lvl="0" indent="-171450" algn="l" defTabSz="1218565" rtl="0" eaLnBrk="1" fontAlgn="auto" latinLnBrk="0" hangingPunct="1">
              <a:lnSpc>
                <a:spcPct val="120000"/>
              </a:lnSpc>
              <a:spcBef>
                <a:spcPct val="20000"/>
              </a:spcBef>
              <a:spcAft>
                <a:spcPts val="0"/>
              </a:spcAft>
              <a:buClrTx/>
              <a:buSzTx/>
              <a:buFont typeface="Wingdings" panose="05000000000000000000" pitchFamily="2" charset="2"/>
              <a:buChar char="l"/>
              <a:defRPr/>
            </a:pP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传统 </a:t>
            </a:r>
            <a:r>
              <a:rPr lang="en-US" altLang="zh-CN"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SFT </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无输出格式约束，模型不会主动生成推理；这里展示的是规则化奖励如何从输入层面强制模型产出可解释思维链，</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也是整篇论文 </a:t>
            </a:r>
            <a:r>
              <a:rPr lang="en-US" altLang="zh-CN"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GRPO </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训练方案的可视化核心。</a:t>
            </a:r>
            <a:endPar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p:txBody>
      </p:sp>
      <p:pic>
        <p:nvPicPr>
          <p:cNvPr id="2" name="图片 1"/>
          <p:cNvPicPr>
            <a:picLocks noChangeAspect="1"/>
          </p:cNvPicPr>
          <p:nvPr/>
        </p:nvPicPr>
        <p:blipFill>
          <a:blip r:embed="rId5"/>
          <a:stretch>
            <a:fillRect/>
          </a:stretch>
        </p:blipFill>
        <p:spPr>
          <a:xfrm>
            <a:off x="5194300" y="2143125"/>
            <a:ext cx="5942965" cy="359537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文本框 36"/>
          <p:cNvSpPr txBox="1"/>
          <p:nvPr/>
        </p:nvSpPr>
        <p:spPr>
          <a:xfrm>
            <a:off x="8610404" y="6583649"/>
            <a:ext cx="3012363" cy="246221"/>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Tsinghua University of China</a:t>
            </a:r>
            <a:endParaRPr kumimoji="0" lang="zh-CN" altLang="en-US" sz="1000" b="0"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62" name="文本框 61"/>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4" name="矩形 63"/>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6" name="文本框 65"/>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8" name="文本框 67"/>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cxnSp>
        <p:nvCxnSpPr>
          <p:cNvPr id="69" name="直接连接符 68"/>
          <p:cNvCxnSpPr/>
          <p:nvPr/>
        </p:nvCxnSpPr>
        <p:spPr>
          <a:xfrm>
            <a:off x="660400" y="760413"/>
            <a:ext cx="10858500" cy="0"/>
          </a:xfrm>
          <a:prstGeom prst="line">
            <a:avLst/>
          </a:prstGeom>
          <a:noFill/>
          <a:ln w="22225" cap="flat" cmpd="sng" algn="ctr">
            <a:solidFill>
              <a:srgbClr val="1C6299"/>
            </a:solidFill>
            <a:prstDash val="solid"/>
            <a:miter lim="800000"/>
          </a:ln>
          <a:effectLst/>
        </p:spPr>
      </p:cxnSp>
      <p:grpSp>
        <p:nvGrpSpPr>
          <p:cNvPr id="70" name="组合 69"/>
          <p:cNvGrpSpPr/>
          <p:nvPr/>
        </p:nvGrpSpPr>
        <p:grpSpPr>
          <a:xfrm>
            <a:off x="203760" y="159728"/>
            <a:ext cx="725344" cy="619478"/>
            <a:chOff x="178632" y="159728"/>
            <a:chExt cx="725344" cy="619478"/>
          </a:xfrm>
        </p:grpSpPr>
        <p:sp>
          <p:nvSpPr>
            <p:cNvPr id="71" name="椭圆 70"/>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2" name="文本框 71"/>
            <p:cNvSpPr txBox="1"/>
            <p:nvPr/>
          </p:nvSpPr>
          <p:spPr>
            <a:xfrm>
              <a:off x="230876" y="233483"/>
              <a:ext cx="673100" cy="33718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02</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3" name="椭圆 72"/>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pic>
        <p:nvPicPr>
          <p:cNvPr id="74" name="图片 7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75" name="标题占位符 1"/>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lnSpc>
                <a:spcPct val="100000"/>
              </a:lnSpc>
              <a:spcBef>
                <a:spcPts val="0"/>
              </a:spcBef>
            </a:pPr>
            <a:r>
              <a:rPr lang="zh-CN" altLang="en-US" sz="2600" b="1" dirty="0">
                <a:solidFill>
                  <a:sysClr val="windowText" lastClr="000000"/>
                </a:solidFill>
                <a:latin typeface="Arial" panose="020B0604020202020204"/>
                <a:ea typeface="微软雅黑" panose="020B0503020204020204" pitchFamily="34" charset="-122"/>
                <a:cs typeface="+mn-cs"/>
              </a:rPr>
              <a:t>研究方法</a:t>
            </a:r>
            <a:r>
              <a:rPr lang="en-US" altLang="zh-CN" sz="2600" b="1" dirty="0">
                <a:solidFill>
                  <a:sysClr val="windowText" lastClr="000000"/>
                </a:solidFill>
                <a:latin typeface="Arial" panose="020B0604020202020204"/>
                <a:ea typeface="微软雅黑" panose="020B0503020204020204" pitchFamily="34" charset="-122"/>
                <a:cs typeface="+mn-cs"/>
              </a:rPr>
              <a:t>——MedVLM-R1 </a:t>
            </a:r>
            <a:r>
              <a:rPr lang="zh-CN" altLang="en-US" sz="2600" b="1" dirty="0">
                <a:solidFill>
                  <a:sysClr val="windowText" lastClr="000000"/>
                </a:solidFill>
                <a:latin typeface="Arial" panose="020B0604020202020204"/>
                <a:ea typeface="微软雅黑" panose="020B0503020204020204" pitchFamily="34" charset="-122"/>
                <a:cs typeface="+mn-cs"/>
              </a:rPr>
              <a:t>框架</a:t>
            </a:r>
            <a:endParaRPr lang="zh-CN" altLang="en-US" sz="2600" b="1" dirty="0">
              <a:solidFill>
                <a:sysClr val="windowText" lastClr="000000"/>
              </a:solidFill>
              <a:latin typeface="Arial" panose="020B0604020202020204"/>
              <a:ea typeface="微软雅黑" panose="020B0503020204020204" pitchFamily="34" charset="-122"/>
              <a:cs typeface="+mn-cs"/>
            </a:endParaRPr>
          </a:p>
        </p:txBody>
      </p:sp>
      <p:sp>
        <p:nvSpPr>
          <p:cNvPr id="20" name="矩形: 圆角 20"/>
          <p:cNvSpPr/>
          <p:nvPr>
            <p:custDataLst>
              <p:tags r:id="rId2"/>
            </p:custDataLst>
          </p:nvPr>
        </p:nvSpPr>
        <p:spPr>
          <a:xfrm>
            <a:off x="594360" y="1100455"/>
            <a:ext cx="10687050" cy="4638040"/>
          </a:xfrm>
          <a:prstGeom prst="roundRect">
            <a:avLst>
              <a:gd name="adj" fmla="val 5616"/>
            </a:avLst>
          </a:prstGeom>
          <a:gradFill>
            <a:gsLst>
              <a:gs pos="100000">
                <a:schemeClr val="accent1">
                  <a:alpha val="0"/>
                </a:schemeClr>
              </a:gs>
              <a:gs pos="100000">
                <a:schemeClr val="accent1">
                  <a:alpha val="100000"/>
                </a:schemeClr>
              </a:gs>
              <a:gs pos="0">
                <a:schemeClr val="accent1">
                  <a:lumMod val="20000"/>
                  <a:lumOff val="80000"/>
                  <a:alpha val="10000"/>
                </a:schemeClr>
              </a:gs>
            </a:gsLst>
            <a:lin ang="5400000" scaled="0"/>
          </a:gradFill>
          <a:ln>
            <a:gradFill>
              <a:gsLst>
                <a:gs pos="20000">
                  <a:schemeClr val="accent1">
                    <a:alpha val="0"/>
                  </a:schemeClr>
                </a:gs>
                <a:gs pos="100000">
                  <a:schemeClr val="accent1">
                    <a:lumMod val="60000"/>
                    <a:lumOff val="40000"/>
                    <a:alpha val="100000"/>
                  </a:schemeClr>
                </a:gs>
              </a:gsLst>
              <a:lin ang="16200000" scaled="1"/>
            </a:gradFill>
          </a:ln>
          <a:effectLst>
            <a:outerShdw blurRad="152400" dist="38100" dir="13500000" algn="br" rotWithShape="0">
              <a:schemeClr val="accent1">
                <a:lumMod val="75000"/>
                <a:alpha val="7000"/>
              </a:schemeClr>
            </a:outerShdw>
          </a:effectLst>
        </p:spPr>
        <p:style>
          <a:lnRef idx="1">
            <a:schemeClr val="accent1"/>
          </a:lnRef>
          <a:fillRef idx="2">
            <a:schemeClr val="accent1"/>
          </a:fillRef>
          <a:effectRef idx="1">
            <a:schemeClr val="accent1"/>
          </a:effectRef>
          <a:fontRef idx="minor">
            <a:schemeClr val="dk1"/>
          </a:fontRef>
        </p:style>
        <p:txBody>
          <a:bodyPr vertOverflow="overflow" horzOverflow="overflow" vert="horz" wrap="square" lIns="360045" tIns="360045" rIns="288290" bIns="360045" numCol="1" spcCol="0" rtlCol="0" fromWordArt="0" anchor="b" anchorCtr="1" forceAA="0" compatLnSpc="1">
            <a:noAutofit/>
          </a:bodyPr>
          <a:p>
            <a:pPr lvl="0" algn="just">
              <a:lnSpc>
                <a:spcPct val="150000"/>
              </a:lnSpc>
              <a:spcBef>
                <a:spcPts val="0"/>
              </a:spcBef>
              <a:spcAft>
                <a:spcPts val="0"/>
              </a:spcAft>
              <a:buClrTx/>
              <a:buSzTx/>
              <a:buFontTx/>
            </a:pPr>
            <a:endParaRPr lang="zh-CN" altLang="en-US" sz="1600" kern="0" dirty="0">
              <a:ln>
                <a:noFill/>
                <a:prstDash val="sysDot"/>
              </a:ln>
              <a:solidFill>
                <a:srgbClr val="292929"/>
              </a:solidFill>
              <a:latin typeface="+mn-ea"/>
              <a:sym typeface="+mn-ea"/>
            </a:endParaRPr>
          </a:p>
        </p:txBody>
      </p:sp>
      <p:sp>
        <p:nvSpPr>
          <p:cNvPr id="4" name="文本框 3"/>
          <p:cNvSpPr txBox="1"/>
          <p:nvPr>
            <p:custDataLst>
              <p:tags r:id="rId3"/>
            </p:custDataLst>
          </p:nvPr>
        </p:nvSpPr>
        <p:spPr>
          <a:xfrm>
            <a:off x="903605" y="1100455"/>
            <a:ext cx="10005060" cy="757555"/>
          </a:xfrm>
          <a:prstGeom prst="rect">
            <a:avLst/>
          </a:prstGeom>
          <a:noFill/>
        </p:spPr>
        <p:txBody>
          <a:bodyPr wrap="square" lIns="0" tIns="0" rIns="0" bIns="0" rtlCol="0" anchor="ctr" anchorCtr="0">
            <a:noAutofit/>
          </a:bodyPr>
          <a:p>
            <a:pPr lvl="0" algn="l">
              <a:lnSpc>
                <a:spcPct val="120000"/>
              </a:lnSpc>
              <a:buClrTx/>
              <a:buSzTx/>
              <a:buFontTx/>
            </a:pPr>
            <a:r>
              <a:rPr lang="zh-CN" altLang="en-US" sz="2400" b="1">
                <a:solidFill>
                  <a:schemeClr val="accent1"/>
                </a:solidFill>
                <a:latin typeface="+mn-ea"/>
                <a:cs typeface="+mn-ea"/>
                <a:sym typeface="+mn-ea"/>
              </a:rPr>
              <a:t>二、</a:t>
            </a:r>
            <a:r>
              <a:rPr lang="en-US" altLang="zh-CN" sz="2400" b="1">
                <a:solidFill>
                  <a:schemeClr val="accent1"/>
                </a:solidFill>
                <a:latin typeface="+mn-ea"/>
                <a:cs typeface="+mn-ea"/>
                <a:sym typeface="+mn-ea"/>
              </a:rPr>
              <a:t>MedVLM-R1 </a:t>
            </a:r>
            <a:r>
              <a:rPr lang="zh-CN" altLang="en-US" sz="2400" b="1">
                <a:solidFill>
                  <a:schemeClr val="accent1"/>
                </a:solidFill>
                <a:latin typeface="+mn-ea"/>
                <a:cs typeface="+mn-ea"/>
                <a:sym typeface="+mn-ea"/>
              </a:rPr>
              <a:t>四类放射影像 </a:t>
            </a:r>
            <a:r>
              <a:rPr lang="en-US" altLang="zh-CN" sz="2400" b="1">
                <a:solidFill>
                  <a:schemeClr val="accent1"/>
                </a:solidFill>
                <a:latin typeface="+mn-ea"/>
                <a:cs typeface="+mn-ea"/>
                <a:sym typeface="+mn-ea"/>
              </a:rPr>
              <a:t>VQA </a:t>
            </a:r>
            <a:r>
              <a:rPr lang="zh-CN" altLang="en-US" sz="2400" b="1">
                <a:solidFill>
                  <a:schemeClr val="accent1"/>
                </a:solidFill>
                <a:latin typeface="+mn-ea"/>
                <a:cs typeface="+mn-ea"/>
                <a:sym typeface="+mn-ea"/>
              </a:rPr>
              <a:t>真实推理样例</a:t>
            </a:r>
            <a:endParaRPr lang="zh-CN" altLang="en-US" sz="2400" b="1">
              <a:solidFill>
                <a:schemeClr val="accent1"/>
              </a:solidFill>
              <a:latin typeface="+mn-ea"/>
              <a:cs typeface="+mn-ea"/>
              <a:sym typeface="+mn-ea"/>
            </a:endParaRPr>
          </a:p>
        </p:txBody>
      </p:sp>
      <p:cxnSp>
        <p:nvCxnSpPr>
          <p:cNvPr id="7" name="直接连接符 6"/>
          <p:cNvCxnSpPr/>
          <p:nvPr>
            <p:custDataLst>
              <p:tags r:id="rId4"/>
            </p:custDataLst>
          </p:nvPr>
        </p:nvCxnSpPr>
        <p:spPr>
          <a:xfrm>
            <a:off x="959803" y="1923733"/>
            <a:ext cx="10038080" cy="54610"/>
          </a:xfrm>
          <a:prstGeom prst="line">
            <a:avLst/>
          </a:prstGeom>
          <a:ln>
            <a:gradFill>
              <a:gsLst>
                <a:gs pos="0">
                  <a:schemeClr val="accent1">
                    <a:alpha val="10000"/>
                  </a:schemeClr>
                </a:gs>
                <a:gs pos="100000">
                  <a:schemeClr val="accent1">
                    <a:alpha val="80000"/>
                  </a:schemeClr>
                </a:gs>
              </a:gsLst>
              <a:lin ang="10800000" scaled="1"/>
            </a:gradFill>
            <a:headEnd type="oval"/>
            <a:tailEnd type="none"/>
          </a:ln>
        </p:spPr>
        <p:style>
          <a:lnRef idx="2">
            <a:schemeClr val="accent1"/>
          </a:lnRef>
          <a:fillRef idx="0">
            <a:srgbClr val="FFFFFF"/>
          </a:fillRef>
          <a:effectRef idx="0">
            <a:srgbClr val="FFFFFF"/>
          </a:effectRef>
          <a:fontRef idx="minor">
            <a:schemeClr val="tx1"/>
          </a:fontRef>
        </p:style>
      </p:cxnSp>
      <p:sp>
        <p:nvSpPr>
          <p:cNvPr id="3" name="文本框 2"/>
          <p:cNvSpPr txBox="1"/>
          <p:nvPr/>
        </p:nvSpPr>
        <p:spPr>
          <a:xfrm>
            <a:off x="978535" y="2190115"/>
            <a:ext cx="2811145" cy="4184015"/>
          </a:xfrm>
          <a:prstGeom prst="rect">
            <a:avLst/>
          </a:prstGeom>
          <a:noFill/>
        </p:spPr>
        <p:txBody>
          <a:bodyPr wrap="square" rtlCol="0" anchor="t">
            <a:noAutofit/>
          </a:bodyPr>
          <a:p>
            <a:pPr marL="171450" marR="0" lvl="0" indent="-171450" algn="l" defTabSz="1218565" rtl="0" eaLnBrk="1" fontAlgn="auto" latinLnBrk="0" hangingPunct="1">
              <a:lnSpc>
                <a:spcPct val="120000"/>
              </a:lnSpc>
              <a:spcBef>
                <a:spcPct val="20000"/>
              </a:spcBef>
              <a:spcAft>
                <a:spcPts val="0"/>
              </a:spcAft>
              <a:buClrTx/>
              <a:buSzTx/>
              <a:buFont typeface="Wingdings" panose="05000000000000000000" pitchFamily="2" charset="2"/>
              <a:buChar char="l"/>
              <a:defRPr/>
            </a:pP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案例 1：胸部 </a:t>
            </a:r>
            <a:r>
              <a:rPr lang="en-US" altLang="zh-CN"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X </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光（</a:t>
            </a:r>
            <a:r>
              <a:rPr lang="en-US" altLang="zh-CN"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X-ray，</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模态识别任务）</a:t>
            </a:r>
            <a:endPar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a:p>
            <a:pPr marL="171450" marR="0" lvl="0" indent="-171450" algn="l" defTabSz="1218565" rtl="0" eaLnBrk="1" fontAlgn="auto" latinLnBrk="0" hangingPunct="1">
              <a:lnSpc>
                <a:spcPct val="120000"/>
              </a:lnSpc>
              <a:spcBef>
                <a:spcPct val="20000"/>
              </a:spcBef>
              <a:spcAft>
                <a:spcPts val="0"/>
              </a:spcAft>
              <a:buClrTx/>
              <a:buSzTx/>
              <a:buFont typeface="Wingdings" panose="05000000000000000000" pitchFamily="2" charset="2"/>
              <a:buChar char="l"/>
              <a:defRPr/>
            </a:pP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案例 2：乳腺钼靶 </a:t>
            </a:r>
            <a:r>
              <a:rPr lang="en-US" altLang="zh-CN"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X </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光（</a:t>
            </a:r>
            <a:r>
              <a:rPr lang="en-US" altLang="zh-CN"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X-ray，</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组织识别任务）</a:t>
            </a:r>
            <a:endPar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p:txBody>
      </p:sp>
      <p:pic>
        <p:nvPicPr>
          <p:cNvPr id="5" name="图片 4"/>
          <p:cNvPicPr>
            <a:picLocks noChangeAspect="1"/>
          </p:cNvPicPr>
          <p:nvPr/>
        </p:nvPicPr>
        <p:blipFill>
          <a:blip r:embed="rId5"/>
          <a:stretch>
            <a:fillRect/>
          </a:stretch>
        </p:blipFill>
        <p:spPr>
          <a:xfrm>
            <a:off x="4003040" y="2044700"/>
            <a:ext cx="7072630" cy="399859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文本框 36"/>
          <p:cNvSpPr txBox="1"/>
          <p:nvPr/>
        </p:nvSpPr>
        <p:spPr>
          <a:xfrm>
            <a:off x="8610404" y="6583649"/>
            <a:ext cx="3012363" cy="246221"/>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Tsinghua University of China</a:t>
            </a:r>
            <a:endParaRPr kumimoji="0" lang="zh-CN" altLang="en-US" sz="1000" b="0"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62" name="文本框 61"/>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4" name="矩形 63"/>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6" name="文本框 65"/>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8" name="文本框 67"/>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cxnSp>
        <p:nvCxnSpPr>
          <p:cNvPr id="69" name="直接连接符 68"/>
          <p:cNvCxnSpPr/>
          <p:nvPr/>
        </p:nvCxnSpPr>
        <p:spPr>
          <a:xfrm>
            <a:off x="660400" y="760413"/>
            <a:ext cx="10858500" cy="0"/>
          </a:xfrm>
          <a:prstGeom prst="line">
            <a:avLst/>
          </a:prstGeom>
          <a:noFill/>
          <a:ln w="22225" cap="flat" cmpd="sng" algn="ctr">
            <a:solidFill>
              <a:srgbClr val="1C6299"/>
            </a:solidFill>
            <a:prstDash val="solid"/>
            <a:miter lim="800000"/>
          </a:ln>
          <a:effectLst/>
        </p:spPr>
      </p:cxnSp>
      <p:grpSp>
        <p:nvGrpSpPr>
          <p:cNvPr id="70" name="组合 69"/>
          <p:cNvGrpSpPr/>
          <p:nvPr/>
        </p:nvGrpSpPr>
        <p:grpSpPr>
          <a:xfrm>
            <a:off x="203760" y="159728"/>
            <a:ext cx="725344" cy="619478"/>
            <a:chOff x="178632" y="159728"/>
            <a:chExt cx="725344" cy="619478"/>
          </a:xfrm>
        </p:grpSpPr>
        <p:sp>
          <p:nvSpPr>
            <p:cNvPr id="71" name="椭圆 70"/>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2" name="文本框 71"/>
            <p:cNvSpPr txBox="1"/>
            <p:nvPr/>
          </p:nvSpPr>
          <p:spPr>
            <a:xfrm>
              <a:off x="230876" y="233483"/>
              <a:ext cx="673100" cy="33718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02</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3" name="椭圆 72"/>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pic>
        <p:nvPicPr>
          <p:cNvPr id="74" name="图片 7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75" name="标题占位符 1"/>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lnSpc>
                <a:spcPct val="100000"/>
              </a:lnSpc>
              <a:spcBef>
                <a:spcPts val="0"/>
              </a:spcBef>
            </a:pPr>
            <a:r>
              <a:rPr lang="zh-CN" altLang="en-US" sz="2600" b="1" dirty="0">
                <a:solidFill>
                  <a:sysClr val="windowText" lastClr="000000"/>
                </a:solidFill>
                <a:latin typeface="Arial" panose="020B0604020202020204"/>
                <a:ea typeface="微软雅黑" panose="020B0503020204020204" pitchFamily="34" charset="-122"/>
                <a:cs typeface="+mn-cs"/>
              </a:rPr>
              <a:t>研究方法</a:t>
            </a:r>
            <a:r>
              <a:rPr lang="en-US" altLang="zh-CN" sz="2600" b="1" dirty="0">
                <a:solidFill>
                  <a:sysClr val="windowText" lastClr="000000"/>
                </a:solidFill>
                <a:latin typeface="Arial" panose="020B0604020202020204"/>
                <a:ea typeface="微软雅黑" panose="020B0503020204020204" pitchFamily="34" charset="-122"/>
                <a:cs typeface="+mn-cs"/>
              </a:rPr>
              <a:t>——MedVLM-R1 </a:t>
            </a:r>
            <a:r>
              <a:rPr lang="zh-CN" altLang="en-US" sz="2600" b="1" dirty="0">
                <a:solidFill>
                  <a:sysClr val="windowText" lastClr="000000"/>
                </a:solidFill>
                <a:latin typeface="Arial" panose="020B0604020202020204"/>
                <a:ea typeface="微软雅黑" panose="020B0503020204020204" pitchFamily="34" charset="-122"/>
                <a:cs typeface="+mn-cs"/>
              </a:rPr>
              <a:t>框架</a:t>
            </a:r>
            <a:endParaRPr lang="zh-CN" altLang="en-US" sz="2600" b="1" dirty="0">
              <a:solidFill>
                <a:sysClr val="windowText" lastClr="000000"/>
              </a:solidFill>
              <a:latin typeface="Arial" panose="020B0604020202020204"/>
              <a:ea typeface="微软雅黑" panose="020B0503020204020204" pitchFamily="34" charset="-122"/>
              <a:cs typeface="+mn-cs"/>
            </a:endParaRPr>
          </a:p>
        </p:txBody>
      </p:sp>
      <p:sp>
        <p:nvSpPr>
          <p:cNvPr id="20" name="矩形: 圆角 20"/>
          <p:cNvSpPr/>
          <p:nvPr>
            <p:custDataLst>
              <p:tags r:id="rId2"/>
            </p:custDataLst>
          </p:nvPr>
        </p:nvSpPr>
        <p:spPr>
          <a:xfrm>
            <a:off x="594360" y="1100455"/>
            <a:ext cx="10687050" cy="4638040"/>
          </a:xfrm>
          <a:prstGeom prst="roundRect">
            <a:avLst>
              <a:gd name="adj" fmla="val 5616"/>
            </a:avLst>
          </a:prstGeom>
          <a:gradFill>
            <a:gsLst>
              <a:gs pos="100000">
                <a:schemeClr val="accent1">
                  <a:alpha val="0"/>
                </a:schemeClr>
              </a:gs>
              <a:gs pos="100000">
                <a:schemeClr val="accent1">
                  <a:alpha val="100000"/>
                </a:schemeClr>
              </a:gs>
              <a:gs pos="0">
                <a:schemeClr val="accent1">
                  <a:lumMod val="20000"/>
                  <a:lumOff val="80000"/>
                  <a:alpha val="10000"/>
                </a:schemeClr>
              </a:gs>
            </a:gsLst>
            <a:lin ang="5400000" scaled="0"/>
          </a:gradFill>
          <a:ln>
            <a:gradFill>
              <a:gsLst>
                <a:gs pos="20000">
                  <a:schemeClr val="accent1">
                    <a:alpha val="0"/>
                  </a:schemeClr>
                </a:gs>
                <a:gs pos="100000">
                  <a:schemeClr val="accent1">
                    <a:lumMod val="60000"/>
                    <a:lumOff val="40000"/>
                    <a:alpha val="100000"/>
                  </a:schemeClr>
                </a:gs>
              </a:gsLst>
              <a:lin ang="16200000" scaled="1"/>
            </a:gradFill>
          </a:ln>
          <a:effectLst>
            <a:outerShdw blurRad="152400" dist="38100" dir="13500000" algn="br" rotWithShape="0">
              <a:schemeClr val="accent1">
                <a:lumMod val="75000"/>
                <a:alpha val="7000"/>
              </a:schemeClr>
            </a:outerShdw>
          </a:effectLst>
        </p:spPr>
        <p:style>
          <a:lnRef idx="1">
            <a:schemeClr val="accent1"/>
          </a:lnRef>
          <a:fillRef idx="2">
            <a:schemeClr val="accent1"/>
          </a:fillRef>
          <a:effectRef idx="1">
            <a:schemeClr val="accent1"/>
          </a:effectRef>
          <a:fontRef idx="minor">
            <a:schemeClr val="dk1"/>
          </a:fontRef>
        </p:style>
        <p:txBody>
          <a:bodyPr vertOverflow="overflow" horzOverflow="overflow" vert="horz" wrap="square" lIns="360045" tIns="360045" rIns="288290" bIns="360045" numCol="1" spcCol="0" rtlCol="0" fromWordArt="0" anchor="b" anchorCtr="1" forceAA="0" compatLnSpc="1">
            <a:noAutofit/>
          </a:bodyPr>
          <a:p>
            <a:pPr lvl="0" algn="just">
              <a:lnSpc>
                <a:spcPct val="150000"/>
              </a:lnSpc>
              <a:spcBef>
                <a:spcPts val="0"/>
              </a:spcBef>
              <a:spcAft>
                <a:spcPts val="0"/>
              </a:spcAft>
              <a:buClrTx/>
              <a:buSzTx/>
              <a:buFontTx/>
            </a:pPr>
            <a:endParaRPr lang="zh-CN" altLang="en-US" sz="1600" kern="0" dirty="0">
              <a:ln>
                <a:noFill/>
                <a:prstDash val="sysDot"/>
              </a:ln>
              <a:solidFill>
                <a:srgbClr val="292929"/>
              </a:solidFill>
              <a:latin typeface="+mn-ea"/>
              <a:sym typeface="+mn-ea"/>
            </a:endParaRPr>
          </a:p>
        </p:txBody>
      </p:sp>
      <p:sp>
        <p:nvSpPr>
          <p:cNvPr id="4" name="文本框 3"/>
          <p:cNvSpPr txBox="1"/>
          <p:nvPr>
            <p:custDataLst>
              <p:tags r:id="rId3"/>
            </p:custDataLst>
          </p:nvPr>
        </p:nvSpPr>
        <p:spPr>
          <a:xfrm>
            <a:off x="903605" y="1100455"/>
            <a:ext cx="10005060" cy="757555"/>
          </a:xfrm>
          <a:prstGeom prst="rect">
            <a:avLst/>
          </a:prstGeom>
          <a:noFill/>
        </p:spPr>
        <p:txBody>
          <a:bodyPr wrap="square" lIns="0" tIns="0" rIns="0" bIns="0" rtlCol="0" anchor="ctr" anchorCtr="0">
            <a:noAutofit/>
          </a:bodyPr>
          <a:p>
            <a:pPr lvl="0" algn="l">
              <a:lnSpc>
                <a:spcPct val="120000"/>
              </a:lnSpc>
              <a:buClrTx/>
              <a:buSzTx/>
              <a:buFontTx/>
            </a:pPr>
            <a:r>
              <a:rPr lang="zh-CN" altLang="en-US" sz="2400" b="1">
                <a:solidFill>
                  <a:schemeClr val="accent1"/>
                </a:solidFill>
                <a:latin typeface="+mn-ea"/>
                <a:cs typeface="+mn-ea"/>
                <a:sym typeface="+mn-ea"/>
              </a:rPr>
              <a:t>二、</a:t>
            </a:r>
            <a:r>
              <a:rPr lang="en-US" altLang="zh-CN" sz="2400" b="1">
                <a:solidFill>
                  <a:schemeClr val="accent1"/>
                </a:solidFill>
                <a:latin typeface="+mn-ea"/>
                <a:cs typeface="+mn-ea"/>
                <a:sym typeface="+mn-ea"/>
              </a:rPr>
              <a:t>MedVLM-R1 </a:t>
            </a:r>
            <a:r>
              <a:rPr lang="zh-CN" altLang="en-US" sz="2400" b="1">
                <a:solidFill>
                  <a:schemeClr val="accent1"/>
                </a:solidFill>
                <a:latin typeface="+mn-ea"/>
                <a:cs typeface="+mn-ea"/>
                <a:sym typeface="+mn-ea"/>
              </a:rPr>
              <a:t>四类放射影像 </a:t>
            </a:r>
            <a:r>
              <a:rPr lang="en-US" altLang="zh-CN" sz="2400" b="1">
                <a:solidFill>
                  <a:schemeClr val="accent1"/>
                </a:solidFill>
                <a:latin typeface="+mn-ea"/>
                <a:cs typeface="+mn-ea"/>
                <a:sym typeface="+mn-ea"/>
              </a:rPr>
              <a:t>VQA </a:t>
            </a:r>
            <a:r>
              <a:rPr lang="zh-CN" altLang="en-US" sz="2400" b="1">
                <a:solidFill>
                  <a:schemeClr val="accent1"/>
                </a:solidFill>
                <a:latin typeface="+mn-ea"/>
                <a:cs typeface="+mn-ea"/>
                <a:sym typeface="+mn-ea"/>
              </a:rPr>
              <a:t>真实推理样例</a:t>
            </a:r>
            <a:endParaRPr lang="zh-CN" altLang="en-US" sz="2400" b="1">
              <a:solidFill>
                <a:schemeClr val="accent1"/>
              </a:solidFill>
              <a:latin typeface="+mn-ea"/>
              <a:cs typeface="+mn-ea"/>
              <a:sym typeface="+mn-ea"/>
            </a:endParaRPr>
          </a:p>
        </p:txBody>
      </p:sp>
      <p:cxnSp>
        <p:nvCxnSpPr>
          <p:cNvPr id="7" name="直接连接符 6"/>
          <p:cNvCxnSpPr/>
          <p:nvPr>
            <p:custDataLst>
              <p:tags r:id="rId4"/>
            </p:custDataLst>
          </p:nvPr>
        </p:nvCxnSpPr>
        <p:spPr>
          <a:xfrm>
            <a:off x="959803" y="1923733"/>
            <a:ext cx="10038080" cy="54610"/>
          </a:xfrm>
          <a:prstGeom prst="line">
            <a:avLst/>
          </a:prstGeom>
          <a:ln>
            <a:gradFill>
              <a:gsLst>
                <a:gs pos="0">
                  <a:schemeClr val="accent1">
                    <a:alpha val="10000"/>
                  </a:schemeClr>
                </a:gs>
                <a:gs pos="100000">
                  <a:schemeClr val="accent1">
                    <a:alpha val="80000"/>
                  </a:schemeClr>
                </a:gs>
              </a:gsLst>
              <a:lin ang="10800000" scaled="1"/>
            </a:gradFill>
            <a:headEnd type="oval"/>
            <a:tailEnd type="none"/>
          </a:ln>
        </p:spPr>
        <p:style>
          <a:lnRef idx="2">
            <a:schemeClr val="accent1"/>
          </a:lnRef>
          <a:fillRef idx="0">
            <a:srgbClr val="FFFFFF"/>
          </a:fillRef>
          <a:effectRef idx="0">
            <a:srgbClr val="FFFFFF"/>
          </a:effectRef>
          <a:fontRef idx="minor">
            <a:schemeClr val="tx1"/>
          </a:fontRef>
        </p:style>
      </p:cxnSp>
      <p:sp>
        <p:nvSpPr>
          <p:cNvPr id="3" name="文本框 2"/>
          <p:cNvSpPr txBox="1"/>
          <p:nvPr/>
        </p:nvSpPr>
        <p:spPr>
          <a:xfrm>
            <a:off x="978535" y="2190115"/>
            <a:ext cx="2811145" cy="4184015"/>
          </a:xfrm>
          <a:prstGeom prst="rect">
            <a:avLst/>
          </a:prstGeom>
          <a:noFill/>
        </p:spPr>
        <p:txBody>
          <a:bodyPr wrap="square" rtlCol="0" anchor="t">
            <a:noAutofit/>
          </a:bodyPr>
          <a:p>
            <a:pPr marL="171450" marR="0" lvl="0" indent="-171450" algn="l" defTabSz="1218565" rtl="0" eaLnBrk="1" fontAlgn="auto" latinLnBrk="0" hangingPunct="1">
              <a:lnSpc>
                <a:spcPct val="120000"/>
              </a:lnSpc>
              <a:spcBef>
                <a:spcPct val="20000"/>
              </a:spcBef>
              <a:spcAft>
                <a:spcPts val="0"/>
              </a:spcAft>
              <a:buClrTx/>
              <a:buSzTx/>
              <a:buFont typeface="Wingdings" panose="05000000000000000000" pitchFamily="2" charset="2"/>
              <a:buChar char="l"/>
              <a:defRPr/>
            </a:pP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案例 3：脊柱 </a:t>
            </a:r>
            <a:r>
              <a:rPr lang="en-US" altLang="zh-CN"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MRI（MRI，</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病灶诊断任务，域内训练模态）</a:t>
            </a:r>
            <a:endPar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a:p>
            <a:pPr marL="171450" marR="0" lvl="0" indent="-171450" algn="l" defTabSz="1218565" rtl="0" eaLnBrk="1" fontAlgn="auto" latinLnBrk="0" hangingPunct="1">
              <a:lnSpc>
                <a:spcPct val="120000"/>
              </a:lnSpc>
              <a:spcBef>
                <a:spcPct val="20000"/>
              </a:spcBef>
              <a:spcAft>
                <a:spcPts val="0"/>
              </a:spcAft>
              <a:buClrTx/>
              <a:buSzTx/>
              <a:buFont typeface="Wingdings" panose="05000000000000000000" pitchFamily="2" charset="2"/>
              <a:buChar char="l"/>
              <a:defRPr/>
            </a:pP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案例 4：腹盆 </a:t>
            </a:r>
            <a:r>
              <a:rPr lang="en-US" altLang="zh-CN"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CT（CT，</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分布外模态，</a:t>
            </a:r>
            <a:r>
              <a:rPr lang="en-US" altLang="zh-CN"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OOD </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测试）</a:t>
            </a:r>
            <a:endPar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p:txBody>
      </p:sp>
      <p:pic>
        <p:nvPicPr>
          <p:cNvPr id="8" name="图片 7"/>
          <p:cNvPicPr>
            <a:picLocks noChangeAspect="1"/>
          </p:cNvPicPr>
          <p:nvPr/>
        </p:nvPicPr>
        <p:blipFill>
          <a:blip r:embed="rId5"/>
          <a:stretch>
            <a:fillRect/>
          </a:stretch>
        </p:blipFill>
        <p:spPr>
          <a:xfrm>
            <a:off x="3887470" y="2057400"/>
            <a:ext cx="7183755" cy="422338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1023620" y="2843530"/>
            <a:ext cx="8534400" cy="3627755"/>
          </a:xfrm>
          <a:prstGeom prst="rect">
            <a:avLst/>
          </a:prstGeom>
        </p:spPr>
      </p:pic>
      <p:sp>
        <p:nvSpPr>
          <p:cNvPr id="37" name="文本框 36"/>
          <p:cNvSpPr txBox="1"/>
          <p:nvPr/>
        </p:nvSpPr>
        <p:spPr>
          <a:xfrm>
            <a:off x="8610404" y="6583649"/>
            <a:ext cx="3012363" cy="246221"/>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Tsinghua University of China</a:t>
            </a:r>
            <a:endParaRPr kumimoji="0" lang="zh-CN" altLang="en-US" sz="1000" b="0"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62" name="文本框 61"/>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4" name="矩形 63"/>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6" name="文本框 65"/>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8" name="文本框 67"/>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cxnSp>
        <p:nvCxnSpPr>
          <p:cNvPr id="69" name="直接连接符 68"/>
          <p:cNvCxnSpPr/>
          <p:nvPr/>
        </p:nvCxnSpPr>
        <p:spPr>
          <a:xfrm>
            <a:off x="660400" y="760413"/>
            <a:ext cx="10858500" cy="0"/>
          </a:xfrm>
          <a:prstGeom prst="line">
            <a:avLst/>
          </a:prstGeom>
          <a:noFill/>
          <a:ln w="22225" cap="flat" cmpd="sng" algn="ctr">
            <a:solidFill>
              <a:srgbClr val="1C6299"/>
            </a:solidFill>
            <a:prstDash val="solid"/>
            <a:miter lim="800000"/>
          </a:ln>
          <a:effectLst/>
        </p:spPr>
      </p:cxnSp>
      <p:grpSp>
        <p:nvGrpSpPr>
          <p:cNvPr id="70" name="组合 69"/>
          <p:cNvGrpSpPr/>
          <p:nvPr/>
        </p:nvGrpSpPr>
        <p:grpSpPr>
          <a:xfrm>
            <a:off x="203760" y="159728"/>
            <a:ext cx="725344" cy="619478"/>
            <a:chOff x="178632" y="159728"/>
            <a:chExt cx="725344" cy="619478"/>
          </a:xfrm>
        </p:grpSpPr>
        <p:sp>
          <p:nvSpPr>
            <p:cNvPr id="71" name="椭圆 70"/>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2" name="文本框 71"/>
            <p:cNvSpPr txBox="1"/>
            <p:nvPr/>
          </p:nvSpPr>
          <p:spPr>
            <a:xfrm>
              <a:off x="230876" y="233483"/>
              <a:ext cx="673100" cy="33718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02</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3" name="椭圆 72"/>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pic>
        <p:nvPicPr>
          <p:cNvPr id="74" name="图片 7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75" name="标题占位符 1"/>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lnSpc>
                <a:spcPct val="100000"/>
              </a:lnSpc>
              <a:spcBef>
                <a:spcPts val="0"/>
              </a:spcBef>
            </a:pPr>
            <a:r>
              <a:rPr lang="zh-CN" altLang="en-US" sz="2600" b="1" dirty="0">
                <a:solidFill>
                  <a:sysClr val="windowText" lastClr="000000"/>
                </a:solidFill>
                <a:latin typeface="Arial" panose="020B0604020202020204"/>
                <a:ea typeface="微软雅黑" panose="020B0503020204020204" pitchFamily="34" charset="-122"/>
                <a:cs typeface="+mn-cs"/>
              </a:rPr>
              <a:t>研究方法</a:t>
            </a:r>
            <a:r>
              <a:rPr lang="en-US" altLang="zh-CN" sz="2600" b="1" dirty="0">
                <a:solidFill>
                  <a:sysClr val="windowText" lastClr="000000"/>
                </a:solidFill>
                <a:latin typeface="Arial" panose="020B0604020202020204"/>
                <a:ea typeface="微软雅黑" panose="020B0503020204020204" pitchFamily="34" charset="-122"/>
                <a:cs typeface="+mn-cs"/>
              </a:rPr>
              <a:t>——MedVLM-R1 </a:t>
            </a:r>
            <a:r>
              <a:rPr lang="zh-CN" altLang="en-US" sz="2600" b="1" dirty="0">
                <a:solidFill>
                  <a:sysClr val="windowText" lastClr="000000"/>
                </a:solidFill>
                <a:latin typeface="Arial" panose="020B0604020202020204"/>
                <a:ea typeface="微软雅黑" panose="020B0503020204020204" pitchFamily="34" charset="-122"/>
                <a:cs typeface="+mn-cs"/>
              </a:rPr>
              <a:t>框架</a:t>
            </a:r>
            <a:endParaRPr lang="zh-CN" altLang="en-US" sz="2600" b="1" dirty="0">
              <a:solidFill>
                <a:sysClr val="windowText" lastClr="000000"/>
              </a:solidFill>
              <a:latin typeface="Arial" panose="020B0604020202020204"/>
              <a:ea typeface="微软雅黑" panose="020B0503020204020204" pitchFamily="34" charset="-122"/>
              <a:cs typeface="+mn-cs"/>
            </a:endParaRPr>
          </a:p>
        </p:txBody>
      </p:sp>
      <p:sp>
        <p:nvSpPr>
          <p:cNvPr id="20" name="矩形: 圆角 20"/>
          <p:cNvSpPr/>
          <p:nvPr>
            <p:custDataLst>
              <p:tags r:id="rId3"/>
            </p:custDataLst>
          </p:nvPr>
        </p:nvSpPr>
        <p:spPr>
          <a:xfrm>
            <a:off x="594360" y="1100455"/>
            <a:ext cx="10687050" cy="4638040"/>
          </a:xfrm>
          <a:prstGeom prst="roundRect">
            <a:avLst>
              <a:gd name="adj" fmla="val 5616"/>
            </a:avLst>
          </a:prstGeom>
          <a:gradFill>
            <a:gsLst>
              <a:gs pos="100000">
                <a:schemeClr val="accent1">
                  <a:alpha val="0"/>
                </a:schemeClr>
              </a:gs>
              <a:gs pos="100000">
                <a:schemeClr val="accent1">
                  <a:alpha val="100000"/>
                </a:schemeClr>
              </a:gs>
              <a:gs pos="0">
                <a:schemeClr val="accent1">
                  <a:lumMod val="20000"/>
                  <a:lumOff val="80000"/>
                  <a:alpha val="10000"/>
                </a:schemeClr>
              </a:gs>
            </a:gsLst>
            <a:lin ang="5400000" scaled="0"/>
          </a:gradFill>
          <a:ln>
            <a:gradFill>
              <a:gsLst>
                <a:gs pos="20000">
                  <a:schemeClr val="accent1">
                    <a:alpha val="0"/>
                  </a:schemeClr>
                </a:gs>
                <a:gs pos="100000">
                  <a:schemeClr val="accent1">
                    <a:lumMod val="60000"/>
                    <a:lumOff val="40000"/>
                    <a:alpha val="100000"/>
                  </a:schemeClr>
                </a:gs>
              </a:gsLst>
              <a:lin ang="16200000" scaled="1"/>
            </a:gradFill>
          </a:ln>
          <a:effectLst>
            <a:outerShdw blurRad="152400" dist="38100" dir="13500000" algn="br" rotWithShape="0">
              <a:schemeClr val="accent1">
                <a:lumMod val="75000"/>
                <a:alpha val="7000"/>
              </a:schemeClr>
            </a:outerShdw>
          </a:effectLst>
        </p:spPr>
        <p:style>
          <a:lnRef idx="1">
            <a:schemeClr val="accent1"/>
          </a:lnRef>
          <a:fillRef idx="2">
            <a:schemeClr val="accent1"/>
          </a:fillRef>
          <a:effectRef idx="1">
            <a:schemeClr val="accent1"/>
          </a:effectRef>
          <a:fontRef idx="minor">
            <a:schemeClr val="dk1"/>
          </a:fontRef>
        </p:style>
        <p:txBody>
          <a:bodyPr vertOverflow="overflow" horzOverflow="overflow" vert="horz" wrap="square" lIns="360045" tIns="360045" rIns="288290" bIns="360045" numCol="1" spcCol="0" rtlCol="0" fromWordArt="0" anchor="b" anchorCtr="1" forceAA="0" compatLnSpc="1">
            <a:noAutofit/>
          </a:bodyPr>
          <a:p>
            <a:pPr lvl="0" algn="just">
              <a:lnSpc>
                <a:spcPct val="150000"/>
              </a:lnSpc>
              <a:spcBef>
                <a:spcPts val="0"/>
              </a:spcBef>
              <a:spcAft>
                <a:spcPts val="0"/>
              </a:spcAft>
              <a:buClrTx/>
              <a:buSzTx/>
              <a:buFontTx/>
            </a:pPr>
            <a:endParaRPr lang="zh-CN" altLang="en-US" sz="1600" kern="0" dirty="0">
              <a:ln>
                <a:noFill/>
                <a:prstDash val="sysDot"/>
              </a:ln>
              <a:solidFill>
                <a:srgbClr val="292929"/>
              </a:solidFill>
              <a:latin typeface="+mn-ea"/>
              <a:sym typeface="+mn-ea"/>
            </a:endParaRPr>
          </a:p>
        </p:txBody>
      </p:sp>
      <p:sp>
        <p:nvSpPr>
          <p:cNvPr id="4" name="文本框 3"/>
          <p:cNvSpPr txBox="1"/>
          <p:nvPr>
            <p:custDataLst>
              <p:tags r:id="rId4"/>
            </p:custDataLst>
          </p:nvPr>
        </p:nvSpPr>
        <p:spPr>
          <a:xfrm>
            <a:off x="903605" y="1100455"/>
            <a:ext cx="10005060" cy="757555"/>
          </a:xfrm>
          <a:prstGeom prst="rect">
            <a:avLst/>
          </a:prstGeom>
          <a:noFill/>
        </p:spPr>
        <p:txBody>
          <a:bodyPr wrap="square" lIns="0" tIns="0" rIns="0" bIns="0" rtlCol="0" anchor="ctr" anchorCtr="0">
            <a:noAutofit/>
          </a:bodyPr>
          <a:p>
            <a:pPr lvl="0" algn="l">
              <a:lnSpc>
                <a:spcPct val="120000"/>
              </a:lnSpc>
              <a:buClrTx/>
              <a:buSzTx/>
              <a:buFontTx/>
            </a:pPr>
            <a:r>
              <a:rPr lang="zh-CN" altLang="en-US" sz="2400" b="1">
                <a:solidFill>
                  <a:schemeClr val="accent1"/>
                </a:solidFill>
                <a:latin typeface="+mn-ea"/>
                <a:cs typeface="+mn-ea"/>
                <a:sym typeface="+mn-ea"/>
              </a:rPr>
              <a:t>三、</a:t>
            </a:r>
            <a:r>
              <a:rPr lang="en-US" altLang="zh-CN" sz="2400" b="1">
                <a:solidFill>
                  <a:schemeClr val="accent1"/>
                </a:solidFill>
                <a:latin typeface="+mn-ea"/>
                <a:cs typeface="+mn-ea"/>
                <a:sym typeface="+mn-ea"/>
              </a:rPr>
              <a:t>MedVLM-R1 </a:t>
            </a:r>
            <a:r>
              <a:rPr lang="zh-CN" altLang="en-US" sz="2400" b="1">
                <a:solidFill>
                  <a:schemeClr val="accent1"/>
                </a:solidFill>
                <a:latin typeface="+mn-ea"/>
                <a:cs typeface="+mn-ea"/>
                <a:sym typeface="+mn-ea"/>
              </a:rPr>
              <a:t>分组相对策略优化（</a:t>
            </a:r>
            <a:r>
              <a:rPr lang="en-US" altLang="zh-CN" sz="2400" b="1">
                <a:solidFill>
                  <a:schemeClr val="accent1"/>
                </a:solidFill>
                <a:latin typeface="+mn-ea"/>
                <a:cs typeface="+mn-ea"/>
                <a:sym typeface="+mn-ea"/>
              </a:rPr>
              <a:t>GRPO）</a:t>
            </a:r>
            <a:endParaRPr lang="en-US" altLang="zh-CN" sz="2400" b="1">
              <a:solidFill>
                <a:schemeClr val="accent1"/>
              </a:solidFill>
              <a:latin typeface="+mn-ea"/>
              <a:cs typeface="+mn-ea"/>
              <a:sym typeface="+mn-ea"/>
            </a:endParaRPr>
          </a:p>
        </p:txBody>
      </p:sp>
      <p:cxnSp>
        <p:nvCxnSpPr>
          <p:cNvPr id="7" name="直接连接符 6"/>
          <p:cNvCxnSpPr/>
          <p:nvPr>
            <p:custDataLst>
              <p:tags r:id="rId5"/>
            </p:custDataLst>
          </p:nvPr>
        </p:nvCxnSpPr>
        <p:spPr>
          <a:xfrm>
            <a:off x="959803" y="1923733"/>
            <a:ext cx="10038080" cy="54610"/>
          </a:xfrm>
          <a:prstGeom prst="line">
            <a:avLst/>
          </a:prstGeom>
          <a:ln>
            <a:gradFill>
              <a:gsLst>
                <a:gs pos="0">
                  <a:schemeClr val="accent1">
                    <a:alpha val="10000"/>
                  </a:schemeClr>
                </a:gs>
                <a:gs pos="100000">
                  <a:schemeClr val="accent1">
                    <a:alpha val="80000"/>
                  </a:schemeClr>
                </a:gs>
              </a:gsLst>
              <a:lin ang="10800000" scaled="1"/>
            </a:gradFill>
            <a:headEnd type="oval"/>
            <a:tailEnd type="none"/>
          </a:ln>
        </p:spPr>
        <p:style>
          <a:lnRef idx="2">
            <a:schemeClr val="accent1"/>
          </a:lnRef>
          <a:fillRef idx="0">
            <a:srgbClr val="FFFFFF"/>
          </a:fillRef>
          <a:effectRef idx="0">
            <a:srgbClr val="FFFFFF"/>
          </a:effectRef>
          <a:fontRef idx="minor">
            <a:schemeClr val="tx1"/>
          </a:fontRef>
        </p:style>
      </p:cxnSp>
      <p:sp>
        <p:nvSpPr>
          <p:cNvPr id="3" name="文本框 2"/>
          <p:cNvSpPr txBox="1"/>
          <p:nvPr/>
        </p:nvSpPr>
        <p:spPr>
          <a:xfrm>
            <a:off x="929005" y="2012315"/>
            <a:ext cx="10038080" cy="830580"/>
          </a:xfrm>
          <a:prstGeom prst="rect">
            <a:avLst/>
          </a:prstGeom>
          <a:noFill/>
        </p:spPr>
        <p:txBody>
          <a:bodyPr wrap="square" rtlCol="0" anchor="t">
            <a:noAutofit/>
          </a:bodyPr>
          <a:p>
            <a:pPr marR="0" lvl="0" indent="0" algn="l" defTabSz="1218565" rtl="0" eaLnBrk="1" fontAlgn="auto" latinLnBrk="0" hangingPunct="1">
              <a:lnSpc>
                <a:spcPct val="120000"/>
              </a:lnSpc>
              <a:spcBef>
                <a:spcPct val="20000"/>
              </a:spcBef>
              <a:spcAft>
                <a:spcPts val="0"/>
              </a:spcAft>
              <a:buClrTx/>
              <a:buSzTx/>
              <a:buFont typeface="Wingdings" panose="05000000000000000000" pitchFamily="2" charset="2"/>
              <a:buNone/>
              <a:defRPr/>
            </a:pP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为得到鲁棒、可解释的输出，本文采用 </a:t>
            </a:r>
            <a:r>
              <a:rPr lang="en-US" altLang="zh-CN"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GRPO  </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强化学习算法。</a:t>
            </a:r>
            <a:r>
              <a:rPr lang="en-US" altLang="zh-CN"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GRPO </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对 </a:t>
            </a:r>
            <a:r>
              <a:rPr lang="en-US" altLang="zh-CN"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PPO </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做扩展，不使用学习得到的价值函数，改用分组相对优势。每一轮训练步骤执行如下操作：</a:t>
            </a:r>
            <a:endPar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文本框 36"/>
          <p:cNvSpPr txBox="1"/>
          <p:nvPr/>
        </p:nvSpPr>
        <p:spPr>
          <a:xfrm>
            <a:off x="8610404" y="6583649"/>
            <a:ext cx="3012363" cy="246221"/>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Tsinghua University of China</a:t>
            </a:r>
            <a:endParaRPr kumimoji="0" lang="zh-CN" altLang="en-US" sz="1000" b="0"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62" name="文本框 61"/>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4" name="矩形 63"/>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6" name="文本框 65"/>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8" name="文本框 67"/>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cxnSp>
        <p:nvCxnSpPr>
          <p:cNvPr id="69" name="直接连接符 68"/>
          <p:cNvCxnSpPr/>
          <p:nvPr/>
        </p:nvCxnSpPr>
        <p:spPr>
          <a:xfrm>
            <a:off x="660400" y="760413"/>
            <a:ext cx="10858500" cy="0"/>
          </a:xfrm>
          <a:prstGeom prst="line">
            <a:avLst/>
          </a:prstGeom>
          <a:noFill/>
          <a:ln w="22225" cap="flat" cmpd="sng" algn="ctr">
            <a:solidFill>
              <a:srgbClr val="1C6299"/>
            </a:solidFill>
            <a:prstDash val="solid"/>
            <a:miter lim="800000"/>
          </a:ln>
          <a:effectLst/>
        </p:spPr>
      </p:cxnSp>
      <p:grpSp>
        <p:nvGrpSpPr>
          <p:cNvPr id="70" name="组合 69"/>
          <p:cNvGrpSpPr/>
          <p:nvPr/>
        </p:nvGrpSpPr>
        <p:grpSpPr>
          <a:xfrm>
            <a:off x="203760" y="159728"/>
            <a:ext cx="725344" cy="619478"/>
            <a:chOff x="178632" y="159728"/>
            <a:chExt cx="725344" cy="619478"/>
          </a:xfrm>
        </p:grpSpPr>
        <p:sp>
          <p:nvSpPr>
            <p:cNvPr id="71" name="椭圆 70"/>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2" name="文本框 71"/>
            <p:cNvSpPr txBox="1"/>
            <p:nvPr/>
          </p:nvSpPr>
          <p:spPr>
            <a:xfrm>
              <a:off x="230876" y="233483"/>
              <a:ext cx="673100" cy="33718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02</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3" name="椭圆 72"/>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pic>
        <p:nvPicPr>
          <p:cNvPr id="74" name="图片 7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75" name="标题占位符 1"/>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lnSpc>
                <a:spcPct val="100000"/>
              </a:lnSpc>
              <a:spcBef>
                <a:spcPts val="0"/>
              </a:spcBef>
            </a:pPr>
            <a:r>
              <a:rPr lang="zh-CN" altLang="en-US" sz="2600" b="1" dirty="0">
                <a:solidFill>
                  <a:sysClr val="windowText" lastClr="000000"/>
                </a:solidFill>
                <a:latin typeface="Arial" panose="020B0604020202020204"/>
                <a:ea typeface="微软雅黑" panose="020B0503020204020204" pitchFamily="34" charset="-122"/>
                <a:cs typeface="+mn-cs"/>
              </a:rPr>
              <a:t>研究方法</a:t>
            </a:r>
            <a:r>
              <a:rPr lang="en-US" altLang="zh-CN" sz="2600" b="1" dirty="0">
                <a:solidFill>
                  <a:sysClr val="windowText" lastClr="000000"/>
                </a:solidFill>
                <a:latin typeface="Arial" panose="020B0604020202020204"/>
                <a:ea typeface="微软雅黑" panose="020B0503020204020204" pitchFamily="34" charset="-122"/>
                <a:cs typeface="+mn-cs"/>
              </a:rPr>
              <a:t>——MedVLM-R1 </a:t>
            </a:r>
            <a:r>
              <a:rPr lang="zh-CN" altLang="en-US" sz="2600" b="1" dirty="0">
                <a:solidFill>
                  <a:sysClr val="windowText" lastClr="000000"/>
                </a:solidFill>
                <a:latin typeface="Arial" panose="020B0604020202020204"/>
                <a:ea typeface="微软雅黑" panose="020B0503020204020204" pitchFamily="34" charset="-122"/>
                <a:cs typeface="+mn-cs"/>
              </a:rPr>
              <a:t>框架</a:t>
            </a:r>
            <a:endParaRPr lang="zh-CN" altLang="en-US" sz="2600" b="1" dirty="0">
              <a:solidFill>
                <a:sysClr val="windowText" lastClr="000000"/>
              </a:solidFill>
              <a:latin typeface="Arial" panose="020B0604020202020204"/>
              <a:ea typeface="微软雅黑" panose="020B0503020204020204" pitchFamily="34" charset="-122"/>
              <a:cs typeface="+mn-cs"/>
            </a:endParaRPr>
          </a:p>
        </p:txBody>
      </p:sp>
      <p:sp>
        <p:nvSpPr>
          <p:cNvPr id="20" name="矩形: 圆角 20"/>
          <p:cNvSpPr/>
          <p:nvPr>
            <p:custDataLst>
              <p:tags r:id="rId2"/>
            </p:custDataLst>
          </p:nvPr>
        </p:nvSpPr>
        <p:spPr>
          <a:xfrm>
            <a:off x="594360" y="1100455"/>
            <a:ext cx="10687050" cy="4638040"/>
          </a:xfrm>
          <a:prstGeom prst="roundRect">
            <a:avLst>
              <a:gd name="adj" fmla="val 5616"/>
            </a:avLst>
          </a:prstGeom>
          <a:gradFill>
            <a:gsLst>
              <a:gs pos="100000">
                <a:schemeClr val="accent1">
                  <a:alpha val="0"/>
                </a:schemeClr>
              </a:gs>
              <a:gs pos="100000">
                <a:schemeClr val="accent1">
                  <a:alpha val="100000"/>
                </a:schemeClr>
              </a:gs>
              <a:gs pos="0">
                <a:schemeClr val="accent1">
                  <a:lumMod val="20000"/>
                  <a:lumOff val="80000"/>
                  <a:alpha val="10000"/>
                </a:schemeClr>
              </a:gs>
            </a:gsLst>
            <a:lin ang="5400000" scaled="0"/>
          </a:gradFill>
          <a:ln>
            <a:gradFill>
              <a:gsLst>
                <a:gs pos="20000">
                  <a:schemeClr val="accent1">
                    <a:alpha val="0"/>
                  </a:schemeClr>
                </a:gs>
                <a:gs pos="100000">
                  <a:schemeClr val="accent1">
                    <a:lumMod val="60000"/>
                    <a:lumOff val="40000"/>
                    <a:alpha val="100000"/>
                  </a:schemeClr>
                </a:gs>
              </a:gsLst>
              <a:lin ang="16200000" scaled="1"/>
            </a:gradFill>
          </a:ln>
          <a:effectLst>
            <a:outerShdw blurRad="152400" dist="38100" dir="13500000" algn="br" rotWithShape="0">
              <a:schemeClr val="accent1">
                <a:lumMod val="75000"/>
                <a:alpha val="7000"/>
              </a:schemeClr>
            </a:outerShdw>
          </a:effectLst>
        </p:spPr>
        <p:style>
          <a:lnRef idx="1">
            <a:schemeClr val="accent1"/>
          </a:lnRef>
          <a:fillRef idx="2">
            <a:schemeClr val="accent1"/>
          </a:fillRef>
          <a:effectRef idx="1">
            <a:schemeClr val="accent1"/>
          </a:effectRef>
          <a:fontRef idx="minor">
            <a:schemeClr val="dk1"/>
          </a:fontRef>
        </p:style>
        <p:txBody>
          <a:bodyPr vertOverflow="overflow" horzOverflow="overflow" vert="horz" wrap="square" lIns="360045" tIns="360045" rIns="288290" bIns="360045" numCol="1" spcCol="0" rtlCol="0" fromWordArt="0" anchor="b" anchorCtr="1" forceAA="0" compatLnSpc="1">
            <a:noAutofit/>
          </a:bodyPr>
          <a:p>
            <a:pPr lvl="0" algn="just">
              <a:lnSpc>
                <a:spcPct val="150000"/>
              </a:lnSpc>
              <a:spcBef>
                <a:spcPts val="0"/>
              </a:spcBef>
              <a:spcAft>
                <a:spcPts val="0"/>
              </a:spcAft>
              <a:buClrTx/>
              <a:buSzTx/>
              <a:buFontTx/>
            </a:pPr>
            <a:endParaRPr lang="zh-CN" altLang="en-US" sz="1600" kern="0" dirty="0">
              <a:ln>
                <a:noFill/>
                <a:prstDash val="sysDot"/>
              </a:ln>
              <a:solidFill>
                <a:srgbClr val="292929"/>
              </a:solidFill>
              <a:latin typeface="+mn-ea"/>
              <a:sym typeface="+mn-ea"/>
            </a:endParaRPr>
          </a:p>
        </p:txBody>
      </p:sp>
      <p:sp>
        <p:nvSpPr>
          <p:cNvPr id="4" name="文本框 3"/>
          <p:cNvSpPr txBox="1"/>
          <p:nvPr>
            <p:custDataLst>
              <p:tags r:id="rId3"/>
            </p:custDataLst>
          </p:nvPr>
        </p:nvSpPr>
        <p:spPr>
          <a:xfrm>
            <a:off x="903605" y="1100455"/>
            <a:ext cx="10005060" cy="757555"/>
          </a:xfrm>
          <a:prstGeom prst="rect">
            <a:avLst/>
          </a:prstGeom>
          <a:noFill/>
        </p:spPr>
        <p:txBody>
          <a:bodyPr wrap="square" lIns="0" tIns="0" rIns="0" bIns="0" rtlCol="0" anchor="ctr" anchorCtr="0">
            <a:noAutofit/>
          </a:bodyPr>
          <a:p>
            <a:pPr lvl="0" algn="l">
              <a:lnSpc>
                <a:spcPct val="120000"/>
              </a:lnSpc>
              <a:buClrTx/>
              <a:buSzTx/>
              <a:buFontTx/>
            </a:pPr>
            <a:r>
              <a:rPr lang="zh-CN" altLang="en-US" sz="2400" b="1">
                <a:solidFill>
                  <a:schemeClr val="accent1"/>
                </a:solidFill>
                <a:latin typeface="+mn-ea"/>
                <a:cs typeface="+mn-ea"/>
                <a:sym typeface="+mn-ea"/>
              </a:rPr>
              <a:t>四、</a:t>
            </a:r>
            <a:r>
              <a:rPr lang="en-US" altLang="zh-CN" sz="2400" b="1">
                <a:solidFill>
                  <a:schemeClr val="accent1"/>
                </a:solidFill>
                <a:latin typeface="+mn-ea"/>
                <a:cs typeface="+mn-ea"/>
                <a:sym typeface="+mn-ea"/>
              </a:rPr>
              <a:t>MedVLM-R1 </a:t>
            </a:r>
            <a:r>
              <a:rPr lang="zh-CN" altLang="en-US" sz="2400" b="1">
                <a:solidFill>
                  <a:schemeClr val="accent1"/>
                </a:solidFill>
                <a:latin typeface="+mn-ea"/>
                <a:cs typeface="+mn-ea"/>
                <a:sym typeface="+mn-ea"/>
              </a:rPr>
              <a:t>的奖励</a:t>
            </a:r>
            <a:r>
              <a:rPr lang="zh-CN" altLang="en-US" sz="2400" b="1">
                <a:solidFill>
                  <a:schemeClr val="accent1"/>
                </a:solidFill>
                <a:latin typeface="+mn-ea"/>
                <a:cs typeface="+mn-ea"/>
                <a:sym typeface="+mn-ea"/>
              </a:rPr>
              <a:t>函数</a:t>
            </a:r>
            <a:endParaRPr lang="zh-CN" altLang="en-US" sz="2400" b="1">
              <a:solidFill>
                <a:schemeClr val="accent1"/>
              </a:solidFill>
              <a:latin typeface="+mn-ea"/>
              <a:cs typeface="+mn-ea"/>
              <a:sym typeface="+mn-ea"/>
            </a:endParaRPr>
          </a:p>
        </p:txBody>
      </p:sp>
      <p:cxnSp>
        <p:nvCxnSpPr>
          <p:cNvPr id="7" name="直接连接符 6"/>
          <p:cNvCxnSpPr/>
          <p:nvPr>
            <p:custDataLst>
              <p:tags r:id="rId4"/>
            </p:custDataLst>
          </p:nvPr>
        </p:nvCxnSpPr>
        <p:spPr>
          <a:xfrm>
            <a:off x="959803" y="1923733"/>
            <a:ext cx="10038080" cy="54610"/>
          </a:xfrm>
          <a:prstGeom prst="line">
            <a:avLst/>
          </a:prstGeom>
          <a:ln>
            <a:gradFill>
              <a:gsLst>
                <a:gs pos="0">
                  <a:schemeClr val="accent1">
                    <a:alpha val="10000"/>
                  </a:schemeClr>
                </a:gs>
                <a:gs pos="100000">
                  <a:schemeClr val="accent1">
                    <a:alpha val="80000"/>
                  </a:schemeClr>
                </a:gs>
              </a:gsLst>
              <a:lin ang="10800000" scaled="1"/>
            </a:gradFill>
            <a:headEnd type="oval"/>
            <a:tailEnd type="none"/>
          </a:ln>
        </p:spPr>
        <p:style>
          <a:lnRef idx="2">
            <a:schemeClr val="accent1"/>
          </a:lnRef>
          <a:fillRef idx="0">
            <a:srgbClr val="FFFFFF"/>
          </a:fillRef>
          <a:effectRef idx="0">
            <a:srgbClr val="FFFFFF"/>
          </a:effectRef>
          <a:fontRef idx="minor">
            <a:schemeClr val="tx1"/>
          </a:fontRef>
        </p:style>
      </p:cxnSp>
      <p:sp>
        <p:nvSpPr>
          <p:cNvPr id="3" name="文本框 2"/>
          <p:cNvSpPr txBox="1"/>
          <p:nvPr/>
        </p:nvSpPr>
        <p:spPr>
          <a:xfrm>
            <a:off x="929005" y="2101215"/>
            <a:ext cx="10118090" cy="4030980"/>
          </a:xfrm>
          <a:prstGeom prst="rect">
            <a:avLst/>
          </a:prstGeom>
          <a:noFill/>
        </p:spPr>
        <p:txBody>
          <a:bodyPr wrap="square" rtlCol="0" anchor="t">
            <a:noAutofit/>
          </a:bodyPr>
          <a:p>
            <a:pPr marL="171450" marR="0" lvl="0" indent="-171450" algn="l" defTabSz="1218565" rtl="0" eaLnBrk="1" fontAlgn="auto" latinLnBrk="0" hangingPunct="1">
              <a:lnSpc>
                <a:spcPct val="120000"/>
              </a:lnSpc>
              <a:spcBef>
                <a:spcPct val="20000"/>
              </a:spcBef>
              <a:spcAft>
                <a:spcPts val="0"/>
              </a:spcAft>
              <a:buClrTx/>
              <a:buSzTx/>
              <a:buFont typeface="Wingdings" panose="05000000000000000000" pitchFamily="2" charset="2"/>
              <a:buChar char="l"/>
              <a:defRPr/>
            </a:pP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针对医学多选视觉问答任务，</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作者设计一套由两部分组成的基于规则的奖励函数： </a:t>
            </a:r>
            <a:endPar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a:p>
            <a:pPr marR="0" lvl="0" indent="0" algn="l" defTabSz="1218565" rtl="0" eaLnBrk="1" fontAlgn="auto" latinLnBrk="0" hangingPunct="1">
              <a:lnSpc>
                <a:spcPct val="120000"/>
              </a:lnSpc>
              <a:spcBef>
                <a:spcPct val="20000"/>
              </a:spcBef>
              <a:spcAft>
                <a:spcPts val="0"/>
              </a:spcAft>
              <a:buClrTx/>
              <a:buSzTx/>
              <a:buFont typeface="Wingdings" panose="05000000000000000000" pitchFamily="2" charset="2"/>
              <a:buNone/>
              <a:defRPr/>
            </a:pP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1）</a:t>
            </a:r>
            <a:r>
              <a:rPr lang="zh-CN" altLang="en-US" sz="1600" noProof="0" dirty="0">
                <a:ln>
                  <a:noFill/>
                </a:ln>
                <a:solidFill>
                  <a:srgbClr val="0070C0"/>
                </a:solidFill>
                <a:effectLst/>
                <a:uLnTx/>
                <a:uFillTx/>
                <a:latin typeface="微软雅黑" panose="020B0503020204020204" pitchFamily="34" charset="-122"/>
                <a:ea typeface="微软雅黑" panose="020B0503020204020204" pitchFamily="34" charset="-122"/>
                <a:sym typeface="+mn-ea"/>
              </a:rPr>
              <a:t>格式奖励</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：要求推理内容放在</a:t>
            </a:r>
            <a:r>
              <a:rPr lang="en-US" altLang="zh-CN"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&lt;think&gt; ... &lt;/think&gt; </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标签内，简洁最终答案放在</a:t>
            </a:r>
            <a:r>
              <a:rPr lang="en-US" altLang="zh-CN"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&lt;answer&gt;... &lt;/answer&gt;</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标签内。4 个标签完整且仅出现一次，标签外部没有多余文本，则格式奖励记为 1；标签缺失、重复，或标签外存在内容，格式奖励为 0。 </a:t>
            </a:r>
            <a:endPar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a:p>
            <a:pPr marR="0" lvl="0" indent="0" algn="l" defTabSz="1218565" rtl="0" eaLnBrk="1" fontAlgn="auto" latinLnBrk="0" hangingPunct="1">
              <a:lnSpc>
                <a:spcPct val="120000"/>
              </a:lnSpc>
              <a:spcBef>
                <a:spcPct val="20000"/>
              </a:spcBef>
              <a:spcAft>
                <a:spcPts val="0"/>
              </a:spcAft>
              <a:buClrTx/>
              <a:buSzTx/>
              <a:buFont typeface="Wingdings" panose="05000000000000000000" pitchFamily="2" charset="2"/>
              <a:buNone/>
              <a:defRPr/>
            </a:pP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2）</a:t>
            </a:r>
            <a:r>
              <a:rPr lang="zh-CN" altLang="en-US" sz="1600" noProof="0" dirty="0">
                <a:ln>
                  <a:noFill/>
                </a:ln>
                <a:solidFill>
                  <a:srgbClr val="0070C0"/>
                </a:solidFill>
                <a:effectLst/>
                <a:uLnTx/>
                <a:uFillTx/>
                <a:latin typeface="微软雅黑" panose="020B0503020204020204" pitchFamily="34" charset="-122"/>
                <a:ea typeface="微软雅黑" panose="020B0503020204020204" pitchFamily="34" charset="-122"/>
                <a:sym typeface="+mn-ea"/>
              </a:rPr>
              <a:t>准确率奖励</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：输出格式校验通过之后，评估最终答案是否正确。</a:t>
            </a:r>
            <a:endPar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a:p>
            <a:pPr marL="171450" marR="0" lvl="0" indent="-171450" algn="l" defTabSz="1218565" rtl="0" eaLnBrk="1" fontAlgn="auto" latinLnBrk="0" hangingPunct="1">
              <a:lnSpc>
                <a:spcPct val="120000"/>
              </a:lnSpc>
              <a:spcBef>
                <a:spcPct val="20000"/>
              </a:spcBef>
              <a:spcAft>
                <a:spcPts val="0"/>
              </a:spcAft>
              <a:buClrTx/>
              <a:buSzTx/>
              <a:buFont typeface="Wingdings" panose="05000000000000000000" pitchFamily="2" charset="2"/>
              <a:buChar char="l"/>
              <a:defRPr/>
            </a:pP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如果标签内的选项字母与真值完全匹配，完全命中，记 1 分；</a:t>
            </a:r>
            <a:endPar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a:p>
            <a:pPr marL="171450" marR="0" lvl="0" indent="-171450" algn="l" defTabSz="1218565" rtl="0" eaLnBrk="1" fontAlgn="auto" latinLnBrk="0" hangingPunct="1">
              <a:lnSpc>
                <a:spcPct val="120000"/>
              </a:lnSpc>
              <a:spcBef>
                <a:spcPct val="20000"/>
              </a:spcBef>
              <a:spcAft>
                <a:spcPts val="0"/>
              </a:spcAft>
              <a:buClrTx/>
              <a:buSzTx/>
              <a:buFont typeface="Wingdings" panose="05000000000000000000" pitchFamily="2" charset="2"/>
              <a:buChar char="l"/>
              <a:defRPr/>
            </a:pP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如果选项字母正确，但附带额外说明文字，或者直接写选项文本而不是字母（例如 “</a:t>
            </a:r>
            <a:r>
              <a:rPr lang="en-US" altLang="zh-CN"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A：</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肺结节”，或者直接写 “肺结节”），属于部分匹配，记 0.5 分；</a:t>
            </a:r>
            <a:endPar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a:p>
            <a:pPr marL="171450" marR="0" lvl="0" indent="-171450" algn="l" defTabSz="1218565" rtl="0" eaLnBrk="1" fontAlgn="auto" latinLnBrk="0" hangingPunct="1">
              <a:lnSpc>
                <a:spcPct val="120000"/>
              </a:lnSpc>
              <a:spcBef>
                <a:spcPct val="20000"/>
              </a:spcBef>
              <a:spcAft>
                <a:spcPts val="0"/>
              </a:spcAft>
              <a:buClrTx/>
              <a:buSzTx/>
              <a:buFont typeface="Wingdings" panose="05000000000000000000" pitchFamily="2" charset="2"/>
              <a:buChar char="l"/>
              <a:defRPr/>
            </a:pP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如果字母错误、缺失，或者答案不在标签内，判定答案错误或缺失，记 0 分。</a:t>
            </a:r>
            <a:endPar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a:p>
            <a:pPr marL="171450" marR="0" lvl="0" indent="-171450" algn="l" defTabSz="1218565" rtl="0" eaLnBrk="1" fontAlgn="auto" latinLnBrk="0" hangingPunct="1">
              <a:lnSpc>
                <a:spcPct val="120000"/>
              </a:lnSpc>
              <a:spcBef>
                <a:spcPct val="20000"/>
              </a:spcBef>
              <a:spcAft>
                <a:spcPts val="0"/>
              </a:spcAft>
              <a:buClrTx/>
              <a:buSzTx/>
              <a:buFont typeface="Wingdings" panose="05000000000000000000" pitchFamily="2" charset="2"/>
              <a:buChar char="l"/>
              <a:defRPr/>
            </a:pP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总奖励在</a:t>
            </a:r>
            <a:r>
              <a:rPr lang="en-US" altLang="zh-CN"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0</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至</a:t>
            </a:r>
            <a:r>
              <a:rPr lang="en-US" altLang="zh-CN"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2</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之间</a:t>
            </a:r>
            <a:r>
              <a:rPr lang="en-US" altLang="zh-CN"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等于格式奖励与准确率奖励相加。这种层级式奖励引导模型先学会规范输出结构，再优化答案精度，实现可解释的医学推理。</a:t>
            </a:r>
            <a:endPar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0"/>
            <a:ext cx="12192000" cy="6858000"/>
          </a:xfrm>
          <a:prstGeom prst="rect">
            <a:avLst/>
          </a:prstGeom>
          <a:pattFill prst="wdUpDiag">
            <a:fgClr>
              <a:schemeClr val="bg1">
                <a:lumMod val="95000"/>
              </a:schemeClr>
            </a:fgClr>
            <a:bgClr>
              <a:schemeClr val="bg1"/>
            </a:bgClr>
          </a:patt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pitchFamily="2" charset="-122"/>
              <a:ea typeface="等线" panose="02010600030101010101" pitchFamily="2" charset="-122"/>
              <a:cs typeface="+mn-cs"/>
            </a:endParaRPr>
          </a:p>
        </p:txBody>
      </p:sp>
      <p:sp>
        <p:nvSpPr>
          <p:cNvPr id="7" name="文本框 6"/>
          <p:cNvSpPr txBox="1"/>
          <p:nvPr/>
        </p:nvSpPr>
        <p:spPr>
          <a:xfrm>
            <a:off x="59409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 name="文本框 7"/>
          <p:cNvSpPr txBox="1"/>
          <p:nvPr/>
        </p:nvSpPr>
        <p:spPr>
          <a:xfrm>
            <a:off x="8655288" y="6583649"/>
            <a:ext cx="2967479" cy="246221"/>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rPr>
              <a:t>Tsinghua University of China</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pic>
        <p:nvPicPr>
          <p:cNvPr id="11" name="图形 10"/>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61601" y="174280"/>
            <a:ext cx="1257299" cy="396000"/>
          </a:xfrm>
          <a:prstGeom prst="rect">
            <a:avLst/>
          </a:prstGeom>
        </p:spPr>
      </p:pic>
      <p:sp>
        <p:nvSpPr>
          <p:cNvPr id="12" name="文本框 11"/>
          <p:cNvSpPr txBox="1"/>
          <p:nvPr/>
        </p:nvSpPr>
        <p:spPr>
          <a:xfrm>
            <a:off x="1558171" y="2105561"/>
            <a:ext cx="2507615" cy="264604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600" b="0" i="0" u="none" strike="noStrike" kern="1200" cap="none" spc="300" normalizeH="0" baseline="0" noProof="0" dirty="0">
                <a:ln>
                  <a:noFill/>
                </a:ln>
                <a:gradFill>
                  <a:gsLst>
                    <a:gs pos="0">
                      <a:srgbClr val="1C6299"/>
                    </a:gs>
                    <a:gs pos="90000">
                      <a:schemeClr val="bg1"/>
                    </a:gs>
                  </a:gsLst>
                  <a:lin ang="5400000" scaled="1"/>
                </a:gradFill>
                <a:effectLst/>
                <a:uLnTx/>
                <a:uFillTx/>
                <a:latin typeface="Impact" panose="020B0806030902050204" pitchFamily="34" charset="0"/>
                <a:ea typeface="微软雅黑" panose="020B0503020204020204" pitchFamily="34" charset="-122"/>
                <a:cs typeface="+mn-cs"/>
              </a:rPr>
              <a:t>03</a:t>
            </a:r>
            <a:endParaRPr kumimoji="0" lang="zh-CN" altLang="en-US" sz="16600" b="0" i="0" u="none" strike="noStrike" kern="1200" cap="none" spc="300" normalizeH="0" baseline="0" noProof="0" dirty="0">
              <a:ln>
                <a:noFill/>
              </a:ln>
              <a:gradFill>
                <a:gsLst>
                  <a:gs pos="0">
                    <a:srgbClr val="1C6299"/>
                  </a:gs>
                  <a:gs pos="90000">
                    <a:schemeClr val="bg1"/>
                  </a:gs>
                </a:gsLst>
                <a:lin ang="5400000" scaled="1"/>
              </a:gradFill>
              <a:effectLst/>
              <a:uLnTx/>
              <a:uFillTx/>
              <a:latin typeface="Impact" panose="020B0806030902050204" pitchFamily="34" charset="0"/>
              <a:ea typeface="微软雅黑" panose="020B0503020204020204" pitchFamily="34" charset="-122"/>
              <a:cs typeface="+mn-cs"/>
            </a:endParaRPr>
          </a:p>
        </p:txBody>
      </p:sp>
      <p:sp>
        <p:nvSpPr>
          <p:cNvPr id="13" name="标题 1"/>
          <p:cNvSpPr txBox="1"/>
          <p:nvPr/>
        </p:nvSpPr>
        <p:spPr>
          <a:xfrm>
            <a:off x="5560176" y="2143126"/>
            <a:ext cx="6713702" cy="1035858"/>
          </a:xfrm>
          <a:prstGeom prst="rect">
            <a:avLst/>
          </a:prstGeom>
        </p:spPr>
        <p:txBody>
          <a:bodyPr vert="horz" lIns="0" tIns="45720" rIns="91440" bIns="45720" rtlCol="0" anchor="ctr" anchorCtr="0">
            <a:normAutofit/>
          </a:bodyPr>
          <a:lstStyle>
            <a:lvl1pPr algn="l" defTabSz="914400" rtl="0" eaLnBrk="1" latinLnBrk="0" hangingPunct="1">
              <a:lnSpc>
                <a:spcPct val="90000"/>
              </a:lnSpc>
              <a:spcBef>
                <a:spcPct val="0"/>
              </a:spcBef>
              <a:buNone/>
              <a:defRPr sz="4000" b="1" kern="1200" spc="10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4000" b="1" i="0" u="none" strike="noStrike" kern="1200" cap="none" spc="10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j-cs"/>
              </a:rPr>
              <a:t>研究</a:t>
            </a:r>
            <a:r>
              <a:rPr kumimoji="0" lang="zh-CN" altLang="en-US" sz="4000" b="1" i="0" u="none" strike="noStrike" kern="1200" cap="none" spc="10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j-cs"/>
              </a:rPr>
              <a:t>成果</a:t>
            </a:r>
            <a:endParaRPr kumimoji="0" lang="zh-CN" altLang="en-US" sz="4000" b="1" i="0" u="none" strike="noStrike" kern="1200" cap="none" spc="10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j-cs"/>
            </a:endParaRPr>
          </a:p>
        </p:txBody>
      </p:sp>
      <p:sp>
        <p:nvSpPr>
          <p:cNvPr id="14" name="文本占位符 2"/>
          <p:cNvSpPr txBox="1"/>
          <p:nvPr/>
        </p:nvSpPr>
        <p:spPr>
          <a:xfrm>
            <a:off x="5560176" y="3787775"/>
            <a:ext cx="6792912" cy="927100"/>
          </a:xfrm>
          <a:prstGeom prst="rect">
            <a:avLst/>
          </a:prstGeom>
        </p:spPr>
        <p:txBody>
          <a:bodyPr vert="horz" lIns="0" tIns="45720" rIns="91440" bIns="45720" rtlCol="0" anchor="ctr" anchorCtr="0">
            <a:normAutofit/>
          </a:bodyPr>
          <a:lstStyle>
            <a:lvl1pPr marL="0" indent="0" algn="l" defTabSz="914400" rtl="0" eaLnBrk="1" latinLnBrk="0" hangingPunct="1">
              <a:lnSpc>
                <a:spcPct val="90000"/>
              </a:lnSpc>
              <a:spcBef>
                <a:spcPts val="1000"/>
              </a:spcBef>
              <a:buFontTx/>
              <a:buNone/>
              <a:defRPr sz="1800" kern="1200" spc="100" baseline="0">
                <a:solidFill>
                  <a:schemeClr val="bg1">
                    <a:lumMod val="65000"/>
                  </a:schemeClr>
                </a:solidFill>
                <a:latin typeface="+mn-lt"/>
                <a:ea typeface="+mn-ea"/>
                <a:cs typeface="+mn-cs"/>
              </a:defRPr>
            </a:lvl1pPr>
            <a:lvl2pPr marL="457200" indent="0" algn="l" defTabSz="914400" rtl="0" eaLnBrk="1" latinLnBrk="0" hangingPunct="1">
              <a:lnSpc>
                <a:spcPct val="90000"/>
              </a:lnSpc>
              <a:spcBef>
                <a:spcPts val="500"/>
              </a:spcBef>
              <a:buFontTx/>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Tx/>
              <a:buNone/>
              <a:defRPr/>
            </a:pPr>
            <a:r>
              <a:rPr kumimoji="0" lang="en-US" altLang="zh-CN" sz="1800" b="0" i="0" u="none" strike="noStrike" kern="1200" cap="none" spc="100" normalizeH="0" baseline="0" noProof="0" dirty="0">
                <a:ln>
                  <a:noFill/>
                </a:ln>
                <a:solidFill>
                  <a:sysClr val="window" lastClr="FFFFFF">
                    <a:lumMod val="65000"/>
                  </a:sysClr>
                </a:solidFill>
                <a:effectLst/>
                <a:uLnTx/>
                <a:uFillTx/>
                <a:latin typeface="Arial" panose="020B0604020202020204"/>
                <a:ea typeface="微软雅黑" panose="020B0503020204020204" pitchFamily="34" charset="-122"/>
                <a:cs typeface="+mn-cs"/>
              </a:rPr>
              <a:t>Research Findings</a:t>
            </a:r>
            <a:endParaRPr kumimoji="0" lang="en-US" altLang="zh-CN" sz="1800" b="0" i="0" u="none" strike="noStrike" kern="1200" cap="none" spc="100" normalizeH="0" baseline="0" noProof="0" dirty="0">
              <a:ln>
                <a:noFill/>
              </a:ln>
              <a:solidFill>
                <a:sysClr val="window" lastClr="FFFFFF">
                  <a:lumMod val="65000"/>
                </a:sysClr>
              </a:solidFill>
              <a:effectLst/>
              <a:uLnTx/>
              <a:uFillTx/>
              <a:latin typeface="Arial" panose="020B0604020202020204"/>
              <a:ea typeface="微软雅黑" panose="020B0503020204020204" pitchFamily="34" charset="-122"/>
              <a:cs typeface="+mn-cs"/>
            </a:endParaRPr>
          </a:p>
        </p:txBody>
      </p:sp>
      <p:cxnSp>
        <p:nvCxnSpPr>
          <p:cNvPr id="15" name="直接连接符 14"/>
          <p:cNvCxnSpPr/>
          <p:nvPr/>
        </p:nvCxnSpPr>
        <p:spPr>
          <a:xfrm>
            <a:off x="4619693" y="2143125"/>
            <a:ext cx="0" cy="2571750"/>
          </a:xfrm>
          <a:prstGeom prst="line">
            <a:avLst/>
          </a:prstGeom>
          <a:noFill/>
          <a:ln w="12700" cap="flat" cmpd="sng" algn="ctr">
            <a:solidFill>
              <a:sysClr val="window" lastClr="FFFFFF">
                <a:lumMod val="50000"/>
              </a:sysClr>
            </a:solidFill>
            <a:prstDash val="dashDot"/>
            <a:miter lim="800000"/>
          </a:ln>
          <a:effectLst/>
        </p:spPr>
      </p:cxnSp>
      <p:sp>
        <p:nvSpPr>
          <p:cNvPr id="16" name="矩形 15"/>
          <p:cNvSpPr/>
          <p:nvPr/>
        </p:nvSpPr>
        <p:spPr>
          <a:xfrm>
            <a:off x="5560176" y="3432579"/>
            <a:ext cx="720000" cy="101600"/>
          </a:xfrm>
          <a:prstGeom prst="rect">
            <a:avLst/>
          </a:prstGeom>
          <a:gradFill>
            <a:gsLst>
              <a:gs pos="0">
                <a:srgbClr val="1C6299"/>
              </a:gs>
              <a:gs pos="100000">
                <a:srgbClr val="5C307D"/>
              </a:gs>
            </a:gsLst>
            <a:lin ang="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blipFill>
                <a:blip r:embed="rId3">
                  <a:extLst>
                    <a:ext uri="{28A0092B-C50C-407E-A947-70E740481C1C}">
                      <a14:useLocalDpi xmlns:a14="http://schemas.microsoft.com/office/drawing/2010/main" val="0"/>
                    </a:ext>
                  </a:extLst>
                </a:blip>
                <a:stretch>
                  <a:fillRect/>
                </a:stretch>
              </a:blipFill>
              <a:effectLst/>
              <a:uLnTx/>
              <a:uFillTx/>
              <a:latin typeface="Arial" panose="020B0604020202020204"/>
              <a:ea typeface="微软雅黑" panose="020B0503020204020204" pitchFamily="34" charset="-122"/>
              <a:cs typeface="+mn-cs"/>
            </a:endParaRPr>
          </a:p>
        </p:txBody>
      </p:sp>
      <p:sp>
        <p:nvSpPr>
          <p:cNvPr id="17" name="文本框 16"/>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8" name="矩形 17"/>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19" name="文本框 18"/>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0" name="文本框 19"/>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25" name="任意多边形: 形状 24"/>
          <p:cNvSpPr/>
          <p:nvPr/>
        </p:nvSpPr>
        <p:spPr>
          <a:xfrm flipH="1">
            <a:off x="0" y="0"/>
            <a:ext cx="12192000" cy="723900"/>
          </a:xfrm>
          <a:custGeom>
            <a:avLst/>
            <a:gdLst>
              <a:gd name="connsiteX0" fmla="*/ 12192000 w 12192000"/>
              <a:gd name="connsiteY0" fmla="*/ 0 h 723900"/>
              <a:gd name="connsiteX1" fmla="*/ 2755900 w 12192000"/>
              <a:gd name="connsiteY1" fmla="*/ 0 h 723900"/>
              <a:gd name="connsiteX2" fmla="*/ 4 w 12192000"/>
              <a:gd name="connsiteY2" fmla="*/ 0 h 723900"/>
              <a:gd name="connsiteX3" fmla="*/ 0 w 12192000"/>
              <a:gd name="connsiteY3" fmla="*/ 0 h 723900"/>
              <a:gd name="connsiteX4" fmla="*/ 0 w 12192000"/>
              <a:gd name="connsiteY4" fmla="*/ 723900 h 723900"/>
              <a:gd name="connsiteX5" fmla="*/ 1987354 w 12192000"/>
              <a:gd name="connsiteY5" fmla="*/ 723900 h 723900"/>
              <a:gd name="connsiteX6" fmla="*/ 2038350 w 12192000"/>
              <a:gd name="connsiteY6" fmla="*/ 717550 h 723900"/>
              <a:gd name="connsiteX7" fmla="*/ 2753650 w 12192000"/>
              <a:gd name="connsiteY7" fmla="*/ 288000 h 723900"/>
              <a:gd name="connsiteX8" fmla="*/ 12192000 w 12192000"/>
              <a:gd name="connsiteY8" fmla="*/ 28800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723900">
                <a:moveTo>
                  <a:pt x="12192000" y="0"/>
                </a:moveTo>
                <a:lnTo>
                  <a:pt x="2755900" y="0"/>
                </a:lnTo>
                <a:lnTo>
                  <a:pt x="4" y="0"/>
                </a:lnTo>
                <a:lnTo>
                  <a:pt x="0" y="0"/>
                </a:lnTo>
                <a:lnTo>
                  <a:pt x="0" y="723900"/>
                </a:lnTo>
                <a:lnTo>
                  <a:pt x="1987354" y="723900"/>
                </a:lnTo>
                <a:lnTo>
                  <a:pt x="2038350" y="717550"/>
                </a:lnTo>
                <a:cubicBezTo>
                  <a:pt x="2497291" y="642783"/>
                  <a:pt x="2432975" y="321492"/>
                  <a:pt x="2753650" y="288000"/>
                </a:cubicBezTo>
                <a:cubicBezTo>
                  <a:pt x="3074325" y="254508"/>
                  <a:pt x="9045883" y="288000"/>
                  <a:pt x="12192000" y="288000"/>
                </a:cubicBezTo>
                <a:close/>
              </a:path>
            </a:pathLst>
          </a:custGeom>
          <a:solidFill>
            <a:srgbClr val="1C6299"/>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pic>
        <p:nvPicPr>
          <p:cNvPr id="26" name="图片 2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07837" y="136675"/>
            <a:ext cx="1663415" cy="487234"/>
          </a:xfrm>
          <a:prstGeom prst="rect">
            <a:avLst/>
          </a:prstGeom>
        </p:spPr>
      </p:pic>
      <p:sp>
        <p:nvSpPr>
          <p:cNvPr id="27" name="椭圆 26"/>
          <p:cNvSpPr/>
          <p:nvPr/>
        </p:nvSpPr>
        <p:spPr>
          <a:xfrm>
            <a:off x="8917027" y="597107"/>
            <a:ext cx="6452568" cy="5936919"/>
          </a:xfrm>
          <a:prstGeom prst="ellipse">
            <a:avLst/>
          </a:prstGeom>
          <a:blipFill dpi="0" rotWithShape="1">
            <a:blip r:embed="rId5">
              <a:alphaModFix amt="11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defTabSz="963930" fontAlgn="auto">
              <a:spcBef>
                <a:spcPts val="0"/>
              </a:spcBef>
              <a:spcAft>
                <a:spcPts val="0"/>
              </a:spcAft>
            </a:pPr>
            <a:endParaRPr lang="zh-CN" altLang="en-US" sz="1900" dirty="0">
              <a:solidFill>
                <a:prstClr val="white"/>
              </a:solidFill>
              <a:latin typeface="Calibri" panose="020F0502020204030204"/>
              <a:ea typeface="宋体" panose="02010600030101010101"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anim calcmode="lin" valueType="num">
                                      <p:cBhvr>
                                        <p:cTn id="10" dur="500" fill="hold"/>
                                        <p:tgtEl>
                                          <p:spTgt spid="12"/>
                                        </p:tgtEl>
                                        <p:attrNameLst>
                                          <p:attrName>ppt_x</p:attrName>
                                        </p:attrNameLst>
                                      </p:cBhvr>
                                      <p:tavLst>
                                        <p:tav tm="0">
                                          <p:val>
                                            <p:fltVal val="0.5"/>
                                          </p:val>
                                        </p:tav>
                                        <p:tav tm="100000">
                                          <p:val>
                                            <p:strVal val="#ppt_x"/>
                                          </p:val>
                                        </p:tav>
                                      </p:tavLst>
                                    </p:anim>
                                    <p:anim calcmode="lin" valueType="num">
                                      <p:cBhvr>
                                        <p:cTn id="11" dur="500" fill="hold"/>
                                        <p:tgtEl>
                                          <p:spTgt spid="12"/>
                                        </p:tgtEl>
                                        <p:attrNameLst>
                                          <p:attrName>ppt_y</p:attrName>
                                        </p:attrNameLst>
                                      </p:cBhvr>
                                      <p:tavLst>
                                        <p:tav tm="0">
                                          <p:val>
                                            <p:fltVal val="0.5"/>
                                          </p:val>
                                        </p:tav>
                                        <p:tav tm="100000">
                                          <p:val>
                                            <p:strVal val="#ppt_y"/>
                                          </p:val>
                                        </p:tav>
                                      </p:tavLst>
                                    </p:anim>
                                  </p:childTnLst>
                                </p:cTn>
                              </p:par>
                              <p:par>
                                <p:cTn id="12" presetID="53" presetClass="entr" presetSubtype="528" fill="hold" nodeType="withEffect">
                                  <p:stCondLst>
                                    <p:cond delay="250"/>
                                  </p:stCondLst>
                                  <p:childTnLst>
                                    <p:set>
                                      <p:cBhvr>
                                        <p:cTn id="13" dur="1" fill="hold">
                                          <p:stCondLst>
                                            <p:cond delay="0"/>
                                          </p:stCondLst>
                                        </p:cTn>
                                        <p:tgtEl>
                                          <p:spTgt spid="15"/>
                                        </p:tgtEl>
                                        <p:attrNameLst>
                                          <p:attrName>style.visibility</p:attrName>
                                        </p:attrNameLst>
                                      </p:cBhvr>
                                      <p:to>
                                        <p:strVal val="visible"/>
                                      </p:to>
                                    </p:set>
                                    <p:anim calcmode="lin" valueType="num">
                                      <p:cBhvr>
                                        <p:cTn id="14" dur="500" fill="hold"/>
                                        <p:tgtEl>
                                          <p:spTgt spid="15"/>
                                        </p:tgtEl>
                                        <p:attrNameLst>
                                          <p:attrName>ppt_w</p:attrName>
                                        </p:attrNameLst>
                                      </p:cBhvr>
                                      <p:tavLst>
                                        <p:tav tm="0">
                                          <p:val>
                                            <p:fltVal val="0"/>
                                          </p:val>
                                        </p:tav>
                                        <p:tav tm="100000">
                                          <p:val>
                                            <p:strVal val="#ppt_w"/>
                                          </p:val>
                                        </p:tav>
                                      </p:tavLst>
                                    </p:anim>
                                    <p:anim calcmode="lin" valueType="num">
                                      <p:cBhvr>
                                        <p:cTn id="15" dur="500" fill="hold"/>
                                        <p:tgtEl>
                                          <p:spTgt spid="15"/>
                                        </p:tgtEl>
                                        <p:attrNameLst>
                                          <p:attrName>ppt_h</p:attrName>
                                        </p:attrNameLst>
                                      </p:cBhvr>
                                      <p:tavLst>
                                        <p:tav tm="0">
                                          <p:val>
                                            <p:fltVal val="0"/>
                                          </p:val>
                                        </p:tav>
                                        <p:tav tm="100000">
                                          <p:val>
                                            <p:strVal val="#ppt_h"/>
                                          </p:val>
                                        </p:tav>
                                      </p:tavLst>
                                    </p:anim>
                                    <p:animEffect transition="in" filter="fade">
                                      <p:cBhvr>
                                        <p:cTn id="16" dur="500"/>
                                        <p:tgtEl>
                                          <p:spTgt spid="15"/>
                                        </p:tgtEl>
                                      </p:cBhvr>
                                    </p:animEffect>
                                    <p:anim calcmode="lin" valueType="num">
                                      <p:cBhvr>
                                        <p:cTn id="17" dur="500" fill="hold"/>
                                        <p:tgtEl>
                                          <p:spTgt spid="15"/>
                                        </p:tgtEl>
                                        <p:attrNameLst>
                                          <p:attrName>ppt_x</p:attrName>
                                        </p:attrNameLst>
                                      </p:cBhvr>
                                      <p:tavLst>
                                        <p:tav tm="0">
                                          <p:val>
                                            <p:fltVal val="0.5"/>
                                          </p:val>
                                        </p:tav>
                                        <p:tav tm="100000">
                                          <p:val>
                                            <p:strVal val="#ppt_x"/>
                                          </p:val>
                                        </p:tav>
                                      </p:tavLst>
                                    </p:anim>
                                    <p:anim calcmode="lin" valueType="num">
                                      <p:cBhvr>
                                        <p:cTn id="18" dur="500" fill="hold"/>
                                        <p:tgtEl>
                                          <p:spTgt spid="15"/>
                                        </p:tgtEl>
                                        <p:attrNameLst>
                                          <p:attrName>ppt_y</p:attrName>
                                        </p:attrNameLst>
                                      </p:cBhvr>
                                      <p:tavLst>
                                        <p:tav tm="0">
                                          <p:val>
                                            <p:fltVal val="0.5"/>
                                          </p:val>
                                        </p:tav>
                                        <p:tav tm="100000">
                                          <p:val>
                                            <p:strVal val="#ppt_y"/>
                                          </p:val>
                                        </p:tav>
                                      </p:tavLst>
                                    </p:anim>
                                  </p:childTnLst>
                                </p:cTn>
                              </p:par>
                            </p:childTnLst>
                          </p:cTn>
                        </p:par>
                        <p:par>
                          <p:cTn id="19" fill="hold">
                            <p:stCondLst>
                              <p:cond delay="500"/>
                            </p:stCondLst>
                            <p:childTnLst>
                              <p:par>
                                <p:cTn id="20" presetID="42" presetClass="entr" presetSubtype="0" fill="hold" grpId="0" nodeType="after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750"/>
                                        <p:tgtEl>
                                          <p:spTgt spid="13"/>
                                        </p:tgtEl>
                                      </p:cBhvr>
                                    </p:animEffect>
                                    <p:anim calcmode="lin" valueType="num">
                                      <p:cBhvr>
                                        <p:cTn id="23" dur="750" fill="hold"/>
                                        <p:tgtEl>
                                          <p:spTgt spid="13"/>
                                        </p:tgtEl>
                                        <p:attrNameLst>
                                          <p:attrName>ppt_x</p:attrName>
                                        </p:attrNameLst>
                                      </p:cBhvr>
                                      <p:tavLst>
                                        <p:tav tm="0">
                                          <p:val>
                                            <p:strVal val="#ppt_x"/>
                                          </p:val>
                                        </p:tav>
                                        <p:tav tm="100000">
                                          <p:val>
                                            <p:strVal val="#ppt_x"/>
                                          </p:val>
                                        </p:tav>
                                      </p:tavLst>
                                    </p:anim>
                                    <p:anim calcmode="lin" valueType="num">
                                      <p:cBhvr>
                                        <p:cTn id="24" dur="750" fill="hold"/>
                                        <p:tgtEl>
                                          <p:spTgt spid="13"/>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10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750"/>
                                        <p:tgtEl>
                                          <p:spTgt spid="14"/>
                                        </p:tgtEl>
                                      </p:cBhvr>
                                    </p:animEffect>
                                    <p:anim calcmode="lin" valueType="num">
                                      <p:cBhvr>
                                        <p:cTn id="28" dur="750" fill="hold"/>
                                        <p:tgtEl>
                                          <p:spTgt spid="14"/>
                                        </p:tgtEl>
                                        <p:attrNameLst>
                                          <p:attrName>ppt_x</p:attrName>
                                        </p:attrNameLst>
                                      </p:cBhvr>
                                      <p:tavLst>
                                        <p:tav tm="0">
                                          <p:val>
                                            <p:strVal val="#ppt_x"/>
                                          </p:val>
                                        </p:tav>
                                        <p:tav tm="100000">
                                          <p:val>
                                            <p:strVal val="#ppt_x"/>
                                          </p:val>
                                        </p:tav>
                                      </p:tavLst>
                                    </p:anim>
                                    <p:anim calcmode="lin" valueType="num">
                                      <p:cBhvr>
                                        <p:cTn id="29" dur="750" fill="hold"/>
                                        <p:tgtEl>
                                          <p:spTgt spid="14"/>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20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750"/>
                                        <p:tgtEl>
                                          <p:spTgt spid="16"/>
                                        </p:tgtEl>
                                      </p:cBhvr>
                                    </p:animEffect>
                                    <p:anim calcmode="lin" valueType="num">
                                      <p:cBhvr>
                                        <p:cTn id="33" dur="750" fill="hold"/>
                                        <p:tgtEl>
                                          <p:spTgt spid="16"/>
                                        </p:tgtEl>
                                        <p:attrNameLst>
                                          <p:attrName>ppt_x</p:attrName>
                                        </p:attrNameLst>
                                      </p:cBhvr>
                                      <p:tavLst>
                                        <p:tav tm="0">
                                          <p:val>
                                            <p:strVal val="#ppt_x"/>
                                          </p:val>
                                        </p:tav>
                                        <p:tav tm="100000">
                                          <p:val>
                                            <p:strVal val="#ppt_x"/>
                                          </p:val>
                                        </p:tav>
                                      </p:tavLst>
                                    </p:anim>
                                    <p:anim calcmode="lin" valueType="num">
                                      <p:cBhvr>
                                        <p:cTn id="34" dur="75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6"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44"/>
          <p:cNvSpPr txBox="1"/>
          <p:nvPr/>
        </p:nvSpPr>
        <p:spPr>
          <a:xfrm>
            <a:off x="8610404" y="6583649"/>
            <a:ext cx="3012363" cy="246221"/>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Tsinghua University of China</a:t>
            </a:r>
            <a:endParaRPr kumimoji="0" lang="zh-CN" altLang="en-US" sz="1000" b="0"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47" name="标题占位符 1"/>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r>
              <a:rPr lang="zh-CN" altLang="en-US" sz="2600" b="1" dirty="0">
                <a:solidFill>
                  <a:sysClr val="windowText" lastClr="000000"/>
                </a:solidFill>
                <a:latin typeface="Arial" panose="020B0604020202020204"/>
                <a:ea typeface="微软雅黑" panose="020B0503020204020204" pitchFamily="34" charset="-122"/>
              </a:rPr>
              <a:t>研究</a:t>
            </a:r>
            <a:r>
              <a:rPr lang="zh-CN" altLang="en-US" sz="2600" b="1" dirty="0">
                <a:solidFill>
                  <a:sysClr val="windowText" lastClr="000000"/>
                </a:solidFill>
                <a:latin typeface="Arial" panose="020B0604020202020204"/>
                <a:ea typeface="微软雅黑" panose="020B0503020204020204" pitchFamily="34" charset="-122"/>
              </a:rPr>
              <a:t>成果</a:t>
            </a:r>
            <a:endParaRPr lang="zh-CN" altLang="en-US" sz="2600" b="1" dirty="0">
              <a:solidFill>
                <a:sysClr val="windowText" lastClr="000000"/>
              </a:solidFill>
              <a:latin typeface="Arial" panose="020B0604020202020204"/>
              <a:ea typeface="微软雅黑" panose="020B0503020204020204" pitchFamily="34" charset="-122"/>
            </a:endParaRPr>
          </a:p>
        </p:txBody>
      </p:sp>
      <p:sp>
        <p:nvSpPr>
          <p:cNvPr id="83" name="文本框 82"/>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4" name="矩形 83"/>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85" name="文本框 84"/>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6" name="文本框 85"/>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cxnSp>
        <p:nvCxnSpPr>
          <p:cNvPr id="87" name="直接连接符 86"/>
          <p:cNvCxnSpPr/>
          <p:nvPr/>
        </p:nvCxnSpPr>
        <p:spPr>
          <a:xfrm>
            <a:off x="660400" y="760413"/>
            <a:ext cx="10858500" cy="0"/>
          </a:xfrm>
          <a:prstGeom prst="line">
            <a:avLst/>
          </a:prstGeom>
          <a:noFill/>
          <a:ln w="22225" cap="flat" cmpd="sng" algn="ctr">
            <a:solidFill>
              <a:srgbClr val="1C6299"/>
            </a:solidFill>
            <a:prstDash val="solid"/>
            <a:miter lim="800000"/>
          </a:ln>
          <a:effectLst/>
        </p:spPr>
      </p:cxnSp>
      <p:grpSp>
        <p:nvGrpSpPr>
          <p:cNvPr id="88" name="组合 87"/>
          <p:cNvGrpSpPr/>
          <p:nvPr/>
        </p:nvGrpSpPr>
        <p:grpSpPr>
          <a:xfrm>
            <a:off x="203760" y="159728"/>
            <a:ext cx="725344" cy="619478"/>
            <a:chOff x="178632" y="159728"/>
            <a:chExt cx="725344" cy="619478"/>
          </a:xfrm>
        </p:grpSpPr>
        <p:sp>
          <p:nvSpPr>
            <p:cNvPr id="89" name="椭圆 88"/>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90" name="文本框 89"/>
            <p:cNvSpPr txBox="1"/>
            <p:nvPr/>
          </p:nvSpPr>
          <p:spPr>
            <a:xfrm>
              <a:off x="230876" y="233483"/>
              <a:ext cx="673100" cy="33718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03</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91" name="椭圆 90"/>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pic>
        <p:nvPicPr>
          <p:cNvPr id="92" name="图片 9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9" name="文本框 8"/>
          <p:cNvSpPr txBox="1"/>
          <p:nvPr/>
        </p:nvSpPr>
        <p:spPr>
          <a:xfrm>
            <a:off x="594360" y="4279265"/>
            <a:ext cx="11452225" cy="2113280"/>
          </a:xfrm>
          <a:prstGeom prst="rect">
            <a:avLst/>
          </a:prstGeom>
          <a:noFill/>
        </p:spPr>
        <p:txBody>
          <a:bodyPr wrap="square" rtlCol="0" anchor="t">
            <a:noAutofit/>
          </a:bodyPr>
          <a:p>
            <a:pPr marL="171450" marR="0" lvl="0" indent="-171450" algn="l" defTabSz="1218565" rtl="0" eaLnBrk="1" fontAlgn="auto" latinLnBrk="0" hangingPunct="1">
              <a:lnSpc>
                <a:spcPct val="120000"/>
              </a:lnSpc>
              <a:spcBef>
                <a:spcPct val="20000"/>
              </a:spcBef>
              <a:spcAft>
                <a:spcPts val="0"/>
              </a:spcAft>
              <a:buClrTx/>
              <a:buSzTx/>
              <a:buFont typeface="Wingdings" panose="05000000000000000000" pitchFamily="2" charset="2"/>
              <a:buChar char="l"/>
              <a:defRPr/>
            </a:pP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数据集​​：实验使用了</a:t>
            </a:r>
            <a:r>
              <a:rPr lang="en-US" altLang="zh-CN"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HuatuoGPT-Vision</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评估数据集，该数据集来自多个公开的医学</a:t>
            </a:r>
            <a:r>
              <a:rPr lang="en-US" altLang="zh-CN"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VQA</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基准，包括</a:t>
            </a:r>
            <a:r>
              <a:rPr lang="en-US" altLang="zh-CN"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VQA-RAD、SLAKE、PathVQA、OmniMedVQA</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和</a:t>
            </a:r>
            <a:r>
              <a:rPr lang="en-US" altLang="zh-CN"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PMC-VQA。</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数据集包含17,300个多选题，覆盖</a:t>
            </a:r>
            <a:r>
              <a:rPr lang="en-US" altLang="zh-CN"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CT、MRI</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和</a:t>
            </a:r>
            <a:r>
              <a:rPr lang="en-US" altLang="zh-CN"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X</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光等多种医学成像模式。 ​​</a:t>
            </a:r>
            <a:endPar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a:p>
            <a:pPr marL="171450" marR="0" lvl="0" indent="-171450" algn="l" defTabSz="1218565" rtl="0" eaLnBrk="1" fontAlgn="auto" latinLnBrk="0" hangingPunct="1">
              <a:lnSpc>
                <a:spcPct val="120000"/>
              </a:lnSpc>
              <a:spcBef>
                <a:spcPct val="20000"/>
              </a:spcBef>
              <a:spcAft>
                <a:spcPts val="0"/>
              </a:spcAft>
              <a:buClrTx/>
              <a:buSzTx/>
              <a:buFont typeface="Wingdings" panose="05000000000000000000" pitchFamily="2" charset="2"/>
              <a:buChar char="l"/>
              <a:defRPr/>
            </a:pP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实现细节​​：采用</a:t>
            </a:r>
            <a:r>
              <a:rPr lang="en-US" altLang="zh-CN"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Qwen2-VL-2B</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作为基础模型，使用</a:t>
            </a:r>
            <a:r>
              <a:rPr lang="en-US" altLang="zh-CN"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GRPO</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框架进行微调。训练在两个</a:t>
            </a:r>
            <a:r>
              <a:rPr lang="en-US" altLang="zh-CN"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NVIDIA A100 SXM4 80GB</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上进行，批大小为2，训练300步。生成候选数量</a:t>
            </a:r>
            <a:r>
              <a:rPr lang="en-US" altLang="zh-CN"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G</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设置为6。 ​​</a:t>
            </a:r>
            <a:endPar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a:p>
            <a:pPr marL="171450" marR="0" lvl="0" indent="-171450" algn="l" defTabSz="1218565" rtl="0" eaLnBrk="1" fontAlgn="auto" latinLnBrk="0" hangingPunct="1">
              <a:lnSpc>
                <a:spcPct val="120000"/>
              </a:lnSpc>
              <a:spcBef>
                <a:spcPct val="20000"/>
              </a:spcBef>
              <a:spcAft>
                <a:spcPts val="0"/>
              </a:spcAft>
              <a:buClrTx/>
              <a:buSzTx/>
              <a:buFont typeface="Wingdings" panose="05000000000000000000" pitchFamily="2" charset="2"/>
              <a:buChar char="l"/>
              <a:defRPr/>
            </a:pP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基线方法​​：比较了</a:t>
            </a:r>
            <a:r>
              <a:rPr lang="en-US" altLang="zh-CN"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MedVLM-R1</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与以下基线方法：</a:t>
            </a:r>
            <a:r>
              <a:rPr lang="en-US" altLang="zh-CN"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Qwen2-VL</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家族（包括</a:t>
            </a:r>
            <a:r>
              <a:rPr lang="en-US" altLang="zh-CN"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Qwen2-VL-2B、Qwen2-VL-7B</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和</a:t>
            </a:r>
            <a:r>
              <a:rPr lang="en-US" altLang="zh-CN"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Qwen2-VL-72B）、HuatuoGPT-vision</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和</a:t>
            </a:r>
            <a:r>
              <a:rPr lang="en-US" altLang="zh-CN"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SFT。</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所有基线方法使用简单的提示格式，而</a:t>
            </a:r>
            <a:r>
              <a:rPr lang="en-US" altLang="zh-CN"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MedVLM-R1</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使用基于</a:t>
            </a:r>
            <a:r>
              <a:rPr lang="en-US" altLang="zh-CN"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RL</a:t>
            </a:r>
            <a:r>
              <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的提示格式。</a:t>
            </a:r>
            <a:endParaRPr lang="zh-CN" altLang="en-US" sz="16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p:txBody>
      </p:sp>
      <p:pic>
        <p:nvPicPr>
          <p:cNvPr id="2" name="图片 1"/>
          <p:cNvPicPr>
            <a:picLocks noChangeAspect="1"/>
          </p:cNvPicPr>
          <p:nvPr/>
        </p:nvPicPr>
        <p:blipFill>
          <a:blip r:embed="rId2"/>
          <a:stretch>
            <a:fillRect/>
          </a:stretch>
        </p:blipFill>
        <p:spPr>
          <a:xfrm>
            <a:off x="660400" y="1081405"/>
            <a:ext cx="8079740" cy="311785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8271" y="1951493"/>
            <a:ext cx="12220271" cy="1838567"/>
          </a:xfrm>
          <a:prstGeom prst="rect">
            <a:avLst/>
          </a:prstGeom>
          <a:solidFill>
            <a:srgbClr val="1C62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prstClr val="white"/>
              </a:solidFill>
              <a:latin typeface="Calibri" panose="020F0502020204030204"/>
              <a:ea typeface="等线" panose="02010600030101010101" pitchFamily="2" charset="-122"/>
            </a:endParaRPr>
          </a:p>
        </p:txBody>
      </p:sp>
      <p:sp>
        <p:nvSpPr>
          <p:cNvPr id="7" name="文本框 6"/>
          <p:cNvSpPr txBox="1"/>
          <p:nvPr/>
        </p:nvSpPr>
        <p:spPr>
          <a:xfrm>
            <a:off x="4345574" y="2252225"/>
            <a:ext cx="7802880" cy="706755"/>
          </a:xfrm>
          <a:prstGeom prst="rect">
            <a:avLst/>
          </a:prstGeom>
          <a:noFill/>
        </p:spPr>
        <p:txBody>
          <a:bodyPr wrap="none" rtlCol="0">
            <a:spAutoFit/>
          </a:bodyPr>
          <a:lstStyle/>
          <a:p>
            <a:pPr defTabSz="913765">
              <a:defRPr/>
            </a:pPr>
            <a:r>
              <a:rPr lang="zh-CN" altLang="en-US" sz="4000" b="1" dirty="0">
                <a:solidFill>
                  <a:prstClr val="white"/>
                </a:solidFill>
                <a:latin typeface="微软雅黑" panose="020B0503020204020204" pitchFamily="34" charset="-122"/>
                <a:ea typeface="微软雅黑" panose="020B0503020204020204" pitchFamily="34" charset="-122"/>
              </a:rPr>
              <a:t>汇报完毕，恳请老师、同学指正！</a:t>
            </a:r>
            <a:endParaRPr lang="zh-CN" altLang="en-US" sz="4000" b="1" dirty="0">
              <a:solidFill>
                <a:prstClr val="white"/>
              </a:solidFill>
              <a:latin typeface="微软雅黑" panose="020B0503020204020204" pitchFamily="34" charset="-122"/>
              <a:ea typeface="微软雅黑" panose="020B0503020204020204" pitchFamily="34" charset="-122"/>
            </a:endParaRPr>
          </a:p>
        </p:txBody>
      </p:sp>
      <p:sp>
        <p:nvSpPr>
          <p:cNvPr id="12" name="椭圆 11"/>
          <p:cNvSpPr/>
          <p:nvPr/>
        </p:nvSpPr>
        <p:spPr>
          <a:xfrm>
            <a:off x="1524353" y="1558640"/>
            <a:ext cx="2624273" cy="2624273"/>
          </a:xfrm>
          <a:prstGeom prst="ellipse">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prstClr val="white"/>
              </a:solidFill>
              <a:latin typeface="Calibri" panose="020F0502020204030204"/>
              <a:ea typeface="等线" panose="02010600030101010101" pitchFamily="2" charset="-122"/>
            </a:endParaRPr>
          </a:p>
        </p:txBody>
      </p:sp>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266181" y="1418982"/>
            <a:ext cx="3140616" cy="2903588"/>
          </a:xfrm>
          <a:prstGeom prst="rect">
            <a:avLst/>
          </a:prstGeom>
        </p:spPr>
      </p:pic>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3751" y="212782"/>
            <a:ext cx="1966449" cy="575997"/>
          </a:xfrm>
          <a:prstGeom prst="rect">
            <a:avLst/>
          </a:prstGeom>
        </p:spPr>
      </p:pic>
      <p:sp>
        <p:nvSpPr>
          <p:cNvPr id="19" name="矩形 18"/>
          <p:cNvSpPr/>
          <p:nvPr/>
        </p:nvSpPr>
        <p:spPr>
          <a:xfrm>
            <a:off x="6444598" y="3263845"/>
            <a:ext cx="6498497" cy="276956"/>
          </a:xfrm>
          <a:prstGeom prst="rect">
            <a:avLst/>
          </a:prstGeom>
        </p:spPr>
        <p:txBody>
          <a:bodyPr wrap="square" lIns="91397" tIns="45699" rIns="91397" bIns="45699">
            <a:spAutoFit/>
          </a:bodyPr>
          <a:lstStyle/>
          <a:p>
            <a:pPr defTabSz="913765">
              <a:defRPr/>
            </a:pPr>
            <a:r>
              <a:rPr lang="en-US" altLang="zh-CN" sz="1200" b="1" dirty="0">
                <a:solidFill>
                  <a:prstClr val="white"/>
                </a:solidFill>
                <a:latin typeface="微软雅黑" panose="020B0503020204020204" pitchFamily="34" charset="-122"/>
                <a:ea typeface="微软雅黑" panose="020B0503020204020204" pitchFamily="34" charset="-122"/>
              </a:rPr>
              <a:t>THANKS FOR ALL</a:t>
            </a:r>
            <a:endParaRPr lang="en-US" altLang="zh-CN" sz="1200" b="1" dirty="0">
              <a:solidFill>
                <a:prstClr val="white"/>
              </a:solidFill>
              <a:latin typeface="微软雅黑" panose="020B0503020204020204" pitchFamily="34" charset="-122"/>
              <a:ea typeface="微软雅黑" panose="020B0503020204020204" pitchFamily="34" charset="-122"/>
            </a:endParaRPr>
          </a:p>
        </p:txBody>
      </p:sp>
    </p:spTree>
  </p:cSld>
  <p:clrMapOvr>
    <a:masterClrMapping/>
  </p:clrMapOvr>
  <p:transition spd="slow" advClick="0" advTm="1000">
    <p:randomBar dir="vert"/>
  </p:transition>
  <p:timing>
    <p:tnLst>
      <p:par>
        <p:cTn id="1" dur="indefinite" restart="never" nodeType="tmRoot"/>
      </p:par>
    </p:tnLst>
  </p:timing>
</p:sld>
</file>

<file path=ppt/tags/tag1.xml><?xml version="1.0" encoding="utf-8"?>
<p:tagLst xmlns:p="http://schemas.openxmlformats.org/presentationml/2006/main">
  <p:tag name="KSO_WM_DIAGRAM_VIRTUALLY_FRAME" val="{&quot;height&quot;:263.3808661417323,&quot;left&quot;:298.0505511811024,&quot;top&quot;:89.36834645669292,&quot;width&quot;:535.65}"/>
</p:tagLst>
</file>

<file path=ppt/tags/tag2.xml><?xml version="1.0" encoding="utf-8"?>
<p:tagLst xmlns:p="http://schemas.openxmlformats.org/presentationml/2006/main">
  <p:tag name="KSO_WM_DIAGRAM_VIRTUALLY_FRAME" val="{&quot;height&quot;:263.3808661417323,&quot;left&quot;:298.0505511811024,&quot;top&quot;:89.36834645669292,&quot;width&quot;:535.65}"/>
</p:tagLst>
</file>

<file path=ppt/tags/tag3.xml><?xml version="1.0" encoding="utf-8"?>
<p:tagLst xmlns:p="http://schemas.openxmlformats.org/presentationml/2006/main">
  <p:tag name="KSO_WM_DIAGRAM_VIRTUALLY_FRAME" val="{&quot;height&quot;:263.3808661417323,&quot;left&quot;:298.0505511811024,&quot;top&quot;:89.36834645669292,&quot;width&quot;:535.65}"/>
</p:tagLst>
</file>

<file path=ppt/tags/tag4.xml><?xml version="1.0" encoding="utf-8"?>
<p:tagLst xmlns:p="http://schemas.openxmlformats.org/presentationml/2006/main">
  <p:tag name="KSO_WM_DIAGRAM_VIRTUALLY_FRAME" val="{&quot;height&quot;:263.3808661417323,&quot;left&quot;:298.0505511811024,&quot;top&quot;:89.36834645669292,&quot;width&quot;:535.65}"/>
</p:tagLst>
</file>

<file path=ppt/tags/tag5.xml><?xml version="1.0" encoding="utf-8"?>
<p:tagLst xmlns:p="http://schemas.openxmlformats.org/presentationml/2006/main">
  <p:tag name="KSO_WM_DIAGRAM_VIRTUALLY_FRAME" val="{&quot;height&quot;:263.3808661417323,&quot;left&quot;:298.0505511811024,&quot;top&quot;:89.36834645669292,&quot;width&quot;:535.65}"/>
</p:tagLst>
</file>

<file path=ppt/tags/tag6.xml><?xml version="1.0" encoding="utf-8"?>
<p:tagLst xmlns:p="http://schemas.openxmlformats.org/presentationml/2006/main">
  <p:tag name="KSO_WM_DIAGRAM_VIRTUALLY_FRAME" val="{&quot;height&quot;:263.3808661417323,&quot;left&quot;:298.0505511811024,&quot;top&quot;:89.36834645669292,&quot;width&quot;:535.65}"/>
</p:tagLst>
</file>

<file path=ppt/tags/tag7.xml><?xml version="1.0" encoding="utf-8"?>
<p:tagLst xmlns:p="http://schemas.openxmlformats.org/presentationml/2006/main">
  <p:tag name="KSO_WM_DIAGRAM_VIRTUALLY_FRAME" val="{&quot;height&quot;:263.3808661417323,&quot;left&quot;:298.0505511811024,&quot;top&quot;:89.36834645669292,&quot;width&quot;:535.65}"/>
</p:tagLst>
</file>

<file path=ppt/tags/tag8.xml><?xml version="1.0" encoding="utf-8"?>
<p:tagLst xmlns:p="http://schemas.openxmlformats.org/presentationml/2006/main">
  <p:tag name="KSO_WM_DIAGRAM_VIRTUALLY_FRAME" val="{&quot;height&quot;:263.3808661417323,&quot;left&quot;:298.0505511811024,&quot;top&quot;:89.36834645669292,&quot;width&quot;:535.65}"/>
</p:tagLst>
</file>

<file path=ppt/tags/tag9.xml><?xml version="1.0" encoding="utf-8"?>
<p:tagLst xmlns:p="http://schemas.openxmlformats.org/presentationml/2006/main">
  <p:tag name="KSO_WM_DIAGRAM_VIRTUALLY_FRAME" val="{&quot;height&quot;:263.3808661417323,&quot;left&quot;:298.0505511811024,&quot;top&quot;:89.36834645669292,&quot;width&quot;:535.65}"/>
</p:tagLst>
</file>

<file path=ppt/tags/tag10.xml><?xml version="1.0" encoding="utf-8"?>
<p:tagLst xmlns:p="http://schemas.openxmlformats.org/presentationml/2006/main">
  <p:tag name="KSO_WM_DIAGRAM_VIRTUALLY_FRAME" val="{&quot;height&quot;:263.3808661417323,&quot;left&quot;:298.0505511811024,&quot;top&quot;:89.36834645669292,&quot;width&quot;:535.65}"/>
</p:tagLst>
</file>

<file path=ppt/tags/tag11.xml><?xml version="1.0" encoding="utf-8"?>
<p:tagLst xmlns:p="http://schemas.openxmlformats.org/presentationml/2006/main">
  <p:tag name="KSO_WM_DIAGRAM_VIRTUALLY_FRAME" val="{&quot;height&quot;:263.3808661417323,&quot;left&quot;:298.0505511811024,&quot;top&quot;:89.36834645669292,&quot;width&quot;:535.65}"/>
</p:tagLst>
</file>

<file path=ppt/tags/tag12.xml><?xml version="1.0" encoding="utf-8"?>
<p:tagLst xmlns:p="http://schemas.openxmlformats.org/presentationml/2006/main">
  <p:tag name="KSO_WM_DIAGRAM_VIRTUALLY_FRAME" val="{&quot;height&quot;:263.3808661417323,&quot;left&quot;:298.0505511811024,&quot;top&quot;:89.36834645669292,&quot;width&quot;:535.65}"/>
</p:tagLst>
</file>

<file path=ppt/tags/tag1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31973_1*l_h_i*1_1_3"/>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417.5249938964844,&quot;left&quot;:42.92501220703125,&quot;top&quot;:81.92500610351563,&quot;width&quot;:867.6749877929688}"/>
  <p:tag name="KSO_WM_DIAGRAM_COLOR_MATCH_VALUE" val="{&quot;shape&quot;:{&quot;fill&quot;:{&quot;solid&quot;:{&quot;brightness&quot;:0.6000000238418579,&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6"/>
  <p:tag name="KSO_WM_DIAGRAM_USE_COLOR_VALUE" val="{&quot;color_scheme&quot;:1,&quot;color_type&quot;:1,&quot;theme_color_indexes&quot;:[5,5,5,5,5,5]}"/>
</p:tagLst>
</file>

<file path=ppt/tags/tag1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1973_1*l_h_i*1_1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417.5249938964844,&quot;left&quot;:42.92501220703125,&quot;top&quot;:81.92500610351563,&quot;width&quot;:867.6749877929688}"/>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01"/>
  <p:tag name="KSO_WM_UNIT_FILL_TYPE" val="1"/>
  <p:tag name="KSO_WM_UNIT_FILL_FORE_SCHEMECOLOR_INDEX" val="5"/>
  <p:tag name="KSO_WM_UNIT_FILL_FORE_SCHEMECOLOR_INDEX_BRIGHTNESS" val="0"/>
  <p:tag name="KSO_WM_DIAGRAM_USE_COLOR_VALUE" val="{&quot;color_scheme&quot;:1,&quot;color_type&quot;:1,&quot;theme_color_indexes&quot;:[5,5,5,5,5,5]}"/>
</p:tagLst>
</file>

<file path=ppt/tags/tag15.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973_1*l_h_i*1_1_2"/>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417.5249938964844,&quot;left&quot;:42.92501220703125,&quot;top&quot;:81.92500610351563,&quot;width&quot;:867.6749877929688}"/>
  <p:tag name="KSO_WM_DIAGRAM_COLOR_MATCH_VALUE" val="{&quot;shape&quot;:{&quot;fill&quot;:{&quot;type&quot;:0},&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DIAGRAM_USE_COLOR_VALUE" val="{&quot;color_scheme&quot;:1,&quot;color_type&quot;:1,&quot;theme_color_indexes&quot;:[5,5,5,5,5,5]}"/>
</p:tagLst>
</file>

<file path=ppt/tags/tag16.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VALUE" val="17"/>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1973_1*l_h_a*1_1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417.5249938964844,&quot;left&quot;:42.92501220703125,&quot;top&quot;:81.92500610351563,&quot;width&quot;:867.674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DIAGRAM_USE_COLOR_VALUE" val="{&quot;color_scheme&quot;:1,&quot;color_type&quot;:1,&quot;theme_color_indexes&quot;:[5,5,5,5,5,5]}"/>
</p:tagLst>
</file>

<file path=ppt/tags/tag1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31973_1*l_h_i*1_2_3"/>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417.5249938964844,&quot;left&quot;:42.92501220703125,&quot;top&quot;:81.92500610351563,&quot;width&quot;:867.6749877929688}"/>
  <p:tag name="KSO_WM_DIAGRAM_COLOR_MATCH_VALUE" val="{&quot;shape&quot;:{&quot;fill&quot;:{&quot;solid&quot;:{&quot;brightness&quot;:0.6000000238418579,&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6"/>
  <p:tag name="KSO_WM_DIAGRAM_USE_COLOR_VALUE" val="{&quot;color_scheme&quot;:1,&quot;color_type&quot;:1,&quot;theme_color_indexes&quot;:[5,5,5,5,5,5]}"/>
</p:tagLst>
</file>

<file path=ppt/tags/tag1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1973_1*l_h_i*1_2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417.5249938964844,&quot;left&quot;:42.92501220703125,&quot;top&quot;:81.92500610351563,&quot;width&quot;:867.6749877929688}"/>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02"/>
  <p:tag name="KSO_WM_UNIT_FILL_TYPE" val="1"/>
  <p:tag name="KSO_WM_UNIT_FILL_FORE_SCHEMECOLOR_INDEX" val="5"/>
  <p:tag name="KSO_WM_UNIT_FILL_FORE_SCHEMECOLOR_INDEX_BRIGHTNESS" val="0"/>
  <p:tag name="KSO_WM_DIAGRAM_USE_COLOR_VALUE" val="{&quot;color_scheme&quot;:1,&quot;color_type&quot;:1,&quot;theme_color_indexes&quot;:[5,5,5,5,5,5]}"/>
</p:tagLst>
</file>

<file path=ppt/tags/tag1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1973_1*l_h_i*1_2_2"/>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417.5249938964844,&quot;left&quot;:42.92501220703125,&quot;top&quot;:81.92500610351563,&quot;width&quot;:867.6749877929688}"/>
  <p:tag name="KSO_WM_DIAGRAM_COLOR_MATCH_VALUE" val="{&quot;shape&quot;:{&quot;fill&quot;:{&quot;type&quot;:0},&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DIAGRAM_USE_COLOR_VALUE" val="{&quot;color_scheme&quot;:1,&quot;color_type&quot;:1,&quot;theme_color_indexes&quot;:[5,5,5,5,5,5]}"/>
</p:tagLst>
</file>

<file path=ppt/tags/tag20.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VALUE" val="17"/>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1973_1*l_h_a*1_2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417.5249938964844,&quot;left&quot;:42.92501220703125,&quot;top&quot;:81.92500610351563,&quot;width&quot;:867.674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DIAGRAM_USE_COLOR_VALUE" val="{&quot;color_scheme&quot;:1,&quot;color_type&quot;:1,&quot;theme_color_indexes&quot;:[5,5,5,5,5,5]}"/>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861_1*l_h_i*1_1_2"/>
  <p:tag name="KSO_WM_TEMPLATE_CATEGORY" val="diagram"/>
  <p:tag name="KSO_WM_TEMPLATE_INDEX" val="20231861"/>
  <p:tag name="KSO_WM_UNIT_LAYERLEVEL" val="1_1_1"/>
  <p:tag name="KSO_WM_TAG_VERSION" val="3.0"/>
  <p:tag name="KSO_WM_DIAGRAM_VERSION" val="3"/>
  <p:tag name="KSO_WM_DIAGRAM_COLOR_TRICK" val="1"/>
  <p:tag name="KSO_WM_DIAGRAM_COLOR_TEXT_CAN_REMOVE" val="n"/>
  <p:tag name="KSO_WM_DIAGRAM_MAX_ITEMCNT" val="3"/>
  <p:tag name="KSO_WM_DIAGRAM_MIN_ITEMCNT" val="2"/>
  <p:tag name="KSO_WM_DIAGRAM_VIRTUALLY_FRAME" val="{&quot;height&quot;:440.05,&quot;left&quot;:46.8,&quot;top&quot;:86.65,&quot;width&quot;:855.0999938964844}"/>
  <p:tag name="KSO_WM_DIAGRAM_COLOR_MATCH_VALUE" val="{&quot;shape&quot;:{&quot;fill&quot;:{&quot;gradient&quot;:[{&quot;brightness&quot;:0,&quot;colorType&quot;:1,&quot;foreColorIndex&quot;:5,&quot;pos&quot;:1,&quot;transparency&quot;:1},{&quot;brightness&quot;:0,&quot;colorType&quot;:1,&quot;foreColorIndex&quot;:5,&quot;pos&quot;:1,&quot;transparency&quot;:0},{&quot;brightness&quot;:0.800000011920929,&quot;colorType&quot;:1,&quot;foreColorIndex&quot;:5,&quot;pos&quot;:0,&quot;transparency&quot;:0.8999999761581421}],&quot;type&quot;:3},&quot;glow&quot;:{&quot;colorType&quot;:0},&quot;line&quot;:{&quot;gradient&quot;:[{&quot;brightness&quot;:0,&quot;colorType&quot;:1,&quot;foreColorIndex&quot;:5,&quot;pos&quot;:0.20000000298023224,&quot;transparency&quot;:1},{&quot;brightness&quot;:0.4000000059604645,&quot;colorType&quot;:1,&quot;foreColorIndex&quot;:5,&quot;pos&quot;:1,&quot;transparency&quot;:0}],&quot;type&quot;:2},&quot;shadow&quot;:{&quot;brightness&quot;:-0.25,&quot;colorType&quot;:1,&quot;foreColorIndex&quot;:5,&quot;transparency&quot;:0.9300000071525574},&quot;threeD&quot;:{&quot;curvedSurface&quot;:{&quot;brightness&quot;:0,&quot;colorType&quot;:2,&quot;rgb&quot;:&quot;#000000&quot;},&quot;depth&quot;:{&quot;colorType&quot;:0}}},&quot;text&quot;:{&quot;fill&quot;:{&quot;solid&quot;:{&quot;brightness&quot;:0,&quot;colorType&quot;:2,&quot;rgb&quot;:&quot;#292929&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5,5,5,5,5]}"/>
</p:tagLst>
</file>

<file path=ppt/tags/tag22.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1861_1*l_h_a*1_1_1"/>
  <p:tag name="KSO_WM_TEMPLATE_CATEGORY" val="diagram"/>
  <p:tag name="KSO_WM_TEMPLATE_INDEX" val="20231861"/>
  <p:tag name="KSO_WM_UNIT_LAYERLEVEL" val="1_1_1"/>
  <p:tag name="KSO_WM_TAG_VERSION" val="3.0"/>
  <p:tag name="KSO_WM_DIAGRAM_VERSION" val="3"/>
  <p:tag name="KSO_WM_DIAGRAM_COLOR_TRICK" val="1"/>
  <p:tag name="KSO_WM_DIAGRAM_COLOR_TEXT_CAN_REMOVE" val="n"/>
  <p:tag name="KSO_WM_UNIT_TEXT_TYPE" val="1"/>
  <p:tag name="KSO_WM_DIAGRAM_MAX_ITEMCNT" val="3"/>
  <p:tag name="KSO_WM_DIAGRAM_MIN_ITEMCNT" val="2"/>
  <p:tag name="KSO_WM_DIAGRAM_VIRTUALLY_FRAME" val="{&quot;height&quot;:440.05,&quot;left&quot;:46.8,&quot;top&quot;:86.65,&quot;width&quot;:855.0999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添加标题内容"/>
  <p:tag name="KSO_WM_UNIT_TEXT_FILL_FORE_SCHEMECOLOR_INDEX" val="1"/>
  <p:tag name="KSO_WM_UNIT_TEXT_FILL_TYPE" val="1"/>
  <p:tag name="KSO_WM_DIAGRAM_USE_COLOR_VALUE" val="{&quot;color_scheme&quot;:1,&quot;color_type&quot;:1,&quot;theme_color_indexes&quot;:[5,5,5,5,5,5]}"/>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1861_1*l_h_i*1_1_1"/>
  <p:tag name="KSO_WM_TEMPLATE_CATEGORY" val="diagram"/>
  <p:tag name="KSO_WM_TEMPLATE_INDEX" val="20231861"/>
  <p:tag name="KSO_WM_UNIT_LAYERLEVEL" val="1_1_1"/>
  <p:tag name="KSO_WM_TAG_VERSION" val="3.0"/>
  <p:tag name="KSO_WM_DIAGRAM_VERSION" val="3"/>
  <p:tag name="KSO_WM_DIAGRAM_COLOR_TRICK" val="1"/>
  <p:tag name="KSO_WM_DIAGRAM_COLOR_TEXT_CAN_REMOVE" val="n"/>
  <p:tag name="KSO_WM_DIAGRAM_MAX_ITEMCNT" val="3"/>
  <p:tag name="KSO_WM_DIAGRAM_MIN_ITEMCNT" val="2"/>
  <p:tag name="KSO_WM_DIAGRAM_VIRTUALLY_FRAME" val="{&quot;height&quot;:440.05,&quot;left&quot;:46.8,&quot;top&quot;:86.65,&quot;width&quot;:855.0999938964844}"/>
  <p:tag name="KSO_WM_DIAGRAM_COLOR_MATCH_VALUE" val="{&quot;shape&quot;:{&quot;fill&quot;:{&quot;type&quot;:0},&quot;glow&quot;:{&quot;colorType&quot;:0},&quot;line&quot;:{&quot;gradient&quot;:[{&quot;brightness&quot;:0,&quot;colorType&quot;:1,&quot;foreColorIndex&quot;:5,&quot;pos&quot;:0,&quot;transparency&quot;:0.8999999761581421},{&quot;brightness&quot;:0,&quot;colorType&quot;:1,&quot;foreColorIndex&quot;:5,&quot;pos&quot;:1,&quot;transparency&quot;:0.20000000298023224}],&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5,5,5,5,5]}"/>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861_1*l_h_i*1_1_2"/>
  <p:tag name="KSO_WM_TEMPLATE_CATEGORY" val="diagram"/>
  <p:tag name="KSO_WM_TEMPLATE_INDEX" val="20231861"/>
  <p:tag name="KSO_WM_UNIT_LAYERLEVEL" val="1_1_1"/>
  <p:tag name="KSO_WM_TAG_VERSION" val="3.0"/>
  <p:tag name="KSO_WM_DIAGRAM_VERSION" val="3"/>
  <p:tag name="KSO_WM_DIAGRAM_COLOR_TRICK" val="1"/>
  <p:tag name="KSO_WM_DIAGRAM_COLOR_TEXT_CAN_REMOVE" val="n"/>
  <p:tag name="KSO_WM_DIAGRAM_MAX_ITEMCNT" val="3"/>
  <p:tag name="KSO_WM_DIAGRAM_MIN_ITEMCNT" val="2"/>
  <p:tag name="KSO_WM_DIAGRAM_VIRTUALLY_FRAME" val="{&quot;height&quot;:440.05,&quot;left&quot;:46.8,&quot;top&quot;:86.65,&quot;width&quot;:855.0999938964844}"/>
  <p:tag name="KSO_WM_DIAGRAM_COLOR_MATCH_VALUE" val="{&quot;shape&quot;:{&quot;fill&quot;:{&quot;gradient&quot;:[{&quot;brightness&quot;:0,&quot;colorType&quot;:1,&quot;foreColorIndex&quot;:5,&quot;pos&quot;:1,&quot;transparency&quot;:1},{&quot;brightness&quot;:0,&quot;colorType&quot;:1,&quot;foreColorIndex&quot;:5,&quot;pos&quot;:1,&quot;transparency&quot;:0},{&quot;brightness&quot;:0.800000011920929,&quot;colorType&quot;:1,&quot;foreColorIndex&quot;:5,&quot;pos&quot;:0,&quot;transparency&quot;:0.8999999761581421}],&quot;type&quot;:3},&quot;glow&quot;:{&quot;colorType&quot;:0},&quot;line&quot;:{&quot;gradient&quot;:[{&quot;brightness&quot;:0,&quot;colorType&quot;:1,&quot;foreColorIndex&quot;:5,&quot;pos&quot;:0.20000000298023224,&quot;transparency&quot;:1},{&quot;brightness&quot;:0.4000000059604645,&quot;colorType&quot;:1,&quot;foreColorIndex&quot;:5,&quot;pos&quot;:1,&quot;transparency&quot;:0}],&quot;type&quot;:2},&quot;shadow&quot;:{&quot;brightness&quot;:-0.25,&quot;colorType&quot;:1,&quot;foreColorIndex&quot;:5,&quot;transparency&quot;:0.9300000071525574},&quot;threeD&quot;:{&quot;curvedSurface&quot;:{&quot;brightness&quot;:0,&quot;colorType&quot;:2,&quot;rgb&quot;:&quot;#000000&quot;},&quot;depth&quot;:{&quot;colorType&quot;:0}}},&quot;text&quot;:{&quot;fill&quot;:{&quot;solid&quot;:{&quot;brightness&quot;:0,&quot;colorType&quot;:2,&quot;rgb&quot;:&quot;#292929&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5,5,5,5,5]}"/>
</p:tagLst>
</file>

<file path=ppt/tags/tag25.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1861_1*l_h_a*1_1_1"/>
  <p:tag name="KSO_WM_TEMPLATE_CATEGORY" val="diagram"/>
  <p:tag name="KSO_WM_TEMPLATE_INDEX" val="20231861"/>
  <p:tag name="KSO_WM_UNIT_LAYERLEVEL" val="1_1_1"/>
  <p:tag name="KSO_WM_TAG_VERSION" val="3.0"/>
  <p:tag name="KSO_WM_DIAGRAM_VERSION" val="3"/>
  <p:tag name="KSO_WM_DIAGRAM_COLOR_TRICK" val="1"/>
  <p:tag name="KSO_WM_DIAGRAM_COLOR_TEXT_CAN_REMOVE" val="n"/>
  <p:tag name="KSO_WM_UNIT_TEXT_TYPE" val="1"/>
  <p:tag name="KSO_WM_DIAGRAM_MAX_ITEMCNT" val="3"/>
  <p:tag name="KSO_WM_DIAGRAM_MIN_ITEMCNT" val="2"/>
  <p:tag name="KSO_WM_DIAGRAM_VIRTUALLY_FRAME" val="{&quot;height&quot;:440.05,&quot;left&quot;:46.8,&quot;top&quot;:86.65,&quot;width&quot;:855.0999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添加标题内容"/>
  <p:tag name="KSO_WM_UNIT_TEXT_FILL_FORE_SCHEMECOLOR_INDEX" val="1"/>
  <p:tag name="KSO_WM_UNIT_TEXT_FILL_TYPE" val="1"/>
  <p:tag name="KSO_WM_DIAGRAM_USE_COLOR_VALUE" val="{&quot;color_scheme&quot;:1,&quot;color_type&quot;:1,&quot;theme_color_indexes&quot;:[5,5,5,5,5,5]}"/>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1861_1*l_h_i*1_1_1"/>
  <p:tag name="KSO_WM_TEMPLATE_CATEGORY" val="diagram"/>
  <p:tag name="KSO_WM_TEMPLATE_INDEX" val="20231861"/>
  <p:tag name="KSO_WM_UNIT_LAYERLEVEL" val="1_1_1"/>
  <p:tag name="KSO_WM_TAG_VERSION" val="3.0"/>
  <p:tag name="KSO_WM_DIAGRAM_VERSION" val="3"/>
  <p:tag name="KSO_WM_DIAGRAM_COLOR_TRICK" val="1"/>
  <p:tag name="KSO_WM_DIAGRAM_COLOR_TEXT_CAN_REMOVE" val="n"/>
  <p:tag name="KSO_WM_DIAGRAM_MAX_ITEMCNT" val="3"/>
  <p:tag name="KSO_WM_DIAGRAM_MIN_ITEMCNT" val="2"/>
  <p:tag name="KSO_WM_DIAGRAM_VIRTUALLY_FRAME" val="{&quot;height&quot;:440.05,&quot;left&quot;:46.8,&quot;top&quot;:86.65,&quot;width&quot;:855.0999938964844}"/>
  <p:tag name="KSO_WM_DIAGRAM_COLOR_MATCH_VALUE" val="{&quot;shape&quot;:{&quot;fill&quot;:{&quot;type&quot;:0},&quot;glow&quot;:{&quot;colorType&quot;:0},&quot;line&quot;:{&quot;gradient&quot;:[{&quot;brightness&quot;:0,&quot;colorType&quot;:1,&quot;foreColorIndex&quot;:5,&quot;pos&quot;:0,&quot;transparency&quot;:0.8999999761581421},{&quot;brightness&quot;:0,&quot;colorType&quot;:1,&quot;foreColorIndex&quot;:5,&quot;pos&quot;:1,&quot;transparency&quot;:0.20000000298023224}],&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5,5,5,5,5]}"/>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861_1*l_h_i*1_1_2"/>
  <p:tag name="KSO_WM_TEMPLATE_CATEGORY" val="diagram"/>
  <p:tag name="KSO_WM_TEMPLATE_INDEX" val="20231861"/>
  <p:tag name="KSO_WM_UNIT_LAYERLEVEL" val="1_1_1"/>
  <p:tag name="KSO_WM_TAG_VERSION" val="3.0"/>
  <p:tag name="KSO_WM_DIAGRAM_VERSION" val="3"/>
  <p:tag name="KSO_WM_DIAGRAM_COLOR_TRICK" val="1"/>
  <p:tag name="KSO_WM_DIAGRAM_COLOR_TEXT_CAN_REMOVE" val="n"/>
  <p:tag name="KSO_WM_DIAGRAM_MAX_ITEMCNT" val="3"/>
  <p:tag name="KSO_WM_DIAGRAM_MIN_ITEMCNT" val="2"/>
  <p:tag name="KSO_WM_DIAGRAM_VIRTUALLY_FRAME" val="{&quot;height&quot;:440.05,&quot;left&quot;:46.8,&quot;top&quot;:86.65,&quot;width&quot;:855.0999938964844}"/>
  <p:tag name="KSO_WM_DIAGRAM_COLOR_MATCH_VALUE" val="{&quot;shape&quot;:{&quot;fill&quot;:{&quot;gradient&quot;:[{&quot;brightness&quot;:0,&quot;colorType&quot;:1,&quot;foreColorIndex&quot;:5,&quot;pos&quot;:1,&quot;transparency&quot;:1},{&quot;brightness&quot;:0,&quot;colorType&quot;:1,&quot;foreColorIndex&quot;:5,&quot;pos&quot;:1,&quot;transparency&quot;:0},{&quot;brightness&quot;:0.800000011920929,&quot;colorType&quot;:1,&quot;foreColorIndex&quot;:5,&quot;pos&quot;:0,&quot;transparency&quot;:0.8999999761581421}],&quot;type&quot;:3},&quot;glow&quot;:{&quot;colorType&quot;:0},&quot;line&quot;:{&quot;gradient&quot;:[{&quot;brightness&quot;:0,&quot;colorType&quot;:1,&quot;foreColorIndex&quot;:5,&quot;pos&quot;:0.20000000298023224,&quot;transparency&quot;:1},{&quot;brightness&quot;:0.4000000059604645,&quot;colorType&quot;:1,&quot;foreColorIndex&quot;:5,&quot;pos&quot;:1,&quot;transparency&quot;:0}],&quot;type&quot;:2},&quot;shadow&quot;:{&quot;brightness&quot;:-0.25,&quot;colorType&quot;:1,&quot;foreColorIndex&quot;:5,&quot;transparency&quot;:0.9300000071525574},&quot;threeD&quot;:{&quot;curvedSurface&quot;:{&quot;brightness&quot;:0,&quot;colorType&quot;:2,&quot;rgb&quot;:&quot;#000000&quot;},&quot;depth&quot;:{&quot;colorType&quot;:0}}},&quot;text&quot;:{&quot;fill&quot;:{&quot;solid&quot;:{&quot;brightness&quot;:0,&quot;colorType&quot;:2,&quot;rgb&quot;:&quot;#292929&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5,5,5,5,5]}"/>
</p:tagLst>
</file>

<file path=ppt/tags/tag28.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1861_1*l_h_a*1_1_1"/>
  <p:tag name="KSO_WM_TEMPLATE_CATEGORY" val="diagram"/>
  <p:tag name="KSO_WM_TEMPLATE_INDEX" val="20231861"/>
  <p:tag name="KSO_WM_UNIT_LAYERLEVEL" val="1_1_1"/>
  <p:tag name="KSO_WM_TAG_VERSION" val="3.0"/>
  <p:tag name="KSO_WM_DIAGRAM_VERSION" val="3"/>
  <p:tag name="KSO_WM_DIAGRAM_COLOR_TRICK" val="1"/>
  <p:tag name="KSO_WM_DIAGRAM_COLOR_TEXT_CAN_REMOVE" val="n"/>
  <p:tag name="KSO_WM_UNIT_TEXT_TYPE" val="1"/>
  <p:tag name="KSO_WM_DIAGRAM_MAX_ITEMCNT" val="3"/>
  <p:tag name="KSO_WM_DIAGRAM_MIN_ITEMCNT" val="2"/>
  <p:tag name="KSO_WM_DIAGRAM_VIRTUALLY_FRAME" val="{&quot;height&quot;:440.05,&quot;left&quot;:46.8,&quot;top&quot;:86.65,&quot;width&quot;:855.0999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添加标题内容"/>
  <p:tag name="KSO_WM_UNIT_TEXT_FILL_FORE_SCHEMECOLOR_INDEX" val="1"/>
  <p:tag name="KSO_WM_UNIT_TEXT_FILL_TYPE" val="1"/>
  <p:tag name="KSO_WM_DIAGRAM_USE_COLOR_VALUE" val="{&quot;color_scheme&quot;:1,&quot;color_type&quot;:1,&quot;theme_color_indexes&quot;:[5,5,5,5,5,5]}"/>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1861_1*l_h_i*1_1_1"/>
  <p:tag name="KSO_WM_TEMPLATE_CATEGORY" val="diagram"/>
  <p:tag name="KSO_WM_TEMPLATE_INDEX" val="20231861"/>
  <p:tag name="KSO_WM_UNIT_LAYERLEVEL" val="1_1_1"/>
  <p:tag name="KSO_WM_TAG_VERSION" val="3.0"/>
  <p:tag name="KSO_WM_DIAGRAM_VERSION" val="3"/>
  <p:tag name="KSO_WM_DIAGRAM_COLOR_TRICK" val="1"/>
  <p:tag name="KSO_WM_DIAGRAM_COLOR_TEXT_CAN_REMOVE" val="n"/>
  <p:tag name="KSO_WM_DIAGRAM_MAX_ITEMCNT" val="3"/>
  <p:tag name="KSO_WM_DIAGRAM_MIN_ITEMCNT" val="2"/>
  <p:tag name="KSO_WM_DIAGRAM_VIRTUALLY_FRAME" val="{&quot;height&quot;:440.05,&quot;left&quot;:46.8,&quot;top&quot;:86.65,&quot;width&quot;:855.0999938964844}"/>
  <p:tag name="KSO_WM_DIAGRAM_COLOR_MATCH_VALUE" val="{&quot;shape&quot;:{&quot;fill&quot;:{&quot;type&quot;:0},&quot;glow&quot;:{&quot;colorType&quot;:0},&quot;line&quot;:{&quot;gradient&quot;:[{&quot;brightness&quot;:0,&quot;colorType&quot;:1,&quot;foreColorIndex&quot;:5,&quot;pos&quot;:0,&quot;transparency&quot;:0.8999999761581421},{&quot;brightness&quot;:0,&quot;colorType&quot;:1,&quot;foreColorIndex&quot;:5,&quot;pos&quot;:1,&quot;transparency&quot;:0.20000000298023224}],&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5,5,5,5,5]}"/>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861_1*l_h_i*1_1_2"/>
  <p:tag name="KSO_WM_TEMPLATE_CATEGORY" val="diagram"/>
  <p:tag name="KSO_WM_TEMPLATE_INDEX" val="20231861"/>
  <p:tag name="KSO_WM_UNIT_LAYERLEVEL" val="1_1_1"/>
  <p:tag name="KSO_WM_TAG_VERSION" val="3.0"/>
  <p:tag name="KSO_WM_DIAGRAM_VERSION" val="3"/>
  <p:tag name="KSO_WM_DIAGRAM_COLOR_TRICK" val="1"/>
  <p:tag name="KSO_WM_DIAGRAM_COLOR_TEXT_CAN_REMOVE" val="n"/>
  <p:tag name="KSO_WM_DIAGRAM_MAX_ITEMCNT" val="3"/>
  <p:tag name="KSO_WM_DIAGRAM_MIN_ITEMCNT" val="2"/>
  <p:tag name="KSO_WM_DIAGRAM_VIRTUALLY_FRAME" val="{&quot;height&quot;:440.05,&quot;left&quot;:46.8,&quot;top&quot;:86.65,&quot;width&quot;:855.0999938964844}"/>
  <p:tag name="KSO_WM_DIAGRAM_COLOR_MATCH_VALUE" val="{&quot;shape&quot;:{&quot;fill&quot;:{&quot;gradient&quot;:[{&quot;brightness&quot;:0,&quot;colorType&quot;:1,&quot;foreColorIndex&quot;:5,&quot;pos&quot;:1,&quot;transparency&quot;:1},{&quot;brightness&quot;:0,&quot;colorType&quot;:1,&quot;foreColorIndex&quot;:5,&quot;pos&quot;:1,&quot;transparency&quot;:0},{&quot;brightness&quot;:0.800000011920929,&quot;colorType&quot;:1,&quot;foreColorIndex&quot;:5,&quot;pos&quot;:0,&quot;transparency&quot;:0.8999999761581421}],&quot;type&quot;:3},&quot;glow&quot;:{&quot;colorType&quot;:0},&quot;line&quot;:{&quot;gradient&quot;:[{&quot;brightness&quot;:0,&quot;colorType&quot;:1,&quot;foreColorIndex&quot;:5,&quot;pos&quot;:0.20000000298023224,&quot;transparency&quot;:1},{&quot;brightness&quot;:0.4000000059604645,&quot;colorType&quot;:1,&quot;foreColorIndex&quot;:5,&quot;pos&quot;:1,&quot;transparency&quot;:0}],&quot;type&quot;:2},&quot;shadow&quot;:{&quot;brightness&quot;:-0.25,&quot;colorType&quot;:1,&quot;foreColorIndex&quot;:5,&quot;transparency&quot;:0.9300000071525574},&quot;threeD&quot;:{&quot;curvedSurface&quot;:{&quot;brightness&quot;:0,&quot;colorType&quot;:2,&quot;rgb&quot;:&quot;#000000&quot;},&quot;depth&quot;:{&quot;colorType&quot;:0}}},&quot;text&quot;:{&quot;fill&quot;:{&quot;solid&quot;:{&quot;brightness&quot;:0,&quot;colorType&quot;:2,&quot;rgb&quot;:&quot;#292929&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5,5,5,5,5]}"/>
</p:tagLst>
</file>

<file path=ppt/tags/tag31.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1861_1*l_h_a*1_1_1"/>
  <p:tag name="KSO_WM_TEMPLATE_CATEGORY" val="diagram"/>
  <p:tag name="KSO_WM_TEMPLATE_INDEX" val="20231861"/>
  <p:tag name="KSO_WM_UNIT_LAYERLEVEL" val="1_1_1"/>
  <p:tag name="KSO_WM_TAG_VERSION" val="3.0"/>
  <p:tag name="KSO_WM_DIAGRAM_VERSION" val="3"/>
  <p:tag name="KSO_WM_DIAGRAM_COLOR_TRICK" val="1"/>
  <p:tag name="KSO_WM_DIAGRAM_COLOR_TEXT_CAN_REMOVE" val="n"/>
  <p:tag name="KSO_WM_UNIT_TEXT_TYPE" val="1"/>
  <p:tag name="KSO_WM_DIAGRAM_MAX_ITEMCNT" val="3"/>
  <p:tag name="KSO_WM_DIAGRAM_MIN_ITEMCNT" val="2"/>
  <p:tag name="KSO_WM_DIAGRAM_VIRTUALLY_FRAME" val="{&quot;height&quot;:440.05,&quot;left&quot;:46.8,&quot;top&quot;:86.65,&quot;width&quot;:855.0999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添加标题内容"/>
  <p:tag name="KSO_WM_UNIT_TEXT_FILL_FORE_SCHEMECOLOR_INDEX" val="1"/>
  <p:tag name="KSO_WM_UNIT_TEXT_FILL_TYPE" val="1"/>
  <p:tag name="KSO_WM_DIAGRAM_USE_COLOR_VALUE" val="{&quot;color_scheme&quot;:1,&quot;color_type&quot;:1,&quot;theme_color_indexes&quot;:[5,5,5,5,5,5]}"/>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1861_1*l_h_i*1_1_1"/>
  <p:tag name="KSO_WM_TEMPLATE_CATEGORY" val="diagram"/>
  <p:tag name="KSO_WM_TEMPLATE_INDEX" val="20231861"/>
  <p:tag name="KSO_WM_UNIT_LAYERLEVEL" val="1_1_1"/>
  <p:tag name="KSO_WM_TAG_VERSION" val="3.0"/>
  <p:tag name="KSO_WM_DIAGRAM_VERSION" val="3"/>
  <p:tag name="KSO_WM_DIAGRAM_COLOR_TRICK" val="1"/>
  <p:tag name="KSO_WM_DIAGRAM_COLOR_TEXT_CAN_REMOVE" val="n"/>
  <p:tag name="KSO_WM_DIAGRAM_MAX_ITEMCNT" val="3"/>
  <p:tag name="KSO_WM_DIAGRAM_MIN_ITEMCNT" val="2"/>
  <p:tag name="KSO_WM_DIAGRAM_VIRTUALLY_FRAME" val="{&quot;height&quot;:440.05,&quot;left&quot;:46.8,&quot;top&quot;:86.65,&quot;width&quot;:855.0999938964844}"/>
  <p:tag name="KSO_WM_DIAGRAM_COLOR_MATCH_VALUE" val="{&quot;shape&quot;:{&quot;fill&quot;:{&quot;type&quot;:0},&quot;glow&quot;:{&quot;colorType&quot;:0},&quot;line&quot;:{&quot;gradient&quot;:[{&quot;brightness&quot;:0,&quot;colorType&quot;:1,&quot;foreColorIndex&quot;:5,&quot;pos&quot;:0,&quot;transparency&quot;:0.8999999761581421},{&quot;brightness&quot;:0,&quot;colorType&quot;:1,&quot;foreColorIndex&quot;:5,&quot;pos&quot;:1,&quot;transparency&quot;:0.20000000298023224}],&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5,5,5,5,5]}"/>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861_1*l_h_i*1_1_2"/>
  <p:tag name="KSO_WM_TEMPLATE_CATEGORY" val="diagram"/>
  <p:tag name="KSO_WM_TEMPLATE_INDEX" val="20231861"/>
  <p:tag name="KSO_WM_UNIT_LAYERLEVEL" val="1_1_1"/>
  <p:tag name="KSO_WM_TAG_VERSION" val="3.0"/>
  <p:tag name="KSO_WM_DIAGRAM_VERSION" val="3"/>
  <p:tag name="KSO_WM_DIAGRAM_COLOR_TRICK" val="1"/>
  <p:tag name="KSO_WM_DIAGRAM_COLOR_TEXT_CAN_REMOVE" val="n"/>
  <p:tag name="KSO_WM_DIAGRAM_MAX_ITEMCNT" val="3"/>
  <p:tag name="KSO_WM_DIAGRAM_MIN_ITEMCNT" val="2"/>
  <p:tag name="KSO_WM_DIAGRAM_VIRTUALLY_FRAME" val="{&quot;height&quot;:440.05,&quot;left&quot;:46.8,&quot;top&quot;:86.65,&quot;width&quot;:855.0999938964844}"/>
  <p:tag name="KSO_WM_DIAGRAM_COLOR_MATCH_VALUE" val="{&quot;shape&quot;:{&quot;fill&quot;:{&quot;gradient&quot;:[{&quot;brightness&quot;:0,&quot;colorType&quot;:1,&quot;foreColorIndex&quot;:5,&quot;pos&quot;:1,&quot;transparency&quot;:1},{&quot;brightness&quot;:0,&quot;colorType&quot;:1,&quot;foreColorIndex&quot;:5,&quot;pos&quot;:1,&quot;transparency&quot;:0},{&quot;brightness&quot;:0.800000011920929,&quot;colorType&quot;:1,&quot;foreColorIndex&quot;:5,&quot;pos&quot;:0,&quot;transparency&quot;:0.8999999761581421}],&quot;type&quot;:3},&quot;glow&quot;:{&quot;colorType&quot;:0},&quot;line&quot;:{&quot;gradient&quot;:[{&quot;brightness&quot;:0,&quot;colorType&quot;:1,&quot;foreColorIndex&quot;:5,&quot;pos&quot;:0.20000000298023224,&quot;transparency&quot;:1},{&quot;brightness&quot;:0.4000000059604645,&quot;colorType&quot;:1,&quot;foreColorIndex&quot;:5,&quot;pos&quot;:1,&quot;transparency&quot;:0}],&quot;type&quot;:2},&quot;shadow&quot;:{&quot;brightness&quot;:-0.25,&quot;colorType&quot;:1,&quot;foreColorIndex&quot;:5,&quot;transparency&quot;:0.9300000071525574},&quot;threeD&quot;:{&quot;curvedSurface&quot;:{&quot;brightness&quot;:0,&quot;colorType&quot;:2,&quot;rgb&quot;:&quot;#000000&quot;},&quot;depth&quot;:{&quot;colorType&quot;:0}}},&quot;text&quot;:{&quot;fill&quot;:{&quot;solid&quot;:{&quot;brightness&quot;:0,&quot;colorType&quot;:2,&quot;rgb&quot;:&quot;#292929&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5,5,5,5,5]}"/>
</p:tagLst>
</file>

<file path=ppt/tags/tag34.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1861_1*l_h_a*1_1_1"/>
  <p:tag name="KSO_WM_TEMPLATE_CATEGORY" val="diagram"/>
  <p:tag name="KSO_WM_TEMPLATE_INDEX" val="20231861"/>
  <p:tag name="KSO_WM_UNIT_LAYERLEVEL" val="1_1_1"/>
  <p:tag name="KSO_WM_TAG_VERSION" val="3.0"/>
  <p:tag name="KSO_WM_DIAGRAM_VERSION" val="3"/>
  <p:tag name="KSO_WM_DIAGRAM_COLOR_TRICK" val="1"/>
  <p:tag name="KSO_WM_DIAGRAM_COLOR_TEXT_CAN_REMOVE" val="n"/>
  <p:tag name="KSO_WM_UNIT_TEXT_TYPE" val="1"/>
  <p:tag name="KSO_WM_DIAGRAM_MAX_ITEMCNT" val="3"/>
  <p:tag name="KSO_WM_DIAGRAM_MIN_ITEMCNT" val="2"/>
  <p:tag name="KSO_WM_DIAGRAM_VIRTUALLY_FRAME" val="{&quot;height&quot;:440.05,&quot;left&quot;:46.8,&quot;top&quot;:86.65,&quot;width&quot;:855.0999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添加标题内容"/>
  <p:tag name="KSO_WM_UNIT_TEXT_FILL_FORE_SCHEMECOLOR_INDEX" val="1"/>
  <p:tag name="KSO_WM_UNIT_TEXT_FILL_TYPE" val="1"/>
  <p:tag name="KSO_WM_DIAGRAM_USE_COLOR_VALUE" val="{&quot;color_scheme&quot;:1,&quot;color_type&quot;:1,&quot;theme_color_indexes&quot;:[5,5,5,5,5,5]}"/>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1861_1*l_h_i*1_1_1"/>
  <p:tag name="KSO_WM_TEMPLATE_CATEGORY" val="diagram"/>
  <p:tag name="KSO_WM_TEMPLATE_INDEX" val="20231861"/>
  <p:tag name="KSO_WM_UNIT_LAYERLEVEL" val="1_1_1"/>
  <p:tag name="KSO_WM_TAG_VERSION" val="3.0"/>
  <p:tag name="KSO_WM_DIAGRAM_VERSION" val="3"/>
  <p:tag name="KSO_WM_DIAGRAM_COLOR_TRICK" val="1"/>
  <p:tag name="KSO_WM_DIAGRAM_COLOR_TEXT_CAN_REMOVE" val="n"/>
  <p:tag name="KSO_WM_DIAGRAM_MAX_ITEMCNT" val="3"/>
  <p:tag name="KSO_WM_DIAGRAM_MIN_ITEMCNT" val="2"/>
  <p:tag name="KSO_WM_DIAGRAM_VIRTUALLY_FRAME" val="{&quot;height&quot;:440.05,&quot;left&quot;:46.8,&quot;top&quot;:86.65,&quot;width&quot;:855.0999938964844}"/>
  <p:tag name="KSO_WM_DIAGRAM_COLOR_MATCH_VALUE" val="{&quot;shape&quot;:{&quot;fill&quot;:{&quot;type&quot;:0},&quot;glow&quot;:{&quot;colorType&quot;:0},&quot;line&quot;:{&quot;gradient&quot;:[{&quot;brightness&quot;:0,&quot;colorType&quot;:1,&quot;foreColorIndex&quot;:5,&quot;pos&quot;:0,&quot;transparency&quot;:0.8999999761581421},{&quot;brightness&quot;:0,&quot;colorType&quot;:1,&quot;foreColorIndex&quot;:5,&quot;pos&quot;:1,&quot;transparency&quot;:0.20000000298023224}],&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5,5,5,5,5]}"/>
</p:tagLst>
</file>

<file path=ppt/tags/tag36.xml><?xml version="1.0" encoding="utf-8"?>
<p:tagLst xmlns:p="http://schemas.openxmlformats.org/presentationml/2006/main">
  <p:tag name="resource_record_key" val="{&quot;70&quot;:[3323868,3321502,3321782,3322137,3312417,3315855,3321780,3321478]}"/>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自定义设计方案">
  <a:themeElements>
    <a:clrScheme name="自定义 100">
      <a:dk1>
        <a:sysClr val="windowText" lastClr="000000"/>
      </a:dk1>
      <a:lt1>
        <a:sysClr val="window" lastClr="FFFFFF"/>
      </a:lt1>
      <a:dk2>
        <a:srgbClr val="44546A"/>
      </a:dk2>
      <a:lt2>
        <a:srgbClr val="E7E6E6"/>
      </a:lt2>
      <a:accent1>
        <a:srgbClr val="591B89"/>
      </a:accent1>
      <a:accent2>
        <a:srgbClr val="EEB51A"/>
      </a:accent2>
      <a:accent3>
        <a:srgbClr val="591B89"/>
      </a:accent3>
      <a:accent4>
        <a:srgbClr val="EEB51A"/>
      </a:accent4>
      <a:accent5>
        <a:srgbClr val="591B89"/>
      </a:accent5>
      <a:accent6>
        <a:srgbClr val="EEB51A"/>
      </a:accent6>
      <a:hlink>
        <a:srgbClr val="591B89"/>
      </a:hlink>
      <a:folHlink>
        <a:srgbClr val="EEB51A"/>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3480</Words>
  <Application>WPS 演示</Application>
  <PresentationFormat>宽屏</PresentationFormat>
  <Paragraphs>234</Paragraphs>
  <Slides>14</Slides>
  <Notes>27</Notes>
  <HiddenSlides>0</HiddenSlides>
  <MMClips>0</MMClips>
  <ScaleCrop>false</ScaleCrop>
  <HeadingPairs>
    <vt:vector size="6" baseType="variant">
      <vt:variant>
        <vt:lpstr>已用的字体</vt:lpstr>
      </vt:variant>
      <vt:variant>
        <vt:i4>11</vt:i4>
      </vt:variant>
      <vt:variant>
        <vt:lpstr>主题</vt:lpstr>
      </vt:variant>
      <vt:variant>
        <vt:i4>3</vt:i4>
      </vt:variant>
      <vt:variant>
        <vt:lpstr>幻灯片标题</vt:lpstr>
      </vt:variant>
      <vt:variant>
        <vt:i4>14</vt:i4>
      </vt:variant>
    </vt:vector>
  </HeadingPairs>
  <TitlesOfParts>
    <vt:vector size="28" baseType="lpstr">
      <vt:lpstr>Arial</vt:lpstr>
      <vt:lpstr>宋体</vt:lpstr>
      <vt:lpstr>Wingdings</vt:lpstr>
      <vt:lpstr>Calibri</vt:lpstr>
      <vt:lpstr>等线</vt:lpstr>
      <vt:lpstr>微软雅黑</vt:lpstr>
      <vt:lpstr>Arial</vt:lpstr>
      <vt:lpstr>Impact</vt:lpstr>
      <vt:lpstr>Arial Unicode MS</vt:lpstr>
      <vt:lpstr>等线 Light</vt:lpstr>
      <vt:lpstr>Calibri Light</vt:lpstr>
      <vt:lpstr>1_Office 主题​​</vt:lpstr>
      <vt:lpstr>2_Office 主题​​</vt:lpstr>
      <vt:lpstr>1_自定义设计方案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紫色沉稳简约毕业答辩毕业论文答辩PPT</dc:title>
  <dc:creator>lenovo</dc:creator>
  <cp:lastModifiedBy>ayano</cp:lastModifiedBy>
  <cp:revision>142</cp:revision>
  <dcterms:created xsi:type="dcterms:W3CDTF">2019-03-09T08:01:00Z</dcterms:created>
  <dcterms:modified xsi:type="dcterms:W3CDTF">2026-09-19T10:51:59Z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ICV">
    <vt:lpwstr>8964DCF438F34C63BED49F8BAEA2753E_13</vt:lpwstr>
  </property>
</Properties>
</file>