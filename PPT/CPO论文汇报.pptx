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wdp" ContentType="image/vnd.ms-photo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2" r:id="rId3"/>
    <p:sldMasterId id="2147483666" r:id="rId4"/>
  </p:sldMasterIdLst>
  <p:notesMasterIdLst>
    <p:notesMasterId r:id="rId6"/>
  </p:notesMasterIdLst>
  <p:sldIdLst>
    <p:sldId id="3228" r:id="rId5"/>
    <p:sldId id="3320" r:id="rId7"/>
    <p:sldId id="3454" r:id="rId8"/>
    <p:sldId id="1" r:id="rId9"/>
    <p:sldId id="2" r:id="rId10"/>
    <p:sldId id="3" r:id="rId11"/>
    <p:sldId id="5" r:id="rId12"/>
    <p:sldId id="6" r:id="rId13"/>
    <p:sldId id="7" r:id="rId14"/>
    <p:sldId id="11" r:id="rId15"/>
    <p:sldId id="13" r:id="rId16"/>
    <p:sldId id="14" r:id="rId17"/>
    <p:sldId id="15" r:id="rId18"/>
    <p:sldId id="16" r:id="rId19"/>
    <p:sldId id="19" r:id="rId20"/>
    <p:sldId id="3231" r:id="rId21"/>
  </p:sldIdLst>
  <p:sldSz cx="12192000" cy="6858000"/>
  <p:notesSz cx="6858000" cy="9144000"/>
  <p:custDataLst>
    <p:tags r:id="rId26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2" userDrawn="1">
          <p15:clr>
            <a:srgbClr val="A4A3A4"/>
          </p15:clr>
        </p15:guide>
        <p15:guide id="2" pos="3744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佳瑶 秦" initials="佳秦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B6299"/>
    <a:srgbClr val="1A78C3"/>
    <a:srgbClr val="1C6299"/>
    <a:srgbClr val="1A78C2"/>
    <a:srgbClr val="1B6298"/>
    <a:srgbClr val="8609AD"/>
    <a:srgbClr val="96C4D1"/>
    <a:srgbClr val="6F3A97"/>
    <a:srgbClr val="D7E0E6"/>
    <a:srgbClr val="286B9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308" autoAdjust="0"/>
    <p:restoredTop sz="84570" autoAdjust="0"/>
  </p:normalViewPr>
  <p:slideViewPr>
    <p:cSldViewPr snapToGrid="0" showGuides="1">
      <p:cViewPr varScale="1">
        <p:scale>
          <a:sx n="88" d="100"/>
          <a:sy n="88" d="100"/>
        </p:scale>
        <p:origin x="648" y="63"/>
      </p:cViewPr>
      <p:guideLst>
        <p:guide orient="horz" pos="2162"/>
        <p:guide pos="3744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4.xml"/><Relationship Id="rId8" Type="http://schemas.openxmlformats.org/officeDocument/2006/relationships/slide" Target="slides/slide3.xml"/><Relationship Id="rId7" Type="http://schemas.openxmlformats.org/officeDocument/2006/relationships/slide" Target="slides/slide2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3.xml"/><Relationship Id="rId3" Type="http://schemas.openxmlformats.org/officeDocument/2006/relationships/slideMaster" Target="slideMasters/slideMaster2.xml"/><Relationship Id="rId26" Type="http://schemas.openxmlformats.org/officeDocument/2006/relationships/tags" Target="tags/tag3.xml"/><Relationship Id="rId25" Type="http://schemas.openxmlformats.org/officeDocument/2006/relationships/commentAuthors" Target="commentAuthors.xml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slide" Target="slides/slide16.xml"/><Relationship Id="rId20" Type="http://schemas.openxmlformats.org/officeDocument/2006/relationships/slide" Target="slides/slide15.xml"/><Relationship Id="rId2" Type="http://schemas.openxmlformats.org/officeDocument/2006/relationships/theme" Target="theme/theme1.xml"/><Relationship Id="rId19" Type="http://schemas.openxmlformats.org/officeDocument/2006/relationships/slide" Target="slides/slide14.xml"/><Relationship Id="rId18" Type="http://schemas.openxmlformats.org/officeDocument/2006/relationships/slide" Target="slides/slide1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893C12-D317-442F-945E-D6517EECB5C8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933A62-8780-4CAA-8D19-25292B7F568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各位老师、各位同学，大家好。我今天汇报的是一篇</a:t>
            </a:r>
            <a:r>
              <a:rPr lang="en-US" altLang="zh-CN" dirty="0"/>
              <a:t> ICLR 2026 </a:t>
            </a:r>
            <a:r>
              <a:rPr lang="zh-CN" altLang="en-US" dirty="0"/>
              <a:t>的论文，题目是《重新思考大规模强化学习集成策略梯度中的策略多样性》。作者来自东京大学和</a:t>
            </a:r>
            <a:r>
              <a:rPr lang="en-US" altLang="zh-CN" dirty="0"/>
              <a:t> RIKEN </a:t>
            </a:r>
            <a:r>
              <a:rPr lang="zh-CN" altLang="en-US" dirty="0"/>
              <a:t>智能项目中心，第一作者是</a:t>
            </a:r>
            <a:r>
              <a:rPr lang="en-US" altLang="zh-CN" dirty="0"/>
              <a:t> Naoki Shitanda</a:t>
            </a:r>
            <a:r>
              <a:rPr lang="zh-CN" altLang="en-US" dirty="0"/>
              <a:t>。</a:t>
            </a:r>
            <a:endParaRPr lang="zh-CN" altLang="en-US" dirty="0"/>
          </a:p>
          <a:p>
            <a:r>
              <a:rPr lang="zh-CN" altLang="en-US" dirty="0"/>
              <a:t>这篇论文提出了一个方法，叫</a:t>
            </a:r>
            <a:r>
              <a:rPr lang="en-US" altLang="zh-CN" dirty="0"/>
              <a:t> Coupled Policy Optimization</a:t>
            </a:r>
            <a:r>
              <a:rPr lang="zh-CN" altLang="en-US" dirty="0"/>
              <a:t>，简称</a:t>
            </a:r>
            <a:r>
              <a:rPr lang="en-US" altLang="zh-CN" dirty="0"/>
              <a:t> CPO</a:t>
            </a:r>
            <a:r>
              <a:rPr lang="zh-CN" altLang="en-US" dirty="0"/>
              <a:t>。但我想先说明一点：它的价值不在于提出了一个多复杂的新算法，而在于它质疑了一个被广泛接受的直觉。这个直觉就是</a:t>
            </a:r>
            <a:r>
              <a:rPr lang="en-US" altLang="zh-CN" dirty="0"/>
              <a:t>——</a:t>
            </a:r>
            <a:r>
              <a:rPr lang="zh-CN" altLang="en-US" dirty="0"/>
              <a:t>集成学习里策略之间越多样越好。作者用理论和实验说明，这个直觉是错的，多样性失控恰恰是性能瓶颈。这也是我选它来汇报的原因。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933A62-8780-4CAA-8D19-25292B7F568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幻灯片图像占位符 1"/>
          <p:cNvSpPr>
            <a:spLocks noGrp="1" noRot="1" noChangeAspect="1" noChangeArrowheads="1" noTextEdit="1"/>
          </p:cNvSpPr>
          <p:nvPr>
            <p:ph type="sldImg" idx="4294967295"/>
          </p:nvPr>
        </p:nvSpPr>
        <p:spPr bwMode="auto">
          <a:ln>
            <a:solidFill>
              <a:srgbClr val="000000"/>
            </a:solidFill>
            <a:miter lim="800000"/>
          </a:ln>
        </p:spPr>
      </p:sp>
      <p:sp>
        <p:nvSpPr>
          <p:cNvPr id="13315" name="备注占位符 2"/>
          <p:cNvSpPr>
            <a:spLocks noGrp="1" noChangeArrowheads="1"/>
          </p:cNvSpPr>
          <p:nvPr>
            <p:ph type="body" idx="429496729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作者是东京大学信息理工学系的博士生，博士的主要研究方向</a:t>
            </a:r>
            <a:r>
              <a:rPr lang="zh-CN" altLang="en-US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是大规模强化学习算法与策略集成</a:t>
            </a:r>
            <a:endParaRPr lang="zh-CN" altLang="en-US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5363" name="灯片编号占位符 3"/>
          <p:cNvSpPr>
            <a:spLocks noGrp="1" noChangeArrowheads="1"/>
          </p:cNvSpPr>
          <p:nvPr>
            <p:ph type="sldNum" sz="quarter" idx="5"/>
          </p:nvPr>
        </p:nvSpPr>
        <p:spPr bwMode="auto"/>
        <p:txBody>
          <a:bodyPr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fld id="{5D0C7136-3D9D-4638-BEA3-794311647C77}" type="slidenum">
              <a:rPr lang="zh-CN" altLang="en-US">
                <a:solidFill>
                  <a:srgbClr val="000000"/>
                </a:solidFill>
              </a:rPr>
            </a:fld>
            <a:endParaRPr lang="zh-CN" alt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研究的出发点，这是一个非常实际的现象。</a:t>
            </a:r>
            <a:endParaRPr lang="zh-CN" altLang="en-US"/>
          </a:p>
          <a:p>
            <a:r>
              <a:rPr lang="zh-CN" altLang="en-US"/>
              <a:t>过去几年，</a:t>
            </a:r>
            <a:r>
              <a:rPr lang="en-US" altLang="zh-CN"/>
              <a:t>GPU </a:t>
            </a:r>
            <a:r>
              <a:rPr lang="zh-CN" altLang="en-US"/>
              <a:t>并行物理仿真，比如</a:t>
            </a:r>
            <a:r>
              <a:rPr lang="en-US" altLang="zh-CN"/>
              <a:t> Isaac Gym </a:t>
            </a:r>
            <a:r>
              <a:rPr lang="zh-CN" altLang="en-US"/>
              <a:t>和</a:t>
            </a:r>
            <a:r>
              <a:rPr lang="en-US" altLang="zh-CN"/>
              <a:t> Genesis</a:t>
            </a:r>
            <a:r>
              <a:rPr lang="zh-CN" altLang="en-US"/>
              <a:t>，让</a:t>
            </a:r>
            <a:r>
              <a:rPr lang="en-US" altLang="zh-CN"/>
              <a:t>"</a:t>
            </a:r>
            <a:r>
              <a:rPr lang="zh-CN" altLang="en-US"/>
              <a:t>同时跑几万个环境</a:t>
            </a:r>
            <a:r>
              <a:rPr lang="en-US" altLang="zh-CN"/>
              <a:t>"</a:t>
            </a:r>
            <a:r>
              <a:rPr lang="zh-CN" altLang="en-US"/>
              <a:t>从不可能变成了基础设施。按照直觉，环境越多，采集的样本越多，策略应该学得越好。但在</a:t>
            </a:r>
            <a:r>
              <a:rPr lang="en-US" altLang="zh-CN"/>
              <a:t> 2024 </a:t>
            </a:r>
            <a:r>
              <a:rPr lang="zh-CN" altLang="en-US"/>
              <a:t>年发现了一个反直觉的结果：当</a:t>
            </a:r>
            <a:r>
              <a:rPr lang="en-US" altLang="zh-CN"/>
              <a:t> PPO </a:t>
            </a:r>
            <a:r>
              <a:rPr lang="zh-CN" altLang="en-US"/>
              <a:t>的环境数从千级增加到万级时，收益迅速饱和。</a:t>
            </a:r>
            <a:endParaRPr lang="zh-CN" altLang="en-US"/>
          </a:p>
          <a:p>
            <a:r>
              <a:rPr lang="zh-CN" altLang="en-US"/>
              <a:t>作者对这个现象的诊断是：单策略的探索多样性是有限的，它产生的轨迹高度相似。于是出现了</a:t>
            </a:r>
            <a:r>
              <a:rPr lang="en-US" altLang="zh-CN"/>
              <a:t>"</a:t>
            </a:r>
            <a:r>
              <a:rPr lang="zh-CN" altLang="en-US"/>
              <a:t>智能体集成</a:t>
            </a:r>
            <a:r>
              <a:rPr lang="en-US" altLang="zh-CN"/>
              <a:t>"</a:t>
            </a:r>
            <a:r>
              <a:rPr lang="zh-CN" altLang="en-US"/>
              <a:t>这条路线：与其让一个策略跑所有环境，不如让多个策略各管一批环境，采集多样化的样本，再互相交换学习。</a:t>
            </a:r>
            <a:r>
              <a:rPr lang="en-US" altLang="zh-CN"/>
              <a:t>SAPG </a:t>
            </a:r>
            <a:r>
              <a:rPr lang="zh-CN" altLang="en-US"/>
              <a:t>就是这条路线上的代表工作，它用</a:t>
            </a:r>
            <a:r>
              <a:rPr lang="en-US" altLang="zh-CN"/>
              <a:t> leader–follower </a:t>
            </a:r>
            <a:r>
              <a:rPr lang="zh-CN" altLang="en-US"/>
              <a:t>结构，让</a:t>
            </a:r>
            <a:r>
              <a:rPr lang="en-US" altLang="zh-CN"/>
              <a:t> leader </a:t>
            </a:r>
            <a:r>
              <a:rPr lang="zh-CN" altLang="en-US"/>
              <a:t>通过重要性采样去吸收</a:t>
            </a:r>
            <a:r>
              <a:rPr lang="en-US" altLang="zh-CN"/>
              <a:t> follower </a:t>
            </a:r>
            <a:r>
              <a:rPr lang="zh-CN" altLang="en-US"/>
              <a:t>采集的数据。</a:t>
            </a:r>
            <a:endParaRPr lang="zh-CN" altLang="en-US"/>
          </a:p>
          <a:p>
            <a:r>
              <a:rPr lang="zh-CN" altLang="en-US"/>
              <a:t>到这里，本文要回答的科学问题就可以非常精确地表述了。它问的是：策略间的多样性越大，集成策略梯度方法就学得越好吗？</a:t>
            </a:r>
            <a:endParaRPr lang="zh-CN" altLang="en-US"/>
          </a:p>
          <a:p>
            <a:r>
              <a:rPr lang="zh-CN" altLang="en-US"/>
              <a:t>这个问题看似是在确认一个常识，但论文的回答是否定的。作者认为，真正的瓶颈不是</a:t>
            </a:r>
            <a:r>
              <a:rPr lang="en-US" altLang="zh-CN"/>
              <a:t>"</a:t>
            </a:r>
            <a:r>
              <a:rPr lang="zh-CN" altLang="en-US"/>
              <a:t>探索不够</a:t>
            </a:r>
            <a:r>
              <a:rPr lang="en-US" altLang="zh-CN"/>
              <a:t>"</a:t>
            </a:r>
            <a:r>
              <a:rPr lang="zh-CN" altLang="en-US"/>
              <a:t>，而是</a:t>
            </a:r>
            <a:r>
              <a:rPr lang="en-US" altLang="zh-CN"/>
              <a:t>"</a:t>
            </a:r>
            <a:r>
              <a:rPr lang="zh-CN" altLang="en-US"/>
              <a:t>多样性失控</a:t>
            </a:r>
            <a:r>
              <a:rPr lang="en-US" altLang="zh-CN"/>
              <a:t>"</a:t>
            </a:r>
            <a:r>
              <a:rPr lang="zh-CN" altLang="en-US"/>
              <a:t>。这句话是整篇论文的题眼，后面所有的理论、方法、实验，都是在论证它。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>
                <a:sym typeface="+mn-ea"/>
              </a:rPr>
              <a:t>最左边的图就是解释了什么是</a:t>
            </a:r>
            <a:r>
              <a:rPr lang="en-US" altLang="zh-CN">
                <a:sym typeface="+mn-ea"/>
              </a:rPr>
              <a:t>leader-follower</a:t>
            </a:r>
            <a:r>
              <a:rPr lang="zh-CN" altLang="en-US">
                <a:sym typeface="+mn-ea"/>
              </a:rPr>
              <a:t>机制，会有一个</a:t>
            </a:r>
            <a:r>
              <a:rPr lang="en-US" altLang="zh-CN">
                <a:sym typeface="+mn-ea"/>
              </a:rPr>
              <a:t>leader agent</a:t>
            </a:r>
            <a:r>
              <a:rPr lang="zh-CN" altLang="en-US">
                <a:sym typeface="+mn-ea"/>
              </a:rPr>
              <a:t>和</a:t>
            </a:r>
            <a:r>
              <a:rPr lang="en-US" altLang="zh-CN">
                <a:sym typeface="+mn-ea"/>
              </a:rPr>
              <a:t>n-1</a:t>
            </a:r>
            <a:r>
              <a:rPr lang="zh-CN" altLang="en-US">
                <a:sym typeface="+mn-ea"/>
              </a:rPr>
              <a:t>个</a:t>
            </a:r>
            <a:r>
              <a:rPr lang="en-US" altLang="zh-CN">
                <a:sym typeface="+mn-ea"/>
              </a:rPr>
              <a:t>follower agent</a:t>
            </a:r>
            <a:r>
              <a:rPr lang="zh-CN" altLang="en-US">
                <a:sym typeface="+mn-ea"/>
              </a:rPr>
              <a:t>他们之间的策略是不同的</a:t>
            </a:r>
            <a:endParaRPr lang="en-US" altLang="zh-CN">
              <a:sym typeface="+mn-ea"/>
            </a:endParaRPr>
          </a:p>
          <a:p>
            <a:r>
              <a:rPr lang="en-US" altLang="zh-CN">
                <a:sym typeface="+mn-ea"/>
              </a:rPr>
              <a:t> leader</a:t>
            </a:r>
            <a:r>
              <a:rPr lang="zh-CN" altLang="en-US">
                <a:sym typeface="+mn-ea"/>
              </a:rPr>
              <a:t>的更新会使用自己的</a:t>
            </a:r>
            <a:r>
              <a:rPr lang="en-US" altLang="zh-CN">
                <a:sym typeface="+mn-ea"/>
              </a:rPr>
              <a:t>on-policy</a:t>
            </a:r>
            <a:r>
              <a:rPr lang="zh-CN" altLang="en-US">
                <a:sym typeface="+mn-ea"/>
              </a:rPr>
              <a:t>数据以及</a:t>
            </a:r>
            <a:r>
              <a:rPr lang="en-US" altLang="zh-CN">
                <a:sym typeface="+mn-ea"/>
              </a:rPr>
              <a:t>follower</a:t>
            </a:r>
            <a:r>
              <a:rPr lang="zh-CN" altLang="en-US">
                <a:sym typeface="+mn-ea"/>
              </a:rPr>
              <a:t>的</a:t>
            </a:r>
            <a:r>
              <a:rPr lang="en-US" altLang="zh-CN">
                <a:sym typeface="+mn-ea"/>
              </a:rPr>
              <a:t>off-policy</a:t>
            </a:r>
            <a:r>
              <a:rPr lang="zh-CN" altLang="en-US">
                <a:sym typeface="+mn-ea"/>
              </a:rPr>
              <a:t>数据更新</a:t>
            </a:r>
            <a:r>
              <a:rPr lang="en-US" altLang="zh-CN">
                <a:sym typeface="+mn-ea"/>
              </a:rPr>
              <a:t> </a:t>
            </a:r>
            <a:r>
              <a:rPr lang="zh-CN" altLang="en-US">
                <a:sym typeface="+mn-ea"/>
              </a:rPr>
              <a:t>而</a:t>
            </a:r>
            <a:r>
              <a:rPr lang="en-US" altLang="zh-CN">
                <a:sym typeface="+mn-ea"/>
              </a:rPr>
              <a:t>follower</a:t>
            </a:r>
            <a:r>
              <a:rPr lang="zh-CN" altLang="en-US">
                <a:sym typeface="+mn-ea"/>
              </a:rPr>
              <a:t>只会用自己的</a:t>
            </a:r>
            <a:r>
              <a:rPr lang="en-US" altLang="zh-CN">
                <a:sym typeface="+mn-ea"/>
              </a:rPr>
              <a:t>on-policy</a:t>
            </a:r>
            <a:r>
              <a:rPr lang="zh-CN" altLang="en-US">
                <a:sym typeface="+mn-ea"/>
              </a:rPr>
              <a:t>数据</a:t>
            </a:r>
            <a:r>
              <a:rPr lang="zh-CN" altLang="en-US">
                <a:sym typeface="+mn-ea"/>
              </a:rPr>
              <a:t>更新</a:t>
            </a:r>
            <a:endParaRPr lang="zh-CN" altLang="en-US">
              <a:sym typeface="+mn-ea"/>
            </a:endParaRPr>
          </a:p>
          <a:p>
            <a:r>
              <a:rPr lang="zh-CN" altLang="en-US">
                <a:sym typeface="+mn-ea"/>
              </a:rPr>
              <a:t>什么是</a:t>
            </a:r>
            <a:r>
              <a:rPr lang="en-US" altLang="zh-CN">
                <a:sym typeface="+mn-ea"/>
              </a:rPr>
              <a:t> on-policy</a:t>
            </a:r>
            <a:r>
              <a:rPr lang="zh-CN" altLang="en-US">
                <a:sym typeface="+mn-ea"/>
              </a:rPr>
              <a:t>？</a:t>
            </a:r>
            <a:r>
              <a:rPr lang="en-US" altLang="zh-CN">
                <a:sym typeface="+mn-ea"/>
              </a:rPr>
              <a:t>on-policy </a:t>
            </a:r>
            <a:r>
              <a:rPr lang="zh-CN" altLang="en-US">
                <a:sym typeface="+mn-ea"/>
              </a:rPr>
              <a:t>就是</a:t>
            </a:r>
            <a:r>
              <a:rPr lang="en-US" altLang="zh-CN">
                <a:sym typeface="+mn-ea"/>
              </a:rPr>
              <a:t>“</a:t>
            </a:r>
            <a:r>
              <a:rPr lang="zh-CN" altLang="en-US">
                <a:sym typeface="+mn-ea"/>
              </a:rPr>
              <a:t>行为策略</a:t>
            </a:r>
            <a:r>
              <a:rPr lang="en-US" altLang="zh-CN">
                <a:sym typeface="+mn-ea"/>
              </a:rPr>
              <a:t>”</a:t>
            </a:r>
            <a:r>
              <a:rPr lang="zh-CN" altLang="en-US">
                <a:sym typeface="+mn-ea"/>
              </a:rPr>
              <a:t>和</a:t>
            </a:r>
            <a:r>
              <a:rPr lang="en-US" altLang="zh-CN">
                <a:sym typeface="+mn-ea"/>
              </a:rPr>
              <a:t>“</a:t>
            </a:r>
            <a:r>
              <a:rPr lang="zh-CN" altLang="en-US">
                <a:sym typeface="+mn-ea"/>
              </a:rPr>
              <a:t>目标策略</a:t>
            </a:r>
            <a:r>
              <a:rPr lang="en-US" altLang="zh-CN">
                <a:sym typeface="+mn-ea"/>
              </a:rPr>
              <a:t>”</a:t>
            </a:r>
            <a:r>
              <a:rPr lang="zh-CN" altLang="en-US">
                <a:sym typeface="+mn-ea"/>
              </a:rPr>
              <a:t>是同一个策略。也就是说，我用当前策略去采样，然后用这些样本更新当前策略。它的优点是数据分布和目标一致，稳定；缺点是样本不能重复利用，样本效率低。第二，什么是</a:t>
            </a:r>
            <a:r>
              <a:rPr lang="en-US" altLang="zh-CN">
                <a:sym typeface="+mn-ea"/>
              </a:rPr>
              <a:t> off-policy</a:t>
            </a:r>
            <a:r>
              <a:rPr lang="zh-CN" altLang="en-US">
                <a:sym typeface="+mn-ea"/>
              </a:rPr>
              <a:t>？</a:t>
            </a:r>
            <a:r>
              <a:rPr lang="en-US" altLang="zh-CN">
                <a:sym typeface="+mn-ea"/>
              </a:rPr>
              <a:t>off-policy </a:t>
            </a:r>
            <a:r>
              <a:rPr lang="zh-CN" altLang="en-US">
                <a:sym typeface="+mn-ea"/>
              </a:rPr>
              <a:t>是行为策略和目标策略不同，比如我用旧策略或者别的策略采样，去更新当前策略。它的优点是可以复用数据，但需要用重要性采样来校正分布差异。</a:t>
            </a:r>
            <a:endParaRPr lang="zh-CN" altLang="en-US"/>
          </a:p>
          <a:p>
            <a:r>
              <a:rPr lang="zh-CN" altLang="en-US"/>
              <a:t>中间是</a:t>
            </a:r>
            <a:r>
              <a:rPr lang="en-US" altLang="zh-CN"/>
              <a:t>sapg</a:t>
            </a:r>
            <a:r>
              <a:rPr lang="zh-CN" altLang="en-US"/>
              <a:t>是没有约束的情形。</a:t>
            </a:r>
            <a:r>
              <a:rPr lang="en-US" altLang="zh-CN"/>
              <a:t>leader </a:t>
            </a:r>
            <a:r>
              <a:rPr lang="zh-CN" altLang="en-US"/>
              <a:t>和</a:t>
            </a:r>
            <a:r>
              <a:rPr lang="en-US" altLang="zh-CN"/>
              <a:t> follower </a:t>
            </a:r>
            <a:r>
              <a:rPr lang="zh-CN" altLang="en-US"/>
              <a:t>之间不存在任何距离控制，</a:t>
            </a:r>
            <a:r>
              <a:rPr lang="en-US" altLang="zh-CN"/>
              <a:t>follower </a:t>
            </a:r>
            <a:r>
              <a:rPr lang="zh-CN" altLang="en-US"/>
              <a:t>会自由漂移，跑得离</a:t>
            </a:r>
            <a:r>
              <a:rPr lang="en-US" altLang="zh-CN"/>
              <a:t> leader </a:t>
            </a:r>
            <a:r>
              <a:rPr lang="zh-CN" altLang="en-US"/>
              <a:t>越来越远。后果是：当</a:t>
            </a:r>
            <a:r>
              <a:rPr lang="en-US" altLang="zh-CN"/>
              <a:t> leader </a:t>
            </a:r>
            <a:r>
              <a:rPr lang="zh-CN" altLang="en-US"/>
              <a:t>用</a:t>
            </a:r>
            <a:r>
              <a:rPr lang="en-US" altLang="zh-CN"/>
              <a:t> follower </a:t>
            </a:r>
            <a:r>
              <a:rPr lang="zh-CN" altLang="en-US"/>
              <a:t>的数据更新自己时，重要性采样比值会远远偏离</a:t>
            </a:r>
            <a:r>
              <a:rPr lang="en-US" altLang="zh-CN"/>
              <a:t> 1</a:t>
            </a:r>
            <a:r>
              <a:rPr lang="zh-CN" altLang="en-US"/>
              <a:t>。比值一旦偏离，有效样本量就骤降，</a:t>
            </a:r>
            <a:r>
              <a:rPr lang="en-US" altLang="zh-CN"/>
              <a:t>PPO </a:t>
            </a:r>
            <a:r>
              <a:rPr lang="zh-CN" altLang="en-US"/>
              <a:t>的裁剪机制被大量触发，梯度估计的偏差随之增大，训练就不稳了。</a:t>
            </a:r>
            <a:endParaRPr lang="en-US" altLang="zh-CN"/>
          </a:p>
          <a:p>
            <a:r>
              <a:rPr lang="zh-CN" altLang="en-US"/>
              <a:t>右边是加了约束的情形。给</a:t>
            </a:r>
            <a:r>
              <a:rPr lang="en-US" altLang="zh-CN"/>
              <a:t> follower </a:t>
            </a:r>
            <a:r>
              <a:rPr lang="zh-CN" altLang="en-US"/>
              <a:t>增加一个</a:t>
            </a:r>
            <a:r>
              <a:rPr lang="en-US" altLang="zh-CN"/>
              <a:t> KL </a:t>
            </a:r>
            <a:r>
              <a:rPr lang="zh-CN" altLang="en-US"/>
              <a:t>球约束，它只能在以</a:t>
            </a:r>
            <a:r>
              <a:rPr lang="en-US" altLang="zh-CN"/>
              <a:t> leader </a:t>
            </a:r>
            <a:r>
              <a:rPr lang="zh-CN" altLang="en-US"/>
              <a:t>为中心的球内活动，形成所谓</a:t>
            </a:r>
            <a:r>
              <a:rPr lang="en-US" altLang="zh-CN"/>
              <a:t>"</a:t>
            </a:r>
            <a:r>
              <a:rPr lang="zh-CN" altLang="en-US"/>
              <a:t>受控的多样性</a:t>
            </a:r>
            <a:r>
              <a:rPr lang="en-US" altLang="zh-CN"/>
              <a:t>"</a:t>
            </a:r>
            <a:r>
              <a:rPr lang="zh-CN" altLang="en-US"/>
              <a:t>。</a:t>
            </a:r>
            <a:endParaRPr lang="zh-CN" altLang="en-US"/>
          </a:p>
          <a:p>
            <a:r>
              <a:rPr lang="zh-CN" altLang="en-US"/>
              <a:t>这两边同样都是六个策略，参数量、网络结构、数据量完全一样，唯一的差别就是距离有没有被约束。但结构完全不同：左边是无约束的漂移，右边是有约束的环绕。</a:t>
            </a:r>
            <a:endParaRPr lang="zh-CN" altLang="en-US"/>
          </a:p>
          <a:p>
            <a:r>
              <a:rPr lang="zh-CN" altLang="en-US"/>
              <a:t>我想强调这个对照的实验意义。它说明问题不出在</a:t>
            </a:r>
            <a:r>
              <a:rPr lang="en-US" altLang="zh-CN"/>
              <a:t>"</a:t>
            </a:r>
            <a:r>
              <a:rPr lang="zh-CN" altLang="en-US"/>
              <a:t>策略数量不够</a:t>
            </a:r>
            <a:r>
              <a:rPr lang="en-US" altLang="zh-CN"/>
              <a:t>"</a:t>
            </a:r>
            <a:r>
              <a:rPr lang="zh-CN" altLang="en-US"/>
              <a:t>或者</a:t>
            </a:r>
            <a:r>
              <a:rPr lang="en-US" altLang="zh-CN"/>
              <a:t>"</a:t>
            </a:r>
            <a:r>
              <a:rPr lang="zh-CN" altLang="en-US"/>
              <a:t>探索强度不够</a:t>
            </a:r>
            <a:r>
              <a:rPr lang="en-US" altLang="zh-CN"/>
              <a:t>"</a:t>
            </a:r>
            <a:r>
              <a:rPr lang="zh-CN" altLang="en-US"/>
              <a:t>，而出在策略之间的几何关系上没有控制。作者要加的不是更多的探索，而是一个约束。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作者这篇论文的出发点是基于这三个</a:t>
            </a:r>
            <a:r>
              <a:rPr lang="zh-CN" altLang="en-US"/>
              <a:t>命题</a:t>
            </a:r>
            <a:endParaRPr lang="zh-CN" altLang="en-US"/>
          </a:p>
          <a:p>
            <a:r>
              <a:rPr lang="zh-CN" altLang="en-US"/>
              <a:t>命题一刻画的是有效样本量和重要性采样偏离之间的关系。结论是：重要性采样比值</a:t>
            </a:r>
            <a:r>
              <a:rPr lang="en-US" altLang="zh-CN"/>
              <a:t>is</a:t>
            </a:r>
            <a:r>
              <a:rPr lang="zh-CN" altLang="en-US"/>
              <a:t>偏离</a:t>
            </a:r>
            <a:r>
              <a:rPr lang="en-US" altLang="zh-CN"/>
              <a:t> 1 </a:t>
            </a:r>
            <a:r>
              <a:rPr lang="zh-CN" altLang="en-US"/>
              <a:t>的期望绝对偏差越大，有效样本量</a:t>
            </a:r>
            <a:r>
              <a:rPr lang="en-US" altLang="zh-CN"/>
              <a:t> ESS </a:t>
            </a:r>
            <a:r>
              <a:rPr lang="zh-CN" altLang="en-US"/>
              <a:t>就越小。加权平均里，如果少数样本的权重特别大，那实际起作用的样本数就远小于名义样本数。</a:t>
            </a:r>
            <a:endParaRPr lang="zh-CN" altLang="en-US"/>
          </a:p>
          <a:p>
            <a:r>
              <a:rPr lang="zh-CN" altLang="en-US"/>
              <a:t>命题二刻画的是</a:t>
            </a:r>
            <a:r>
              <a:rPr lang="en-US" altLang="zh-CN"/>
              <a:t> PPO </a:t>
            </a:r>
            <a:r>
              <a:rPr lang="zh-CN" altLang="en-US"/>
              <a:t>裁剪引入的偏差。作者证明，裁剪算子导致的梯度估计偏差，它的存在一个上界，而这个上界由重要性采样比值的偏离程度控制。只有当比值偏离超过裁剪阈值时，偏差才被激活。也就是说，偏差不是线性增长的，它有一个触发点；一旦越过阈值，上界就随偏离程度增长。从而导致</a:t>
            </a:r>
            <a:r>
              <a:rPr lang="en-US" altLang="zh-CN"/>
              <a:t>ppo</a:t>
            </a:r>
            <a:r>
              <a:rPr lang="zh-CN" altLang="en-US"/>
              <a:t>的更新</a:t>
            </a:r>
            <a:r>
              <a:rPr lang="zh-CN" altLang="en-US"/>
              <a:t>不稳定，这就是</a:t>
            </a:r>
            <a:r>
              <a:rPr lang="en-US" altLang="zh-CN"/>
              <a:t>"</a:t>
            </a:r>
            <a:r>
              <a:rPr lang="zh-CN" altLang="en-US"/>
              <a:t>多样性过大导致不稳定</a:t>
            </a:r>
            <a:r>
              <a:rPr lang="en-US" altLang="zh-CN"/>
              <a:t>"</a:t>
            </a:r>
            <a:r>
              <a:rPr lang="zh-CN" altLang="en-US"/>
              <a:t>的数学表达。</a:t>
            </a:r>
            <a:endParaRPr lang="zh-CN" altLang="en-US"/>
          </a:p>
          <a:p>
            <a:r>
              <a:rPr lang="zh-CN" altLang="en-US"/>
              <a:t>命题三是全文方法论的支点，它把前两个命题接到了解决方案上。作者证明：</a:t>
            </a:r>
            <a:r>
              <a:rPr lang="en-US" altLang="zh-CN"/>
              <a:t>follower </a:t>
            </a:r>
            <a:r>
              <a:rPr lang="zh-CN" altLang="en-US"/>
              <a:t>和</a:t>
            </a:r>
            <a:r>
              <a:rPr lang="en-US" altLang="zh-CN"/>
              <a:t> leader </a:t>
            </a:r>
            <a:r>
              <a:rPr lang="zh-CN" altLang="en-US"/>
              <a:t>之间的</a:t>
            </a:r>
            <a:r>
              <a:rPr lang="en-US" altLang="zh-CN"/>
              <a:t> KL </a:t>
            </a:r>
            <a:r>
              <a:rPr lang="zh-CN" altLang="en-US"/>
              <a:t>散度，构成了重要性采样偏离程度的上界。通过</a:t>
            </a:r>
            <a:r>
              <a:rPr lang="en-US" altLang="zh-CN"/>
              <a:t>kl</a:t>
            </a:r>
            <a:r>
              <a:rPr lang="zh-CN" altLang="en-US"/>
              <a:t>约束来抑制</a:t>
            </a:r>
            <a:r>
              <a:rPr lang="en-US" altLang="zh-CN"/>
              <a:t>is</a:t>
            </a:r>
            <a:r>
              <a:rPr lang="zh-CN" altLang="en-US"/>
              <a:t>的偏差。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命题一说偏离大则有效样本少，命题二说偏离大则偏差大，这两个命题都在描述</a:t>
            </a:r>
            <a:r>
              <a:rPr lang="en-US" altLang="zh-CN"/>
              <a:t>"</a:t>
            </a:r>
            <a:r>
              <a:rPr lang="zh-CN" altLang="en-US"/>
              <a:t>病症</a:t>
            </a:r>
            <a:r>
              <a:rPr lang="en-US" altLang="zh-CN"/>
              <a:t>"</a:t>
            </a:r>
            <a:r>
              <a:rPr lang="zh-CN" altLang="en-US"/>
              <a:t>；命题三说</a:t>
            </a:r>
            <a:r>
              <a:rPr lang="en-US" altLang="zh-CN"/>
              <a:t> KL </a:t>
            </a:r>
            <a:r>
              <a:rPr lang="zh-CN" altLang="en-US"/>
              <a:t>可以控制偏离，这是在给出</a:t>
            </a:r>
            <a:r>
              <a:rPr lang="zh-CN" altLang="en-US"/>
              <a:t>解决办法。</a:t>
            </a:r>
            <a:r>
              <a:rPr lang="en-US" altLang="zh-CN"/>
              <a:t>——</a:t>
            </a:r>
            <a:r>
              <a:rPr lang="zh-CN" altLang="en-US"/>
              <a:t>去约束</a:t>
            </a:r>
            <a:r>
              <a:rPr lang="en-US" altLang="zh-CN"/>
              <a:t> KL</a:t>
            </a:r>
            <a:r>
              <a:rPr lang="zh-CN" altLang="en-US"/>
              <a:t>。</a:t>
            </a:r>
            <a:endParaRPr lang="zh-CN" altLang="en-US"/>
          </a:p>
          <a:p>
            <a:r>
              <a:rPr lang="zh-CN" altLang="en-US"/>
              <a:t>这就是</a:t>
            </a:r>
            <a:r>
              <a:rPr lang="en-US" altLang="zh-CN"/>
              <a:t>CPO </a:t>
            </a:r>
            <a:r>
              <a:rPr lang="zh-CN" altLang="en-US"/>
              <a:t>的核心设计</a:t>
            </a:r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现在讲</a:t>
            </a:r>
            <a:r>
              <a:rPr lang="en-US" altLang="zh-CN"/>
              <a:t> CPO </a:t>
            </a:r>
            <a:r>
              <a:rPr lang="zh-CN" altLang="en-US"/>
              <a:t>方法本身。它的定位可以说得非常简洁：就是在</a:t>
            </a:r>
            <a:r>
              <a:rPr lang="en-US" altLang="zh-CN"/>
              <a:t> SAPG </a:t>
            </a:r>
            <a:r>
              <a:rPr lang="zh-CN" altLang="en-US"/>
              <a:t>上加一个</a:t>
            </a:r>
            <a:r>
              <a:rPr lang="en-US" altLang="zh-CN"/>
              <a:t> KL </a:t>
            </a:r>
            <a:r>
              <a:rPr lang="zh-CN" altLang="en-US"/>
              <a:t>正则项。</a:t>
            </a:r>
            <a:endParaRPr lang="zh-CN" altLang="en-US"/>
          </a:p>
          <a:p>
            <a:r>
              <a:rPr lang="zh-CN" altLang="en-US"/>
              <a:t>它有两个组件。</a:t>
            </a:r>
            <a:endParaRPr lang="zh-CN" altLang="en-US"/>
          </a:p>
          <a:p>
            <a:r>
              <a:rPr lang="zh-CN" altLang="en-US"/>
              <a:t>第一个组件，是</a:t>
            </a:r>
            <a:r>
              <a:rPr lang="en-US" altLang="zh-CN"/>
              <a:t> follower </a:t>
            </a:r>
            <a:r>
              <a:rPr lang="zh-CN" altLang="en-US"/>
              <a:t>更新的</a:t>
            </a:r>
            <a:r>
              <a:rPr lang="en-US" altLang="zh-CN"/>
              <a:t> KL </a:t>
            </a:r>
            <a:r>
              <a:rPr lang="zh-CN" altLang="en-US"/>
              <a:t>约束。</a:t>
            </a:r>
            <a:r>
              <a:rPr lang="en-US" altLang="zh-CN"/>
              <a:t> </a:t>
            </a:r>
            <a:r>
              <a:rPr lang="zh-CN" altLang="en-US"/>
              <a:t>作者给</a:t>
            </a:r>
            <a:r>
              <a:rPr lang="en-US" altLang="zh-CN"/>
              <a:t> follower </a:t>
            </a:r>
            <a:r>
              <a:rPr lang="zh-CN" altLang="en-US"/>
              <a:t>的优化目标加了一个约束：</a:t>
            </a:r>
            <a:r>
              <a:rPr lang="en-US" altLang="zh-CN"/>
              <a:t>follower </a:t>
            </a:r>
            <a:r>
              <a:rPr lang="zh-CN" altLang="en-US"/>
              <a:t>与</a:t>
            </a:r>
            <a:r>
              <a:rPr lang="en-US" altLang="zh-CN"/>
              <a:t> leader </a:t>
            </a:r>
            <a:r>
              <a:rPr lang="zh-CN" altLang="en-US"/>
              <a:t>的</a:t>
            </a:r>
            <a:r>
              <a:rPr lang="en-US" altLang="zh-CN"/>
              <a:t> KL </a:t>
            </a:r>
            <a:r>
              <a:rPr lang="zh-CN" altLang="en-US"/>
              <a:t>散度不能超过一个阈值。这是一个带约束的优化问题，用拉格朗日方法求解后，能得到一个闭式解</a:t>
            </a:r>
            <a:r>
              <a:rPr lang="en-US" altLang="zh-CN"/>
              <a:t>——</a:t>
            </a:r>
            <a:r>
              <a:rPr lang="zh-CN" altLang="en-US"/>
              <a:t>直观来说就是：</a:t>
            </a:r>
            <a:r>
              <a:rPr lang="en-US" altLang="zh-CN"/>
              <a:t>follower </a:t>
            </a:r>
            <a:r>
              <a:rPr lang="zh-CN" altLang="en-US"/>
              <a:t>的起点是</a:t>
            </a:r>
            <a:r>
              <a:rPr lang="en-US" altLang="zh-CN"/>
              <a:t> leader</a:t>
            </a:r>
            <a:r>
              <a:rPr lang="zh-CN" altLang="en-US"/>
              <a:t>，然后再往自己擅长、收益高的方向偏一点</a:t>
            </a:r>
            <a:r>
              <a:rPr lang="zh-CN" altLang="en-US"/>
              <a:t>探索。</a:t>
            </a:r>
            <a:endParaRPr lang="zh-CN" altLang="en-US"/>
          </a:p>
          <a:p>
            <a:r>
              <a:rPr lang="zh-CN" altLang="en-US"/>
              <a:t>左边是第</a:t>
            </a:r>
            <a:r>
              <a:rPr lang="en-US" altLang="zh-CN"/>
              <a:t> i</a:t>
            </a:r>
            <a:r>
              <a:rPr lang="zh-CN" altLang="en-US"/>
              <a:t>个</a:t>
            </a:r>
            <a:r>
              <a:rPr lang="en-US" altLang="zh-CN"/>
              <a:t> follower </a:t>
            </a:r>
            <a:r>
              <a:rPr lang="zh-CN" altLang="en-US"/>
              <a:t>的最优策略，带星号表示它是约束优化下的解，中间是表示在策略空间中寻找一个分布，使目标最大。右边是第</a:t>
            </a:r>
            <a:r>
              <a:rPr lang="en-US" altLang="zh-CN"/>
              <a:t> i </a:t>
            </a:r>
            <a:r>
              <a:rPr lang="zh-CN" altLang="en-US"/>
              <a:t>个</a:t>
            </a:r>
            <a:r>
              <a:rPr lang="en-US" altLang="zh-CN"/>
              <a:t> follower </a:t>
            </a:r>
            <a:r>
              <a:rPr lang="zh-CN" altLang="en-US"/>
              <a:t>自己的优势函数。它衡量在状态</a:t>
            </a:r>
            <a:r>
              <a:rPr lang="en-US" altLang="zh-CN"/>
              <a:t> s </a:t>
            </a:r>
            <a:r>
              <a:rPr lang="zh-CN" altLang="en-US"/>
              <a:t>下做动作</a:t>
            </a:r>
            <a:r>
              <a:rPr lang="en-US" altLang="zh-CN"/>
              <a:t> a </a:t>
            </a:r>
            <a:r>
              <a:rPr lang="zh-CN" altLang="en-US"/>
              <a:t>比平均水平好多少。同时找到的这个策略离</a:t>
            </a:r>
            <a:r>
              <a:rPr lang="en-US" altLang="zh-CN"/>
              <a:t>leader</a:t>
            </a:r>
            <a:r>
              <a:rPr lang="zh-CN" altLang="en-US"/>
              <a:t>的距离不能大于</a:t>
            </a:r>
            <a:r>
              <a:rPr lang="en-US" altLang="zh-CN"/>
              <a:t>kl</a:t>
            </a:r>
            <a:r>
              <a:rPr lang="zh-CN" altLang="en-US"/>
              <a:t>约束的</a:t>
            </a:r>
            <a:r>
              <a:rPr lang="zh-CN" altLang="en-US"/>
              <a:t>范围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r>
              <a:rPr lang="zh-CN" altLang="en-US"/>
              <a:t>第二个组件，是对抗奖励。</a:t>
            </a:r>
            <a:r>
              <a:rPr lang="en-US" altLang="zh-CN"/>
              <a:t> </a:t>
            </a:r>
            <a:r>
              <a:rPr lang="zh-CN" altLang="en-US"/>
              <a:t>作者的动机是这样的：</a:t>
            </a:r>
            <a:r>
              <a:rPr lang="en-US" altLang="zh-CN"/>
              <a:t>KL </a:t>
            </a:r>
            <a:r>
              <a:rPr lang="zh-CN" altLang="en-US"/>
              <a:t>约束把所有</a:t>
            </a:r>
            <a:r>
              <a:rPr lang="en-US" altLang="zh-CN"/>
              <a:t> follower </a:t>
            </a:r>
            <a:r>
              <a:rPr lang="zh-CN" altLang="en-US"/>
              <a:t>一起拉向</a:t>
            </a:r>
            <a:r>
              <a:rPr lang="en-US" altLang="zh-CN"/>
              <a:t> leader</a:t>
            </a:r>
            <a:r>
              <a:rPr lang="zh-CN" altLang="en-US"/>
              <a:t>，那它们之间是不是也互相靠近了？如果所有</a:t>
            </a:r>
            <a:r>
              <a:rPr lang="en-US" altLang="zh-CN"/>
              <a:t> follower </a:t>
            </a:r>
            <a:r>
              <a:rPr lang="zh-CN" altLang="en-US"/>
              <a:t>都长得一样，那就退化成了单一策略，集成就失去意义了。这个现象论文叫</a:t>
            </a:r>
            <a:r>
              <a:rPr lang="en-US" altLang="zh-CN"/>
              <a:t> overconcentration</a:t>
            </a:r>
            <a:r>
              <a:rPr lang="zh-CN" altLang="en-US"/>
              <a:t>，过度集中。</a:t>
            </a:r>
            <a:endParaRPr lang="zh-CN" altLang="en-US"/>
          </a:p>
          <a:p>
            <a:r>
              <a:rPr lang="zh-CN" altLang="en-US"/>
              <a:t>所以作者加了一个判别器，这个判别器的任务是：给定一个状态</a:t>
            </a:r>
            <a:r>
              <a:rPr lang="en-US" altLang="zh-CN"/>
              <a:t>-</a:t>
            </a:r>
            <a:r>
              <a:rPr lang="zh-CN" altLang="en-US"/>
              <a:t>动作对，预测它是哪个</a:t>
            </a:r>
            <a:r>
              <a:rPr lang="en-US" altLang="zh-CN"/>
              <a:t> follower </a:t>
            </a:r>
            <a:r>
              <a:rPr lang="zh-CN" altLang="en-US"/>
              <a:t>产生的。如果每个</a:t>
            </a:r>
            <a:r>
              <a:rPr lang="en-US" altLang="zh-CN"/>
              <a:t> follower </a:t>
            </a:r>
            <a:r>
              <a:rPr lang="zh-CN" altLang="en-US"/>
              <a:t>探索的区域不同，判别器就容易区分，奖励就高；如果大家都挤在一起，判别器分不清，奖励就低。</a:t>
            </a:r>
            <a:endParaRPr lang="zh-CN" altLang="en-US"/>
          </a:p>
          <a:p>
            <a:r>
              <a:rPr lang="zh-CN" altLang="en-US"/>
              <a:t>然后把这个判别器的输出变成内在奖励：</a:t>
            </a:r>
            <a:endParaRPr lang="zh-CN" altLang="en-US"/>
          </a:p>
          <a:p>
            <a:r>
              <a:rPr lang="zh-CN" altLang="en-US"/>
              <a:t>下面这个公式是以惩罚形式写出的奖励，在总奖励里面其实是惩罚的作用，最右边就是我们判别器预测是哪个</a:t>
            </a:r>
            <a:r>
              <a:rPr lang="en-US" altLang="zh-CN"/>
              <a:t>follower</a:t>
            </a:r>
            <a:r>
              <a:rPr lang="zh-CN" altLang="en-US"/>
              <a:t>产生，会输出一个概率，如果判别器很容易分清楚，概率趋近于</a:t>
            </a:r>
            <a:r>
              <a:rPr lang="en-US" altLang="zh-CN"/>
              <a:t>1</a:t>
            </a:r>
            <a:r>
              <a:rPr lang="zh-CN" altLang="en-US"/>
              <a:t>，这一项取对数之后就会趋近于</a:t>
            </a:r>
            <a:r>
              <a:rPr lang="en-US" altLang="zh-CN"/>
              <a:t>0</a:t>
            </a:r>
            <a:r>
              <a:rPr lang="zh-CN" altLang="en-US"/>
              <a:t>，就没有什么</a:t>
            </a:r>
            <a:r>
              <a:rPr lang="zh-CN" altLang="en-US"/>
              <a:t>惩罚</a:t>
            </a:r>
            <a:endParaRPr lang="zh-CN" altLang="en-US"/>
          </a:p>
          <a:p>
            <a:r>
              <a:rPr lang="zh-CN" altLang="en-US"/>
              <a:t>相反如果判别器分辨不出，那么取完对数后就会是负数变成惩罚项，从而鼓励</a:t>
            </a:r>
            <a:r>
              <a:rPr lang="en-US" altLang="zh-CN"/>
              <a:t>follower</a:t>
            </a:r>
            <a:r>
              <a:rPr lang="zh-CN" altLang="en-US"/>
              <a:t>都去探索不同的区域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这个奖励只给</a:t>
            </a:r>
            <a:r>
              <a:rPr lang="en-US" altLang="zh-CN"/>
              <a:t> follower</a:t>
            </a:r>
            <a:r>
              <a:rPr lang="zh-CN" altLang="en-US"/>
              <a:t>，不给</a:t>
            </a:r>
            <a:r>
              <a:rPr lang="en-US" altLang="zh-CN"/>
              <a:t> leader</a:t>
            </a:r>
            <a:r>
              <a:rPr lang="zh-CN" altLang="en-US"/>
              <a:t>。也就是说，</a:t>
            </a:r>
            <a:r>
              <a:rPr lang="en-US" altLang="zh-CN"/>
              <a:t>leader </a:t>
            </a:r>
            <a:r>
              <a:rPr lang="zh-CN" altLang="en-US"/>
              <a:t>在用</a:t>
            </a:r>
            <a:r>
              <a:rPr lang="en-US" altLang="zh-CN"/>
              <a:t> follower </a:t>
            </a:r>
            <a:r>
              <a:rPr lang="zh-CN" altLang="en-US"/>
              <a:t>的</a:t>
            </a:r>
            <a:r>
              <a:rPr lang="en-US" altLang="zh-CN"/>
              <a:t> off-policy </a:t>
            </a:r>
            <a:r>
              <a:rPr lang="zh-CN" altLang="en-US"/>
              <a:t>样本更新时，只考虑真实环境奖励，不考虑这个对抗奖励。这样设计是为了让</a:t>
            </a:r>
            <a:r>
              <a:rPr lang="en-US" altLang="zh-CN"/>
              <a:t> leader </a:t>
            </a:r>
            <a:r>
              <a:rPr lang="zh-CN" altLang="en-US"/>
              <a:t>保持对真实任务的优化，而</a:t>
            </a:r>
            <a:r>
              <a:rPr lang="en-US" altLang="zh-CN"/>
              <a:t> follower </a:t>
            </a:r>
            <a:r>
              <a:rPr lang="zh-CN" altLang="en-US"/>
              <a:t>负责探索多样性。</a:t>
            </a:r>
            <a:endParaRPr lang="zh-CN" altLang="en-US"/>
          </a:p>
          <a:p>
            <a:r>
              <a:rPr lang="zh-CN" altLang="en-US"/>
              <a:t>总目标就是把</a:t>
            </a:r>
            <a:r>
              <a:rPr lang="en-US" altLang="zh-CN"/>
              <a:t> SAPG </a:t>
            </a:r>
            <a:r>
              <a:rPr lang="zh-CN" altLang="en-US"/>
              <a:t>的原始目标，加上</a:t>
            </a:r>
            <a:r>
              <a:rPr lang="en-US" altLang="zh-CN"/>
              <a:t> follower </a:t>
            </a:r>
            <a:r>
              <a:rPr lang="zh-CN" altLang="en-US"/>
              <a:t>的</a:t>
            </a:r>
            <a:r>
              <a:rPr lang="en-US" altLang="zh-CN"/>
              <a:t> KL </a:t>
            </a:r>
            <a:r>
              <a:rPr lang="zh-CN" altLang="en-US"/>
              <a:t>项。所以一句话概括：</a:t>
            </a:r>
            <a:r>
              <a:rPr lang="en-US" altLang="zh-CN"/>
              <a:t>CPO </a:t>
            </a:r>
            <a:r>
              <a:rPr lang="zh-CN" altLang="en-US"/>
              <a:t>的</a:t>
            </a:r>
            <a:r>
              <a:rPr lang="en-US" altLang="zh-CN"/>
              <a:t> follower </a:t>
            </a:r>
            <a:r>
              <a:rPr lang="zh-CN" altLang="en-US"/>
              <a:t>更新等于</a:t>
            </a:r>
            <a:r>
              <a:rPr lang="en-US" altLang="zh-CN"/>
              <a:t>"SAPG </a:t>
            </a:r>
            <a:r>
              <a:rPr lang="zh-CN" altLang="en-US"/>
              <a:t>原样保留</a:t>
            </a:r>
            <a:r>
              <a:rPr lang="en-US" altLang="zh-CN"/>
              <a:t>"</a:t>
            </a:r>
            <a:r>
              <a:rPr lang="zh-CN" altLang="en-US"/>
              <a:t>加上</a:t>
            </a:r>
            <a:r>
              <a:rPr lang="en-US" altLang="zh-CN"/>
              <a:t>"</a:t>
            </a:r>
            <a:r>
              <a:rPr lang="zh-CN" altLang="en-US"/>
              <a:t>一个额外的前向</a:t>
            </a:r>
            <a:r>
              <a:rPr lang="en-US" altLang="zh-CN"/>
              <a:t> KL </a:t>
            </a:r>
            <a:r>
              <a:rPr lang="zh-CN" altLang="en-US"/>
              <a:t>正则项</a:t>
            </a:r>
            <a:r>
              <a:rPr lang="en-US" altLang="zh-CN"/>
              <a:t>"</a:t>
            </a:r>
            <a:r>
              <a:rPr lang="zh-CN" altLang="en-US"/>
              <a:t>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总目标的公式里，</a:t>
            </a:r>
            <a:r>
              <a:rPr lang="zh-CN" altLang="en-US"/>
              <a:t>左边这一项表示</a:t>
            </a:r>
            <a:r>
              <a:rPr lang="en-US" altLang="zh-CN"/>
              <a:t> SAPG </a:t>
            </a:r>
            <a:r>
              <a:rPr lang="zh-CN" altLang="en-US"/>
              <a:t>的全部原始目标。参数</a:t>
            </a:r>
            <a:r>
              <a:rPr lang="en-US" altLang="zh-CN"/>
              <a:t> j </a:t>
            </a:r>
            <a:r>
              <a:rPr lang="zh-CN" altLang="en-US"/>
              <a:t>表示这一轮被随机抽中、贡献</a:t>
            </a:r>
            <a:r>
              <a:rPr lang="en-US" altLang="zh-CN"/>
              <a:t> off-policy </a:t>
            </a:r>
            <a:r>
              <a:rPr lang="zh-CN" altLang="en-US"/>
              <a:t>数据的那个</a:t>
            </a:r>
            <a:r>
              <a:rPr lang="en-US" altLang="zh-CN"/>
              <a:t> follower </a:t>
            </a:r>
            <a:r>
              <a:rPr lang="zh-CN" altLang="en-US"/>
              <a:t>的索引。</a:t>
            </a:r>
            <a:r>
              <a:rPr lang="en-US" altLang="zh-CN"/>
              <a:t>SAPG </a:t>
            </a:r>
            <a:r>
              <a:rPr lang="zh-CN" altLang="en-US"/>
              <a:t>每轮只抽一个</a:t>
            </a:r>
            <a:r>
              <a:rPr lang="en-US" altLang="zh-CN"/>
              <a:t> follower</a:t>
            </a:r>
            <a:r>
              <a:rPr lang="zh-CN" altLang="en-US"/>
              <a:t>，并非全部。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接下来讲解</a:t>
            </a:r>
            <a:r>
              <a:rPr lang="en-US" altLang="zh-CN"/>
              <a:t>ppo</a:t>
            </a:r>
            <a:r>
              <a:rPr lang="zh-CN" altLang="en-US"/>
              <a:t>和</a:t>
            </a:r>
            <a:r>
              <a:rPr lang="en-US" altLang="zh-CN"/>
              <a:t>sapg</a:t>
            </a:r>
            <a:endParaRPr lang="en-US" altLang="zh-CN"/>
          </a:p>
          <a:p>
            <a:r>
              <a:rPr lang="zh-CN" altLang="en-US"/>
              <a:t>先从</a:t>
            </a:r>
            <a:r>
              <a:rPr lang="en-US" altLang="zh-CN"/>
              <a:t> PPO </a:t>
            </a:r>
            <a:r>
              <a:rPr lang="zh-CN" altLang="en-US"/>
              <a:t>开始，因为它是所有方法的共同底座。</a:t>
            </a:r>
            <a:endParaRPr lang="zh-CN" altLang="en-US"/>
          </a:p>
          <a:p>
            <a:r>
              <a:rPr lang="en-US" altLang="zh-CN"/>
              <a:t>PPO </a:t>
            </a:r>
            <a:r>
              <a:rPr lang="zh-CN" altLang="en-US"/>
              <a:t>的核心机制大家都熟悉，用裁剪把重要性采样比值限制在一个区间里。</a:t>
            </a:r>
            <a:r>
              <a:rPr lang="en-US" altLang="zh-CN"/>
              <a:t>PO </a:t>
            </a:r>
            <a:r>
              <a:rPr lang="zh-CN" altLang="en-US"/>
              <a:t>为什么要这么做。重要性采样校正能让策略梯度在理论上无偏，但代价是比值本身的方差可能无界。</a:t>
            </a:r>
            <a:r>
              <a:rPr lang="en-US" altLang="zh-CN"/>
              <a:t>PPO </a:t>
            </a:r>
            <a:r>
              <a:rPr lang="zh-CN" altLang="en-US"/>
              <a:t>的选择是主动把比值限制住，也就是说，它是有意地用一点偏差去换取方差可控。这个权衡是理解整篇论文的关键。</a:t>
            </a:r>
            <a:endParaRPr lang="zh-CN" altLang="en-US"/>
          </a:p>
          <a:p>
            <a:r>
              <a:rPr lang="zh-CN" altLang="en-US"/>
              <a:t>关键在于，在标准</a:t>
            </a:r>
            <a:r>
              <a:rPr lang="en-US" altLang="zh-CN"/>
              <a:t> PPO </a:t>
            </a:r>
            <a:r>
              <a:rPr lang="zh-CN" altLang="en-US"/>
              <a:t>里，这个裁剪实际上很少被触发。为什么？因为比值是当前策略除以更新前的自己，分母就是上一轮迭代的自己，新旧差别很小，比值天然接近</a:t>
            </a:r>
            <a:r>
              <a:rPr lang="en-US" altLang="zh-CN"/>
              <a:t> 1</a:t>
            </a:r>
            <a:r>
              <a:rPr lang="zh-CN" altLang="en-US"/>
              <a:t>。所以裁剪引入的偏差通常可以忽略，大家也就习以为常了。</a:t>
            </a:r>
            <a:endParaRPr lang="zh-CN" altLang="en-US"/>
          </a:p>
          <a:p>
            <a:r>
              <a:rPr lang="zh-CN" altLang="en-US"/>
              <a:t>但集成的</a:t>
            </a:r>
            <a:r>
              <a:rPr lang="en-US" altLang="zh-CN"/>
              <a:t> off-policy </a:t>
            </a:r>
            <a:r>
              <a:rPr lang="zh-CN" altLang="en-US"/>
              <a:t>场景完全改变了这一点。</a:t>
            </a:r>
            <a:r>
              <a:rPr lang="en-US" altLang="zh-CN"/>
              <a:t> </a:t>
            </a:r>
            <a:r>
              <a:rPr lang="zh-CN" altLang="en-US"/>
              <a:t>分母不再是自己，而是另一个策略</a:t>
            </a:r>
            <a:r>
              <a:rPr lang="en-US" altLang="zh-CN"/>
              <a:t>——</a:t>
            </a:r>
            <a:r>
              <a:rPr lang="zh-CN" altLang="en-US"/>
              <a:t>在</a:t>
            </a:r>
            <a:r>
              <a:rPr lang="en-US" altLang="zh-CN"/>
              <a:t> SAPG </a:t>
            </a:r>
            <a:r>
              <a:rPr lang="zh-CN" altLang="en-US"/>
              <a:t>和</a:t>
            </a:r>
            <a:r>
              <a:rPr lang="en-US" altLang="zh-CN"/>
              <a:t> CPO </a:t>
            </a:r>
            <a:r>
              <a:rPr lang="zh-CN" altLang="en-US"/>
              <a:t>里就是某个</a:t>
            </a:r>
            <a:r>
              <a:rPr lang="en-US" altLang="zh-CN"/>
              <a:t> follower</a:t>
            </a:r>
            <a:r>
              <a:rPr lang="zh-CN" altLang="en-US"/>
              <a:t>。两个独立演化的策略之间的比值天然就大，裁剪会被大量触发。这正是命题二：</a:t>
            </a:r>
            <a:r>
              <a:rPr lang="en-US" altLang="zh-CN"/>
              <a:t>PPO </a:t>
            </a:r>
            <a:r>
              <a:rPr lang="zh-CN" altLang="en-US"/>
              <a:t>这套原本够用的机制，在集成场景下失效了。</a:t>
            </a:r>
            <a:endParaRPr lang="zh-CN" altLang="en-US"/>
          </a:p>
          <a:p>
            <a:r>
              <a:rPr lang="zh-CN" altLang="en-US"/>
              <a:t>最后是本文对</a:t>
            </a:r>
            <a:r>
              <a:rPr lang="en-US" altLang="zh-CN"/>
              <a:t> PPO </a:t>
            </a:r>
            <a:r>
              <a:rPr lang="zh-CN" altLang="en-US"/>
              <a:t>基线做的唯一改动，这个改动体现了实验的公平性：作者把每个</a:t>
            </a:r>
            <a:r>
              <a:rPr lang="en-US" altLang="zh-CN"/>
              <a:t> epoch </a:t>
            </a:r>
            <a:r>
              <a:rPr lang="zh-CN" altLang="en-US"/>
              <a:t>采集的样本量放大到</a:t>
            </a:r>
            <a:r>
              <a:rPr lang="en-US" altLang="zh-CN"/>
              <a:t> horizon </a:t>
            </a:r>
            <a:r>
              <a:rPr lang="zh-CN" altLang="en-US"/>
              <a:t>乘以</a:t>
            </a:r>
            <a:r>
              <a:rPr lang="en-US" altLang="zh-CN"/>
              <a:t> N</a:t>
            </a:r>
            <a:r>
              <a:rPr lang="zh-CN" altLang="en-US"/>
              <a:t>，</a:t>
            </a:r>
            <a:r>
              <a:rPr lang="en-US" altLang="zh-CN"/>
              <a:t>N </a:t>
            </a:r>
            <a:r>
              <a:rPr lang="zh-CN" altLang="en-US"/>
              <a:t>是</a:t>
            </a:r>
            <a:r>
              <a:rPr lang="en-US" altLang="zh-CN"/>
              <a:t> 24576</a:t>
            </a:r>
            <a:r>
              <a:rPr lang="zh-CN" altLang="en-US"/>
              <a:t>，让单策略</a:t>
            </a:r>
            <a:r>
              <a:rPr lang="en-US" altLang="zh-CN"/>
              <a:t> PPO </a:t>
            </a:r>
            <a:r>
              <a:rPr lang="zh-CN" altLang="en-US"/>
              <a:t>也享受同等的数据吞吐。这样做的目的是避免一种质疑</a:t>
            </a:r>
            <a:r>
              <a:rPr lang="en-US" altLang="zh-CN"/>
              <a:t>——SAPG </a:t>
            </a:r>
            <a:r>
              <a:rPr lang="zh-CN" altLang="en-US"/>
              <a:t>赢了，会不会只是因为它数据更多，而不是机制更好？把数据吞吐对齐之后，比较才是有意义的。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zh-CN"/>
              <a:t>SAPG </a:t>
            </a:r>
            <a:r>
              <a:rPr lang="zh-CN" altLang="en-US"/>
              <a:t>是这次对比里最重要的一个，它是</a:t>
            </a:r>
            <a:r>
              <a:rPr lang="en-US" altLang="zh-CN"/>
              <a:t> CPO </a:t>
            </a:r>
            <a:r>
              <a:rPr lang="zh-CN" altLang="en-US"/>
              <a:t>的直接母体，也是理解本文的前提。</a:t>
            </a:r>
            <a:endParaRPr lang="zh-CN" altLang="en-US"/>
          </a:p>
          <a:p>
            <a:r>
              <a:rPr lang="zh-CN" altLang="en-US"/>
              <a:t>先看架构。</a:t>
            </a:r>
            <a:r>
              <a:rPr lang="en-US" altLang="zh-CN"/>
              <a:t>24576 </a:t>
            </a:r>
            <a:r>
              <a:rPr lang="zh-CN" altLang="en-US"/>
              <a:t>个环境被切成</a:t>
            </a:r>
            <a:r>
              <a:rPr lang="en-US" altLang="zh-CN"/>
              <a:t> 6 </a:t>
            </a:r>
            <a:r>
              <a:rPr lang="zh-CN" altLang="en-US"/>
              <a:t>个</a:t>
            </a:r>
            <a:r>
              <a:rPr lang="en-US" altLang="zh-CN"/>
              <a:t> block</a:t>
            </a:r>
            <a:r>
              <a:rPr lang="zh-CN" altLang="en-US"/>
              <a:t>，</a:t>
            </a:r>
            <a:r>
              <a:rPr lang="en-US" altLang="zh-CN"/>
              <a:t>1 </a:t>
            </a:r>
            <a:r>
              <a:rPr lang="zh-CN" altLang="en-US"/>
              <a:t>个</a:t>
            </a:r>
            <a:r>
              <a:rPr lang="en-US" altLang="zh-CN"/>
              <a:t> leader </a:t>
            </a:r>
            <a:r>
              <a:rPr lang="zh-CN" altLang="en-US"/>
              <a:t>加</a:t>
            </a:r>
            <a:r>
              <a:rPr lang="en-US" altLang="zh-CN"/>
              <a:t> 5 </a:t>
            </a:r>
            <a:r>
              <a:rPr lang="zh-CN" altLang="en-US"/>
              <a:t>个</a:t>
            </a:r>
            <a:r>
              <a:rPr lang="en-US" altLang="zh-CN"/>
              <a:t> follower </a:t>
            </a:r>
            <a:r>
              <a:rPr lang="zh-CN" altLang="en-US"/>
              <a:t>各占一块，另外</a:t>
            </a:r>
            <a:r>
              <a:rPr lang="en-US" altLang="zh-CN"/>
              <a:t> leader </a:t>
            </a:r>
            <a:r>
              <a:rPr lang="zh-CN" altLang="en-US"/>
              <a:t>还同时充当价值函数，供</a:t>
            </a:r>
            <a:r>
              <a:rPr lang="en-US" altLang="zh-CN"/>
              <a:t> follower </a:t>
            </a:r>
            <a:r>
              <a:rPr lang="zh-CN" altLang="en-US"/>
              <a:t>借用。</a:t>
            </a:r>
            <a:endParaRPr lang="zh-CN" altLang="en-US"/>
          </a:p>
          <a:p>
            <a:r>
              <a:rPr lang="zh-CN" altLang="en-US"/>
              <a:t>再看更新规则，一共三条。第一条，</a:t>
            </a:r>
            <a:r>
              <a:rPr lang="en-US" altLang="zh-CN"/>
              <a:t>leader </a:t>
            </a:r>
            <a:r>
              <a:rPr lang="zh-CN" altLang="en-US"/>
              <a:t>的更新混合两类样本：一类是</a:t>
            </a:r>
            <a:r>
              <a:rPr lang="en-US" altLang="zh-CN"/>
              <a:t> on-policy </a:t>
            </a:r>
            <a:r>
              <a:rPr lang="zh-CN" altLang="en-US"/>
              <a:t>的，比值是</a:t>
            </a:r>
            <a:r>
              <a:rPr lang="en-US" altLang="zh-CN"/>
              <a:t> leader </a:t>
            </a:r>
            <a:r>
              <a:rPr lang="zh-CN" altLang="en-US"/>
              <a:t>除以上一轮的</a:t>
            </a:r>
            <a:r>
              <a:rPr lang="en-US" altLang="zh-CN"/>
              <a:t> leader</a:t>
            </a:r>
            <a:r>
              <a:rPr lang="zh-CN" altLang="en-US"/>
              <a:t>，分母是自己，比值接近</a:t>
            </a:r>
            <a:r>
              <a:rPr lang="en-US" altLang="zh-CN"/>
              <a:t> 1</a:t>
            </a:r>
            <a:r>
              <a:rPr lang="zh-CN" altLang="en-US"/>
              <a:t>，是安全的；另一类是</a:t>
            </a:r>
            <a:r>
              <a:rPr lang="en-US" altLang="zh-CN"/>
              <a:t> off-policy </a:t>
            </a:r>
            <a:r>
              <a:rPr lang="zh-CN" altLang="en-US"/>
              <a:t>的，比值是</a:t>
            </a:r>
            <a:r>
              <a:rPr lang="en-US" altLang="zh-CN"/>
              <a:t> leader </a:t>
            </a:r>
            <a:r>
              <a:rPr lang="zh-CN" altLang="en-US"/>
              <a:t>除以某个</a:t>
            </a:r>
            <a:r>
              <a:rPr lang="en-US" altLang="zh-CN"/>
              <a:t> follower </a:t>
            </a:r>
            <a:r>
              <a:rPr lang="zh-CN" altLang="en-US"/>
              <a:t>的上一轮策略，分母是另一个策略，这就是危险的来源。每一轮随机抽一个</a:t>
            </a:r>
            <a:r>
              <a:rPr lang="en-US" altLang="zh-CN"/>
              <a:t> follower </a:t>
            </a:r>
            <a:r>
              <a:rPr lang="zh-CN" altLang="en-US"/>
              <a:t>来贡献</a:t>
            </a:r>
            <a:r>
              <a:rPr lang="en-US" altLang="zh-CN"/>
              <a:t> off-policy </a:t>
            </a:r>
            <a:r>
              <a:rPr lang="zh-CN" altLang="en-US"/>
              <a:t>数据，随机采样是为了避免一次性引入全部异质数据。</a:t>
            </a:r>
            <a:endParaRPr lang="zh-CN" altLang="en-US"/>
          </a:p>
          <a:p>
            <a:r>
              <a:rPr lang="zh-CN" altLang="en-US"/>
              <a:t>第二条，</a:t>
            </a:r>
            <a:r>
              <a:rPr lang="en-US" altLang="zh-CN"/>
              <a:t>follower </a:t>
            </a:r>
            <a:r>
              <a:rPr lang="zh-CN" altLang="en-US"/>
              <a:t>的更新就是标准</a:t>
            </a:r>
            <a:r>
              <a:rPr lang="en-US" altLang="zh-CN"/>
              <a:t> PPO</a:t>
            </a:r>
            <a:r>
              <a:rPr lang="zh-CN" altLang="en-US"/>
              <a:t>，纯</a:t>
            </a:r>
            <a:r>
              <a:rPr lang="en-US" altLang="zh-CN"/>
              <a:t> on-policy</a:t>
            </a:r>
            <a:r>
              <a:rPr lang="zh-CN" altLang="en-US"/>
              <a:t>，比值接近</a:t>
            </a:r>
            <a:r>
              <a:rPr lang="en-US" altLang="zh-CN"/>
              <a:t> 1</a:t>
            </a:r>
            <a:r>
              <a:rPr lang="zh-CN" altLang="en-US"/>
              <a:t>，没有问题。第三条，熵正则，对所有策略加熵奖励，鼓励探索。</a:t>
            </a:r>
            <a:endParaRPr lang="zh-CN" altLang="en-US"/>
          </a:p>
          <a:p>
            <a:r>
              <a:rPr lang="zh-CN" altLang="en-US"/>
              <a:t>那么</a:t>
            </a:r>
            <a:r>
              <a:rPr lang="en-US" altLang="zh-CN"/>
              <a:t> SAPG </a:t>
            </a:r>
            <a:r>
              <a:rPr lang="zh-CN" altLang="en-US"/>
              <a:t>的致命缺陷在于它没有任何机制去控制</a:t>
            </a:r>
            <a:r>
              <a:rPr lang="en-US" altLang="zh-CN"/>
              <a:t> leader </a:t>
            </a:r>
            <a:r>
              <a:rPr lang="zh-CN" altLang="en-US"/>
              <a:t>和</a:t>
            </a:r>
            <a:r>
              <a:rPr lang="en-US" altLang="zh-CN"/>
              <a:t> follower </a:t>
            </a:r>
            <a:r>
              <a:rPr lang="zh-CN" altLang="en-US"/>
              <a:t>之间的距离。熵正则只鼓励</a:t>
            </a:r>
            <a:r>
              <a:rPr lang="en-US" altLang="zh-CN"/>
              <a:t>"</a:t>
            </a:r>
            <a:r>
              <a:rPr lang="zh-CN" altLang="en-US"/>
              <a:t>每个策略自身更随机</a:t>
            </a:r>
            <a:r>
              <a:rPr lang="en-US" altLang="zh-CN"/>
              <a:t>"</a:t>
            </a:r>
            <a:r>
              <a:rPr lang="zh-CN" altLang="en-US"/>
              <a:t>，它不约束</a:t>
            </a:r>
            <a:r>
              <a:rPr lang="en-US" altLang="zh-CN"/>
              <a:t>"</a:t>
            </a:r>
            <a:r>
              <a:rPr lang="zh-CN" altLang="en-US"/>
              <a:t>策略彼此有多近</a:t>
            </a:r>
            <a:r>
              <a:rPr lang="en-US" altLang="zh-CN"/>
              <a:t>"</a:t>
            </a:r>
            <a:r>
              <a:rPr lang="zh-CN" altLang="en-US"/>
              <a:t>。于是</a:t>
            </a:r>
            <a:r>
              <a:rPr lang="en-US" altLang="zh-CN"/>
              <a:t> follower </a:t>
            </a:r>
            <a:r>
              <a:rPr lang="zh-CN" altLang="en-US"/>
              <a:t>会自由漂移，</a:t>
            </a:r>
            <a:r>
              <a:rPr lang="en-US" altLang="zh-CN"/>
              <a:t>off-policy </a:t>
            </a:r>
            <a:r>
              <a:rPr lang="zh-CN" altLang="en-US"/>
              <a:t>比值越来越远离</a:t>
            </a:r>
            <a:r>
              <a:rPr lang="en-US" altLang="zh-CN"/>
              <a:t> 1</a:t>
            </a:r>
            <a:r>
              <a:rPr lang="zh-CN" altLang="en-US"/>
              <a:t>。</a:t>
            </a:r>
            <a:endParaRPr lang="zh-CN" altLang="en-US"/>
          </a:p>
          <a:p>
            <a:r>
              <a:rPr lang="zh-CN" altLang="en-US"/>
              <a:t>后果就落在命题一和命题二上：</a:t>
            </a:r>
            <a:r>
              <a:rPr lang="en-US" altLang="zh-CN"/>
              <a:t>leader </a:t>
            </a:r>
            <a:r>
              <a:rPr lang="zh-CN" altLang="en-US"/>
              <a:t>的</a:t>
            </a:r>
            <a:r>
              <a:rPr lang="en-US" altLang="zh-CN"/>
              <a:t> off-policy </a:t>
            </a:r>
            <a:r>
              <a:rPr lang="zh-CN" altLang="en-US"/>
              <a:t>更新里大量样本被裁剪，梯度偏差变大，同时有效样本量变低。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实验的设置如图所示，其中有一个概念</a:t>
            </a:r>
            <a:r>
              <a:rPr lang="zh-CN" altLang="en-US"/>
              <a:t>稠密奖励</a:t>
            </a:r>
            <a:endParaRPr lang="zh-CN" altLang="en-US"/>
          </a:p>
          <a:p>
            <a:r>
              <a:rPr lang="zh-CN" altLang="en-US">
                <a:sym typeface="+mn-ea"/>
              </a:rPr>
              <a:t>稠密奖励：几乎每个时间步都能拿到一个有意义的反馈。</a:t>
            </a:r>
            <a:endParaRPr lang="en-US" altLang="zh-CN"/>
          </a:p>
          <a:p>
            <a:r>
              <a:rPr lang="zh-CN" altLang="en-US">
                <a:sym typeface="+mn-ea"/>
              </a:rPr>
              <a:t>与之相对的</a:t>
            </a:r>
            <a:r>
              <a:rPr lang="zh-CN" altLang="en-US">
                <a:sym typeface="+mn-ea"/>
              </a:rPr>
              <a:t>是稀疏奖励（</a:t>
            </a:r>
            <a:r>
              <a:rPr lang="en-US" altLang="zh-CN">
                <a:sym typeface="+mn-ea"/>
              </a:rPr>
              <a:t>sparse reward</a:t>
            </a:r>
            <a:r>
              <a:rPr lang="zh-CN" altLang="en-US">
                <a:sym typeface="+mn-ea"/>
              </a:rPr>
              <a:t>）：绝大多数时间步奖励都是</a:t>
            </a:r>
            <a:r>
              <a:rPr lang="en-US" altLang="zh-CN">
                <a:sym typeface="+mn-ea"/>
              </a:rPr>
              <a:t> 0</a:t>
            </a:r>
            <a:r>
              <a:rPr lang="zh-CN" altLang="en-US">
                <a:sym typeface="+mn-ea"/>
              </a:rPr>
              <a:t>，只有达成目标那一刻才给一个非零值。</a:t>
            </a:r>
            <a:endParaRPr lang="zh-CN" altLang="en-US"/>
          </a:p>
          <a:p>
            <a:r>
              <a:rPr lang="zh-CN" altLang="en-US"/>
              <a:t>稠密奖励像是学走路时每一步都有教练说</a:t>
            </a:r>
            <a:r>
              <a:rPr lang="en-US" altLang="zh-CN"/>
              <a:t>"</a:t>
            </a:r>
            <a:r>
              <a:rPr lang="zh-CN" altLang="en-US"/>
              <a:t>这次比上次好一点还是差一点</a:t>
            </a:r>
            <a:r>
              <a:rPr lang="en-US" altLang="zh-CN"/>
              <a:t>"</a:t>
            </a:r>
            <a:r>
              <a:rPr lang="zh-CN" altLang="en-US"/>
              <a:t>；稀疏奖励像是走完全程才告诉你</a:t>
            </a:r>
            <a:r>
              <a:rPr lang="en-US" altLang="zh-CN"/>
              <a:t>"</a:t>
            </a:r>
            <a:r>
              <a:rPr lang="zh-CN" altLang="en-US"/>
              <a:t>过了</a:t>
            </a:r>
            <a:r>
              <a:rPr lang="en-US" altLang="zh-CN"/>
              <a:t>"</a:t>
            </a:r>
            <a:r>
              <a:rPr lang="zh-CN" altLang="en-US"/>
              <a:t>或</a:t>
            </a:r>
            <a:r>
              <a:rPr lang="en-US" altLang="zh-CN"/>
              <a:t>"</a:t>
            </a:r>
            <a:r>
              <a:rPr lang="zh-CN" altLang="en-US"/>
              <a:t>没过</a:t>
            </a:r>
            <a:r>
              <a:rPr lang="en-US" altLang="zh-CN"/>
              <a:t>"</a:t>
            </a:r>
            <a:r>
              <a:rPr lang="zh-CN" altLang="en-US"/>
              <a:t>。后者当然也能学会，但需要多得多的试错。</a:t>
            </a:r>
            <a:endParaRPr lang="zh-CN" altLang="en-US"/>
          </a:p>
          <a:p>
            <a:r>
              <a:rPr lang="en-US" altLang="zh-CN"/>
              <a:t>cpo</a:t>
            </a:r>
            <a:r>
              <a:rPr lang="zh-CN" altLang="en-US"/>
              <a:t>中注意所有任务都提供稠密奖励。</a:t>
            </a:r>
            <a:r>
              <a:rPr lang="zh-CN" altLang="en-US"/>
              <a:t>因为在稠密奖励下，</a:t>
            </a:r>
            <a:r>
              <a:rPr lang="en-US" altLang="zh-CN"/>
              <a:t>"</a:t>
            </a:r>
            <a:r>
              <a:rPr lang="zh-CN" altLang="en-US"/>
              <a:t>探索</a:t>
            </a:r>
            <a:r>
              <a:rPr lang="en-US" altLang="zh-CN"/>
              <a:t>"</a:t>
            </a:r>
            <a:r>
              <a:rPr lang="zh-CN" altLang="en-US"/>
              <a:t>通常不是主要瓶颈，因为每一步都有梯度信号引导。</a:t>
            </a:r>
            <a:endParaRPr lang="zh-CN" altLang="en-US"/>
          </a:p>
          <a:p>
            <a:r>
              <a:rPr lang="zh-CN" altLang="en-US"/>
              <a:t>这就引出了一个替代解释的疑问：</a:t>
            </a:r>
            <a:r>
              <a:rPr lang="en-US" altLang="zh-CN"/>
              <a:t>CPO </a:t>
            </a:r>
            <a:r>
              <a:rPr lang="zh-CN" altLang="en-US"/>
              <a:t>的收益，究竟来自</a:t>
            </a:r>
            <a:r>
              <a:rPr lang="en-US" altLang="zh-CN"/>
              <a:t>"</a:t>
            </a:r>
            <a:r>
              <a:rPr lang="zh-CN" altLang="en-US"/>
              <a:t>更好的探索</a:t>
            </a:r>
            <a:r>
              <a:rPr lang="en-US" altLang="zh-CN"/>
              <a:t>"</a:t>
            </a:r>
            <a:r>
              <a:rPr lang="zh-CN" altLang="en-US"/>
              <a:t>，还是来自</a:t>
            </a:r>
            <a:r>
              <a:rPr lang="en-US" altLang="zh-CN"/>
              <a:t>"</a:t>
            </a:r>
            <a:r>
              <a:rPr lang="zh-CN" altLang="en-US"/>
              <a:t>更稳的优化</a:t>
            </a:r>
            <a:r>
              <a:rPr lang="en-US" altLang="zh-CN"/>
              <a:t>"</a:t>
            </a:r>
            <a:r>
              <a:rPr lang="zh-CN" altLang="en-US"/>
              <a:t>？</a:t>
            </a:r>
            <a:endParaRPr lang="zh-CN" altLang="en-US"/>
          </a:p>
          <a:p>
            <a:r>
              <a:rPr lang="zh-CN" altLang="en-US"/>
              <a:t>它论证的其实是后者</a:t>
            </a:r>
            <a:r>
              <a:rPr lang="en-US" altLang="zh-CN"/>
              <a:t>——KL </a:t>
            </a:r>
            <a:r>
              <a:rPr lang="zh-CN" altLang="en-US"/>
              <a:t>约束提升的是有效样本量和降低梯度偏差，这属于优化的稳定性，而不是探索能力。所以全部采用的是</a:t>
            </a:r>
            <a:r>
              <a:rPr lang="zh-CN" altLang="en-US"/>
              <a:t>稠密奖励</a:t>
            </a:r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作者还测</a:t>
            </a:r>
            <a:r>
              <a:rPr lang="zh-CN" altLang="en-US"/>
              <a:t>了中间量</a:t>
            </a:r>
            <a:r>
              <a:rPr lang="en-US" altLang="zh-CN"/>
              <a:t>——</a:t>
            </a:r>
            <a:r>
              <a:rPr lang="zh-CN" altLang="en-US"/>
              <a:t>有效样本量，也就是</a:t>
            </a:r>
            <a:r>
              <a:rPr lang="en-US" altLang="zh-CN"/>
              <a:t> ESS</a:t>
            </a:r>
            <a:r>
              <a:rPr lang="zh-CN" altLang="en-US"/>
              <a:t>。</a:t>
            </a:r>
            <a:endParaRPr lang="zh-CN" altLang="en-US"/>
          </a:p>
          <a:p>
            <a:r>
              <a:rPr lang="en-US" altLang="zh-CN"/>
              <a:t>ESS </a:t>
            </a:r>
            <a:r>
              <a:rPr lang="zh-CN" altLang="en-US"/>
              <a:t>就是衡量</a:t>
            </a:r>
            <a:r>
              <a:rPr lang="en-US" altLang="zh-CN"/>
              <a:t>"</a:t>
            </a:r>
            <a:r>
              <a:rPr lang="zh-CN" altLang="en-US"/>
              <a:t>等效于多少个均匀样本</a:t>
            </a:r>
            <a:r>
              <a:rPr lang="en-US" altLang="zh-CN"/>
              <a:t>"</a:t>
            </a:r>
            <a:r>
              <a:rPr lang="zh-CN" altLang="en-US"/>
              <a:t>的指标，越接近</a:t>
            </a:r>
            <a:r>
              <a:rPr lang="en-US" altLang="zh-CN"/>
              <a:t> 1 </a:t>
            </a:r>
            <a:r>
              <a:rPr lang="zh-CN" altLang="en-US"/>
              <a:t>说明样本利用越充分。</a:t>
            </a:r>
            <a:endParaRPr lang="zh-CN" altLang="en-US"/>
          </a:p>
          <a:p>
            <a:r>
              <a:rPr lang="zh-CN" altLang="en-US"/>
              <a:t>图中红蓝两条线是作者在两个不同任务上分别计算</a:t>
            </a:r>
            <a:r>
              <a:rPr lang="en-US" altLang="zh-CN"/>
              <a:t>ess</a:t>
            </a:r>
            <a:endParaRPr lang="zh-CN" altLang="en-US"/>
          </a:p>
          <a:p>
            <a:r>
              <a:rPr lang="zh-CN" altLang="en-US"/>
              <a:t>结果非常显而易见：在两个任务上</a:t>
            </a:r>
            <a:r>
              <a:rPr lang="en-US" altLang="zh-CN"/>
              <a:t>SAPG </a:t>
            </a:r>
            <a:r>
              <a:rPr lang="zh-CN" altLang="en-US"/>
              <a:t>的</a:t>
            </a:r>
            <a:r>
              <a:rPr lang="en-US" altLang="zh-CN"/>
              <a:t> ESS Rate </a:t>
            </a:r>
            <a:r>
              <a:rPr lang="zh-CN" altLang="en-US"/>
              <a:t>只有</a:t>
            </a:r>
            <a:r>
              <a:rPr lang="en-US" altLang="zh-CN"/>
              <a:t> </a:t>
            </a:r>
            <a:r>
              <a:rPr lang="zh-CN" altLang="en-US"/>
              <a:t>个位数。</a:t>
            </a:r>
            <a:r>
              <a:rPr lang="en-US" altLang="zh-CN"/>
              <a:t> </a:t>
            </a:r>
            <a:r>
              <a:rPr lang="zh-CN" altLang="en-US"/>
              <a:t>这意味着什么？你有</a:t>
            </a:r>
            <a:r>
              <a:rPr lang="en-US" altLang="zh-CN"/>
              <a:t> 24576 </a:t>
            </a:r>
            <a:r>
              <a:rPr lang="zh-CN" altLang="en-US"/>
              <a:t>个并行环境，采集了两万多条轨迹，但有效样本量只有大约</a:t>
            </a:r>
            <a:r>
              <a:rPr lang="en-US" altLang="zh-CN"/>
              <a:t> </a:t>
            </a:r>
            <a:r>
              <a:rPr lang="zh-CN" altLang="en-US"/>
              <a:t>个位数。也就是说，绝大部分算力采集到的数据，在</a:t>
            </a:r>
            <a:r>
              <a:rPr lang="en-US" altLang="zh-CN"/>
              <a:t> leader </a:t>
            </a:r>
            <a:r>
              <a:rPr lang="zh-CN" altLang="en-US"/>
              <a:t>的更新里几乎不起作用都被裁剪</a:t>
            </a:r>
            <a:r>
              <a:rPr lang="zh-CN" altLang="en-US"/>
              <a:t>了，而</a:t>
            </a:r>
            <a:r>
              <a:rPr lang="en-US" altLang="zh-CN"/>
              <a:t> CPO </a:t>
            </a:r>
            <a:r>
              <a:rPr lang="zh-CN" altLang="en-US"/>
              <a:t>在两个任务上都显著更高。</a:t>
            </a:r>
            <a:endParaRPr lang="zh-CN" altLang="en-US"/>
          </a:p>
          <a:p>
            <a:r>
              <a:rPr lang="zh-CN" altLang="en-US"/>
              <a:t>这个数字解释了上一页所有的性能差距。它不是</a:t>
            </a:r>
            <a:r>
              <a:rPr lang="en-US" altLang="zh-CN"/>
              <a:t>"CPO </a:t>
            </a:r>
            <a:r>
              <a:rPr lang="zh-CN" altLang="en-US"/>
              <a:t>运气好</a:t>
            </a:r>
            <a:r>
              <a:rPr lang="en-US" altLang="zh-CN"/>
              <a:t>"</a:t>
            </a:r>
            <a:r>
              <a:rPr lang="zh-CN" altLang="en-US"/>
              <a:t>，而是</a:t>
            </a:r>
            <a:r>
              <a:rPr lang="en-US" altLang="zh-CN"/>
              <a:t> SAPG </a:t>
            </a:r>
            <a:r>
              <a:rPr lang="zh-CN" altLang="en-US"/>
              <a:t>在数据利用上存在系统性浪费</a:t>
            </a:r>
            <a:r>
              <a:rPr lang="en-US" altLang="zh-CN"/>
              <a:t>——</a:t>
            </a:r>
            <a:r>
              <a:rPr lang="zh-CN" altLang="en-US"/>
              <a:t>花了</a:t>
            </a:r>
            <a:r>
              <a:rPr lang="en-US" altLang="zh-CN"/>
              <a:t> 24576 </a:t>
            </a:r>
            <a:r>
              <a:rPr lang="zh-CN" altLang="en-US"/>
              <a:t>个环境的算力，实际只用到其中很小一部分。</a:t>
            </a:r>
            <a:endParaRPr lang="zh-CN" altLang="en-US"/>
          </a:p>
          <a:p>
            <a:r>
              <a:rPr lang="zh-CN" altLang="en-US"/>
              <a:t>更重要的是，右图</a:t>
            </a:r>
            <a:r>
              <a:rPr lang="en-US" altLang="zh-CN"/>
              <a:t> </a:t>
            </a:r>
            <a:r>
              <a:rPr lang="zh-CN" altLang="en-US"/>
              <a:t>还给出了</a:t>
            </a:r>
            <a:r>
              <a:rPr lang="en-US" altLang="zh-CN"/>
              <a:t> λf </a:t>
            </a:r>
            <a:r>
              <a:rPr lang="zh-CN" altLang="en-US"/>
              <a:t>的单调整性：当</a:t>
            </a:r>
            <a:r>
              <a:rPr lang="en-US" altLang="zh-CN"/>
              <a:t> λf </a:t>
            </a:r>
            <a:r>
              <a:rPr lang="zh-CN" altLang="en-US"/>
              <a:t>从</a:t>
            </a:r>
            <a:r>
              <a:rPr lang="en-US" altLang="zh-CN"/>
              <a:t> 0.5 </a:t>
            </a:r>
            <a:r>
              <a:rPr lang="zh-CN" altLang="en-US"/>
              <a:t>降到</a:t>
            </a:r>
            <a:r>
              <a:rPr lang="en-US" altLang="zh-CN"/>
              <a:t> 0.05 </a:t>
            </a:r>
            <a:r>
              <a:rPr lang="zh-CN" altLang="en-US"/>
              <a:t>时，重要性采样</a:t>
            </a:r>
            <a:r>
              <a:rPr lang="en-US" altLang="zh-CN"/>
              <a:t>is</a:t>
            </a:r>
            <a:r>
              <a:rPr lang="zh-CN" altLang="en-US"/>
              <a:t>的偏离从</a:t>
            </a:r>
            <a:r>
              <a:rPr lang="en-US" altLang="zh-CN"/>
              <a:t> 0.403 </a:t>
            </a:r>
            <a:r>
              <a:rPr lang="zh-CN" altLang="en-US"/>
              <a:t>单调降到</a:t>
            </a:r>
            <a:r>
              <a:rPr lang="en-US" altLang="zh-CN"/>
              <a:t> 0.187</a:t>
            </a:r>
            <a:r>
              <a:rPr lang="zh-CN" altLang="en-US"/>
              <a:t>，而有效样本</a:t>
            </a:r>
            <a:r>
              <a:rPr lang="en-US" altLang="zh-CN"/>
              <a:t> ESS </a:t>
            </a:r>
            <a:r>
              <a:rPr lang="zh-CN" altLang="en-US"/>
              <a:t>从</a:t>
            </a:r>
            <a:r>
              <a:rPr lang="en-US" altLang="zh-CN"/>
              <a:t> 0.763 </a:t>
            </a:r>
            <a:r>
              <a:rPr lang="zh-CN" altLang="en-US"/>
              <a:t>单调升到</a:t>
            </a:r>
            <a:r>
              <a:rPr lang="en-US" altLang="zh-CN"/>
              <a:t> 0.941</a:t>
            </a:r>
            <a:r>
              <a:rPr lang="zh-CN" altLang="en-US"/>
              <a:t>。</a:t>
            </a:r>
            <a:endParaRPr lang="zh-CN" altLang="en-US"/>
          </a:p>
          <a:p>
            <a:r>
              <a:rPr lang="zh-CN" altLang="en-US"/>
              <a:t>它正是命题一的直接验证。命题一说</a:t>
            </a:r>
            <a:r>
              <a:rPr lang="en-US" altLang="zh-CN"/>
              <a:t>"</a:t>
            </a:r>
            <a:r>
              <a:rPr lang="zh-CN" altLang="en-US"/>
              <a:t>重要性采样比</a:t>
            </a:r>
            <a:r>
              <a:rPr lang="en-US" altLang="zh-CN"/>
              <a:t>is</a:t>
            </a:r>
            <a:r>
              <a:rPr lang="zh-CN" altLang="en-US"/>
              <a:t>偏离越小则有效样本量</a:t>
            </a:r>
            <a:r>
              <a:rPr lang="en-US" altLang="zh-CN"/>
              <a:t> ESS </a:t>
            </a:r>
            <a:r>
              <a:rPr lang="zh-CN" altLang="en-US"/>
              <a:t>越大</a:t>
            </a:r>
            <a:r>
              <a:rPr lang="en-US" altLang="zh-CN"/>
              <a:t>"</a:t>
            </a:r>
            <a:r>
              <a:rPr lang="zh-CN" altLang="en-US"/>
              <a:t>，而这里通过调节</a:t>
            </a:r>
            <a:r>
              <a:rPr lang="en-US" altLang="zh-CN"/>
              <a:t> λf</a:t>
            </a:r>
            <a:r>
              <a:rPr lang="zh-CN" altLang="en-US"/>
              <a:t>，实测到了这个单调关系。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作者</a:t>
            </a:r>
            <a:r>
              <a:rPr lang="zh-CN" altLang="en-US"/>
              <a:t>还把各个策略两两之间的</a:t>
            </a:r>
            <a:r>
              <a:rPr lang="en-US" altLang="zh-CN"/>
              <a:t> KL </a:t>
            </a:r>
            <a:r>
              <a:rPr lang="zh-CN" altLang="en-US"/>
              <a:t>散度画成热力图，然后在每个</a:t>
            </a:r>
            <a:r>
              <a:rPr lang="en-US" altLang="zh-CN"/>
              <a:t> follower </a:t>
            </a:r>
            <a:r>
              <a:rPr lang="zh-CN" altLang="en-US"/>
              <a:t>的位置上，用白圈标出它距离最近的另一个策略是谁。</a:t>
            </a:r>
            <a:endParaRPr lang="zh-CN" altLang="en-US"/>
          </a:p>
          <a:p>
            <a:r>
              <a:rPr lang="zh-CN" altLang="en-US"/>
              <a:t>在左侧是</a:t>
            </a:r>
            <a:r>
              <a:rPr lang="en-US" altLang="zh-CN"/>
              <a:t> SAPG </a:t>
            </a:r>
            <a:r>
              <a:rPr lang="zh-CN" altLang="en-US"/>
              <a:t>里，这个结构是乱的，最近邻关系不成规律，反映了</a:t>
            </a:r>
            <a:r>
              <a:rPr lang="en-US" altLang="zh-CN"/>
              <a:t> follower </a:t>
            </a:r>
            <a:r>
              <a:rPr lang="zh-CN" altLang="en-US"/>
              <a:t>的自由漂移。但在</a:t>
            </a:r>
            <a:r>
              <a:rPr lang="en-US" altLang="zh-CN"/>
              <a:t> CPO </a:t>
            </a:r>
            <a:r>
              <a:rPr lang="zh-CN" altLang="en-US"/>
              <a:t>里，出现了一个非常整齐的结构：</a:t>
            </a:r>
            <a:r>
              <a:rPr lang="en-US" altLang="zh-CN"/>
              <a:t>leader </a:t>
            </a:r>
            <a:r>
              <a:rPr lang="zh-CN" altLang="en-US"/>
              <a:t>稳定地成为每一个</a:t>
            </a:r>
            <a:r>
              <a:rPr lang="en-US" altLang="zh-CN"/>
              <a:t> follower </a:t>
            </a:r>
            <a:r>
              <a:rPr lang="zh-CN" altLang="en-US"/>
              <a:t>的最近邻。</a:t>
            </a:r>
            <a:endParaRPr lang="zh-CN" altLang="en-US"/>
          </a:p>
          <a:p>
            <a:r>
              <a:rPr lang="zh-CN" altLang="en-US"/>
              <a:t>很有意思的一个点是。作者并没有任何一条机制显式地要求</a:t>
            </a:r>
            <a:r>
              <a:rPr lang="en-US" altLang="zh-CN"/>
              <a:t>"</a:t>
            </a:r>
            <a:r>
              <a:rPr lang="zh-CN" altLang="en-US"/>
              <a:t>让</a:t>
            </a:r>
            <a:r>
              <a:rPr lang="en-US" altLang="zh-CN"/>
              <a:t> leader </a:t>
            </a:r>
            <a:r>
              <a:rPr lang="zh-CN" altLang="en-US"/>
              <a:t>当中心</a:t>
            </a:r>
            <a:r>
              <a:rPr lang="en-US" altLang="zh-CN"/>
              <a:t>"</a:t>
            </a:r>
            <a:r>
              <a:rPr lang="zh-CN" altLang="en-US"/>
              <a:t>。</a:t>
            </a:r>
            <a:r>
              <a:rPr lang="en-US" altLang="zh-CN"/>
              <a:t>KL </a:t>
            </a:r>
            <a:r>
              <a:rPr lang="zh-CN" altLang="en-US"/>
              <a:t>约束的写法是</a:t>
            </a:r>
            <a:r>
              <a:rPr lang="en-US" altLang="zh-CN"/>
              <a:t>"</a:t>
            </a:r>
            <a:r>
              <a:rPr lang="zh-CN" altLang="en-US"/>
              <a:t>每个</a:t>
            </a:r>
            <a:r>
              <a:rPr lang="en-US" altLang="zh-CN"/>
              <a:t> follower </a:t>
            </a:r>
            <a:r>
              <a:rPr lang="zh-CN" altLang="en-US"/>
              <a:t>到</a:t>
            </a:r>
            <a:r>
              <a:rPr lang="en-US" altLang="zh-CN"/>
              <a:t> leader </a:t>
            </a:r>
            <a:r>
              <a:rPr lang="zh-CN" altLang="en-US"/>
              <a:t>的距离不超过阈值</a:t>
            </a:r>
            <a:r>
              <a:rPr lang="en-US" altLang="zh-CN"/>
              <a:t>"——</a:t>
            </a:r>
            <a:r>
              <a:rPr lang="zh-CN" altLang="en-US"/>
              <a:t>这看起来像是一个放射状的、以</a:t>
            </a:r>
            <a:r>
              <a:rPr lang="en-US" altLang="zh-CN"/>
              <a:t> leader </a:t>
            </a:r>
            <a:r>
              <a:rPr lang="zh-CN" altLang="en-US"/>
              <a:t>为中心的约束。被约束的是</a:t>
            </a:r>
            <a:r>
              <a:rPr lang="en-US" altLang="zh-CN"/>
              <a:t> follower </a:t>
            </a:r>
            <a:r>
              <a:rPr lang="zh-CN" altLang="en-US"/>
              <a:t>到</a:t>
            </a:r>
            <a:r>
              <a:rPr lang="en-US" altLang="zh-CN"/>
              <a:t> leader </a:t>
            </a:r>
            <a:r>
              <a:rPr lang="zh-CN" altLang="en-US"/>
              <a:t>的距离，并没有约束</a:t>
            </a:r>
            <a:r>
              <a:rPr lang="en-US" altLang="zh-CN"/>
              <a:t> follower </a:t>
            </a:r>
            <a:r>
              <a:rPr lang="zh-CN" altLang="en-US"/>
              <a:t>之间要最靠近</a:t>
            </a:r>
            <a:r>
              <a:rPr lang="en-US" altLang="zh-CN"/>
              <a:t>leader</a:t>
            </a:r>
            <a:r>
              <a:rPr lang="zh-CN" altLang="en-US"/>
              <a:t>。然而最终涌现出来的，是一个完整的星形结构，每一个</a:t>
            </a:r>
            <a:r>
              <a:rPr lang="en-US" altLang="zh-CN"/>
              <a:t>follower</a:t>
            </a:r>
            <a:r>
              <a:rPr lang="zh-CN" altLang="en-US"/>
              <a:t>靠的最近的策略都是</a:t>
            </a:r>
            <a:r>
              <a:rPr lang="en-US" altLang="zh-CN"/>
              <a:t>leader</a:t>
            </a:r>
            <a:endParaRPr lang="zh-CN" altLang="en-US"/>
          </a:p>
          <a:p>
            <a:r>
              <a:rPr lang="zh-CN" altLang="en-US"/>
              <a:t>这说明</a:t>
            </a:r>
            <a:r>
              <a:rPr lang="en-US" altLang="zh-CN"/>
              <a:t> KL </a:t>
            </a:r>
            <a:r>
              <a:rPr lang="zh-CN" altLang="en-US"/>
              <a:t>约束的效应比它字面上的形式更强：它不仅限制了单个</a:t>
            </a:r>
            <a:r>
              <a:rPr lang="en-US" altLang="zh-CN"/>
              <a:t> follower </a:t>
            </a:r>
            <a:r>
              <a:rPr lang="zh-CN" altLang="en-US"/>
              <a:t>的漂移范围，还通过共同的锚点，间接地组织了整个策略群体的几何结构。</a:t>
            </a:r>
            <a:endParaRPr lang="zh-CN" altLang="en-US"/>
          </a:p>
          <a:p>
            <a:r>
              <a:rPr lang="zh-CN" altLang="en-US"/>
              <a:t>这个可视化本身也有方法论价值。它把</a:t>
            </a:r>
            <a:r>
              <a:rPr lang="en-US" altLang="zh-CN"/>
              <a:t>"</a:t>
            </a:r>
            <a:r>
              <a:rPr lang="zh-CN" altLang="en-US"/>
              <a:t>集成内部到底发生了什么</a:t>
            </a:r>
            <a:r>
              <a:rPr lang="en-US" altLang="zh-CN"/>
              <a:t>"</a:t>
            </a:r>
            <a:r>
              <a:rPr lang="zh-CN" altLang="en-US"/>
              <a:t>从黑箱变成了可视结构，而且可以在不看性能曲线的情况下诊断策略错位。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这一页是消融实验消融有两个变体</a:t>
            </a:r>
            <a:endParaRPr lang="zh-CN" altLang="en-US"/>
          </a:p>
          <a:p>
            <a:r>
              <a:rPr lang="zh-CN" altLang="en-US"/>
              <a:t>。第一个是去掉</a:t>
            </a:r>
            <a:r>
              <a:rPr lang="en-US" altLang="zh-CN"/>
              <a:t> KL </a:t>
            </a:r>
            <a:r>
              <a:rPr lang="zh-CN" altLang="en-US"/>
              <a:t>约束，就是把</a:t>
            </a:r>
            <a:r>
              <a:rPr lang="en-US" altLang="zh-CN"/>
              <a:t> β </a:t>
            </a:r>
            <a:r>
              <a:rPr lang="zh-CN" altLang="en-US"/>
              <a:t>设为</a:t>
            </a:r>
            <a:r>
              <a:rPr lang="en-US" altLang="zh-CN"/>
              <a:t> 0</a:t>
            </a:r>
            <a:r>
              <a:rPr lang="zh-CN" altLang="en-US"/>
              <a:t>。结果是性能明显下降，而且热力图显示</a:t>
            </a:r>
            <a:r>
              <a:rPr lang="en-US" altLang="zh-CN"/>
              <a:t> follower </a:t>
            </a:r>
            <a:r>
              <a:rPr lang="zh-CN" altLang="en-US"/>
              <a:t>显著错位。这个结果符合预期，它确认了</a:t>
            </a:r>
            <a:r>
              <a:rPr lang="en-US" altLang="zh-CN"/>
              <a:t> KL </a:t>
            </a:r>
            <a:r>
              <a:rPr lang="zh-CN" altLang="en-US"/>
              <a:t>约束是核心组件</a:t>
            </a:r>
            <a:r>
              <a:rPr lang="en-US" altLang="zh-CN"/>
              <a:t>——</a:t>
            </a:r>
            <a:r>
              <a:rPr lang="zh-CN" altLang="en-US"/>
              <a:t>去掉它，</a:t>
            </a:r>
            <a:r>
              <a:rPr lang="en-US" altLang="zh-CN"/>
              <a:t>CPO </a:t>
            </a:r>
            <a:r>
              <a:rPr lang="zh-CN" altLang="en-US"/>
              <a:t>就退化成了</a:t>
            </a:r>
            <a:r>
              <a:rPr lang="en-US" altLang="zh-CN"/>
              <a:t> SAPG </a:t>
            </a:r>
            <a:r>
              <a:rPr lang="zh-CN" altLang="en-US"/>
              <a:t>加上一个没用的对抗奖励。</a:t>
            </a:r>
            <a:endParaRPr lang="zh-CN" altLang="en-US"/>
          </a:p>
          <a:p>
            <a:r>
              <a:rPr lang="zh-CN" altLang="en-US"/>
              <a:t>第二个变体是去掉对抗奖励，就是把</a:t>
            </a:r>
            <a:r>
              <a:rPr lang="en-US" altLang="zh-CN"/>
              <a:t> λadv </a:t>
            </a:r>
            <a:r>
              <a:rPr lang="zh-CN" altLang="en-US"/>
              <a:t>设为</a:t>
            </a:r>
            <a:r>
              <a:rPr lang="en-US" altLang="zh-CN"/>
              <a:t> 0</a:t>
            </a:r>
            <a:r>
              <a:rPr lang="zh-CN" altLang="en-US"/>
              <a:t>。结果是：性能与完整</a:t>
            </a:r>
            <a:r>
              <a:rPr lang="en-US" altLang="zh-CN"/>
              <a:t> CPO </a:t>
            </a:r>
            <a:r>
              <a:rPr lang="zh-CN" altLang="en-US"/>
              <a:t>差别很小，仅仅降低了种子方差。</a:t>
            </a:r>
            <a:endParaRPr lang="zh-CN" altLang="en-US"/>
          </a:p>
          <a:p>
            <a:r>
              <a:rPr lang="zh-CN" altLang="en-US"/>
              <a:t>这个结果的含义是很严重的。对抗奖励是作为两大创新组件之一被提出的，摘要和引言里都把它和</a:t>
            </a:r>
            <a:r>
              <a:rPr lang="en-US" altLang="zh-CN"/>
              <a:t> KL </a:t>
            </a:r>
            <a:r>
              <a:rPr lang="zh-CN" altLang="en-US"/>
              <a:t>约束并列。但消融显示，去掉它几乎不影响性能。</a:t>
            </a:r>
            <a:endParaRPr lang="zh-CN" altLang="en-US"/>
          </a:p>
          <a:p>
            <a:r>
              <a:rPr lang="zh-CN" altLang="en-US"/>
              <a:t>作者自己承认，防止过度集中的目标</a:t>
            </a:r>
            <a:r>
              <a:rPr lang="en-US" altLang="zh-CN"/>
              <a:t>"</a:t>
            </a:r>
            <a:r>
              <a:rPr lang="zh-CN" altLang="en-US"/>
              <a:t>已由</a:t>
            </a:r>
            <a:r>
              <a:rPr lang="en-US" altLang="zh-CN"/>
              <a:t> KL </a:t>
            </a:r>
            <a:r>
              <a:rPr lang="zh-CN" altLang="en-US"/>
              <a:t>约束加熵正则达成</a:t>
            </a:r>
            <a:r>
              <a:rPr lang="en-US" altLang="zh-CN"/>
              <a:t>"</a:t>
            </a:r>
            <a:r>
              <a:rPr lang="zh-CN" altLang="en-US"/>
              <a:t>。换句话说通过</a:t>
            </a:r>
            <a:r>
              <a:rPr lang="en-US" altLang="zh-CN"/>
              <a:t>kl</a:t>
            </a:r>
            <a:r>
              <a:rPr lang="zh-CN" altLang="en-US"/>
              <a:t>约束后</a:t>
            </a:r>
            <a:r>
              <a:rPr lang="en-US" altLang="zh-CN"/>
              <a:t>follower </a:t>
            </a:r>
            <a:r>
              <a:rPr lang="zh-CN" altLang="en-US"/>
              <a:t>已经足够分散，和前面提到的</a:t>
            </a:r>
            <a:r>
              <a:rPr lang="en-US" altLang="zh-CN"/>
              <a:t>kl</a:t>
            </a:r>
            <a:r>
              <a:rPr lang="zh-CN" altLang="en-US"/>
              <a:t>约束</a:t>
            </a:r>
            <a:r>
              <a:rPr lang="zh-CN" altLang="en-US">
                <a:sym typeface="+mn-ea"/>
              </a:rPr>
              <a:t>效应比它字面上的形式更强</a:t>
            </a:r>
            <a:r>
              <a:rPr lang="zh-CN" altLang="en-US"/>
              <a:t>，</a:t>
            </a:r>
            <a:r>
              <a:rPr lang="zh-CN" altLang="en-US">
                <a:sym typeface="+mn-ea"/>
              </a:rPr>
              <a:t>还通过共同的锚点，间接地组织了整个策略群体的几何结构，从而导致</a:t>
            </a:r>
            <a:r>
              <a:rPr lang="zh-CN" altLang="en-US"/>
              <a:t>对抗奖励</a:t>
            </a:r>
            <a:r>
              <a:rPr lang="en-US" altLang="zh-CN"/>
              <a:t>"</a:t>
            </a:r>
            <a:r>
              <a:rPr lang="zh-CN" altLang="en-US"/>
              <a:t>无活可干</a:t>
            </a:r>
            <a:r>
              <a:rPr lang="en-US" altLang="zh-CN"/>
              <a:t>"</a:t>
            </a:r>
            <a:r>
              <a:rPr lang="zh-CN" altLang="en-US"/>
              <a:t>所以反而删去这个对抗奖励，基本上不会降低</a:t>
            </a:r>
            <a:r>
              <a:rPr lang="en-US" altLang="zh-CN"/>
              <a:t>cpo</a:t>
            </a:r>
            <a:r>
              <a:rPr lang="zh-CN" altLang="en-US"/>
              <a:t>的</a:t>
            </a:r>
            <a:r>
              <a:rPr lang="zh-CN" altLang="en-US"/>
              <a:t>性能。</a:t>
            </a:r>
            <a:endParaRPr lang="zh-CN" altLang="en-US"/>
          </a:p>
          <a:p>
            <a:r>
              <a:rPr lang="zh-CN" altLang="en-US"/>
              <a:t>为什么加这个对抗奖励，因为它有理论动机</a:t>
            </a:r>
            <a:r>
              <a:rPr lang="en-US" altLang="zh-CN"/>
              <a:t>——KL </a:t>
            </a:r>
            <a:r>
              <a:rPr lang="zh-CN" altLang="en-US"/>
              <a:t>约束确实会产生</a:t>
            </a:r>
            <a:r>
              <a:rPr lang="en-US" altLang="zh-CN"/>
              <a:t> overconcentration </a:t>
            </a:r>
            <a:r>
              <a:rPr lang="zh-CN" altLang="en-US"/>
              <a:t>的隐患，加一个针对性组件是合理的防御性设计。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我想指出最后这条的认知价值。它把</a:t>
            </a:r>
            <a:r>
              <a:rPr lang="en-US" altLang="zh-CN"/>
              <a:t>"</a:t>
            </a:r>
            <a:r>
              <a:rPr lang="zh-CN" altLang="en-US"/>
              <a:t>集成是为了多样性</a:t>
            </a:r>
            <a:r>
              <a:rPr lang="en-US" altLang="zh-CN"/>
              <a:t>"</a:t>
            </a:r>
            <a:r>
              <a:rPr lang="zh-CN" altLang="en-US"/>
              <a:t>这个被广泛接受的直觉，反转成了</a:t>
            </a:r>
            <a:r>
              <a:rPr lang="en-US" altLang="zh-CN"/>
              <a:t>"</a:t>
            </a:r>
            <a:r>
              <a:rPr lang="zh-CN" altLang="en-US"/>
              <a:t>集成的价值取决于对多样性的控制</a:t>
            </a:r>
            <a:r>
              <a:rPr lang="en-US" altLang="zh-CN"/>
              <a:t>"</a:t>
            </a:r>
            <a:r>
              <a:rPr lang="zh-CN" altLang="en-US"/>
              <a:t>。这个反转是有普遍意义的</a:t>
            </a:r>
            <a:r>
              <a:rPr lang="en-US" altLang="zh-CN"/>
              <a:t>——</a:t>
            </a:r>
            <a:r>
              <a:rPr lang="zh-CN" altLang="en-US"/>
              <a:t>它不只适用于强化学习的集成，任何用多个组件互相补充的系统，都面临</a:t>
            </a:r>
            <a:r>
              <a:rPr lang="en-US" altLang="zh-CN"/>
              <a:t>"</a:t>
            </a:r>
            <a:r>
              <a:rPr lang="zh-CN" altLang="en-US"/>
              <a:t>组件差异要多大</a:t>
            </a:r>
            <a:r>
              <a:rPr lang="en-US" altLang="zh-CN"/>
              <a:t>"</a:t>
            </a:r>
            <a:r>
              <a:rPr lang="zh-CN" altLang="en-US"/>
              <a:t>这个问题。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多计划集成与</a:t>
            </a:r>
            <a:r>
              <a:rPr lang="en-US" altLang="zh-CN" dirty="0"/>
              <a:t>"</a:t>
            </a:r>
            <a:r>
              <a:rPr lang="zh-CN" altLang="en-US" dirty="0"/>
              <a:t>多样性失控</a:t>
            </a:r>
            <a:r>
              <a:rPr lang="en-US" altLang="zh-CN" dirty="0"/>
              <a:t>"——</a:t>
            </a:r>
            <a:r>
              <a:rPr lang="zh-CN" altLang="en-US" dirty="0"/>
              <a:t>这是最直接的一条</a:t>
            </a:r>
            <a:endParaRPr lang="zh-CN" altLang="en-US" dirty="0"/>
          </a:p>
          <a:p>
            <a:r>
              <a:rPr lang="zh-CN" altLang="en-US" dirty="0"/>
              <a:t>放疗计划设计里有一个天然的多策略结构，而且已经在实践中存在了，只是没人用</a:t>
            </a:r>
            <a:r>
              <a:rPr lang="en-US" altLang="zh-CN" dirty="0"/>
              <a:t> RL </a:t>
            </a:r>
            <a:r>
              <a:rPr lang="zh-CN" altLang="en-US" dirty="0"/>
              <a:t>的语言描述它：</a:t>
            </a:r>
            <a:endParaRPr lang="zh-CN" altLang="en-US" dirty="0"/>
          </a:p>
          <a:p>
            <a:endParaRPr lang="en-US" altLang="zh-CN" dirty="0"/>
          </a:p>
          <a:p>
            <a:r>
              <a:rPr lang="zh-CN" altLang="en-US" dirty="0"/>
              <a:t>同一套靶区，不同物理师会做出不同的计划。即使同一个物理师，用不同初始权重、不同</a:t>
            </a:r>
            <a:r>
              <a:rPr lang="en-US" altLang="zh-CN" dirty="0"/>
              <a:t> beam </a:t>
            </a:r>
            <a:r>
              <a:rPr lang="zh-CN" altLang="en-US" dirty="0"/>
              <a:t>角度、不同优化算法（</a:t>
            </a:r>
            <a:r>
              <a:rPr lang="en-US" altLang="zh-CN" dirty="0"/>
              <a:t>PO</a:t>
            </a:r>
            <a:r>
              <a:rPr lang="zh-CN" altLang="en-US" dirty="0"/>
              <a:t>、</a:t>
            </a:r>
            <a:r>
              <a:rPr lang="en-US" altLang="zh-CN" dirty="0"/>
              <a:t>DMPO</a:t>
            </a:r>
            <a:r>
              <a:rPr lang="zh-CN" altLang="en-US" dirty="0"/>
              <a:t>、</a:t>
            </a:r>
            <a:r>
              <a:rPr lang="en-US" altLang="zh-CN" dirty="0"/>
              <a:t>MRT </a:t>
            </a:r>
            <a:r>
              <a:rPr lang="zh-CN" altLang="en-US" dirty="0"/>
              <a:t>等），也会收敛到不同的局部最优。这在数学上就是同一个逆向优化问题的多个局部解。</a:t>
            </a:r>
            <a:endParaRPr lang="zh-CN" altLang="en-US" dirty="0"/>
          </a:p>
          <a:p>
            <a:endParaRPr lang="en-US" altLang="zh-CN" dirty="0"/>
          </a:p>
          <a:p>
            <a:r>
              <a:rPr lang="zh-CN" altLang="en-US" dirty="0"/>
              <a:t>临床上的做法往往是</a:t>
            </a:r>
            <a:r>
              <a:rPr lang="en-US" altLang="zh-CN" dirty="0"/>
              <a:t>"</a:t>
            </a:r>
            <a:r>
              <a:rPr lang="zh-CN" altLang="en-US" dirty="0"/>
              <a:t>生成多套方案，物理师挑一套</a:t>
            </a:r>
            <a:r>
              <a:rPr lang="en-US" altLang="zh-CN" dirty="0"/>
              <a:t>"</a:t>
            </a:r>
            <a:r>
              <a:rPr lang="zh-CN" altLang="en-US" dirty="0"/>
              <a:t>。这个流程和</a:t>
            </a:r>
            <a:r>
              <a:rPr lang="en-US" altLang="zh-CN" dirty="0"/>
              <a:t> SAPG/CPO </a:t>
            </a:r>
            <a:r>
              <a:rPr lang="zh-CN" altLang="en-US" dirty="0"/>
              <a:t>的</a:t>
            </a:r>
            <a:r>
              <a:rPr lang="en-US" altLang="zh-CN" dirty="0"/>
              <a:t> leader–follower </a:t>
            </a:r>
            <a:r>
              <a:rPr lang="zh-CN" altLang="en-US" dirty="0"/>
              <a:t>结构高度同构：</a:t>
            </a:r>
            <a:endParaRPr lang="zh-CN" altLang="en-US" dirty="0"/>
          </a:p>
          <a:p>
            <a:endParaRPr lang="en-US" altLang="zh-CN" dirty="0"/>
          </a:p>
          <a:p>
            <a:r>
              <a:rPr lang="zh-CN" altLang="en-US" dirty="0"/>
              <a:t>代码块</a:t>
            </a:r>
            <a:endParaRPr lang="zh-CN" altLang="en-US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物理师视角：</a:t>
            </a:r>
            <a:r>
              <a:rPr lang="en-US" altLang="zh-CN" dirty="0"/>
              <a:t>     </a:t>
            </a:r>
            <a:r>
              <a:rPr lang="zh-CN" altLang="en-US" dirty="0"/>
              <a:t>选计划的人</a:t>
            </a:r>
            <a:r>
              <a:rPr lang="en-US" altLang="zh-CN" dirty="0"/>
              <a:t>  </a:t>
            </a:r>
            <a:r>
              <a:rPr lang="en-US" altLang="en-US" dirty="0"/>
              <a:t>←</a:t>
            </a:r>
            <a:r>
              <a:rPr lang="en-US" altLang="zh-CN" dirty="0"/>
              <a:t>  </a:t>
            </a:r>
            <a:r>
              <a:rPr lang="zh-CN" altLang="en-US" dirty="0"/>
              <a:t>提供多个候选方案的优化器们</a:t>
            </a:r>
            <a:endParaRPr lang="zh-CN" altLang="en-US" dirty="0"/>
          </a:p>
          <a:p>
            <a:r>
              <a:rPr lang="en-US" altLang="zh-CN" dirty="0"/>
              <a:t>CPO </a:t>
            </a:r>
            <a:r>
              <a:rPr lang="zh-CN" altLang="en-US" dirty="0"/>
              <a:t>视角：</a:t>
            </a:r>
            <a:r>
              <a:rPr lang="en-US" altLang="zh-CN" dirty="0"/>
              <a:t>       leader     </a:t>
            </a:r>
            <a:r>
              <a:rPr lang="en-US" altLang="en-US" dirty="0"/>
              <a:t>←</a:t>
            </a:r>
            <a:r>
              <a:rPr lang="en-US" altLang="zh-CN" dirty="0"/>
              <a:t>  followers</a:t>
            </a:r>
            <a:endParaRPr lang="en-US" altLang="zh-CN" dirty="0"/>
          </a:p>
          <a:p>
            <a:r>
              <a:rPr lang="en-US" altLang="zh-CN" dirty="0"/>
              <a:t>CPO </a:t>
            </a:r>
            <a:r>
              <a:rPr lang="zh-CN" altLang="en-US" dirty="0"/>
              <a:t>的结论直接给出一个警告：如果你把多个优化器的解无约束地混合起来做某种</a:t>
            </a:r>
            <a:r>
              <a:rPr lang="en-US" altLang="zh-CN" dirty="0"/>
              <a:t>"</a:t>
            </a:r>
            <a:r>
              <a:rPr lang="zh-CN" altLang="en-US" dirty="0"/>
              <a:t>共识计划</a:t>
            </a:r>
            <a:r>
              <a:rPr lang="en-US" altLang="zh-CN" dirty="0"/>
              <a:t>"</a:t>
            </a:r>
            <a:r>
              <a:rPr lang="zh-CN" altLang="en-US" dirty="0"/>
              <a:t>，或者用一个集成价值函数去指导选择，那么这些解之间的发散程度会决定集成的有效性。发散过度</a:t>
            </a:r>
            <a:r>
              <a:rPr lang="en-US" altLang="zh-CN" dirty="0"/>
              <a:t> </a:t>
            </a:r>
            <a:r>
              <a:rPr lang="en-US" altLang="en-US" dirty="0"/>
              <a:t>→</a:t>
            </a:r>
            <a:r>
              <a:rPr lang="en-US" altLang="zh-CN" dirty="0"/>
              <a:t> </a:t>
            </a:r>
            <a:r>
              <a:rPr lang="zh-CN" altLang="en-US" dirty="0"/>
              <a:t>融合后的计划可能既不像</a:t>
            </a:r>
            <a:r>
              <a:rPr lang="en-US" altLang="zh-CN" dirty="0"/>
              <a:t> A </a:t>
            </a:r>
            <a:r>
              <a:rPr lang="zh-CN" altLang="en-US" dirty="0"/>
              <a:t>也不像</a:t>
            </a:r>
            <a:r>
              <a:rPr lang="en-US" altLang="zh-CN" dirty="0"/>
              <a:t> B</a:t>
            </a:r>
            <a:r>
              <a:rPr lang="zh-CN" altLang="en-US" dirty="0"/>
              <a:t>，</a:t>
            </a:r>
            <a:r>
              <a:rPr lang="en-US" altLang="zh-CN" dirty="0"/>
              <a:t>DVH </a:t>
            </a:r>
            <a:r>
              <a:rPr lang="zh-CN" altLang="en-US" dirty="0"/>
              <a:t>上出现</a:t>
            </a:r>
            <a:r>
              <a:rPr lang="en-US" altLang="zh-CN" dirty="0"/>
              <a:t>"</a:t>
            </a:r>
            <a:r>
              <a:rPr lang="zh-CN" altLang="en-US" dirty="0"/>
              <a:t>缝合怪</a:t>
            </a:r>
            <a:r>
              <a:rPr lang="en-US" altLang="zh-CN" dirty="0"/>
              <a:t>"</a:t>
            </a:r>
            <a:r>
              <a:rPr lang="zh-CN" altLang="en-US" dirty="0"/>
              <a:t>，临床不可接受。</a:t>
            </a:r>
            <a:endParaRPr lang="zh-CN" altLang="en-US" dirty="0"/>
          </a:p>
          <a:p>
            <a:endParaRPr lang="en-US" altLang="zh-CN" dirty="0"/>
          </a:p>
          <a:p>
            <a:r>
              <a:rPr lang="zh-CN" altLang="en-US" dirty="0"/>
              <a:t>而</a:t>
            </a:r>
            <a:r>
              <a:rPr lang="en-US" altLang="zh-CN" dirty="0"/>
              <a:t> CPO </a:t>
            </a:r>
            <a:r>
              <a:rPr lang="zh-CN" altLang="en-US" dirty="0"/>
              <a:t>的解法</a:t>
            </a:r>
            <a:r>
              <a:rPr lang="en-US" altLang="zh-CN" dirty="0"/>
              <a:t>——</a:t>
            </a:r>
            <a:r>
              <a:rPr lang="zh-CN" altLang="en-US" dirty="0"/>
              <a:t>用</a:t>
            </a:r>
            <a:r>
              <a:rPr lang="en-US" altLang="zh-CN" dirty="0"/>
              <a:t> KL </a:t>
            </a:r>
            <a:r>
              <a:rPr lang="zh-CN" altLang="en-US" dirty="0"/>
              <a:t>约束把</a:t>
            </a:r>
            <a:r>
              <a:rPr lang="en-US" altLang="zh-CN" dirty="0"/>
              <a:t> follower </a:t>
            </a:r>
            <a:r>
              <a:rPr lang="zh-CN" altLang="en-US" dirty="0"/>
              <a:t>限制在</a:t>
            </a:r>
            <a:r>
              <a:rPr lang="en-US" altLang="zh-CN" dirty="0"/>
              <a:t> leader </a:t>
            </a:r>
            <a:r>
              <a:rPr lang="zh-CN" altLang="en-US" dirty="0"/>
              <a:t>附近</a:t>
            </a:r>
            <a:r>
              <a:rPr lang="en-US" altLang="zh-CN" dirty="0"/>
              <a:t>——</a:t>
            </a:r>
            <a:r>
              <a:rPr lang="zh-CN" altLang="en-US" dirty="0"/>
              <a:t>在放疗里可以翻译成：</a:t>
            </a:r>
            <a:endParaRPr lang="zh-CN" altLang="en-US" dirty="0"/>
          </a:p>
          <a:p>
            <a:endParaRPr lang="en-US" altLang="zh-CN" dirty="0"/>
          </a:p>
          <a:p>
            <a:r>
              <a:rPr lang="zh-CN" altLang="en-US" dirty="0"/>
              <a:t>不要追求</a:t>
            </a:r>
            <a:r>
              <a:rPr lang="en-US" altLang="zh-CN" dirty="0"/>
              <a:t>"</a:t>
            </a:r>
            <a:r>
              <a:rPr lang="zh-CN" altLang="en-US" dirty="0"/>
              <a:t>物理师风格差异极大的多套计划</a:t>
            </a:r>
            <a:r>
              <a:rPr lang="en-US" altLang="zh-CN" dirty="0"/>
              <a:t>"</a:t>
            </a:r>
            <a:r>
              <a:rPr lang="zh-CN" altLang="en-US" dirty="0"/>
              <a:t>，而要追求</a:t>
            </a:r>
            <a:r>
              <a:rPr lang="en-US" altLang="zh-CN" dirty="0"/>
              <a:t>"</a:t>
            </a:r>
            <a:r>
              <a:rPr lang="zh-CN" altLang="en-US" dirty="0"/>
              <a:t>在同一个计划质量盆地内、参数微调产生的多个邻近解</a:t>
            </a:r>
            <a:r>
              <a:rPr lang="en-US" altLang="zh-CN" dirty="0"/>
              <a:t>"</a:t>
            </a:r>
            <a:r>
              <a:rPr lang="zh-CN" altLang="en-US" dirty="0"/>
              <a:t>。</a:t>
            </a:r>
            <a:endParaRPr lang="zh-CN" altLang="en-US" dirty="0"/>
          </a:p>
          <a:p>
            <a:endParaRPr lang="en-US" altLang="zh-CN" dirty="0"/>
          </a:p>
          <a:p>
            <a:r>
              <a:rPr lang="zh-CN" altLang="en-US" dirty="0"/>
              <a:t>这个约束是有临床意义的，因为邻近解之间的鲁棒性是可迁移的，而风格迥异的计划混在一起，鲁棒性无法保证。</a:t>
            </a:r>
            <a:endParaRPr lang="zh-CN" altLang="en-US" dirty="0"/>
          </a:p>
          <a:p>
            <a:r>
              <a:rPr lang="zh-CN" altLang="en-US" dirty="0"/>
              <a:t>把</a:t>
            </a:r>
            <a:r>
              <a:rPr lang="en-US" altLang="zh-CN" dirty="0"/>
              <a:t>"</a:t>
            </a:r>
            <a:r>
              <a:rPr lang="zh-CN" altLang="en-US" dirty="0"/>
              <a:t>有效样本量</a:t>
            </a:r>
            <a:r>
              <a:rPr lang="en-US" altLang="zh-CN" dirty="0"/>
              <a:t>"</a:t>
            </a:r>
            <a:r>
              <a:rPr lang="zh-CN" altLang="en-US" dirty="0"/>
              <a:t>引入计划验收</a:t>
            </a:r>
            <a:endParaRPr lang="zh-CN" altLang="en-US" dirty="0"/>
          </a:p>
          <a:p>
            <a:r>
              <a:rPr lang="zh-CN" altLang="en-US" dirty="0"/>
              <a:t>这是我认为最容易落地、也最被忽视的一条。</a:t>
            </a:r>
            <a:endParaRPr lang="zh-CN" altLang="en-US" dirty="0"/>
          </a:p>
          <a:p>
            <a:endParaRPr lang="en-US" altLang="zh-CN" dirty="0"/>
          </a:p>
          <a:p>
            <a:r>
              <a:rPr lang="zh-CN" altLang="en-US" dirty="0"/>
              <a:t>第</a:t>
            </a:r>
            <a:r>
              <a:rPr lang="en-US" altLang="zh-CN" dirty="0"/>
              <a:t> 13 </a:t>
            </a:r>
            <a:r>
              <a:rPr lang="zh-CN" altLang="en-US" dirty="0"/>
              <a:t>页那个数字：</a:t>
            </a:r>
            <a:r>
              <a:rPr lang="en-US" altLang="zh-CN" dirty="0"/>
              <a:t>SAPG </a:t>
            </a:r>
            <a:r>
              <a:rPr lang="zh-CN" altLang="en-US" dirty="0"/>
              <a:t>采集了</a:t>
            </a:r>
            <a:r>
              <a:rPr lang="en-US" altLang="zh-CN" dirty="0"/>
              <a:t> 24576 </a:t>
            </a:r>
            <a:r>
              <a:rPr lang="zh-CN" altLang="en-US" dirty="0"/>
              <a:t>个环境的样本，有效样本量只有</a:t>
            </a:r>
            <a:r>
              <a:rPr lang="en-US" altLang="zh-CN" dirty="0"/>
              <a:t> 2.2%</a:t>
            </a:r>
            <a:r>
              <a:rPr lang="zh-CN" altLang="en-US" dirty="0"/>
              <a:t>。这个指标的含义是</a:t>
            </a:r>
            <a:r>
              <a:rPr lang="en-US" altLang="zh-CN" dirty="0"/>
              <a:t>"</a:t>
            </a:r>
            <a:r>
              <a:rPr lang="zh-CN" altLang="en-US" dirty="0"/>
              <a:t>数据看着很多，实际起作用的信息很少</a:t>
            </a:r>
            <a:r>
              <a:rPr lang="en-US" altLang="zh-CN" dirty="0"/>
              <a:t>"</a:t>
            </a:r>
            <a:r>
              <a:rPr lang="zh-CN" altLang="en-US" dirty="0"/>
              <a:t>。</a:t>
            </a:r>
            <a:endParaRPr lang="zh-CN" altLang="en-US" dirty="0"/>
          </a:p>
          <a:p>
            <a:endParaRPr lang="en-US" altLang="zh-CN" dirty="0"/>
          </a:p>
          <a:p>
            <a:r>
              <a:rPr lang="zh-CN" altLang="en-US" dirty="0"/>
              <a:t>放疗里有一个完全平行的现象。一个计划在优化过程中会产生成千上万次剂量计算和候选解，但最终被采纳的只有一套。中间过程产生的信息，绝大多数被丢弃了。更要命的是，如果这些中间解高度相关（同一优化器的连续迭代必然如此），那么</a:t>
            </a:r>
            <a:r>
              <a:rPr lang="en-US" altLang="zh-CN" dirty="0"/>
              <a:t>"</a:t>
            </a:r>
            <a:r>
              <a:rPr lang="zh-CN" altLang="en-US" dirty="0"/>
              <a:t>我试了</a:t>
            </a:r>
            <a:r>
              <a:rPr lang="en-US" altLang="zh-CN" dirty="0"/>
              <a:t> 5000 </a:t>
            </a:r>
            <a:r>
              <a:rPr lang="zh-CN" altLang="en-US" dirty="0"/>
              <a:t>次</a:t>
            </a:r>
            <a:r>
              <a:rPr lang="en-US" altLang="zh-CN" dirty="0"/>
              <a:t>"</a:t>
            </a:r>
            <a:r>
              <a:rPr lang="zh-CN" altLang="en-US" dirty="0"/>
              <a:t>这句话是虚的</a:t>
            </a:r>
            <a:r>
              <a:rPr lang="en-US" altLang="zh-CN" dirty="0"/>
              <a:t>——</a:t>
            </a:r>
            <a:r>
              <a:rPr lang="zh-CN" altLang="en-US" dirty="0"/>
              <a:t>真实的有效探索量可能只有几十次。</a:t>
            </a:r>
            <a:endParaRPr lang="zh-CN" altLang="en-US" dirty="0"/>
          </a:p>
          <a:p>
            <a:endParaRPr lang="en-US" altLang="zh-CN" dirty="0"/>
          </a:p>
          <a:p>
            <a:r>
              <a:rPr lang="zh-CN" altLang="en-US" dirty="0"/>
              <a:t>可落地的做法：在计划优化过程中计算候选解集合的</a:t>
            </a:r>
            <a:r>
              <a:rPr lang="en-US" altLang="zh-CN" dirty="0"/>
              <a:t> ESS</a:t>
            </a:r>
            <a:r>
              <a:rPr lang="zh-CN" altLang="en-US" dirty="0"/>
              <a:t>。具体可以这样做：</a:t>
            </a:r>
            <a:endParaRPr lang="zh-CN" altLang="en-US" dirty="0"/>
          </a:p>
          <a:p>
            <a:endParaRPr lang="en-US" altLang="zh-CN" dirty="0"/>
          </a:p>
          <a:p>
            <a:r>
              <a:rPr lang="zh-CN" altLang="en-US" dirty="0"/>
              <a:t>把每个候选解表示成特征向量（</a:t>
            </a:r>
            <a:r>
              <a:rPr lang="en-US" altLang="zh-CN" dirty="0"/>
              <a:t>DVH </a:t>
            </a:r>
            <a:r>
              <a:rPr lang="zh-CN" altLang="en-US" dirty="0"/>
              <a:t>曲线采样点</a:t>
            </a:r>
            <a:r>
              <a:rPr lang="en-US" altLang="zh-CN" dirty="0"/>
              <a:t> + </a:t>
            </a:r>
            <a:r>
              <a:rPr lang="zh-CN" altLang="en-US" dirty="0"/>
              <a:t>剂量分布降维后的主成分）</a:t>
            </a:r>
            <a:endParaRPr lang="zh-CN" altLang="en-US" dirty="0"/>
          </a:p>
          <a:p>
            <a:r>
              <a:rPr lang="zh-CN" altLang="en-US" dirty="0"/>
              <a:t>计算候选解之间的相似度矩阵（而不是直接套重要性采样比值，因为放疗里没有</a:t>
            </a:r>
            <a:r>
              <a:rPr lang="en-US" altLang="zh-CN" dirty="0"/>
              <a:t>"</a:t>
            </a:r>
            <a:r>
              <a:rPr lang="zh-CN" altLang="en-US" dirty="0"/>
              <a:t>行为策略</a:t>
            </a:r>
            <a:r>
              <a:rPr lang="en-US" altLang="zh-CN" dirty="0"/>
              <a:t>/</a:t>
            </a:r>
            <a:r>
              <a:rPr lang="zh-CN" altLang="en-US" dirty="0"/>
              <a:t>目标策略</a:t>
            </a:r>
            <a:r>
              <a:rPr lang="en-US" altLang="zh-CN" dirty="0"/>
              <a:t>"</a:t>
            </a:r>
            <a:r>
              <a:rPr lang="zh-CN" altLang="en-US" dirty="0"/>
              <a:t>这个明确的</a:t>
            </a:r>
            <a:r>
              <a:rPr lang="en-US" altLang="zh-CN" dirty="0"/>
              <a:t> off-policy </a:t>
            </a:r>
            <a:r>
              <a:rPr lang="zh-CN" altLang="en-US" dirty="0"/>
              <a:t>结构）</a:t>
            </a:r>
            <a:endParaRPr lang="zh-CN" altLang="en-US" dirty="0"/>
          </a:p>
          <a:p>
            <a:r>
              <a:rPr lang="zh-CN" altLang="en-US" dirty="0"/>
              <a:t>用</a:t>
            </a:r>
            <a:r>
              <a:rPr lang="en-US" altLang="zh-CN" dirty="0"/>
              <a:t> ESS = (Σw)</a:t>
            </a:r>
            <a:r>
              <a:rPr lang="en-US" altLang="en-US" dirty="0"/>
              <a:t>²</a:t>
            </a:r>
            <a:r>
              <a:rPr lang="en-US" altLang="zh-CN" dirty="0"/>
              <a:t> / Σw</a:t>
            </a:r>
            <a:r>
              <a:rPr lang="en-US" altLang="en-US" dirty="0"/>
              <a:t>²</a:t>
            </a:r>
            <a:r>
              <a:rPr lang="en-US" altLang="zh-CN" dirty="0"/>
              <a:t> </a:t>
            </a:r>
            <a:r>
              <a:rPr lang="zh-CN" altLang="en-US" dirty="0"/>
              <a:t>的形式，把相似度转成权重，量化</a:t>
            </a:r>
            <a:r>
              <a:rPr lang="en-US" altLang="zh-CN" dirty="0"/>
              <a:t>"</a:t>
            </a:r>
            <a:r>
              <a:rPr lang="zh-CN" altLang="en-US" dirty="0"/>
              <a:t>这批候选解里真正独立的解有几个</a:t>
            </a:r>
            <a:r>
              <a:rPr lang="en-US" altLang="zh-CN" dirty="0"/>
              <a:t>"</a:t>
            </a:r>
            <a:endParaRPr lang="en-US" altLang="zh-CN" dirty="0"/>
          </a:p>
          <a:p>
            <a:r>
              <a:rPr lang="zh-CN" altLang="en-US" dirty="0"/>
              <a:t>这个数字可以直接指导两个决策：</a:t>
            </a:r>
            <a:endParaRPr lang="zh-CN" altLang="en-US" dirty="0"/>
          </a:p>
          <a:p>
            <a:endParaRPr lang="en-US" altLang="zh-CN" dirty="0"/>
          </a:p>
          <a:p>
            <a:r>
              <a:rPr lang="zh-CN" altLang="en-US" dirty="0"/>
              <a:t>优化迭代要不要继续（</a:t>
            </a:r>
            <a:r>
              <a:rPr lang="en-US" altLang="zh-CN" dirty="0"/>
              <a:t>ESS </a:t>
            </a:r>
            <a:r>
              <a:rPr lang="zh-CN" altLang="en-US" dirty="0"/>
              <a:t>停滞说明再算也没用，该换初始条件了）</a:t>
            </a:r>
            <a:endParaRPr lang="zh-CN" altLang="en-US" dirty="0"/>
          </a:p>
          <a:p>
            <a:r>
              <a:rPr lang="zh-CN" altLang="en-US" dirty="0"/>
              <a:t>多套计划之间到底有没有真正的备选价值（</a:t>
            </a:r>
            <a:r>
              <a:rPr lang="en-US" altLang="zh-CN" dirty="0"/>
              <a:t>ESS </a:t>
            </a:r>
            <a:r>
              <a:rPr lang="zh-CN" altLang="en-US" dirty="0"/>
              <a:t>接近</a:t>
            </a:r>
            <a:r>
              <a:rPr lang="en-US" altLang="zh-CN" dirty="0"/>
              <a:t> 1 </a:t>
            </a:r>
            <a:r>
              <a:rPr lang="zh-CN" altLang="en-US" dirty="0"/>
              <a:t>说明都是等价的，挑哪套都一样）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933A62-8780-4CAA-8D19-25292B7F568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 advTm="3000">
        <p15:prstTrans prst="pageCurlDouble"/>
      </p:transition>
    </mc:Choice>
    <mc:Fallback>
      <p:transition spd="slow" advTm="3000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 advTm="3000">
        <p15:prstTrans prst="pageCurlDouble"/>
      </p:transition>
    </mc:Choice>
    <mc:Fallback>
      <p:transition spd="slow" advTm="3000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2" y="1122364"/>
            <a:ext cx="9144000" cy="2387600"/>
          </a:xfrm>
        </p:spPr>
        <p:txBody>
          <a:bodyPr anchor="b"/>
          <a:lstStyle>
            <a:lvl1pPr algn="ctr">
              <a:defRPr sz="5995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524002" y="3602038"/>
            <a:ext cx="9144000" cy="165576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3765" indent="0" algn="ctr">
              <a:buNone/>
              <a:defRPr sz="1800"/>
            </a:lvl3pPr>
            <a:lvl4pPr marL="1370965" indent="0" algn="ctr">
              <a:buNone/>
              <a:defRPr sz="1600"/>
            </a:lvl4pPr>
            <a:lvl5pPr marL="1827530" indent="0" algn="ctr">
              <a:buNone/>
              <a:defRPr sz="1600"/>
            </a:lvl5pPr>
            <a:lvl6pPr marL="2284730" indent="0" algn="ctr">
              <a:buNone/>
              <a:defRPr sz="1600"/>
            </a:lvl6pPr>
            <a:lvl7pPr marL="2741930" indent="0" algn="ctr">
              <a:buNone/>
              <a:defRPr sz="1600"/>
            </a:lvl7pPr>
            <a:lvl8pPr marL="3198495" indent="0" algn="ctr">
              <a:buNone/>
              <a:defRPr sz="1600"/>
            </a:lvl8pPr>
            <a:lvl9pPr marL="3655695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72DE3-FE0A-428A-AB10-325226F2F56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C7F20-4EEE-4847-AC76-B538472E8A3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 advClick="0" advTm="1000">
    <p:randomBar dir="vert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2" y="1122364"/>
            <a:ext cx="9144000" cy="2387600"/>
          </a:xfrm>
        </p:spPr>
        <p:txBody>
          <a:bodyPr anchor="b"/>
          <a:lstStyle>
            <a:lvl1pPr algn="ctr">
              <a:defRPr sz="5995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524002" y="3602038"/>
            <a:ext cx="9144000" cy="165576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3765" indent="0" algn="ctr">
              <a:buNone/>
              <a:defRPr sz="1800"/>
            </a:lvl3pPr>
            <a:lvl4pPr marL="1370965" indent="0" algn="ctr">
              <a:buNone/>
              <a:defRPr sz="1600"/>
            </a:lvl4pPr>
            <a:lvl5pPr marL="1827530" indent="0" algn="ctr">
              <a:buNone/>
              <a:defRPr sz="1600"/>
            </a:lvl5pPr>
            <a:lvl6pPr marL="2284730" indent="0" algn="ctr">
              <a:buNone/>
              <a:defRPr sz="1600"/>
            </a:lvl6pPr>
            <a:lvl7pPr marL="2741930" indent="0" algn="ctr">
              <a:buNone/>
              <a:defRPr sz="1600"/>
            </a:lvl7pPr>
            <a:lvl8pPr marL="3198495" indent="0" algn="ctr">
              <a:buNone/>
              <a:defRPr sz="1600"/>
            </a:lvl8pPr>
            <a:lvl9pPr marL="3655695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72DE3-FE0A-428A-AB10-325226F2F56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C7F20-4EEE-4847-AC76-B538472E8A3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 advClick="0" advTm="1000">
    <p:randomBar dir="vert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72DE3-FE0A-428A-AB10-325226F2F56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C7F20-4EEE-4847-AC76-B538472E8A3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 advClick="0" advTm="1000">
    <p:randomBar dir="vert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1"/>
            <a:ext cx="10515600" cy="2852737"/>
          </a:xfrm>
        </p:spPr>
        <p:txBody>
          <a:bodyPr anchor="b"/>
          <a:lstStyle>
            <a:lvl1pPr>
              <a:defRPr sz="5995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3765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096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753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473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193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19849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569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72DE3-FE0A-428A-AB10-325226F2F56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C7F20-4EEE-4847-AC76-B538472E8A3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 advClick="0" advTm="1000">
    <p:randomBar dir="vert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838201" y="1825627"/>
            <a:ext cx="5181600" cy="4351339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172201" y="1825627"/>
            <a:ext cx="5181600" cy="4351339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72DE3-FE0A-428A-AB10-325226F2F56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C7F20-4EEE-4847-AC76-B538472E8A3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 advClick="0" advTm="1000">
    <p:randomBar dir="vert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839790" y="1681163"/>
            <a:ext cx="515778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3765" indent="0">
              <a:buNone/>
              <a:defRPr sz="1800" b="1"/>
            </a:lvl3pPr>
            <a:lvl4pPr marL="1370965" indent="0">
              <a:buNone/>
              <a:defRPr sz="1600" b="1"/>
            </a:lvl4pPr>
            <a:lvl5pPr marL="1827530" indent="0">
              <a:buNone/>
              <a:defRPr sz="1600" b="1"/>
            </a:lvl5pPr>
            <a:lvl6pPr marL="2284730" indent="0">
              <a:buNone/>
              <a:defRPr sz="1600" b="1"/>
            </a:lvl6pPr>
            <a:lvl7pPr marL="2741930" indent="0">
              <a:buNone/>
              <a:defRPr sz="1600" b="1"/>
            </a:lvl7pPr>
            <a:lvl8pPr marL="3198495" indent="0">
              <a:buNone/>
              <a:defRPr sz="1600" b="1"/>
            </a:lvl8pPr>
            <a:lvl9pPr marL="3655695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839790" y="2505076"/>
            <a:ext cx="5157786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1" y="1681163"/>
            <a:ext cx="5183189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3765" indent="0">
              <a:buNone/>
              <a:defRPr sz="1800" b="1"/>
            </a:lvl3pPr>
            <a:lvl4pPr marL="1370965" indent="0">
              <a:buNone/>
              <a:defRPr sz="1600" b="1"/>
            </a:lvl4pPr>
            <a:lvl5pPr marL="1827530" indent="0">
              <a:buNone/>
              <a:defRPr sz="1600" b="1"/>
            </a:lvl5pPr>
            <a:lvl6pPr marL="2284730" indent="0">
              <a:buNone/>
              <a:defRPr sz="1600" b="1"/>
            </a:lvl6pPr>
            <a:lvl7pPr marL="2741930" indent="0">
              <a:buNone/>
              <a:defRPr sz="1600" b="1"/>
            </a:lvl7pPr>
            <a:lvl8pPr marL="3198495" indent="0">
              <a:buNone/>
              <a:defRPr sz="1600" b="1"/>
            </a:lvl8pPr>
            <a:lvl9pPr marL="3655695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6172201" y="2505076"/>
            <a:ext cx="5183189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72DE3-FE0A-428A-AB10-325226F2F564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C7F20-4EEE-4847-AC76-B538472E8A3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 advClick="0" advTm="1000">
    <p:randomBar dir="vert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72DE3-FE0A-428A-AB10-325226F2F564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C7F20-4EEE-4847-AC76-B538472E8A3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 advClick="0" advTm="1000">
    <p:randomBar dir="vert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72DE3-FE0A-428A-AB10-325226F2F564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C7F20-4EEE-4847-AC76-B538472E8A3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 advClick="0" advTm="1000">
    <p:randomBar dir="vert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1"/>
            <a:ext cx="3932238" cy="1600199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183190" y="987428"/>
            <a:ext cx="6172199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1"/>
            <a:ext cx="393223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3765" indent="0">
              <a:buNone/>
              <a:defRPr sz="1200"/>
            </a:lvl3pPr>
            <a:lvl4pPr marL="1370965" indent="0">
              <a:buNone/>
              <a:defRPr sz="1000"/>
            </a:lvl4pPr>
            <a:lvl5pPr marL="1827530" indent="0">
              <a:buNone/>
              <a:defRPr sz="1000"/>
            </a:lvl5pPr>
            <a:lvl6pPr marL="2284730" indent="0">
              <a:buNone/>
              <a:defRPr sz="1000"/>
            </a:lvl6pPr>
            <a:lvl7pPr marL="2741930" indent="0">
              <a:buNone/>
              <a:defRPr sz="1000"/>
            </a:lvl7pPr>
            <a:lvl8pPr marL="3198495" indent="0">
              <a:buNone/>
              <a:defRPr sz="1000"/>
            </a:lvl8pPr>
            <a:lvl9pPr marL="3655695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72DE3-FE0A-428A-AB10-325226F2F56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C7F20-4EEE-4847-AC76-B538472E8A3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 advClick="0" advTm="1000">
    <p:randomBar dir="vert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1"/>
            <a:ext cx="3932238" cy="1600199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90" y="987428"/>
            <a:ext cx="6172199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3765" indent="0">
              <a:buNone/>
              <a:defRPr sz="2400"/>
            </a:lvl3pPr>
            <a:lvl4pPr marL="1370965" indent="0">
              <a:buNone/>
              <a:defRPr sz="2000"/>
            </a:lvl4pPr>
            <a:lvl5pPr marL="1827530" indent="0">
              <a:buNone/>
              <a:defRPr sz="2000"/>
            </a:lvl5pPr>
            <a:lvl6pPr marL="2284730" indent="0">
              <a:buNone/>
              <a:defRPr sz="2000"/>
            </a:lvl6pPr>
            <a:lvl7pPr marL="2741930" indent="0">
              <a:buNone/>
              <a:defRPr sz="2000"/>
            </a:lvl7pPr>
            <a:lvl8pPr marL="3198495" indent="0">
              <a:buNone/>
              <a:defRPr sz="2000"/>
            </a:lvl8pPr>
            <a:lvl9pPr marL="3655695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1"/>
            <a:ext cx="393223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3765" indent="0">
              <a:buNone/>
              <a:defRPr sz="1200"/>
            </a:lvl3pPr>
            <a:lvl4pPr marL="1370965" indent="0">
              <a:buNone/>
              <a:defRPr sz="1000"/>
            </a:lvl4pPr>
            <a:lvl5pPr marL="1827530" indent="0">
              <a:buNone/>
              <a:defRPr sz="1000"/>
            </a:lvl5pPr>
            <a:lvl6pPr marL="2284730" indent="0">
              <a:buNone/>
              <a:defRPr sz="1000"/>
            </a:lvl6pPr>
            <a:lvl7pPr marL="2741930" indent="0">
              <a:buNone/>
              <a:defRPr sz="1000"/>
            </a:lvl7pPr>
            <a:lvl8pPr marL="3198495" indent="0">
              <a:buNone/>
              <a:defRPr sz="1000"/>
            </a:lvl8pPr>
            <a:lvl9pPr marL="3655695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72DE3-FE0A-428A-AB10-325226F2F56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C7F20-4EEE-4847-AC76-B538472E8A3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 advClick="0" advTm="1000">
    <p:randomBar dir="vert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72DE3-FE0A-428A-AB10-325226F2F56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C7F20-4EEE-4847-AC76-B538472E8A3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 advClick="0" advTm="1000">
    <p:randomBar dir="vert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8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2" y="365128"/>
            <a:ext cx="7734301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72DE3-FE0A-428A-AB10-325226F2F56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C7F20-4EEE-4847-AC76-B538472E8A3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 advClick="0" advTm="1000">
    <p:randomBar dir="vert"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spd="slow" advClick="0" advTm="1000">
    <p:randomBar dir="vert"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 advTm="3000">
        <p15:prstTrans prst="pageCurlDouble"/>
      </p:transition>
    </mc:Choice>
    <mc:Fallback>
      <p:transition spd="slow" advTm="3000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_空白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4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slideLayout" Target="../slideLayouts/slideLayout11.xml"/><Relationship Id="rId7" Type="http://schemas.openxmlformats.org/officeDocument/2006/relationships/slideLayout" Target="../slideLayouts/slideLayout10.xml"/><Relationship Id="rId6" Type="http://schemas.openxmlformats.org/officeDocument/2006/relationships/slideLayout" Target="../slideLayouts/slideLayout9.xml"/><Relationship Id="rId5" Type="http://schemas.openxmlformats.org/officeDocument/2006/relationships/slideLayout" Target="../slideLayouts/slideLayout8.xml"/><Relationship Id="rId4" Type="http://schemas.openxmlformats.org/officeDocument/2006/relationships/slideLayout" Target="../slideLayouts/slideLayout7.xml"/><Relationship Id="rId3" Type="http://schemas.openxmlformats.org/officeDocument/2006/relationships/slideLayout" Target="../slideLayouts/slideLayout6.xml"/><Relationship Id="rId2" Type="http://schemas.openxmlformats.org/officeDocument/2006/relationships/slideLayout" Target="../slideLayouts/slideLayout5.xml"/><Relationship Id="rId14" Type="http://schemas.openxmlformats.org/officeDocument/2006/relationships/theme" Target="../theme/theme2.xml"/><Relationship Id="rId13" Type="http://schemas.openxmlformats.org/officeDocument/2006/relationships/slideLayout" Target="../slideLayouts/slideLayout16.xml"/><Relationship Id="rId12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14.xml"/><Relationship Id="rId10" Type="http://schemas.openxmlformats.org/officeDocument/2006/relationships/slideLayout" Target="../slideLayouts/slideLayout13.xml"/><Relationship Id="rId1" Type="http://schemas.openxmlformats.org/officeDocument/2006/relationships/slideLayout" Target="../slideLayouts/slideLayout4.xml"/></Relationships>
</file>

<file path=ppt/slideMasters/_rels/slideMaster3.xml.rels><?xml version="1.0" encoding="UTF-8" standalone="yes"?>
<Relationships xmlns="http://schemas.openxmlformats.org/package/2006/relationships"><Relationship Id="rId4" Type="http://schemas.openxmlformats.org/officeDocument/2006/relationships/theme" Target="../theme/theme3.xml"/><Relationship Id="rId3" Type="http://schemas.openxmlformats.org/officeDocument/2006/relationships/slideLayout" Target="../slideLayouts/slideLayout19.xml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wdUpDiag">
          <a:fgClr>
            <a:schemeClr val="bg1">
              <a:lumMod val="9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 advTm="3000">
        <p15:prstTrans prst="pageCurlDouble"/>
      </p:transition>
    </mc:Choice>
    <mc:Fallback>
      <p:transition spd="slow" advTm="3000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1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1" y="1825627"/>
            <a:ext cx="10515600" cy="43513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1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B72DE3-FE0A-428A-AB10-325226F2F56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1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1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2C7F20-4EEE-4847-AC76-B538472E8A39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54" r:id="rId2"/>
    <p:sldLayoutId id="2147483655" r:id="rId3"/>
    <p:sldLayoutId id="2147483656" r:id="rId4"/>
    <p:sldLayoutId id="2147483657" r:id="rId5"/>
    <p:sldLayoutId id="2147483658" r:id="rId6"/>
    <p:sldLayoutId id="2147483659" r:id="rId7"/>
    <p:sldLayoutId id="2147483660" r:id="rId8"/>
    <p:sldLayoutId id="2147483661" r:id="rId9"/>
    <p:sldLayoutId id="2147483662" r:id="rId10"/>
    <p:sldLayoutId id="2147483663" r:id="rId11"/>
    <p:sldLayoutId id="2147483664" r:id="rId12"/>
    <p:sldLayoutId id="2147483665" r:id="rId13"/>
  </p:sldLayoutIdLst>
  <p:transition spd="slow" advClick="0" advTm="1000">
    <p:randomBar dir="vert"/>
  </p:transition>
  <p:txStyles>
    <p:titleStyle>
      <a:lvl1pPr algn="l" defTabSz="913765" rtl="0" eaLnBrk="1" latinLnBrk="0" hangingPunct="1">
        <a:lnSpc>
          <a:spcPct val="90000"/>
        </a:lnSpc>
        <a:spcBef>
          <a:spcPct val="0"/>
        </a:spcBef>
        <a:buNone/>
        <a:defRPr sz="439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3765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165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365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99565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613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333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053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7095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4295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3765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0965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753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473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193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8495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5695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389" y="365780"/>
            <a:ext cx="10515224" cy="13246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389" y="1825890"/>
            <a:ext cx="10515224" cy="435172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389" y="6356747"/>
            <a:ext cx="2742447" cy="3642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A93E93-166D-47F5-9EF1-ACEABE24AEEA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413" y="6356747"/>
            <a:ext cx="4115176" cy="3642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1166" y="6356747"/>
            <a:ext cx="2742447" cy="3642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8D5ACA-62CA-46DB-AD6B-12EDD6D51A23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</p:sldLayoutIdLst>
  <p:txStyles>
    <p:titleStyle>
      <a:lvl1pPr algn="l" defTabSz="866775" rtl="0" eaLnBrk="1" latinLnBrk="0" hangingPunct="1">
        <a:lnSpc>
          <a:spcPct val="90000"/>
        </a:lnSpc>
        <a:spcBef>
          <a:spcPct val="0"/>
        </a:spcBef>
        <a:buNone/>
        <a:defRPr sz="417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16535" indent="-216535" algn="l" defTabSz="866775" rtl="0" eaLnBrk="1" latinLnBrk="0" hangingPunct="1">
        <a:lnSpc>
          <a:spcPct val="90000"/>
        </a:lnSpc>
        <a:spcBef>
          <a:spcPts val="950"/>
        </a:spcBef>
        <a:buFont typeface="Arial" panose="020B0604020202020204" pitchFamily="34" charset="0"/>
        <a:buChar char="•"/>
        <a:defRPr sz="2655" kern="1200">
          <a:solidFill>
            <a:schemeClr val="tx1"/>
          </a:solidFill>
          <a:latin typeface="+mn-lt"/>
          <a:ea typeface="+mn-ea"/>
          <a:cs typeface="+mn-cs"/>
        </a:defRPr>
      </a:lvl1pPr>
      <a:lvl2pPr marL="650240" indent="-216535" algn="l" defTabSz="866775" rtl="0" eaLnBrk="1" latinLnBrk="0" hangingPunct="1">
        <a:lnSpc>
          <a:spcPct val="90000"/>
        </a:lnSpc>
        <a:spcBef>
          <a:spcPts val="475"/>
        </a:spcBef>
        <a:buFont typeface="Arial" panose="020B0604020202020204" pitchFamily="34" charset="0"/>
        <a:buChar char="•"/>
        <a:defRPr sz="2275" kern="1200">
          <a:solidFill>
            <a:schemeClr val="tx1"/>
          </a:solidFill>
          <a:latin typeface="+mn-lt"/>
          <a:ea typeface="+mn-ea"/>
          <a:cs typeface="+mn-cs"/>
        </a:defRPr>
      </a:lvl2pPr>
      <a:lvl3pPr marL="1083945" indent="-216535" algn="l" defTabSz="866775" rtl="0" eaLnBrk="1" latinLnBrk="0" hangingPunct="1">
        <a:lnSpc>
          <a:spcPct val="90000"/>
        </a:lnSpc>
        <a:spcBef>
          <a:spcPts val="475"/>
        </a:spcBef>
        <a:buFont typeface="Arial" panose="020B0604020202020204" pitchFamily="34" charset="0"/>
        <a:buChar char="•"/>
        <a:defRPr sz="1895" kern="1200">
          <a:solidFill>
            <a:schemeClr val="tx1"/>
          </a:solidFill>
          <a:latin typeface="+mn-lt"/>
          <a:ea typeface="+mn-ea"/>
          <a:cs typeface="+mn-cs"/>
        </a:defRPr>
      </a:lvl3pPr>
      <a:lvl4pPr marL="1517015" indent="-216535" algn="l" defTabSz="866775" rtl="0" eaLnBrk="1" latinLnBrk="0" hangingPunct="1">
        <a:lnSpc>
          <a:spcPct val="90000"/>
        </a:lnSpc>
        <a:spcBef>
          <a:spcPts val="475"/>
        </a:spcBef>
        <a:buFont typeface="Arial" panose="020B0604020202020204" pitchFamily="34" charset="0"/>
        <a:buChar char="•"/>
        <a:defRPr sz="1705" kern="1200">
          <a:solidFill>
            <a:schemeClr val="tx1"/>
          </a:solidFill>
          <a:latin typeface="+mn-lt"/>
          <a:ea typeface="+mn-ea"/>
          <a:cs typeface="+mn-cs"/>
        </a:defRPr>
      </a:lvl4pPr>
      <a:lvl5pPr marL="1950720" indent="-216535" algn="l" defTabSz="866775" rtl="0" eaLnBrk="1" latinLnBrk="0" hangingPunct="1">
        <a:lnSpc>
          <a:spcPct val="90000"/>
        </a:lnSpc>
        <a:spcBef>
          <a:spcPts val="475"/>
        </a:spcBef>
        <a:buFont typeface="Arial" panose="020B0604020202020204" pitchFamily="34" charset="0"/>
        <a:buChar char="•"/>
        <a:defRPr sz="1705" kern="1200">
          <a:solidFill>
            <a:schemeClr val="tx1"/>
          </a:solidFill>
          <a:latin typeface="+mn-lt"/>
          <a:ea typeface="+mn-ea"/>
          <a:cs typeface="+mn-cs"/>
        </a:defRPr>
      </a:lvl5pPr>
      <a:lvl6pPr marL="2383790" indent="-216535" algn="l" defTabSz="866775" rtl="0" eaLnBrk="1" latinLnBrk="0" hangingPunct="1">
        <a:lnSpc>
          <a:spcPct val="90000"/>
        </a:lnSpc>
        <a:spcBef>
          <a:spcPts val="475"/>
        </a:spcBef>
        <a:buFont typeface="Arial" panose="020B0604020202020204" pitchFamily="34" charset="0"/>
        <a:buChar char="•"/>
        <a:defRPr sz="1705" kern="1200">
          <a:solidFill>
            <a:schemeClr val="tx1"/>
          </a:solidFill>
          <a:latin typeface="+mn-lt"/>
          <a:ea typeface="+mn-ea"/>
          <a:cs typeface="+mn-cs"/>
        </a:defRPr>
      </a:lvl6pPr>
      <a:lvl7pPr marL="2817495" indent="-216535" algn="l" defTabSz="866775" rtl="0" eaLnBrk="1" latinLnBrk="0" hangingPunct="1">
        <a:lnSpc>
          <a:spcPct val="90000"/>
        </a:lnSpc>
        <a:spcBef>
          <a:spcPts val="475"/>
        </a:spcBef>
        <a:buFont typeface="Arial" panose="020B0604020202020204" pitchFamily="34" charset="0"/>
        <a:buChar char="•"/>
        <a:defRPr sz="1705" kern="1200">
          <a:solidFill>
            <a:schemeClr val="tx1"/>
          </a:solidFill>
          <a:latin typeface="+mn-lt"/>
          <a:ea typeface="+mn-ea"/>
          <a:cs typeface="+mn-cs"/>
        </a:defRPr>
      </a:lvl7pPr>
      <a:lvl8pPr marL="3251200" indent="-216535" algn="l" defTabSz="866775" rtl="0" eaLnBrk="1" latinLnBrk="0" hangingPunct="1">
        <a:lnSpc>
          <a:spcPct val="90000"/>
        </a:lnSpc>
        <a:spcBef>
          <a:spcPts val="475"/>
        </a:spcBef>
        <a:buFont typeface="Arial" panose="020B0604020202020204" pitchFamily="34" charset="0"/>
        <a:buChar char="•"/>
        <a:defRPr sz="1705" kern="1200">
          <a:solidFill>
            <a:schemeClr val="tx1"/>
          </a:solidFill>
          <a:latin typeface="+mn-lt"/>
          <a:ea typeface="+mn-ea"/>
          <a:cs typeface="+mn-cs"/>
        </a:defRPr>
      </a:lvl8pPr>
      <a:lvl9pPr marL="3684270" indent="-216535" algn="l" defTabSz="866775" rtl="0" eaLnBrk="1" latinLnBrk="0" hangingPunct="1">
        <a:lnSpc>
          <a:spcPct val="90000"/>
        </a:lnSpc>
        <a:spcBef>
          <a:spcPts val="475"/>
        </a:spcBef>
        <a:buFont typeface="Arial" panose="020B0604020202020204" pitchFamily="34" charset="0"/>
        <a:buChar char="•"/>
        <a:defRPr sz="170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866775" rtl="0" eaLnBrk="1" latinLnBrk="0" hangingPunct="1">
        <a:defRPr sz="1705" kern="1200">
          <a:solidFill>
            <a:schemeClr val="tx1"/>
          </a:solidFill>
          <a:latin typeface="+mn-lt"/>
          <a:ea typeface="+mn-ea"/>
          <a:cs typeface="+mn-cs"/>
        </a:defRPr>
      </a:lvl1pPr>
      <a:lvl2pPr marL="433705" algn="l" defTabSz="866775" rtl="0" eaLnBrk="1" latinLnBrk="0" hangingPunct="1">
        <a:defRPr sz="1705" kern="1200">
          <a:solidFill>
            <a:schemeClr val="tx1"/>
          </a:solidFill>
          <a:latin typeface="+mn-lt"/>
          <a:ea typeface="+mn-ea"/>
          <a:cs typeface="+mn-cs"/>
        </a:defRPr>
      </a:lvl2pPr>
      <a:lvl3pPr marL="866775" algn="l" defTabSz="866775" rtl="0" eaLnBrk="1" latinLnBrk="0" hangingPunct="1">
        <a:defRPr sz="1705" kern="1200">
          <a:solidFill>
            <a:schemeClr val="tx1"/>
          </a:solidFill>
          <a:latin typeface="+mn-lt"/>
          <a:ea typeface="+mn-ea"/>
          <a:cs typeface="+mn-cs"/>
        </a:defRPr>
      </a:lvl3pPr>
      <a:lvl4pPr marL="1300480" algn="l" defTabSz="866775" rtl="0" eaLnBrk="1" latinLnBrk="0" hangingPunct="1">
        <a:defRPr sz="1705" kern="1200">
          <a:solidFill>
            <a:schemeClr val="tx1"/>
          </a:solidFill>
          <a:latin typeface="+mn-lt"/>
          <a:ea typeface="+mn-ea"/>
          <a:cs typeface="+mn-cs"/>
        </a:defRPr>
      </a:lvl4pPr>
      <a:lvl5pPr marL="1734185" algn="l" defTabSz="866775" rtl="0" eaLnBrk="1" latinLnBrk="0" hangingPunct="1">
        <a:defRPr sz="1705" kern="1200">
          <a:solidFill>
            <a:schemeClr val="tx1"/>
          </a:solidFill>
          <a:latin typeface="+mn-lt"/>
          <a:ea typeface="+mn-ea"/>
          <a:cs typeface="+mn-cs"/>
        </a:defRPr>
      </a:lvl5pPr>
      <a:lvl6pPr marL="2167255" algn="l" defTabSz="866775" rtl="0" eaLnBrk="1" latinLnBrk="0" hangingPunct="1">
        <a:defRPr sz="1705" kern="1200">
          <a:solidFill>
            <a:schemeClr val="tx1"/>
          </a:solidFill>
          <a:latin typeface="+mn-lt"/>
          <a:ea typeface="+mn-ea"/>
          <a:cs typeface="+mn-cs"/>
        </a:defRPr>
      </a:lvl6pPr>
      <a:lvl7pPr marL="2600960" algn="l" defTabSz="866775" rtl="0" eaLnBrk="1" latinLnBrk="0" hangingPunct="1">
        <a:defRPr sz="1705" kern="1200">
          <a:solidFill>
            <a:schemeClr val="tx1"/>
          </a:solidFill>
          <a:latin typeface="+mn-lt"/>
          <a:ea typeface="+mn-ea"/>
          <a:cs typeface="+mn-cs"/>
        </a:defRPr>
      </a:lvl7pPr>
      <a:lvl8pPr marL="3034030" algn="l" defTabSz="866775" rtl="0" eaLnBrk="1" latinLnBrk="0" hangingPunct="1">
        <a:defRPr sz="1705" kern="1200">
          <a:solidFill>
            <a:schemeClr val="tx1"/>
          </a:solidFill>
          <a:latin typeface="+mn-lt"/>
          <a:ea typeface="+mn-ea"/>
          <a:cs typeface="+mn-cs"/>
        </a:defRPr>
      </a:lvl8pPr>
      <a:lvl9pPr marL="3467735" algn="l" defTabSz="866775" rtl="0" eaLnBrk="1" latinLnBrk="0" hangingPunct="1">
        <a:defRPr sz="170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4.xml"/><Relationship Id="rId4" Type="http://schemas.microsoft.com/office/2007/relationships/hdphoto" Target="../media/image5.wdp"/><Relationship Id="rId3" Type="http://schemas.openxmlformats.org/officeDocument/2006/relationships/image" Target="../media/image4.png"/><Relationship Id="rId2" Type="http://schemas.microsoft.com/office/2007/relationships/hdphoto" Target="../media/image3.wdp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10.xml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6.xml"/><Relationship Id="rId1" Type="http://schemas.openxmlformats.org/officeDocument/2006/relationships/image" Target="../media/image8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6.xml"/><Relationship Id="rId1" Type="http://schemas.openxmlformats.org/officeDocument/2006/relationships/image" Target="../media/image8.jpe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16.xml"/><Relationship Id="rId2" Type="http://schemas.openxmlformats.org/officeDocument/2006/relationships/image" Target="../media/image9.png"/><Relationship Id="rId1" Type="http://schemas.openxmlformats.org/officeDocument/2006/relationships/image" Target="../media/image8.jpeg"/></Relationships>
</file>

<file path=ppt/slides/_rels/slide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5.xml"/><Relationship Id="rId5" Type="http://schemas.openxmlformats.org/officeDocument/2006/relationships/slideLayout" Target="../slideLayouts/slideLayout16.xml"/><Relationship Id="rId4" Type="http://schemas.openxmlformats.org/officeDocument/2006/relationships/image" Target="../media/image12.png"/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image" Target="../media/image8.jpeg"/></Relationships>
</file>

<file path=ppt/slides/_rels/slide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6.xml"/><Relationship Id="rId5" Type="http://schemas.openxmlformats.org/officeDocument/2006/relationships/slideLayout" Target="../slideLayouts/slideLayout16.xml"/><Relationship Id="rId4" Type="http://schemas.openxmlformats.org/officeDocument/2006/relationships/image" Target="../media/image15.png"/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image" Target="../media/image8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6.xml"/><Relationship Id="rId1" Type="http://schemas.openxmlformats.org/officeDocument/2006/relationships/image" Target="../media/image8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6.xml"/><Relationship Id="rId1" Type="http://schemas.openxmlformats.org/officeDocument/2006/relationships/image" Target="../media/image8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6.xml"/><Relationship Id="rId1" Type="http://schemas.openxmlformats.org/officeDocument/2006/relationships/image" Target="../media/image8.jpe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16.xml"/><Relationship Id="rId2" Type="http://schemas.openxmlformats.org/officeDocument/2006/relationships/tags" Target="../tags/tag1.xml"/><Relationship Id="rId1" Type="http://schemas.openxmlformats.org/officeDocument/2006/relationships/image" Target="../media/image8.jpeg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1.xml"/><Relationship Id="rId4" Type="http://schemas.openxmlformats.org/officeDocument/2006/relationships/slideLayout" Target="../slideLayouts/slideLayout16.xml"/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image" Target="../media/image8.jpe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2.xml"/><Relationship Id="rId3" Type="http://schemas.openxmlformats.org/officeDocument/2006/relationships/slideLayout" Target="../slideLayouts/slideLayout16.xml"/><Relationship Id="rId2" Type="http://schemas.openxmlformats.org/officeDocument/2006/relationships/image" Target="../media/image18.png"/><Relationship Id="rId1" Type="http://schemas.openxmlformats.org/officeDocument/2006/relationships/image" Target="../media/image8.jpeg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3.xml"/><Relationship Id="rId3" Type="http://schemas.openxmlformats.org/officeDocument/2006/relationships/slideLayout" Target="../slideLayouts/slideLayout16.xml"/><Relationship Id="rId2" Type="http://schemas.openxmlformats.org/officeDocument/2006/relationships/tags" Target="../tags/tag2.xml"/><Relationship Id="rId1" Type="http://schemas.openxmlformats.org/officeDocument/2006/relationships/image" Target="../media/image8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6.xml"/><Relationship Id="rId1" Type="http://schemas.openxmlformats.org/officeDocument/2006/relationships/image" Target="../media/image8.jpeg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5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20.png"/><Relationship Id="rId1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wdUpDiag">
          <a:fgClr>
            <a:schemeClr val="bg1">
              <a:lumMod val="9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2546580"/>
            <a:ext cx="12191331" cy="1838567"/>
          </a:xfrm>
          <a:prstGeom prst="rect">
            <a:avLst/>
          </a:prstGeom>
          <a:solidFill>
            <a:srgbClr val="1A78C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3765">
              <a:defRPr/>
            </a:pPr>
            <a:endParaRPr lang="zh-CN" altLang="en-US" sz="1800" dirty="0">
              <a:solidFill>
                <a:prstClr val="white"/>
              </a:solidFill>
              <a:latin typeface="Calibri" panose="020F0502020204030204"/>
              <a:ea typeface="等线" panose="02010600030101010101" pitchFamily="2" charset="-122"/>
            </a:endParaRPr>
          </a:p>
        </p:txBody>
      </p:sp>
      <p:sp>
        <p:nvSpPr>
          <p:cNvPr id="12" name="椭圆 11"/>
          <p:cNvSpPr/>
          <p:nvPr/>
        </p:nvSpPr>
        <p:spPr>
          <a:xfrm>
            <a:off x="1524353" y="2153727"/>
            <a:ext cx="2624273" cy="2624273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3765">
              <a:defRPr/>
            </a:pPr>
            <a:endParaRPr lang="zh-CN" altLang="en-US" sz="1800">
              <a:solidFill>
                <a:prstClr val="white"/>
              </a:solidFill>
              <a:latin typeface="Calibri" panose="020F0502020204030204"/>
              <a:ea typeface="等线" panose="02010600030101010101" pitchFamily="2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rightnessContrast bright="14000" contrast="21000"/>
                    </a14:imgEffect>
                    <a14:imgEffect>
                      <a14:colorTemperature colorTemp="67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6181" y="2014069"/>
            <a:ext cx="3140616" cy="2903588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4000" contrast="21000"/>
                    </a14:imgEffect>
                    <a14:imgEffect>
                      <a14:colorTemperature colorTemp="6700"/>
                    </a14:imgEffect>
                    <a14:imgEffect>
                      <a14:sharpenSoften amount="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97401" y="150150"/>
            <a:ext cx="1966449" cy="575997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3977639" y="2685923"/>
            <a:ext cx="7818120" cy="156845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p>
            <a:pPr algn="ctr"/>
            <a:r>
              <a:rPr sz="2400" b="1">
                <a:solidFill>
                  <a:srgbClr val="FFFFFF"/>
                </a:solidFill>
                <a:latin typeface="Arial" panose="020B0604020202020204"/>
              </a:rPr>
              <a:t>Rethinking Policy Diversity in Ensemble Policy Gradient</a:t>
            </a:r>
            <a:endParaRPr sz="2400" b="1">
              <a:solidFill>
                <a:srgbClr val="FFFFFF"/>
              </a:solidFill>
              <a:latin typeface="Arial" panose="020B0604020202020204"/>
            </a:endParaRPr>
          </a:p>
          <a:p>
            <a:pPr algn="ctr"/>
            <a:r>
              <a:rPr sz="2400" b="1">
                <a:solidFill>
                  <a:srgbClr val="FFFFFF"/>
                </a:solidFill>
                <a:latin typeface="Arial" panose="020B0604020202020204"/>
              </a:rPr>
              <a:t>in Large-Scale Reinforcement Learning</a:t>
            </a:r>
            <a:endParaRPr sz="2400" b="1">
              <a:solidFill>
                <a:srgbClr val="FFFFFF"/>
              </a:solidFill>
              <a:latin typeface="Arial" panose="020B0604020202020204"/>
            </a:endParaRPr>
          </a:p>
          <a:p>
            <a:pPr algn="ctr"/>
            <a:r>
              <a:rPr lang="en-US" altLang="zh-CN" sz="2400" b="1">
                <a:solidFill>
                  <a:srgbClr val="FFFFFF"/>
                </a:solidFill>
                <a:latin typeface="Arial" panose="020B0604020202020204"/>
              </a:rPr>
              <a:t>LEARNING</a:t>
            </a:r>
            <a:endParaRPr lang="en-US" altLang="zh-CN" sz="240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1" name="文本占位符 13"/>
          <p:cNvSpPr txBox="1"/>
          <p:nvPr/>
        </p:nvSpPr>
        <p:spPr>
          <a:xfrm>
            <a:off x="3977639" y="4828032"/>
            <a:ext cx="7818120" cy="77724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10000"/>
              </a:lnSpc>
              <a:defRPr/>
            </a:pPr>
            <a:r>
              <a:rPr sz="1500" b="1">
                <a:solidFill>
                  <a:srgbClr val="1B6298"/>
                </a:solidFill>
                <a:latin typeface="微软雅黑" panose="020B0503020204020204" charset="-122"/>
                <a:ea typeface="微软雅黑" panose="020B0503020204020204" charset="-122"/>
              </a:rPr>
              <a:t>ICLR 2026</a:t>
            </a:r>
            <a:endParaRPr lang="en-US" dirty="0">
              <a:solidFill>
                <a:sysClr val="windowText" lastClr="000000"/>
              </a:solidFill>
              <a:latin typeface="Arial" panose="020B0604020202020204"/>
              <a:ea typeface="微软雅黑" panose="020B0503020204020204" charset="-122"/>
            </a:endParaRPr>
          </a:p>
          <a:p>
            <a:pPr algn="ctr">
              <a:lnSpc>
                <a:spcPct val="110000"/>
              </a:lnSpc>
            </a:pPr>
            <a:r>
              <a:rPr sz="1500" b="1">
                <a:solidFill>
                  <a:srgbClr val="1B6298"/>
                </a:solidFill>
                <a:latin typeface="微软雅黑" panose="020B0503020204020204" charset="-122"/>
                <a:ea typeface="微软雅黑" panose="020B0503020204020204" charset="-122"/>
              </a:rPr>
              <a:t>汇报人：</a:t>
            </a:r>
            <a:r>
              <a:rPr lang="zh-CN" sz="1500" b="1">
                <a:solidFill>
                  <a:srgbClr val="1B6298"/>
                </a:solidFill>
                <a:latin typeface="微软雅黑" panose="020B0503020204020204" charset="-122"/>
                <a:ea typeface="微软雅黑" panose="020B0503020204020204" charset="-122"/>
              </a:rPr>
              <a:t>许</a:t>
            </a:r>
            <a:r>
              <a:rPr lang="zh-CN" sz="1500" b="1">
                <a:solidFill>
                  <a:srgbClr val="1B6298"/>
                </a:solidFill>
                <a:latin typeface="微软雅黑" panose="020B0503020204020204" charset="-122"/>
                <a:ea typeface="微软雅黑" panose="020B0503020204020204" charset="-122"/>
              </a:rPr>
              <a:t>贺</a:t>
            </a:r>
            <a:endParaRPr lang="zh-CN" sz="1500" b="1">
              <a:solidFill>
                <a:srgbClr val="1B629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ransition spd="slow" advClick="0" advTm="1000">
    <p:randomBar dir="vert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290" name="直接连接符 50"/>
          <p:cNvCxnSpPr>
            <a:cxnSpLocks noChangeShapeType="1"/>
          </p:cNvCxnSpPr>
          <p:nvPr/>
        </p:nvCxnSpPr>
        <p:spPr bwMode="auto">
          <a:xfrm>
            <a:off x="660400" y="760413"/>
            <a:ext cx="10858500" cy="0"/>
          </a:xfrm>
          <a:prstGeom prst="line">
            <a:avLst/>
          </a:prstGeom>
          <a:noFill/>
          <a:ln w="22225">
            <a:solidFill>
              <a:srgbClr val="1C6299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2291" name="标题占位符 1"/>
          <p:cNvSpPr txBox="1">
            <a:spLocks noChangeArrowheads="1"/>
          </p:cNvSpPr>
          <p:nvPr/>
        </p:nvSpPr>
        <p:spPr bwMode="auto">
          <a:xfrm>
            <a:off x="965200" y="-100013"/>
            <a:ext cx="5435600" cy="817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anchor="b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600" b="1" dirty="0">
                <a:solidFill>
                  <a:srgbClr val="0000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作者信息</a:t>
            </a:r>
            <a:endParaRPr lang="zh-CN" altLang="en-US" sz="2600" b="1" dirty="0">
              <a:solidFill>
                <a:srgbClr val="000000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grpSp>
        <p:nvGrpSpPr>
          <p:cNvPr id="12292" name="组合 53"/>
          <p:cNvGrpSpPr/>
          <p:nvPr/>
        </p:nvGrpSpPr>
        <p:grpSpPr bwMode="auto">
          <a:xfrm>
            <a:off x="203200" y="160338"/>
            <a:ext cx="647700" cy="619125"/>
            <a:chOff x="178632" y="159728"/>
            <a:chExt cx="647571" cy="619478"/>
          </a:xfrm>
        </p:grpSpPr>
        <p:sp>
          <p:nvSpPr>
            <p:cNvPr id="55" name="椭圆 54"/>
            <p:cNvSpPr/>
            <p:nvPr/>
          </p:nvSpPr>
          <p:spPr>
            <a:xfrm>
              <a:off x="357984" y="159728"/>
              <a:ext cx="468219" cy="468579"/>
            </a:xfrm>
            <a:prstGeom prst="ellipse">
              <a:avLst/>
            </a:prstGeom>
            <a:gradFill>
              <a:gsLst>
                <a:gs pos="0">
                  <a:srgbClr val="1C6299"/>
                </a:gs>
                <a:gs pos="100000">
                  <a:srgbClr val="5C307D">
                    <a:alpha val="90000"/>
                  </a:srgb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200" i="1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57" name="椭圆 56"/>
            <p:cNvSpPr/>
            <p:nvPr/>
          </p:nvSpPr>
          <p:spPr>
            <a:xfrm>
              <a:off x="178632" y="602893"/>
              <a:ext cx="176178" cy="176313"/>
            </a:xfrm>
            <a:prstGeom prst="ellipse">
              <a:avLst/>
            </a:prstGeom>
            <a:gradFill>
              <a:gsLst>
                <a:gs pos="0">
                  <a:srgbClr val="1C6299"/>
                </a:gs>
                <a:gs pos="100000">
                  <a:srgbClr val="5C307D">
                    <a:alpha val="90000"/>
                  </a:srgbClr>
                </a:gs>
              </a:gsLst>
              <a:lin ang="3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200" i="1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59" name="文本框 58"/>
          <p:cNvSpPr txBox="1"/>
          <p:nvPr/>
        </p:nvSpPr>
        <p:spPr>
          <a:xfrm>
            <a:off x="660400" y="6535738"/>
            <a:ext cx="1941513" cy="24606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000" spc="600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自强不息 厚德载物</a:t>
            </a:r>
            <a:endParaRPr lang="zh-CN" altLang="en-US" sz="1000" spc="600" dirty="0">
              <a:solidFill>
                <a:prstClr val="whit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2294" name="图片 60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25025" y="176213"/>
            <a:ext cx="1897063" cy="555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2" name="矩形 61"/>
          <p:cNvSpPr/>
          <p:nvPr/>
        </p:nvSpPr>
        <p:spPr>
          <a:xfrm>
            <a:off x="0" y="6570663"/>
            <a:ext cx="12192000" cy="287337"/>
          </a:xfrm>
          <a:prstGeom prst="rect">
            <a:avLst/>
          </a:prstGeom>
          <a:solidFill>
            <a:srgbClr val="1C629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kern="0">
              <a:solidFill>
                <a:prstClr val="white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63" name="文本框 62"/>
          <p:cNvSpPr txBox="1"/>
          <p:nvPr/>
        </p:nvSpPr>
        <p:spPr>
          <a:xfrm>
            <a:off x="593725" y="6583363"/>
            <a:ext cx="2032000" cy="24606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000" spc="600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知行合一、经世致用</a:t>
            </a:r>
            <a:endParaRPr lang="zh-CN" altLang="en-US" sz="1000" spc="600" dirty="0">
              <a:solidFill>
                <a:prstClr val="whit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8" name="文本框 67"/>
          <p:cNvSpPr txBox="1"/>
          <p:nvPr/>
        </p:nvSpPr>
        <p:spPr>
          <a:xfrm>
            <a:off x="9137792" y="6583649"/>
            <a:ext cx="248497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lvl="0" algn="r">
              <a:defRPr/>
            </a:pPr>
            <a:r>
              <a:rPr lang="en-US" altLang="zh-CN" sz="1000" spc="300" dirty="0">
                <a:solidFill>
                  <a:prstClr val="white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Central South University</a:t>
            </a:r>
            <a:endParaRPr kumimoji="0" lang="zh-CN" altLang="en-US" sz="1000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650" y="789305"/>
            <a:ext cx="9341485" cy="5636895"/>
          </a:xfrm>
          <a:prstGeom prst="rect">
            <a:avLst/>
          </a:prstGeom>
        </p:spPr>
      </p:pic>
    </p:spTree>
  </p:cSld>
  <p:clrMapOvr>
    <a:masterClrMapping/>
  </p:clrMapOvr>
  <p:transition spd="slow" advTm="3000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7" name="文本框 36"/>
          <p:cNvSpPr txBox="1"/>
          <p:nvPr/>
        </p:nvSpPr>
        <p:spPr>
          <a:xfrm>
            <a:off x="8610404" y="6583649"/>
            <a:ext cx="301236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0" b="0" i="0" u="none" strike="noStrike" kern="120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Tsinghua University of China</a:t>
            </a:r>
            <a:endParaRPr kumimoji="0" lang="zh-CN" altLang="en-US" sz="1000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62" name="文本框 61"/>
          <p:cNvSpPr txBox="1"/>
          <p:nvPr/>
        </p:nvSpPr>
        <p:spPr>
          <a:xfrm>
            <a:off x="660400" y="6583649"/>
            <a:ext cx="194155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6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自强不息 厚德载物</a:t>
            </a:r>
            <a:endParaRPr kumimoji="0" lang="zh-CN" altLang="en-US" sz="1000" b="0" i="0" u="none" strike="noStrike" kern="1200" cap="none" spc="6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64" name="矩形 63"/>
          <p:cNvSpPr/>
          <p:nvPr/>
        </p:nvSpPr>
        <p:spPr>
          <a:xfrm>
            <a:off x="0" y="6570000"/>
            <a:ext cx="12192000" cy="288000"/>
          </a:xfrm>
          <a:prstGeom prst="rect">
            <a:avLst/>
          </a:prstGeom>
          <a:solidFill>
            <a:srgbClr val="1C629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66" name="文本框 65"/>
          <p:cNvSpPr txBox="1"/>
          <p:nvPr/>
        </p:nvSpPr>
        <p:spPr>
          <a:xfrm>
            <a:off x="594090" y="6583649"/>
            <a:ext cx="203132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defRPr/>
            </a:pPr>
            <a:r>
              <a:rPr lang="zh-CN" altLang="en-US" sz="1000" spc="600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知行合一、经世致用</a:t>
            </a:r>
            <a:endParaRPr kumimoji="0" lang="zh-CN" altLang="en-US" sz="1000" b="0" i="0" u="none" strike="noStrike" kern="1200" cap="none" spc="6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68" name="文本框 67"/>
          <p:cNvSpPr txBox="1"/>
          <p:nvPr/>
        </p:nvSpPr>
        <p:spPr>
          <a:xfrm>
            <a:off x="9137792" y="6583649"/>
            <a:ext cx="248497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r">
              <a:defRPr/>
            </a:pPr>
            <a:r>
              <a:rPr lang="en-US" altLang="zh-CN" sz="1000" spc="300" dirty="0">
                <a:solidFill>
                  <a:prstClr val="white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Central South University</a:t>
            </a:r>
            <a:endParaRPr kumimoji="0" lang="zh-CN" altLang="en-US" sz="1000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cxnSp>
        <p:nvCxnSpPr>
          <p:cNvPr id="69" name="直接连接符 68"/>
          <p:cNvCxnSpPr/>
          <p:nvPr/>
        </p:nvCxnSpPr>
        <p:spPr>
          <a:xfrm>
            <a:off x="660400" y="760413"/>
            <a:ext cx="10858500" cy="0"/>
          </a:xfrm>
          <a:prstGeom prst="line">
            <a:avLst/>
          </a:prstGeom>
          <a:noFill/>
          <a:ln w="22225" cap="flat" cmpd="sng" algn="ctr">
            <a:solidFill>
              <a:srgbClr val="1C6299"/>
            </a:solidFill>
            <a:prstDash val="solid"/>
            <a:miter lim="800000"/>
          </a:ln>
          <a:effectLst/>
        </p:spPr>
      </p:cxnSp>
      <p:grpSp>
        <p:nvGrpSpPr>
          <p:cNvPr id="70" name="组合 69"/>
          <p:cNvGrpSpPr/>
          <p:nvPr/>
        </p:nvGrpSpPr>
        <p:grpSpPr>
          <a:xfrm>
            <a:off x="203760" y="159728"/>
            <a:ext cx="725344" cy="619478"/>
            <a:chOff x="178632" y="159728"/>
            <a:chExt cx="725344" cy="619478"/>
          </a:xfrm>
        </p:grpSpPr>
        <p:sp>
          <p:nvSpPr>
            <p:cNvPr id="71" name="椭圆 70"/>
            <p:cNvSpPr/>
            <p:nvPr/>
          </p:nvSpPr>
          <p:spPr>
            <a:xfrm>
              <a:off x="358210" y="159728"/>
              <a:ext cx="468000" cy="468000"/>
            </a:xfrm>
            <a:prstGeom prst="ellipse">
              <a:avLst/>
            </a:prstGeom>
            <a:gradFill>
              <a:gsLst>
                <a:gs pos="0">
                  <a:srgbClr val="1C6299"/>
                </a:gs>
                <a:gs pos="100000">
                  <a:srgbClr val="5C307D">
                    <a:alpha val="90000"/>
                  </a:srgb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73" name="椭圆 72"/>
            <p:cNvSpPr/>
            <p:nvPr/>
          </p:nvSpPr>
          <p:spPr>
            <a:xfrm>
              <a:off x="178632" y="602993"/>
              <a:ext cx="176213" cy="176213"/>
            </a:xfrm>
            <a:prstGeom prst="ellipse">
              <a:avLst/>
            </a:prstGeom>
            <a:gradFill>
              <a:gsLst>
                <a:gs pos="0">
                  <a:srgbClr val="1C6299"/>
                </a:gs>
                <a:gs pos="100000">
                  <a:srgbClr val="5C307D">
                    <a:alpha val="90000"/>
                  </a:srgbClr>
                </a:gs>
              </a:gsLst>
              <a:lin ang="3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</p:grpSp>
      <p:pic>
        <p:nvPicPr>
          <p:cNvPr id="74" name="图片 73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4913" y="176378"/>
            <a:ext cx="1897854" cy="555905"/>
          </a:xfrm>
          <a:prstGeom prst="rect">
            <a:avLst/>
          </a:prstGeom>
        </p:spPr>
      </p:pic>
      <p:sp>
        <p:nvSpPr>
          <p:cNvPr id="15" name="标题占位符 1"/>
          <p:cNvSpPr txBox="1"/>
          <p:nvPr/>
        </p:nvSpPr>
        <p:spPr>
          <a:xfrm>
            <a:off x="965199" y="-100014"/>
            <a:ext cx="8759713" cy="817564"/>
          </a:xfrm>
          <a:prstGeom prst="rect">
            <a:avLst/>
          </a:prstGeom>
          <a:ln>
            <a:noFill/>
          </a:ln>
        </p:spPr>
        <p:txBody>
          <a:bodyPr vert="horz" lIns="0" tIns="45720" rIns="91440" bIns="45720" rtlCol="0" anchor="b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zh-CN" altLang="en-US" sz="2600" b="1" dirty="0">
                <a:solidFill>
                  <a:srgbClr val="0000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汇报提纲</a:t>
            </a:r>
            <a:endParaRPr lang="zh-CN" altLang="en-US" sz="2600" b="1" dirty="0">
              <a:solidFill>
                <a:srgbClr val="000000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60400" y="803275"/>
            <a:ext cx="10473055" cy="55225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algn="l" fontAlgn="auto">
              <a:lnSpc>
                <a:spcPct val="116000"/>
              </a:lnSpc>
              <a:spcAft>
                <a:spcPts val="300"/>
              </a:spcAft>
            </a:pPr>
            <a:r>
              <a:rPr sz="24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01   研究背景与核心科学问题</a:t>
            </a:r>
            <a:endParaRPr lang="zh-CN" altLang="en-US" sz="2400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16000"/>
              </a:lnSpc>
              <a:spcAft>
                <a:spcPts val="300"/>
              </a:spcAft>
            </a:pPr>
            <a:r>
              <a:rPr sz="2400" b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   大规模并行 RL 的探索困境：为什么堆环境不再涨分</a:t>
            </a:r>
            <a:endParaRPr sz="24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16000"/>
              </a:lnSpc>
              <a:spcAft>
                <a:spcPts val="300"/>
              </a:spcAft>
            </a:pPr>
            <a:r>
              <a:rPr sz="24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  核心思路：三个命题</a:t>
            </a:r>
            <a:endParaRPr sz="2400" b="1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16000"/>
              </a:lnSpc>
              <a:spcAft>
                <a:spcPts val="300"/>
              </a:spcAft>
            </a:pPr>
            <a:r>
              <a:rPr sz="2400" b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   把探索质量</a:t>
            </a:r>
            <a:r>
              <a:rPr lang="zh-CN" sz="2400" b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转变</a:t>
            </a:r>
            <a:r>
              <a:rPr sz="2400" b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成 ESS / 裁剪偏差 / KL 散度</a:t>
            </a:r>
            <a:endParaRPr sz="24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16000"/>
              </a:lnSpc>
              <a:spcAft>
                <a:spcPts val="300"/>
              </a:spcAft>
            </a:pPr>
            <a:r>
              <a:rPr sz="24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03   CPO 方法详解</a:t>
            </a:r>
            <a:endParaRPr sz="2400" b="1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16000"/>
              </a:lnSpc>
              <a:spcAft>
                <a:spcPts val="300"/>
              </a:spcAft>
            </a:pPr>
            <a:r>
              <a:rPr sz="2400" b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   KL 约束的闭式解 + 对抗奖励</a:t>
            </a:r>
            <a:endParaRPr sz="2400" b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16000"/>
              </a:lnSpc>
              <a:spcAft>
                <a:spcPts val="300"/>
              </a:spcAft>
            </a:pPr>
            <a:r>
              <a:rPr sz="24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04   对比方法拆解（PPO / SAPG）</a:t>
            </a:r>
            <a:endParaRPr sz="2400" b="1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16000"/>
              </a:lnSpc>
              <a:spcAft>
                <a:spcPts val="300"/>
              </a:spcAft>
            </a:pPr>
            <a:r>
              <a:rPr sz="2400" b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   技术路线的机制差异</a:t>
            </a:r>
            <a:endParaRPr sz="2400" b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16000"/>
              </a:lnSpc>
              <a:spcAft>
                <a:spcPts val="300"/>
              </a:spcAft>
            </a:pPr>
            <a:r>
              <a:rPr sz="24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05   实验结果与机制验证</a:t>
            </a:r>
            <a:endParaRPr sz="2400" b="1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16000"/>
              </a:lnSpc>
              <a:spcAft>
                <a:spcPts val="300"/>
              </a:spcAft>
            </a:pPr>
            <a:r>
              <a:rPr sz="2400" b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   结果、ESS </a:t>
            </a:r>
            <a:r>
              <a:rPr lang="zh-CN" sz="2400" b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变化</a:t>
            </a:r>
            <a:r>
              <a:rPr sz="2400" b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、KL 热力图与消融</a:t>
            </a:r>
            <a:r>
              <a:rPr lang="zh-CN" sz="2400" b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实验</a:t>
            </a:r>
            <a:endParaRPr sz="2400" b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16000"/>
              </a:lnSpc>
              <a:spcAft>
                <a:spcPts val="300"/>
              </a:spcAft>
            </a:pPr>
            <a:r>
              <a:rPr sz="24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06   总结</a:t>
            </a:r>
            <a:endParaRPr sz="2400" b="1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16000"/>
              </a:lnSpc>
              <a:spcAft>
                <a:spcPts val="300"/>
              </a:spcAft>
            </a:pPr>
            <a:r>
              <a:rPr sz="2400" b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  </a:t>
            </a:r>
            <a:endParaRPr sz="2400" b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 advTm="3000">
        <p15:prstTrans prst="pageCurlDouble"/>
      </p:transition>
    </mc:Choice>
    <mc:Fallback>
      <p:transition spd="slow" advTm="3000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7" name="文本框 36"/>
          <p:cNvSpPr txBox="1"/>
          <p:nvPr/>
        </p:nvSpPr>
        <p:spPr>
          <a:xfrm>
            <a:off x="8610404" y="6583649"/>
            <a:ext cx="301236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0" b="0" i="0" u="none" strike="noStrike" kern="120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Tsinghua University of China</a:t>
            </a:r>
            <a:endParaRPr kumimoji="0" lang="zh-CN" altLang="en-US" sz="1000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62" name="文本框 61"/>
          <p:cNvSpPr txBox="1"/>
          <p:nvPr/>
        </p:nvSpPr>
        <p:spPr>
          <a:xfrm>
            <a:off x="660400" y="6583649"/>
            <a:ext cx="194155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6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自强不息 厚德载物</a:t>
            </a:r>
            <a:endParaRPr kumimoji="0" lang="zh-CN" altLang="en-US" sz="1000" b="0" i="0" u="none" strike="noStrike" kern="1200" cap="none" spc="6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64" name="矩形 63"/>
          <p:cNvSpPr/>
          <p:nvPr/>
        </p:nvSpPr>
        <p:spPr>
          <a:xfrm>
            <a:off x="0" y="6570000"/>
            <a:ext cx="12192000" cy="288000"/>
          </a:xfrm>
          <a:prstGeom prst="rect">
            <a:avLst/>
          </a:prstGeom>
          <a:solidFill>
            <a:srgbClr val="1C629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66" name="文本框 65"/>
          <p:cNvSpPr txBox="1"/>
          <p:nvPr/>
        </p:nvSpPr>
        <p:spPr>
          <a:xfrm>
            <a:off x="594090" y="6583649"/>
            <a:ext cx="203132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defRPr/>
            </a:pPr>
            <a:r>
              <a:rPr lang="zh-CN" altLang="en-US" sz="1000" spc="600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知行合一、经世致用</a:t>
            </a:r>
            <a:endParaRPr kumimoji="0" lang="zh-CN" altLang="en-US" sz="1000" b="0" i="0" u="none" strike="noStrike" kern="1200" cap="none" spc="6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68" name="文本框 67"/>
          <p:cNvSpPr txBox="1"/>
          <p:nvPr/>
        </p:nvSpPr>
        <p:spPr>
          <a:xfrm>
            <a:off x="9137792" y="6583649"/>
            <a:ext cx="248497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r">
              <a:defRPr/>
            </a:pPr>
            <a:r>
              <a:rPr lang="en-US" altLang="zh-CN" sz="1000" spc="300" dirty="0">
                <a:solidFill>
                  <a:prstClr val="white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Central South University</a:t>
            </a:r>
            <a:endParaRPr kumimoji="0" lang="zh-CN" altLang="en-US" sz="1000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cxnSp>
        <p:nvCxnSpPr>
          <p:cNvPr id="69" name="直接连接符 68"/>
          <p:cNvCxnSpPr/>
          <p:nvPr/>
        </p:nvCxnSpPr>
        <p:spPr>
          <a:xfrm>
            <a:off x="660400" y="760413"/>
            <a:ext cx="10858500" cy="0"/>
          </a:xfrm>
          <a:prstGeom prst="line">
            <a:avLst/>
          </a:prstGeom>
          <a:noFill/>
          <a:ln w="22225" cap="flat" cmpd="sng" algn="ctr">
            <a:solidFill>
              <a:srgbClr val="1C6299"/>
            </a:solidFill>
            <a:prstDash val="solid"/>
            <a:miter lim="800000"/>
          </a:ln>
          <a:effectLst/>
        </p:spPr>
      </p:cxnSp>
      <p:grpSp>
        <p:nvGrpSpPr>
          <p:cNvPr id="70" name="组合 69"/>
          <p:cNvGrpSpPr/>
          <p:nvPr/>
        </p:nvGrpSpPr>
        <p:grpSpPr>
          <a:xfrm>
            <a:off x="203760" y="159728"/>
            <a:ext cx="725344" cy="619478"/>
            <a:chOff x="178632" y="159728"/>
            <a:chExt cx="725344" cy="619478"/>
          </a:xfrm>
        </p:grpSpPr>
        <p:sp>
          <p:nvSpPr>
            <p:cNvPr id="71" name="椭圆 70"/>
            <p:cNvSpPr/>
            <p:nvPr/>
          </p:nvSpPr>
          <p:spPr>
            <a:xfrm>
              <a:off x="358210" y="159728"/>
              <a:ext cx="468000" cy="468000"/>
            </a:xfrm>
            <a:prstGeom prst="ellipse">
              <a:avLst/>
            </a:prstGeom>
            <a:gradFill>
              <a:gsLst>
                <a:gs pos="0">
                  <a:srgbClr val="1C6299"/>
                </a:gs>
                <a:gs pos="100000">
                  <a:srgbClr val="5C307D">
                    <a:alpha val="90000"/>
                  </a:srgb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73" name="椭圆 72"/>
            <p:cNvSpPr/>
            <p:nvPr/>
          </p:nvSpPr>
          <p:spPr>
            <a:xfrm>
              <a:off x="178632" y="602993"/>
              <a:ext cx="176213" cy="176213"/>
            </a:xfrm>
            <a:prstGeom prst="ellipse">
              <a:avLst/>
            </a:prstGeom>
            <a:gradFill>
              <a:gsLst>
                <a:gs pos="0">
                  <a:srgbClr val="1C6299"/>
                </a:gs>
                <a:gs pos="100000">
                  <a:srgbClr val="5C307D">
                    <a:alpha val="90000"/>
                  </a:srgbClr>
                </a:gs>
              </a:gsLst>
              <a:lin ang="3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</p:grpSp>
      <p:pic>
        <p:nvPicPr>
          <p:cNvPr id="74" name="图片 73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4913" y="176378"/>
            <a:ext cx="1897854" cy="555905"/>
          </a:xfrm>
          <a:prstGeom prst="rect">
            <a:avLst/>
          </a:prstGeom>
        </p:spPr>
      </p:pic>
      <p:sp>
        <p:nvSpPr>
          <p:cNvPr id="15" name="标题占位符 1"/>
          <p:cNvSpPr txBox="1"/>
          <p:nvPr/>
        </p:nvSpPr>
        <p:spPr>
          <a:xfrm>
            <a:off x="965199" y="-100014"/>
            <a:ext cx="8759713" cy="817564"/>
          </a:xfrm>
          <a:prstGeom prst="rect">
            <a:avLst/>
          </a:prstGeom>
          <a:ln>
            <a:noFill/>
          </a:ln>
        </p:spPr>
        <p:txBody>
          <a:bodyPr vert="horz" lIns="0" tIns="45720" rIns="91440" bIns="45720" rtlCol="0" anchor="b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zh-CN" altLang="en-US" sz="2600" b="1" dirty="0">
                <a:solidFill>
                  <a:srgbClr val="0000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一、研究背景</a:t>
            </a:r>
            <a:endParaRPr lang="zh-CN" altLang="en-US" sz="2600" b="1" dirty="0">
              <a:solidFill>
                <a:srgbClr val="000000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63575" y="1060450"/>
            <a:ext cx="10473055" cy="29464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algn="l" fontAlgn="auto">
              <a:lnSpc>
                <a:spcPct val="130000"/>
              </a:lnSpc>
              <a:spcAft>
                <a:spcPts val="300"/>
              </a:spcAft>
            </a:pPr>
            <a:r>
              <a:rPr sz="2800" b="0">
                <a:solidFill>
                  <a:srgbClr val="6E7682"/>
                </a:solidFill>
                <a:latin typeface="Arial" panose="020B0604020202020204"/>
                <a:ea typeface="微软雅黑" panose="020B0503020204020204" charset="-122"/>
              </a:rPr>
              <a:t>1. Introduction</a:t>
            </a:r>
            <a:endParaRPr sz="3200">
              <a:solidFill>
                <a:schemeClr val="tx1"/>
              </a:solidFill>
            </a:endParaRPr>
          </a:p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>
                <a:solidFill>
                  <a:schemeClr val="tx1"/>
                </a:solidFill>
                <a:latin typeface="Arial" panose="020B0604020202020204"/>
                <a:ea typeface="微软雅黑" panose="020B0503020204020204" charset="-122"/>
              </a:rPr>
              <a:t>① GPU 并行仿真让「同时跑几万个环境」成为现实</a:t>
            </a:r>
            <a:endParaRPr>
              <a:solidFill>
                <a:schemeClr val="tx1"/>
              </a:solidFill>
              <a:latin typeface="Arial" panose="020B0604020202020204"/>
              <a:ea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300"/>
              </a:spcAft>
              <a:buClrTx/>
              <a:buSzTx/>
              <a:buFontTx/>
            </a:pPr>
            <a:r>
              <a:rPr>
                <a:solidFill>
                  <a:schemeClr val="tx1"/>
                </a:solidFill>
                <a:latin typeface="Arial" panose="020B0604020202020204"/>
                <a:ea typeface="微软雅黑" panose="020B0503020204020204" charset="-122"/>
              </a:rPr>
              <a:t>② </a:t>
            </a:r>
            <a:r>
              <a:rPr lang="zh-CN">
                <a:solidFill>
                  <a:schemeClr val="tx1"/>
                </a:solidFill>
                <a:latin typeface="Arial" panose="020B0604020202020204"/>
                <a:ea typeface="微软雅黑" panose="020B0503020204020204" charset="-122"/>
              </a:rPr>
              <a:t>但是会</a:t>
            </a:r>
            <a:r>
              <a:rPr>
                <a:solidFill>
                  <a:schemeClr val="tx1"/>
                </a:solidFill>
                <a:latin typeface="Arial" panose="020B0604020202020204"/>
                <a:ea typeface="微软雅黑" panose="020B0503020204020204" charset="-122"/>
              </a:rPr>
              <a:t>发现：PPO 的环境数从千级加到万级，收益迅速饱和</a:t>
            </a:r>
            <a:endParaRPr>
              <a:solidFill>
                <a:schemeClr val="tx1"/>
              </a:solidFill>
              <a:latin typeface="Arial" panose="020B0604020202020204"/>
              <a:ea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300"/>
              </a:spcAft>
              <a:buClrTx/>
              <a:buSzTx/>
              <a:buFontTx/>
            </a:pPr>
            <a:r>
              <a:rPr>
                <a:solidFill>
                  <a:schemeClr val="tx1"/>
                </a:solidFill>
                <a:latin typeface="Arial" panose="020B0604020202020204"/>
                <a:ea typeface="微软雅黑" panose="020B0503020204020204" charset="-122"/>
              </a:rPr>
              <a:t>        </a:t>
            </a:r>
            <a:r>
              <a:rPr lang="zh-CN">
                <a:solidFill>
                  <a:schemeClr val="tx1"/>
                </a:solidFill>
                <a:latin typeface="Arial" panose="020B0604020202020204"/>
                <a:ea typeface="微软雅黑" panose="020B0503020204020204" charset="-122"/>
              </a:rPr>
              <a:t>原因</a:t>
            </a:r>
            <a:r>
              <a:rPr lang="en-US" altLang="zh-CN">
                <a:solidFill>
                  <a:schemeClr val="tx1"/>
                </a:solidFill>
                <a:latin typeface="Arial" panose="020B0604020202020204"/>
                <a:ea typeface="微软雅黑" panose="020B0503020204020204" charset="-122"/>
              </a:rPr>
              <a:t>:</a:t>
            </a:r>
            <a:r>
              <a:rPr>
                <a:solidFill>
                  <a:schemeClr val="tx1"/>
                </a:solidFill>
                <a:latin typeface="Arial" panose="020B0604020202020204"/>
                <a:ea typeface="微软雅黑" panose="020B0503020204020204" charset="-122"/>
              </a:rPr>
              <a:t>单策略探索多样性有限、轨迹高度相似 —— 加环境 ≈ 把同一件事重复更多遍</a:t>
            </a:r>
            <a:endParaRPr>
              <a:solidFill>
                <a:schemeClr val="tx1"/>
              </a:solidFill>
              <a:latin typeface="Arial" panose="020B0604020202020204"/>
              <a:ea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300"/>
              </a:spcAft>
              <a:buClrTx/>
              <a:buSzTx/>
              <a:buNone/>
            </a:pPr>
            <a:r>
              <a:rPr>
                <a:solidFill>
                  <a:schemeClr val="tx1"/>
                </a:solidFill>
                <a:latin typeface="Arial" panose="020B0604020202020204"/>
                <a:ea typeface="微软雅黑" panose="020B0503020204020204" charset="-122"/>
                <a:sym typeface="+mn-ea"/>
              </a:rPr>
              <a:t>③ 于是出现「智能体集成」路线：多个策略各管一批环境，采集多样化样本</a:t>
            </a:r>
            <a:endParaRPr>
              <a:solidFill>
                <a:schemeClr val="tx1"/>
              </a:solidFill>
              <a:latin typeface="Arial" panose="020B0604020202020204"/>
              <a:ea typeface="微软雅黑" panose="020B0503020204020204" charset="-122"/>
              <a:sym typeface="+mn-ea"/>
            </a:endParaRPr>
          </a:p>
          <a:p>
            <a:pPr algn="l">
              <a:lnSpc>
                <a:spcPct val="130000"/>
              </a:lnSpc>
              <a:spcAft>
                <a:spcPts val="300"/>
              </a:spcAft>
              <a:buClrTx/>
              <a:buSzTx/>
              <a:buNone/>
            </a:pPr>
            <a:r>
              <a:rPr lang="en-US" altLang="zh-CN">
                <a:solidFill>
                  <a:schemeClr val="tx1"/>
                </a:solidFill>
                <a:latin typeface="Arial" panose="020B0604020202020204"/>
                <a:ea typeface="微软雅黑" panose="020B0503020204020204" charset="-122"/>
                <a:sym typeface="+mn-ea"/>
              </a:rPr>
              <a:t>        </a:t>
            </a:r>
            <a:r>
              <a:rPr lang="zh-CN">
                <a:solidFill>
                  <a:schemeClr val="tx1"/>
                </a:solidFill>
                <a:latin typeface="Arial" panose="020B0604020202020204"/>
                <a:ea typeface="微软雅黑" panose="020B0503020204020204" charset="-122"/>
                <a:sym typeface="+mn-ea"/>
              </a:rPr>
              <a:t>代表：</a:t>
            </a:r>
            <a:r>
              <a:rPr>
                <a:solidFill>
                  <a:schemeClr val="tx1"/>
                </a:solidFill>
                <a:latin typeface="Arial" panose="020B0604020202020204"/>
                <a:ea typeface="微软雅黑" panose="020B0503020204020204" charset="-122"/>
                <a:sym typeface="+mn-ea"/>
              </a:rPr>
              <a:t> SAPG 用 leader–follower 结构，leader 通过重要性采样吸收 follower 的数据</a:t>
            </a:r>
            <a:endParaRPr>
              <a:solidFill>
                <a:schemeClr val="tx1"/>
              </a:solidFill>
              <a:latin typeface="Arial" panose="020B0604020202020204"/>
              <a:ea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300"/>
              </a:spcAft>
              <a:buClrTx/>
              <a:buSzTx/>
              <a:buNone/>
            </a:pPr>
            <a:endParaRPr sz="1350" b="1">
              <a:solidFill>
                <a:srgbClr val="1B6298"/>
              </a:solidFill>
              <a:latin typeface="Arial" panose="020B0604020202020204"/>
              <a:ea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300"/>
              </a:spcAft>
              <a:buClrTx/>
              <a:buSzTx/>
              <a:buNone/>
            </a:pPr>
            <a:endParaRPr sz="1350" b="1">
              <a:solidFill>
                <a:srgbClr val="1B6298"/>
              </a:solidFill>
              <a:latin typeface="Arial" panose="020B0604020202020204"/>
              <a:ea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300"/>
              </a:spcAft>
              <a:buClrTx/>
              <a:buSzTx/>
              <a:buNone/>
            </a:pPr>
            <a:r>
              <a:rPr sz="1200" b="0">
                <a:solidFill>
                  <a:srgbClr val="6E7682"/>
                </a:solidFill>
                <a:latin typeface="Arial" panose="020B0604020202020204"/>
                <a:ea typeface="微软雅黑" panose="020B0503020204020204" charset="-122"/>
              </a:rPr>
              <a:t>       </a:t>
            </a:r>
            <a:endParaRPr sz="1350" b="1">
              <a:solidFill>
                <a:srgbClr val="1B6298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75" name="Rounded Rectangle 74"/>
          <p:cNvSpPr/>
          <p:nvPr/>
        </p:nvSpPr>
        <p:spPr>
          <a:xfrm>
            <a:off x="594360" y="4507230"/>
            <a:ext cx="10469880" cy="1133475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11430">
            <a:solidFill>
              <a:srgbClr val="E8BE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965200" y="4611370"/>
            <a:ext cx="10058400" cy="7689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策略间的多样性越大，集成策略梯度方法就学得越好吗？</a:t>
            </a:r>
            <a:endParaRPr sz="20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sz="2000">
                <a:solidFill>
                  <a:srgbClr val="262A3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论文的回答是否定的：真正的瓶颈不是探索不够，而是多样性失控。</a:t>
            </a:r>
            <a:endParaRPr sz="2000">
              <a:solidFill>
                <a:srgbClr val="262A34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 advTm="3000">
        <p15:prstTrans prst="pageCurlDouble"/>
      </p:transition>
    </mc:Choice>
    <mc:Fallback>
      <p:transition spd="slow" advTm="3000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7" name="文本框 36"/>
          <p:cNvSpPr txBox="1"/>
          <p:nvPr/>
        </p:nvSpPr>
        <p:spPr>
          <a:xfrm>
            <a:off x="8610404" y="6583649"/>
            <a:ext cx="301236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0" b="0" i="0" u="none" strike="noStrike" kern="120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Tsinghua University of China</a:t>
            </a:r>
            <a:endParaRPr kumimoji="0" lang="zh-CN" altLang="en-US" sz="1000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62" name="文本框 61"/>
          <p:cNvSpPr txBox="1"/>
          <p:nvPr/>
        </p:nvSpPr>
        <p:spPr>
          <a:xfrm>
            <a:off x="660400" y="6583649"/>
            <a:ext cx="194155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6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自强不息 厚德载物</a:t>
            </a:r>
            <a:endParaRPr kumimoji="0" lang="zh-CN" altLang="en-US" sz="1000" b="0" i="0" u="none" strike="noStrike" kern="1200" cap="none" spc="6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64" name="矩形 63"/>
          <p:cNvSpPr/>
          <p:nvPr/>
        </p:nvSpPr>
        <p:spPr>
          <a:xfrm>
            <a:off x="0" y="6570000"/>
            <a:ext cx="12192000" cy="288000"/>
          </a:xfrm>
          <a:prstGeom prst="rect">
            <a:avLst/>
          </a:prstGeom>
          <a:solidFill>
            <a:srgbClr val="1C629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66" name="文本框 65"/>
          <p:cNvSpPr txBox="1"/>
          <p:nvPr/>
        </p:nvSpPr>
        <p:spPr>
          <a:xfrm>
            <a:off x="594090" y="6583649"/>
            <a:ext cx="203132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defRPr/>
            </a:pPr>
            <a:r>
              <a:rPr lang="zh-CN" altLang="en-US" sz="1000" spc="600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知行合一、经世致用</a:t>
            </a:r>
            <a:endParaRPr kumimoji="0" lang="zh-CN" altLang="en-US" sz="1000" b="0" i="0" u="none" strike="noStrike" kern="1200" cap="none" spc="6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68" name="文本框 67"/>
          <p:cNvSpPr txBox="1"/>
          <p:nvPr/>
        </p:nvSpPr>
        <p:spPr>
          <a:xfrm>
            <a:off x="9137792" y="6583649"/>
            <a:ext cx="248497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r">
              <a:defRPr/>
            </a:pPr>
            <a:r>
              <a:rPr lang="en-US" altLang="zh-CN" sz="1000" spc="300" dirty="0">
                <a:solidFill>
                  <a:prstClr val="white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Central South University</a:t>
            </a:r>
            <a:endParaRPr kumimoji="0" lang="zh-CN" altLang="en-US" sz="1000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cxnSp>
        <p:nvCxnSpPr>
          <p:cNvPr id="69" name="直接连接符 68"/>
          <p:cNvCxnSpPr/>
          <p:nvPr/>
        </p:nvCxnSpPr>
        <p:spPr>
          <a:xfrm>
            <a:off x="660400" y="760413"/>
            <a:ext cx="10858500" cy="0"/>
          </a:xfrm>
          <a:prstGeom prst="line">
            <a:avLst/>
          </a:prstGeom>
          <a:noFill/>
          <a:ln w="22225" cap="flat" cmpd="sng" algn="ctr">
            <a:solidFill>
              <a:srgbClr val="1C6299"/>
            </a:solidFill>
            <a:prstDash val="solid"/>
            <a:miter lim="800000"/>
          </a:ln>
          <a:effectLst/>
        </p:spPr>
      </p:cxnSp>
      <p:grpSp>
        <p:nvGrpSpPr>
          <p:cNvPr id="70" name="组合 69"/>
          <p:cNvGrpSpPr/>
          <p:nvPr/>
        </p:nvGrpSpPr>
        <p:grpSpPr>
          <a:xfrm>
            <a:off x="203760" y="159728"/>
            <a:ext cx="725344" cy="619478"/>
            <a:chOff x="178632" y="159728"/>
            <a:chExt cx="725344" cy="619478"/>
          </a:xfrm>
        </p:grpSpPr>
        <p:sp>
          <p:nvSpPr>
            <p:cNvPr id="71" name="椭圆 70"/>
            <p:cNvSpPr/>
            <p:nvPr/>
          </p:nvSpPr>
          <p:spPr>
            <a:xfrm>
              <a:off x="358210" y="159728"/>
              <a:ext cx="468000" cy="468000"/>
            </a:xfrm>
            <a:prstGeom prst="ellipse">
              <a:avLst/>
            </a:prstGeom>
            <a:gradFill>
              <a:gsLst>
                <a:gs pos="0">
                  <a:srgbClr val="1C6299"/>
                </a:gs>
                <a:gs pos="100000">
                  <a:srgbClr val="5C307D">
                    <a:alpha val="90000"/>
                  </a:srgb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73" name="椭圆 72"/>
            <p:cNvSpPr/>
            <p:nvPr/>
          </p:nvSpPr>
          <p:spPr>
            <a:xfrm>
              <a:off x="178632" y="602993"/>
              <a:ext cx="176213" cy="176213"/>
            </a:xfrm>
            <a:prstGeom prst="ellipse">
              <a:avLst/>
            </a:prstGeom>
            <a:gradFill>
              <a:gsLst>
                <a:gs pos="0">
                  <a:srgbClr val="1C6299"/>
                </a:gs>
                <a:gs pos="100000">
                  <a:srgbClr val="5C307D">
                    <a:alpha val="90000"/>
                  </a:srgbClr>
                </a:gs>
              </a:gsLst>
              <a:lin ang="3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</p:grpSp>
      <p:pic>
        <p:nvPicPr>
          <p:cNvPr id="74" name="图片 73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4913" y="176378"/>
            <a:ext cx="1897854" cy="555905"/>
          </a:xfrm>
          <a:prstGeom prst="rect">
            <a:avLst/>
          </a:prstGeom>
        </p:spPr>
      </p:pic>
      <p:sp>
        <p:nvSpPr>
          <p:cNvPr id="15" name="标题占位符 1"/>
          <p:cNvSpPr txBox="1"/>
          <p:nvPr/>
        </p:nvSpPr>
        <p:spPr>
          <a:xfrm>
            <a:off x="965199" y="-100014"/>
            <a:ext cx="8759713" cy="817564"/>
          </a:xfrm>
          <a:prstGeom prst="rect">
            <a:avLst/>
          </a:prstGeom>
          <a:ln>
            <a:noFill/>
          </a:ln>
        </p:spPr>
        <p:txBody>
          <a:bodyPr vert="horz" lIns="0" tIns="45720" rIns="91440" bIns="45720" rtlCol="0" anchor="b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zh-CN" altLang="en-US" sz="2600" b="1" dirty="0">
                <a:solidFill>
                  <a:srgbClr val="0000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一、作者观点</a:t>
            </a:r>
            <a:r>
              <a:rPr lang="zh-CN" altLang="en-US" sz="2600" b="1" dirty="0">
                <a:solidFill>
                  <a:srgbClr val="0000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：多样性需要一个「度」</a:t>
            </a:r>
            <a:endParaRPr lang="zh-CN" altLang="en-US" sz="2600" b="1" dirty="0">
              <a:solidFill>
                <a:srgbClr val="000000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76" name="TextBox 75"/>
          <p:cNvSpPr txBox="1"/>
          <p:nvPr/>
        </p:nvSpPr>
        <p:spPr>
          <a:xfrm>
            <a:off x="660400" y="6038850"/>
            <a:ext cx="10424160" cy="314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b="1">
                <a:solidFill>
                  <a:schemeClr val="tx1"/>
                </a:solidFill>
                <a:latin typeface="Arial" panose="020B0604020202020204"/>
                <a:ea typeface="微软雅黑" panose="020B0503020204020204" charset="-122"/>
              </a:rPr>
              <a:t>左：无约束 → follower 漂移，IS 比值远离 1        右：KL 球内环绕 → 受控多样性</a:t>
            </a:r>
            <a:endParaRPr b="1">
              <a:solidFill>
                <a:schemeClr val="tx1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540" y="1270000"/>
            <a:ext cx="11304270" cy="43878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 advTm="3000">
        <p15:prstTrans prst="pageCurlDouble"/>
      </p:transition>
    </mc:Choice>
    <mc:Fallback>
      <p:transition spd="slow" advTm="3000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7" name="文本框 36"/>
          <p:cNvSpPr txBox="1"/>
          <p:nvPr/>
        </p:nvSpPr>
        <p:spPr>
          <a:xfrm>
            <a:off x="8610404" y="6583649"/>
            <a:ext cx="301236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0" b="0" i="0" u="none" strike="noStrike" kern="120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Tsinghua University of China</a:t>
            </a:r>
            <a:endParaRPr kumimoji="0" lang="zh-CN" altLang="en-US" sz="1000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62" name="文本框 61"/>
          <p:cNvSpPr txBox="1"/>
          <p:nvPr/>
        </p:nvSpPr>
        <p:spPr>
          <a:xfrm>
            <a:off x="660400" y="6583649"/>
            <a:ext cx="194155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6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自强不息 厚德载物</a:t>
            </a:r>
            <a:endParaRPr kumimoji="0" lang="zh-CN" altLang="en-US" sz="1000" b="0" i="0" u="none" strike="noStrike" kern="1200" cap="none" spc="6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64" name="矩形 63"/>
          <p:cNvSpPr/>
          <p:nvPr/>
        </p:nvSpPr>
        <p:spPr>
          <a:xfrm>
            <a:off x="0" y="6570000"/>
            <a:ext cx="12192000" cy="288000"/>
          </a:xfrm>
          <a:prstGeom prst="rect">
            <a:avLst/>
          </a:prstGeom>
          <a:solidFill>
            <a:srgbClr val="1C629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66" name="文本框 65"/>
          <p:cNvSpPr txBox="1"/>
          <p:nvPr/>
        </p:nvSpPr>
        <p:spPr>
          <a:xfrm>
            <a:off x="594090" y="6583649"/>
            <a:ext cx="203132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defRPr/>
            </a:pPr>
            <a:r>
              <a:rPr lang="zh-CN" altLang="en-US" sz="1000" spc="600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知行合一、经世致用</a:t>
            </a:r>
            <a:endParaRPr kumimoji="0" lang="zh-CN" altLang="en-US" sz="1000" b="0" i="0" u="none" strike="noStrike" kern="1200" cap="none" spc="6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68" name="文本框 67"/>
          <p:cNvSpPr txBox="1"/>
          <p:nvPr/>
        </p:nvSpPr>
        <p:spPr>
          <a:xfrm>
            <a:off x="9137792" y="6583649"/>
            <a:ext cx="248497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r">
              <a:defRPr/>
            </a:pPr>
            <a:r>
              <a:rPr lang="en-US" altLang="zh-CN" sz="1000" spc="300" dirty="0">
                <a:solidFill>
                  <a:prstClr val="white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Central South University</a:t>
            </a:r>
            <a:endParaRPr kumimoji="0" lang="zh-CN" altLang="en-US" sz="1000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cxnSp>
        <p:nvCxnSpPr>
          <p:cNvPr id="69" name="直接连接符 68"/>
          <p:cNvCxnSpPr/>
          <p:nvPr/>
        </p:nvCxnSpPr>
        <p:spPr>
          <a:xfrm>
            <a:off x="660400" y="760413"/>
            <a:ext cx="10858500" cy="0"/>
          </a:xfrm>
          <a:prstGeom prst="line">
            <a:avLst/>
          </a:prstGeom>
          <a:noFill/>
          <a:ln w="22225" cap="flat" cmpd="sng" algn="ctr">
            <a:solidFill>
              <a:srgbClr val="1C6299"/>
            </a:solidFill>
            <a:prstDash val="solid"/>
            <a:miter lim="800000"/>
          </a:ln>
          <a:effectLst/>
        </p:spPr>
      </p:cxnSp>
      <p:grpSp>
        <p:nvGrpSpPr>
          <p:cNvPr id="70" name="组合 69"/>
          <p:cNvGrpSpPr/>
          <p:nvPr/>
        </p:nvGrpSpPr>
        <p:grpSpPr>
          <a:xfrm>
            <a:off x="203760" y="159728"/>
            <a:ext cx="725344" cy="619478"/>
            <a:chOff x="178632" y="159728"/>
            <a:chExt cx="725344" cy="619478"/>
          </a:xfrm>
        </p:grpSpPr>
        <p:sp>
          <p:nvSpPr>
            <p:cNvPr id="71" name="椭圆 70"/>
            <p:cNvSpPr/>
            <p:nvPr/>
          </p:nvSpPr>
          <p:spPr>
            <a:xfrm>
              <a:off x="358210" y="159728"/>
              <a:ext cx="468000" cy="468000"/>
            </a:xfrm>
            <a:prstGeom prst="ellipse">
              <a:avLst/>
            </a:prstGeom>
            <a:gradFill>
              <a:gsLst>
                <a:gs pos="0">
                  <a:srgbClr val="1C6299"/>
                </a:gs>
                <a:gs pos="100000">
                  <a:srgbClr val="5C307D">
                    <a:alpha val="90000"/>
                  </a:srgb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73" name="椭圆 72"/>
            <p:cNvSpPr/>
            <p:nvPr/>
          </p:nvSpPr>
          <p:spPr>
            <a:xfrm>
              <a:off x="178632" y="602993"/>
              <a:ext cx="176213" cy="176213"/>
            </a:xfrm>
            <a:prstGeom prst="ellipse">
              <a:avLst/>
            </a:prstGeom>
            <a:gradFill>
              <a:gsLst>
                <a:gs pos="0">
                  <a:srgbClr val="1C6299"/>
                </a:gs>
                <a:gs pos="100000">
                  <a:srgbClr val="5C307D">
                    <a:alpha val="90000"/>
                  </a:srgbClr>
                </a:gs>
              </a:gsLst>
              <a:lin ang="3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</p:grpSp>
      <p:pic>
        <p:nvPicPr>
          <p:cNvPr id="74" name="图片 73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4913" y="176378"/>
            <a:ext cx="1897854" cy="555905"/>
          </a:xfrm>
          <a:prstGeom prst="rect">
            <a:avLst/>
          </a:prstGeom>
        </p:spPr>
      </p:pic>
      <p:sp>
        <p:nvSpPr>
          <p:cNvPr id="15" name="标题占位符 1"/>
          <p:cNvSpPr txBox="1"/>
          <p:nvPr/>
        </p:nvSpPr>
        <p:spPr>
          <a:xfrm>
            <a:off x="965199" y="-100014"/>
            <a:ext cx="8759713" cy="817564"/>
          </a:xfrm>
          <a:prstGeom prst="rect">
            <a:avLst/>
          </a:prstGeom>
          <a:ln>
            <a:noFill/>
          </a:ln>
        </p:spPr>
        <p:txBody>
          <a:bodyPr vert="horz" lIns="0" tIns="45720" rIns="91440" bIns="45720" rtlCol="0" anchor="b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zh-CN" altLang="en-US" sz="2600" b="1" dirty="0">
                <a:solidFill>
                  <a:srgbClr val="0000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二、核心思路：三个命题</a:t>
            </a:r>
            <a:endParaRPr lang="zh-CN" altLang="en-US" sz="2600" b="1" dirty="0">
              <a:solidFill>
                <a:srgbClr val="000000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pic>
        <p:nvPicPr>
          <p:cNvPr id="75" name="Picture 74" descr="fig2_the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575" y="1078865"/>
            <a:ext cx="11214100" cy="450850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3715" y="3143250"/>
            <a:ext cx="476885" cy="31432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10600" y="3143250"/>
            <a:ext cx="2476500" cy="37909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 advTm="3000">
        <p15:prstTrans prst="pageCurlDouble"/>
      </p:transition>
    </mc:Choice>
    <mc:Fallback>
      <p:transition spd="slow" advTm="3000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7" name="文本框 36"/>
          <p:cNvSpPr txBox="1"/>
          <p:nvPr/>
        </p:nvSpPr>
        <p:spPr>
          <a:xfrm>
            <a:off x="8610404" y="6583649"/>
            <a:ext cx="301236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0" b="0" i="0" u="none" strike="noStrike" kern="120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Tsinghua University of China</a:t>
            </a:r>
            <a:endParaRPr kumimoji="0" lang="zh-CN" altLang="en-US" sz="1000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62" name="文本框 61"/>
          <p:cNvSpPr txBox="1"/>
          <p:nvPr/>
        </p:nvSpPr>
        <p:spPr>
          <a:xfrm>
            <a:off x="660400" y="6583649"/>
            <a:ext cx="194155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6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自强不息 厚德载物</a:t>
            </a:r>
            <a:endParaRPr kumimoji="0" lang="zh-CN" altLang="en-US" sz="1000" b="0" i="0" u="none" strike="noStrike" kern="1200" cap="none" spc="6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64" name="矩形 63"/>
          <p:cNvSpPr/>
          <p:nvPr/>
        </p:nvSpPr>
        <p:spPr>
          <a:xfrm>
            <a:off x="0" y="6570000"/>
            <a:ext cx="12192000" cy="288000"/>
          </a:xfrm>
          <a:prstGeom prst="rect">
            <a:avLst/>
          </a:prstGeom>
          <a:solidFill>
            <a:srgbClr val="1C629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66" name="文本框 65"/>
          <p:cNvSpPr txBox="1"/>
          <p:nvPr/>
        </p:nvSpPr>
        <p:spPr>
          <a:xfrm>
            <a:off x="594090" y="6583649"/>
            <a:ext cx="203132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defRPr/>
            </a:pPr>
            <a:r>
              <a:rPr lang="zh-CN" altLang="en-US" sz="1000" spc="600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知行合一、经世致用</a:t>
            </a:r>
            <a:endParaRPr kumimoji="0" lang="zh-CN" altLang="en-US" sz="1000" b="0" i="0" u="none" strike="noStrike" kern="1200" cap="none" spc="6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68" name="文本框 67"/>
          <p:cNvSpPr txBox="1"/>
          <p:nvPr/>
        </p:nvSpPr>
        <p:spPr>
          <a:xfrm>
            <a:off x="9137792" y="6583649"/>
            <a:ext cx="248497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r">
              <a:defRPr/>
            </a:pPr>
            <a:r>
              <a:rPr lang="en-US" altLang="zh-CN" sz="1000" spc="300" dirty="0">
                <a:solidFill>
                  <a:prstClr val="white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Central South University</a:t>
            </a:r>
            <a:endParaRPr kumimoji="0" lang="zh-CN" altLang="en-US" sz="1000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cxnSp>
        <p:nvCxnSpPr>
          <p:cNvPr id="69" name="直接连接符 68"/>
          <p:cNvCxnSpPr/>
          <p:nvPr/>
        </p:nvCxnSpPr>
        <p:spPr>
          <a:xfrm>
            <a:off x="660400" y="760413"/>
            <a:ext cx="10858500" cy="0"/>
          </a:xfrm>
          <a:prstGeom prst="line">
            <a:avLst/>
          </a:prstGeom>
          <a:noFill/>
          <a:ln w="22225" cap="flat" cmpd="sng" algn="ctr">
            <a:solidFill>
              <a:srgbClr val="1C6299"/>
            </a:solidFill>
            <a:prstDash val="solid"/>
            <a:miter lim="800000"/>
          </a:ln>
          <a:effectLst/>
        </p:spPr>
      </p:cxnSp>
      <p:grpSp>
        <p:nvGrpSpPr>
          <p:cNvPr id="70" name="组合 69"/>
          <p:cNvGrpSpPr/>
          <p:nvPr/>
        </p:nvGrpSpPr>
        <p:grpSpPr>
          <a:xfrm>
            <a:off x="203760" y="159728"/>
            <a:ext cx="725344" cy="619478"/>
            <a:chOff x="178632" y="159728"/>
            <a:chExt cx="725344" cy="619478"/>
          </a:xfrm>
        </p:grpSpPr>
        <p:sp>
          <p:nvSpPr>
            <p:cNvPr id="71" name="椭圆 70"/>
            <p:cNvSpPr/>
            <p:nvPr/>
          </p:nvSpPr>
          <p:spPr>
            <a:xfrm>
              <a:off x="358210" y="159728"/>
              <a:ext cx="468000" cy="468000"/>
            </a:xfrm>
            <a:prstGeom prst="ellipse">
              <a:avLst/>
            </a:prstGeom>
            <a:gradFill>
              <a:gsLst>
                <a:gs pos="0">
                  <a:srgbClr val="1C6299"/>
                </a:gs>
                <a:gs pos="100000">
                  <a:srgbClr val="5C307D">
                    <a:alpha val="90000"/>
                  </a:srgb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73" name="椭圆 72"/>
            <p:cNvSpPr/>
            <p:nvPr/>
          </p:nvSpPr>
          <p:spPr>
            <a:xfrm>
              <a:off x="178632" y="602993"/>
              <a:ext cx="176213" cy="176213"/>
            </a:xfrm>
            <a:prstGeom prst="ellipse">
              <a:avLst/>
            </a:prstGeom>
            <a:gradFill>
              <a:gsLst>
                <a:gs pos="0">
                  <a:srgbClr val="1C6299"/>
                </a:gs>
                <a:gs pos="100000">
                  <a:srgbClr val="5C307D">
                    <a:alpha val="90000"/>
                  </a:srgbClr>
                </a:gs>
              </a:gsLst>
              <a:lin ang="3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</p:grpSp>
      <p:pic>
        <p:nvPicPr>
          <p:cNvPr id="74" name="图片 73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4913" y="176378"/>
            <a:ext cx="1897854" cy="555905"/>
          </a:xfrm>
          <a:prstGeom prst="rect">
            <a:avLst/>
          </a:prstGeom>
        </p:spPr>
      </p:pic>
      <p:sp>
        <p:nvSpPr>
          <p:cNvPr id="15" name="标题占位符 1"/>
          <p:cNvSpPr txBox="1"/>
          <p:nvPr/>
        </p:nvSpPr>
        <p:spPr>
          <a:xfrm>
            <a:off x="965199" y="-100014"/>
            <a:ext cx="8759713" cy="817564"/>
          </a:xfrm>
          <a:prstGeom prst="rect">
            <a:avLst/>
          </a:prstGeom>
          <a:ln>
            <a:noFill/>
          </a:ln>
        </p:spPr>
        <p:txBody>
          <a:bodyPr vert="horz" lIns="0" tIns="45720" rIns="91440" bIns="45720" rtlCol="0" anchor="b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zh-CN" altLang="en-US" sz="2600" b="1" dirty="0">
                <a:solidFill>
                  <a:srgbClr val="0000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三、CPO 方法：在 SAPG 上加一个 KL 正则项</a:t>
            </a:r>
            <a:endParaRPr lang="zh-CN" altLang="en-US" sz="2600" b="1" dirty="0">
              <a:solidFill>
                <a:srgbClr val="000000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75" name="Rounded Rectangle 74"/>
          <p:cNvSpPr/>
          <p:nvPr/>
        </p:nvSpPr>
        <p:spPr>
          <a:xfrm>
            <a:off x="658495" y="1097280"/>
            <a:ext cx="5139055" cy="269621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1430">
            <a:solidFill>
              <a:srgbClr val="1A78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868680" y="1216152"/>
            <a:ext cx="4754880" cy="232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000" b="1">
                <a:solidFill>
                  <a:schemeClr val="tx1"/>
                </a:solidFill>
                <a:latin typeface="Arial" panose="020B0604020202020204"/>
                <a:ea typeface="微软雅黑" panose="020B0503020204020204" charset="-122"/>
              </a:rPr>
              <a:t>组件一：follower 更新的 KL 约束</a:t>
            </a:r>
            <a:endParaRPr sz="2000" b="1">
              <a:solidFill>
                <a:schemeClr val="tx1"/>
              </a:solidFill>
              <a:latin typeface="Arial" panose="020B0604020202020204"/>
              <a:ea typeface="微软雅黑" panose="020B0503020204020204" charset="-122"/>
            </a:endParaRPr>
          </a:p>
          <a:p>
            <a:pPr algn="l">
              <a:lnSpc>
                <a:spcPct val="118000"/>
              </a:lnSpc>
              <a:buClrTx/>
              <a:buSzTx/>
              <a:buNone/>
            </a:pPr>
            <a:r>
              <a:rPr sz="1400" b="1">
                <a:solidFill>
                  <a:schemeClr val="tx1"/>
                </a:solidFill>
                <a:latin typeface="Arial" panose="020B0604020202020204"/>
                <a:ea typeface="微软雅黑" panose="020B0503020204020204" charset="-122"/>
              </a:rPr>
              <a:t>KL 约束的本质是：在策略优化中引入一个“步长限制”，使得每次更新既有改进方向，又不会因为走得太远而让一阶近似失效、重要性权重爆炸、或策略崩溃。</a:t>
            </a:r>
            <a:endParaRPr sz="1400" b="1">
              <a:solidFill>
                <a:schemeClr val="tx1"/>
              </a:solidFill>
              <a:latin typeface="Arial" panose="020B0604020202020204"/>
              <a:ea typeface="微软雅黑" panose="020B0503020204020204" charset="-122"/>
            </a:endParaRPr>
          </a:p>
          <a:p>
            <a:pPr algn="l">
              <a:lnSpc>
                <a:spcPct val="118000"/>
              </a:lnSpc>
            </a:pPr>
            <a:endParaRPr sz="2400"/>
          </a:p>
          <a:p>
            <a:pPr algn="l">
              <a:lnSpc>
                <a:spcPct val="118000"/>
              </a:lnSpc>
            </a:pPr>
            <a:endParaRPr sz="1400" b="0">
              <a:solidFill>
                <a:srgbClr val="6E7682"/>
              </a:solidFill>
              <a:latin typeface="Arial" panose="020B0604020202020204"/>
              <a:ea typeface="微软雅黑" panose="020B0503020204020204" charset="-122"/>
            </a:endParaRPr>
          </a:p>
          <a:p>
            <a:pPr algn="l">
              <a:lnSpc>
                <a:spcPct val="118000"/>
              </a:lnSpc>
            </a:pPr>
            <a:r>
              <a:rPr sz="1400" b="0">
                <a:solidFill>
                  <a:srgbClr val="6E7682"/>
                </a:solidFill>
                <a:latin typeface="Arial" panose="020B0604020202020204"/>
                <a:ea typeface="微软雅黑" panose="020B0503020204020204" charset="-122"/>
              </a:rPr>
              <a:t>→ 最优 follower = leader 分布被自身优势「倾斜」</a:t>
            </a:r>
            <a:endParaRPr sz="1400" b="0">
              <a:solidFill>
                <a:srgbClr val="6E7682"/>
              </a:solidFill>
              <a:latin typeface="Arial" panose="020B0604020202020204"/>
              <a:ea typeface="微软雅黑" panose="020B0503020204020204" charset="-122"/>
            </a:endParaRPr>
          </a:p>
          <a:p>
            <a:pPr algn="l">
              <a:lnSpc>
                <a:spcPct val="118000"/>
              </a:lnSpc>
            </a:pPr>
            <a:r>
              <a:rPr sz="1400" b="0">
                <a:solidFill>
                  <a:srgbClr val="6E7682"/>
                </a:solidFill>
                <a:latin typeface="Arial" panose="020B0604020202020204"/>
                <a:ea typeface="微软雅黑" panose="020B0503020204020204" charset="-122"/>
              </a:rPr>
              <a:t>  λf 越小 → 约束越强 → follower 越贴近 leader</a:t>
            </a:r>
            <a:endParaRPr sz="1400" b="0">
              <a:solidFill>
                <a:srgbClr val="6E7682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77" name="Rounded Rectangle 76"/>
          <p:cNvSpPr/>
          <p:nvPr/>
        </p:nvSpPr>
        <p:spPr>
          <a:xfrm>
            <a:off x="5989320" y="1097280"/>
            <a:ext cx="5139055" cy="269621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1430">
            <a:solidFill>
              <a:srgbClr val="70AD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069965" y="1216025"/>
            <a:ext cx="4754880" cy="230568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</a:pPr>
            <a:r>
              <a:rPr b="1">
                <a:solidFill>
                  <a:schemeClr val="tx1"/>
                </a:solidFill>
                <a:latin typeface="Arial" panose="020B0604020202020204"/>
                <a:ea typeface="微软雅黑" panose="020B0503020204020204" charset="-122"/>
              </a:rPr>
              <a:t>组件二：对抗奖励</a:t>
            </a:r>
            <a:endParaRPr b="1">
              <a:solidFill>
                <a:schemeClr val="tx1"/>
              </a:solidFill>
              <a:latin typeface="Arial" panose="020B0604020202020204"/>
              <a:ea typeface="微软雅黑" panose="020B0503020204020204" charset="-122"/>
            </a:endParaRPr>
          </a:p>
          <a:p>
            <a:pPr algn="l">
              <a:lnSpc>
                <a:spcPct val="118000"/>
              </a:lnSpc>
            </a:pPr>
            <a:r>
              <a:rPr sz="1400" b="0">
                <a:solidFill>
                  <a:srgbClr val="262A34"/>
                </a:solidFill>
                <a:latin typeface="Arial" panose="020B0604020202020204"/>
                <a:ea typeface="微软雅黑" panose="020B0503020204020204" charset="-122"/>
              </a:rPr>
              <a:t>训练判别器 D_ξ(y | s,a) 预测策略身份 y：</a:t>
            </a:r>
            <a:endParaRPr sz="1400" b="0">
              <a:solidFill>
                <a:srgbClr val="262A34"/>
              </a:solidFill>
              <a:latin typeface="Arial" panose="020B0604020202020204"/>
              <a:ea typeface="微软雅黑" panose="020B0503020204020204" charset="-122"/>
            </a:endParaRPr>
          </a:p>
          <a:p>
            <a:pPr algn="l">
              <a:lnSpc>
                <a:spcPct val="118000"/>
              </a:lnSpc>
            </a:pPr>
            <a:endParaRPr sz="1400" b="0">
              <a:solidFill>
                <a:srgbClr val="6E7682"/>
              </a:solidFill>
              <a:latin typeface="Arial" panose="020B0604020202020204"/>
              <a:ea typeface="微软雅黑" panose="020B0503020204020204" charset="-122"/>
            </a:endParaRPr>
          </a:p>
          <a:p>
            <a:pPr algn="l">
              <a:lnSpc>
                <a:spcPct val="118000"/>
              </a:lnSpc>
            </a:pPr>
            <a:endParaRPr sz="1400" b="0">
              <a:solidFill>
                <a:srgbClr val="6E7682"/>
              </a:solidFill>
              <a:latin typeface="Arial" panose="020B0604020202020204"/>
              <a:ea typeface="微软雅黑" panose="020B0503020204020204" charset="-122"/>
            </a:endParaRPr>
          </a:p>
          <a:p>
            <a:pPr algn="l">
              <a:lnSpc>
                <a:spcPct val="118000"/>
              </a:lnSpc>
            </a:pPr>
            <a:endParaRPr sz="1400" b="0">
              <a:solidFill>
                <a:srgbClr val="6E7682"/>
              </a:solidFill>
              <a:latin typeface="Arial" panose="020B0604020202020204"/>
              <a:ea typeface="微软雅黑" panose="020B0503020204020204" charset="-122"/>
            </a:endParaRPr>
          </a:p>
          <a:p>
            <a:pPr algn="l">
              <a:lnSpc>
                <a:spcPct val="118000"/>
              </a:lnSpc>
            </a:pPr>
            <a:r>
              <a:rPr lang="zh-CN" sz="1400" b="0">
                <a:solidFill>
                  <a:srgbClr val="6E7682"/>
                </a:solidFill>
                <a:latin typeface="Arial" panose="020B0604020202020204"/>
                <a:ea typeface="微软雅黑" panose="020B0503020204020204" charset="-122"/>
              </a:rPr>
              <a:t>作者</a:t>
            </a:r>
            <a:r>
              <a:rPr sz="1400" b="0">
                <a:solidFill>
                  <a:srgbClr val="6E7682"/>
                </a:solidFill>
                <a:latin typeface="Arial" panose="020B0604020202020204"/>
                <a:ea typeface="微软雅黑" panose="020B0503020204020204" charset="-122"/>
              </a:rPr>
              <a:t>动机：KL 约束把所有 follower 一起拉近 leader，</a:t>
            </a:r>
            <a:endParaRPr sz="1400" b="0">
              <a:solidFill>
                <a:srgbClr val="6E7682"/>
              </a:solidFill>
              <a:latin typeface="Arial" panose="020B0604020202020204"/>
              <a:ea typeface="微软雅黑" panose="020B0503020204020204" charset="-122"/>
            </a:endParaRPr>
          </a:p>
          <a:p>
            <a:pPr algn="l">
              <a:lnSpc>
                <a:spcPct val="118000"/>
              </a:lnSpc>
            </a:pPr>
            <a:r>
              <a:rPr sz="1400" b="0">
                <a:solidFill>
                  <a:srgbClr val="6E7682"/>
                </a:solidFill>
                <a:latin typeface="Arial" panose="020B0604020202020204"/>
                <a:ea typeface="微软雅黑" panose="020B0503020204020204" charset="-122"/>
              </a:rPr>
              <a:t>     导致它们彼此也变近（overconcentration）</a:t>
            </a:r>
            <a:r>
              <a:rPr lang="zh-CN" sz="1400" b="0">
                <a:solidFill>
                  <a:srgbClr val="6E7682"/>
                </a:solidFill>
                <a:latin typeface="Arial" panose="020B0604020202020204"/>
                <a:ea typeface="微软雅黑" panose="020B0503020204020204" charset="-122"/>
              </a:rPr>
              <a:t>出现过度集中</a:t>
            </a:r>
            <a:endParaRPr sz="1400" b="0">
              <a:solidFill>
                <a:srgbClr val="6E7682"/>
              </a:solidFill>
              <a:latin typeface="Arial" panose="020B0604020202020204"/>
              <a:ea typeface="微软雅黑" panose="020B0503020204020204" charset="-122"/>
            </a:endParaRPr>
          </a:p>
          <a:p>
            <a:pPr algn="l">
              <a:lnSpc>
                <a:spcPct val="118000"/>
              </a:lnSpc>
            </a:pPr>
            <a:endParaRPr sz="1150" b="0">
              <a:solidFill>
                <a:srgbClr val="6E7682"/>
              </a:solidFill>
              <a:latin typeface="Arial" panose="020B0604020202020204"/>
              <a:ea typeface="微软雅黑" panose="020B0503020204020204" charset="-122"/>
            </a:endParaRPr>
          </a:p>
          <a:p>
            <a:pPr algn="l">
              <a:lnSpc>
                <a:spcPct val="118000"/>
              </a:lnSpc>
            </a:pPr>
            <a:endParaRPr sz="1150" b="1">
              <a:solidFill>
                <a:srgbClr val="70AD47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79" name="Rounded Rectangle 78"/>
          <p:cNvSpPr/>
          <p:nvPr/>
        </p:nvSpPr>
        <p:spPr>
          <a:xfrm>
            <a:off x="658495" y="3974465"/>
            <a:ext cx="10469880" cy="153035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11430"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594360" y="3974465"/>
            <a:ext cx="10392410" cy="22129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1B6298"/>
                </a:solidFill>
                <a:latin typeface="Arial" panose="020B0604020202020204"/>
                <a:ea typeface="微软雅黑" panose="020B0503020204020204" charset="-122"/>
              </a:rPr>
              <a:t>总目标： </a:t>
            </a:r>
            <a:endParaRPr sz="2400" b="1">
              <a:solidFill>
                <a:srgbClr val="1B6298"/>
              </a:solidFill>
              <a:latin typeface="Arial" panose="020B0604020202020204"/>
              <a:ea typeface="微软雅黑" panose="020B0503020204020204" charset="-122"/>
            </a:endParaRPr>
          </a:p>
          <a:p>
            <a:pPr algn="l">
              <a:lnSpc>
                <a:spcPct val="120000"/>
              </a:lnSpc>
            </a:pPr>
            <a:endParaRPr sz="1600" b="1">
              <a:solidFill>
                <a:srgbClr val="1B6298"/>
              </a:solidFill>
              <a:latin typeface="Arial" panose="020B0604020202020204"/>
              <a:ea typeface="微软雅黑" panose="020B0503020204020204" charset="-122"/>
            </a:endParaRPr>
          </a:p>
          <a:p>
            <a:pPr algn="l">
              <a:lnSpc>
                <a:spcPct val="120000"/>
              </a:lnSpc>
            </a:pPr>
            <a:r>
              <a:rPr sz="2400" b="1">
                <a:solidFill>
                  <a:srgbClr val="1B6298"/>
                </a:solidFill>
                <a:latin typeface="Arial" panose="020B0604020202020204"/>
                <a:ea typeface="微软雅黑" panose="020B0503020204020204" charset="-122"/>
              </a:rPr>
              <a:t> </a:t>
            </a:r>
            <a:r>
              <a:rPr b="0">
                <a:solidFill>
                  <a:srgbClr val="262A34"/>
                </a:solidFill>
                <a:latin typeface="Arial" panose="020B0604020202020204"/>
                <a:ea typeface="微软雅黑" panose="020B0503020204020204" charset="-122"/>
              </a:rPr>
              <a:t>即：CPO 的 follower 更新 = SAPG 原样保留+一个额外的前向 KL 正则项。</a:t>
            </a:r>
            <a:endParaRPr b="0">
              <a:solidFill>
                <a:srgbClr val="262A34"/>
              </a:solidFill>
              <a:latin typeface="Arial" panose="020B0604020202020204"/>
              <a:ea typeface="微软雅黑" panose="020B0503020204020204" charset="-122"/>
            </a:endParaRPr>
          </a:p>
          <a:p>
            <a:pPr algn="l">
              <a:lnSpc>
                <a:spcPct val="120000"/>
              </a:lnSpc>
            </a:pPr>
            <a:r>
              <a:rPr lang="zh-CN" b="0">
                <a:solidFill>
                  <a:srgbClr val="262A34"/>
                </a:solidFill>
                <a:latin typeface="Arial" panose="020B0604020202020204"/>
                <a:ea typeface="微软雅黑" panose="020B0503020204020204" charset="-122"/>
              </a:rPr>
              <a:t>当</a:t>
            </a:r>
            <a:r>
              <a:rPr b="0">
                <a:solidFill>
                  <a:srgbClr val="262A34"/>
                </a:solidFill>
                <a:latin typeface="Arial" panose="020B0604020202020204"/>
                <a:ea typeface="微软雅黑" panose="020B0503020204020204" charset="-122"/>
              </a:rPr>
              <a:t>设反向 KL </a:t>
            </a:r>
            <a:r>
              <a:rPr lang="zh-CN" b="0">
                <a:solidFill>
                  <a:srgbClr val="262A34"/>
                </a:solidFill>
                <a:latin typeface="Arial" panose="020B0604020202020204"/>
                <a:ea typeface="微软雅黑" panose="020B0503020204020204" charset="-122"/>
              </a:rPr>
              <a:t>中</a:t>
            </a:r>
            <a:r>
              <a:rPr b="0">
                <a:solidFill>
                  <a:srgbClr val="262A34"/>
                </a:solidFill>
                <a:latin typeface="Arial" panose="020B0604020202020204"/>
                <a:ea typeface="微软雅黑" panose="020B0503020204020204" charset="-122"/>
              </a:rPr>
              <a:t> λ</a:t>
            </a:r>
            <a:r>
              <a:rPr lang="en-US" b="0" baseline="-25000">
                <a:solidFill>
                  <a:srgbClr val="262A34"/>
                </a:solidFill>
                <a:latin typeface="Arial" panose="020B0604020202020204"/>
                <a:ea typeface="微软雅黑" panose="020B0503020204020204" charset="-122"/>
              </a:rPr>
              <a:t>f</a:t>
            </a:r>
            <a:r>
              <a:rPr b="0" baseline="-25000">
                <a:solidFill>
                  <a:srgbClr val="262A34"/>
                </a:solidFill>
                <a:latin typeface="Arial" panose="020B0604020202020204"/>
                <a:ea typeface="微软雅黑" panose="020B0503020204020204" charset="-122"/>
              </a:rPr>
              <a:t> </a:t>
            </a:r>
            <a:r>
              <a:rPr b="0">
                <a:solidFill>
                  <a:srgbClr val="262A34"/>
                </a:solidFill>
                <a:latin typeface="Arial" panose="020B0604020202020204"/>
                <a:ea typeface="微软雅黑" panose="020B0503020204020204" charset="-122"/>
              </a:rPr>
              <a:t>= 0 后，反向 KL 项恰好退化为 SAPG 原目标</a:t>
            </a:r>
            <a:endParaRPr b="0">
              <a:solidFill>
                <a:srgbClr val="262A34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905" y="2440940"/>
            <a:ext cx="4964430" cy="45466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9505" y="1865630"/>
            <a:ext cx="3105150" cy="35242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92275" y="4050665"/>
            <a:ext cx="4829175" cy="5619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 advTm="3000">
        <p15:prstTrans prst="pageCurlDouble"/>
      </p:transition>
    </mc:Choice>
    <mc:Fallback>
      <p:transition spd="slow" advTm="3000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Rounded Rectangle 74"/>
          <p:cNvSpPr/>
          <p:nvPr/>
        </p:nvSpPr>
        <p:spPr>
          <a:xfrm>
            <a:off x="658495" y="4434840"/>
            <a:ext cx="10469880" cy="1718945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1430">
            <a:solidFill>
              <a:srgbClr val="E2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37" name="文本框 36"/>
          <p:cNvSpPr txBox="1"/>
          <p:nvPr/>
        </p:nvSpPr>
        <p:spPr>
          <a:xfrm>
            <a:off x="8610404" y="6583649"/>
            <a:ext cx="301236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0" b="0" i="0" u="none" strike="noStrike" kern="120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Tsinghua University of China</a:t>
            </a:r>
            <a:endParaRPr kumimoji="0" lang="zh-CN" altLang="en-US" sz="1000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62" name="文本框 61"/>
          <p:cNvSpPr txBox="1"/>
          <p:nvPr/>
        </p:nvSpPr>
        <p:spPr>
          <a:xfrm>
            <a:off x="660400" y="6583649"/>
            <a:ext cx="194155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6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自强不息 厚德载物</a:t>
            </a:r>
            <a:endParaRPr kumimoji="0" lang="zh-CN" altLang="en-US" sz="1000" b="0" i="0" u="none" strike="noStrike" kern="1200" cap="none" spc="6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64" name="矩形 63"/>
          <p:cNvSpPr/>
          <p:nvPr/>
        </p:nvSpPr>
        <p:spPr>
          <a:xfrm>
            <a:off x="0" y="6570000"/>
            <a:ext cx="12192000" cy="288000"/>
          </a:xfrm>
          <a:prstGeom prst="rect">
            <a:avLst/>
          </a:prstGeom>
          <a:solidFill>
            <a:srgbClr val="1C629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66" name="文本框 65"/>
          <p:cNvSpPr txBox="1"/>
          <p:nvPr/>
        </p:nvSpPr>
        <p:spPr>
          <a:xfrm>
            <a:off x="594090" y="6583649"/>
            <a:ext cx="203132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defRPr/>
            </a:pPr>
            <a:r>
              <a:rPr lang="zh-CN" altLang="en-US" sz="1000" spc="600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知行合一、经世致用</a:t>
            </a:r>
            <a:endParaRPr kumimoji="0" lang="zh-CN" altLang="en-US" sz="1000" b="0" i="0" u="none" strike="noStrike" kern="1200" cap="none" spc="6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68" name="文本框 67"/>
          <p:cNvSpPr txBox="1"/>
          <p:nvPr/>
        </p:nvSpPr>
        <p:spPr>
          <a:xfrm>
            <a:off x="9137792" y="6583649"/>
            <a:ext cx="248497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r">
              <a:defRPr/>
            </a:pPr>
            <a:r>
              <a:rPr lang="en-US" altLang="zh-CN" sz="1000" spc="300" dirty="0">
                <a:solidFill>
                  <a:prstClr val="white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Central South University</a:t>
            </a:r>
            <a:endParaRPr kumimoji="0" lang="zh-CN" altLang="en-US" sz="1000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cxnSp>
        <p:nvCxnSpPr>
          <p:cNvPr id="69" name="直接连接符 68"/>
          <p:cNvCxnSpPr/>
          <p:nvPr/>
        </p:nvCxnSpPr>
        <p:spPr>
          <a:xfrm>
            <a:off x="660400" y="760413"/>
            <a:ext cx="10858500" cy="0"/>
          </a:xfrm>
          <a:prstGeom prst="line">
            <a:avLst/>
          </a:prstGeom>
          <a:noFill/>
          <a:ln w="22225" cap="flat" cmpd="sng" algn="ctr">
            <a:solidFill>
              <a:srgbClr val="1C6299"/>
            </a:solidFill>
            <a:prstDash val="solid"/>
            <a:miter lim="800000"/>
          </a:ln>
          <a:effectLst/>
        </p:spPr>
      </p:cxnSp>
      <p:grpSp>
        <p:nvGrpSpPr>
          <p:cNvPr id="70" name="组合 69"/>
          <p:cNvGrpSpPr/>
          <p:nvPr/>
        </p:nvGrpSpPr>
        <p:grpSpPr>
          <a:xfrm>
            <a:off x="203760" y="159728"/>
            <a:ext cx="725344" cy="619478"/>
            <a:chOff x="178632" y="159728"/>
            <a:chExt cx="725344" cy="619478"/>
          </a:xfrm>
        </p:grpSpPr>
        <p:sp>
          <p:nvSpPr>
            <p:cNvPr id="71" name="椭圆 70"/>
            <p:cNvSpPr/>
            <p:nvPr/>
          </p:nvSpPr>
          <p:spPr>
            <a:xfrm>
              <a:off x="358210" y="159728"/>
              <a:ext cx="468000" cy="468000"/>
            </a:xfrm>
            <a:prstGeom prst="ellipse">
              <a:avLst/>
            </a:prstGeom>
            <a:gradFill>
              <a:gsLst>
                <a:gs pos="0">
                  <a:srgbClr val="1C6299"/>
                </a:gs>
                <a:gs pos="100000">
                  <a:srgbClr val="5C307D">
                    <a:alpha val="90000"/>
                  </a:srgb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73" name="椭圆 72"/>
            <p:cNvSpPr/>
            <p:nvPr/>
          </p:nvSpPr>
          <p:spPr>
            <a:xfrm>
              <a:off x="178632" y="602993"/>
              <a:ext cx="176213" cy="176213"/>
            </a:xfrm>
            <a:prstGeom prst="ellipse">
              <a:avLst/>
            </a:prstGeom>
            <a:gradFill>
              <a:gsLst>
                <a:gs pos="0">
                  <a:srgbClr val="1C6299"/>
                </a:gs>
                <a:gs pos="100000">
                  <a:srgbClr val="5C307D">
                    <a:alpha val="90000"/>
                  </a:srgbClr>
                </a:gs>
              </a:gsLst>
              <a:lin ang="3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</p:grpSp>
      <p:pic>
        <p:nvPicPr>
          <p:cNvPr id="74" name="图片 73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4913" y="176378"/>
            <a:ext cx="1897854" cy="555905"/>
          </a:xfrm>
          <a:prstGeom prst="rect">
            <a:avLst/>
          </a:prstGeom>
        </p:spPr>
      </p:pic>
      <p:sp>
        <p:nvSpPr>
          <p:cNvPr id="15" name="标题占位符 1"/>
          <p:cNvSpPr txBox="1"/>
          <p:nvPr/>
        </p:nvSpPr>
        <p:spPr>
          <a:xfrm>
            <a:off x="965199" y="-100014"/>
            <a:ext cx="8759713" cy="817564"/>
          </a:xfrm>
          <a:prstGeom prst="rect">
            <a:avLst/>
          </a:prstGeom>
          <a:ln>
            <a:noFill/>
          </a:ln>
        </p:spPr>
        <p:txBody>
          <a:bodyPr vert="horz" lIns="0" tIns="45720" rIns="91440" bIns="45720" rtlCol="0" anchor="b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zh-CN" altLang="en-US" sz="2600" b="1" dirty="0">
                <a:solidFill>
                  <a:srgbClr val="0000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四、对比方法（1/2）：PPO</a:t>
            </a:r>
            <a:endParaRPr lang="zh-CN" altLang="en-US" sz="2600" b="1" dirty="0">
              <a:solidFill>
                <a:srgbClr val="000000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60400" y="803275"/>
            <a:ext cx="10473055" cy="20040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>
              <a:lnSpc>
                <a:spcPct val="116000"/>
              </a:lnSpc>
              <a:spcAft>
                <a:spcPts val="300"/>
              </a:spcAft>
            </a:pPr>
          </a:p>
        </p:txBody>
      </p:sp>
      <p:sp>
        <p:nvSpPr>
          <p:cNvPr id="75" name="Rounded Rectangle 74"/>
          <p:cNvSpPr/>
          <p:nvPr/>
        </p:nvSpPr>
        <p:spPr>
          <a:xfrm>
            <a:off x="658368" y="1097280"/>
            <a:ext cx="104698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1430">
            <a:solidFill>
              <a:srgbClr val="E2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868680" y="1216152"/>
            <a:ext cx="10058400" cy="13284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b="1">
                <a:solidFill>
                  <a:schemeClr val="tx1"/>
                </a:solidFill>
                <a:latin typeface="Arial" panose="020B0604020202020204"/>
                <a:ea typeface="微软雅黑" panose="020B0503020204020204" charset="-122"/>
              </a:rPr>
              <a:t>核心机制：用 clip 把重要性采样比值限制在 [1−ε, 1+ε]</a:t>
            </a:r>
            <a:endParaRPr b="1">
              <a:solidFill>
                <a:schemeClr val="tx1"/>
              </a:solidFill>
              <a:latin typeface="Arial" panose="020B0604020202020204"/>
              <a:ea typeface="微软雅黑" panose="020B0503020204020204" charset="-122"/>
            </a:endParaRPr>
          </a:p>
          <a:p>
            <a:pPr algn="l">
              <a:lnSpc>
                <a:spcPct val="120000"/>
              </a:lnSpc>
            </a:pPr>
            <a:r>
              <a:rPr b="0">
                <a:solidFill>
                  <a:schemeClr val="tx1"/>
                </a:solidFill>
                <a:latin typeface="Arial" panose="020B0604020202020204"/>
                <a:ea typeface="微软雅黑" panose="020B0503020204020204" charset="-122"/>
              </a:rPr>
              <a:t>L_PPO = −E[ min( r(θ)·A ,  clip(r(θ), 1−ε, 1+ε)·A ) ]    其中 r(θ) = π_θ(a|s) / π_θold(a|s)</a:t>
            </a:r>
            <a:endParaRPr b="0">
              <a:solidFill>
                <a:schemeClr val="tx1"/>
              </a:solidFill>
              <a:latin typeface="Arial" panose="020B0604020202020204"/>
              <a:ea typeface="微软雅黑" panose="020B0503020204020204" charset="-122"/>
            </a:endParaRPr>
          </a:p>
          <a:p>
            <a:pPr algn="l">
              <a:lnSpc>
                <a:spcPct val="120000"/>
              </a:lnSpc>
            </a:pPr>
            <a:r>
              <a:rPr b="0">
                <a:solidFill>
                  <a:schemeClr val="tx1"/>
                </a:solidFill>
                <a:latin typeface="Arial" panose="020B0604020202020204"/>
                <a:ea typeface="微软雅黑" panose="020B0503020204020204" charset="-122"/>
              </a:rPr>
              <a:t>为什么裁剪是理解全文的关键：IS 校正能让策略梯度无偏，但 IS 比值方差可无限大；</a:t>
            </a:r>
            <a:endParaRPr b="0">
              <a:solidFill>
                <a:schemeClr val="tx1"/>
              </a:solidFill>
              <a:latin typeface="Arial" panose="020B0604020202020204"/>
              <a:ea typeface="微软雅黑" panose="020B0503020204020204" charset="-122"/>
            </a:endParaRPr>
          </a:p>
          <a:p>
            <a:pPr algn="l">
              <a:lnSpc>
                <a:spcPct val="120000"/>
              </a:lnSpc>
            </a:pPr>
            <a:r>
              <a:rPr b="0">
                <a:solidFill>
                  <a:schemeClr val="tx1"/>
                </a:solidFill>
                <a:latin typeface="Arial" panose="020B0604020202020204"/>
                <a:ea typeface="微软雅黑" panose="020B0503020204020204" charset="-122"/>
              </a:rPr>
              <a:t>PPO 用 clip 把比值限制住 —— 这是有意的「用偏差换方差可控」的权衡。</a:t>
            </a:r>
            <a:endParaRPr b="0">
              <a:solidFill>
                <a:schemeClr val="tx1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77" name="Rounded Rectangle 76"/>
          <p:cNvSpPr/>
          <p:nvPr/>
        </p:nvSpPr>
        <p:spPr>
          <a:xfrm>
            <a:off x="658495" y="2834640"/>
            <a:ext cx="5139055" cy="1548765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11430">
            <a:solidFill>
              <a:srgbClr val="96C8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868680" y="2953385"/>
            <a:ext cx="4754880" cy="12293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b="1">
                <a:solidFill>
                  <a:schemeClr val="tx1"/>
                </a:solidFill>
                <a:latin typeface="Arial" panose="020B0604020202020204"/>
                <a:ea typeface="微软雅黑" panose="020B0503020204020204" charset="-122"/>
              </a:rPr>
              <a:t>标准 PPO 里裁剪很少被触发</a:t>
            </a:r>
            <a:endParaRPr b="1">
              <a:solidFill>
                <a:schemeClr val="tx1"/>
              </a:solidFill>
              <a:latin typeface="Arial" panose="020B0604020202020204"/>
              <a:ea typeface="微软雅黑" panose="020B0503020204020204" charset="-122"/>
            </a:endParaRPr>
          </a:p>
          <a:p>
            <a:pPr algn="l">
              <a:lnSpc>
                <a:spcPct val="120000"/>
              </a:lnSpc>
            </a:pPr>
            <a:r>
              <a:rPr b="0">
                <a:solidFill>
                  <a:schemeClr val="tx1"/>
                </a:solidFill>
                <a:latin typeface="Arial" panose="020B0604020202020204"/>
                <a:ea typeface="微软雅黑" panose="020B0503020204020204" charset="-122"/>
              </a:rPr>
              <a:t>因为 r 的新旧策略差很小 —— 分母就是上一轮迭代的自己，比值天然 ≈ 1。所以裁剪引入的偏差通常可以忽略。</a:t>
            </a:r>
            <a:endParaRPr b="0">
              <a:solidFill>
                <a:schemeClr val="tx1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79" name="Rounded Rectangle 78"/>
          <p:cNvSpPr/>
          <p:nvPr/>
        </p:nvSpPr>
        <p:spPr>
          <a:xfrm>
            <a:off x="5989320" y="2834640"/>
            <a:ext cx="5139055" cy="1548765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11430">
            <a:solidFill>
              <a:srgbClr val="E8BE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199632" y="2953512"/>
            <a:ext cx="4754880" cy="9963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b="1">
                <a:solidFill>
                  <a:schemeClr val="tx1"/>
                </a:solidFill>
                <a:latin typeface="Arial" panose="020B0604020202020204"/>
                <a:ea typeface="微软雅黑" panose="020B0503020204020204" charset="-122"/>
              </a:rPr>
              <a:t>但集成的 off-policy 场景就不同了</a:t>
            </a:r>
            <a:endParaRPr b="1">
              <a:solidFill>
                <a:schemeClr val="tx1"/>
              </a:solidFill>
              <a:latin typeface="Arial" panose="020B0604020202020204"/>
              <a:ea typeface="微软雅黑" panose="020B0503020204020204" charset="-122"/>
            </a:endParaRPr>
          </a:p>
          <a:p>
            <a:pPr algn="l">
              <a:lnSpc>
                <a:spcPct val="120000"/>
              </a:lnSpc>
            </a:pPr>
            <a:r>
              <a:rPr>
                <a:solidFill>
                  <a:schemeClr val="tx1"/>
                </a:solidFill>
                <a:latin typeface="Arial" panose="020B0604020202020204"/>
                <a:ea typeface="微软雅黑" panose="020B0503020204020204" charset="-122"/>
              </a:rPr>
              <a:t>分母换成了另一个策略（follower），比值 r_L,off 天然就大，裁剪被大量触发 。</a:t>
            </a:r>
            <a:endParaRPr>
              <a:solidFill>
                <a:schemeClr val="tx1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82" name="TextBox 81"/>
          <p:cNvSpPr txBox="1"/>
          <p:nvPr/>
        </p:nvSpPr>
        <p:spPr>
          <a:xfrm>
            <a:off x="851535" y="4590415"/>
            <a:ext cx="10058400" cy="156019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>
                <a:solidFill>
                  <a:schemeClr val="tx1"/>
                </a:solidFill>
                <a:latin typeface="Arial" panose="020B0604020202020204"/>
                <a:ea typeface="微软雅黑" panose="020B0503020204020204" charset="-122"/>
              </a:rPr>
              <a:t>本文对 PPO 基线的唯一改动</a:t>
            </a:r>
            <a:endParaRPr>
              <a:solidFill>
                <a:schemeClr val="tx1"/>
              </a:solidFill>
              <a:latin typeface="Arial" panose="020B0604020202020204"/>
              <a:ea typeface="微软雅黑" panose="020B0503020204020204" charset="-122"/>
            </a:endParaRPr>
          </a:p>
          <a:p>
            <a:pPr algn="l">
              <a:lnSpc>
                <a:spcPct val="120000"/>
              </a:lnSpc>
            </a:pPr>
            <a:r>
              <a:rPr>
                <a:solidFill>
                  <a:schemeClr val="tx1"/>
                </a:solidFill>
                <a:latin typeface="Arial" panose="020B0604020202020204"/>
                <a:ea typeface="微软雅黑" panose="020B0503020204020204" charset="-122"/>
              </a:rPr>
              <a:t>把每个 epoch 采集的样本量放大到 horizon × N（N = 24,576），让单策略 PPO 也享受同等数据吞吐。</a:t>
            </a:r>
            <a:endParaRPr>
              <a:solidFill>
                <a:schemeClr val="tx1"/>
              </a:solidFill>
              <a:latin typeface="Arial" panose="020B0604020202020204"/>
              <a:ea typeface="微软雅黑" panose="020B0503020204020204" charset="-122"/>
            </a:endParaRPr>
          </a:p>
          <a:p>
            <a:pPr algn="l">
              <a:lnSpc>
                <a:spcPct val="120000"/>
              </a:lnSpc>
            </a:pPr>
            <a:r>
              <a:rPr>
                <a:solidFill>
                  <a:schemeClr val="tx1"/>
                </a:solidFill>
                <a:latin typeface="Arial" panose="020B0604020202020204"/>
                <a:ea typeface="微软雅黑" panose="020B0503020204020204" charset="-122"/>
              </a:rPr>
              <a:t>→ 避免 SAPG 靠数据多而非机制好取胜。</a:t>
            </a:r>
            <a:endParaRPr>
              <a:solidFill>
                <a:schemeClr val="tx1"/>
              </a:solidFill>
              <a:latin typeface="Arial" panose="020B0604020202020204"/>
              <a:ea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 advTm="3000">
        <p15:prstTrans prst="pageCurlDouble"/>
      </p:transition>
    </mc:Choice>
    <mc:Fallback>
      <p:transition spd="slow" advTm="3000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7" name="文本框 36"/>
          <p:cNvSpPr txBox="1"/>
          <p:nvPr/>
        </p:nvSpPr>
        <p:spPr>
          <a:xfrm>
            <a:off x="8610404" y="6583649"/>
            <a:ext cx="301236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0" b="0" i="0" u="none" strike="noStrike" kern="120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Tsinghua University of China</a:t>
            </a:r>
            <a:endParaRPr kumimoji="0" lang="zh-CN" altLang="en-US" sz="1000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62" name="文本框 61"/>
          <p:cNvSpPr txBox="1"/>
          <p:nvPr/>
        </p:nvSpPr>
        <p:spPr>
          <a:xfrm>
            <a:off x="660400" y="6583649"/>
            <a:ext cx="194155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6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自强不息 厚德载物</a:t>
            </a:r>
            <a:endParaRPr kumimoji="0" lang="zh-CN" altLang="en-US" sz="1000" b="0" i="0" u="none" strike="noStrike" kern="1200" cap="none" spc="6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64" name="矩形 63"/>
          <p:cNvSpPr/>
          <p:nvPr/>
        </p:nvSpPr>
        <p:spPr>
          <a:xfrm>
            <a:off x="0" y="6570000"/>
            <a:ext cx="12192000" cy="288000"/>
          </a:xfrm>
          <a:prstGeom prst="rect">
            <a:avLst/>
          </a:prstGeom>
          <a:solidFill>
            <a:srgbClr val="1C629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66" name="文本框 65"/>
          <p:cNvSpPr txBox="1"/>
          <p:nvPr/>
        </p:nvSpPr>
        <p:spPr>
          <a:xfrm>
            <a:off x="594090" y="6583649"/>
            <a:ext cx="203132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defRPr/>
            </a:pPr>
            <a:r>
              <a:rPr lang="zh-CN" altLang="en-US" sz="1000" spc="600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知行合一、经世致用</a:t>
            </a:r>
            <a:endParaRPr kumimoji="0" lang="zh-CN" altLang="en-US" sz="1000" b="0" i="0" u="none" strike="noStrike" kern="1200" cap="none" spc="6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68" name="文本框 67"/>
          <p:cNvSpPr txBox="1"/>
          <p:nvPr/>
        </p:nvSpPr>
        <p:spPr>
          <a:xfrm>
            <a:off x="9137792" y="6583649"/>
            <a:ext cx="248497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r">
              <a:defRPr/>
            </a:pPr>
            <a:r>
              <a:rPr lang="en-US" altLang="zh-CN" sz="1000" spc="300" dirty="0">
                <a:solidFill>
                  <a:prstClr val="white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Central South University</a:t>
            </a:r>
            <a:endParaRPr kumimoji="0" lang="zh-CN" altLang="en-US" sz="1000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cxnSp>
        <p:nvCxnSpPr>
          <p:cNvPr id="69" name="直接连接符 68"/>
          <p:cNvCxnSpPr/>
          <p:nvPr/>
        </p:nvCxnSpPr>
        <p:spPr>
          <a:xfrm>
            <a:off x="660400" y="760413"/>
            <a:ext cx="10858500" cy="0"/>
          </a:xfrm>
          <a:prstGeom prst="line">
            <a:avLst/>
          </a:prstGeom>
          <a:noFill/>
          <a:ln w="22225" cap="flat" cmpd="sng" algn="ctr">
            <a:solidFill>
              <a:srgbClr val="1C6299"/>
            </a:solidFill>
            <a:prstDash val="solid"/>
            <a:miter lim="800000"/>
          </a:ln>
          <a:effectLst/>
        </p:spPr>
      </p:cxnSp>
      <p:grpSp>
        <p:nvGrpSpPr>
          <p:cNvPr id="70" name="组合 69"/>
          <p:cNvGrpSpPr/>
          <p:nvPr/>
        </p:nvGrpSpPr>
        <p:grpSpPr>
          <a:xfrm>
            <a:off x="203760" y="159728"/>
            <a:ext cx="725344" cy="619478"/>
            <a:chOff x="178632" y="159728"/>
            <a:chExt cx="725344" cy="619478"/>
          </a:xfrm>
        </p:grpSpPr>
        <p:sp>
          <p:nvSpPr>
            <p:cNvPr id="71" name="椭圆 70"/>
            <p:cNvSpPr/>
            <p:nvPr/>
          </p:nvSpPr>
          <p:spPr>
            <a:xfrm>
              <a:off x="358210" y="159728"/>
              <a:ext cx="468000" cy="468000"/>
            </a:xfrm>
            <a:prstGeom prst="ellipse">
              <a:avLst/>
            </a:prstGeom>
            <a:gradFill>
              <a:gsLst>
                <a:gs pos="0">
                  <a:srgbClr val="1C6299"/>
                </a:gs>
                <a:gs pos="100000">
                  <a:srgbClr val="5C307D">
                    <a:alpha val="90000"/>
                  </a:srgb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73" name="椭圆 72"/>
            <p:cNvSpPr/>
            <p:nvPr/>
          </p:nvSpPr>
          <p:spPr>
            <a:xfrm>
              <a:off x="178632" y="602993"/>
              <a:ext cx="176213" cy="176213"/>
            </a:xfrm>
            <a:prstGeom prst="ellipse">
              <a:avLst/>
            </a:prstGeom>
            <a:gradFill>
              <a:gsLst>
                <a:gs pos="0">
                  <a:srgbClr val="1C6299"/>
                </a:gs>
                <a:gs pos="100000">
                  <a:srgbClr val="5C307D">
                    <a:alpha val="90000"/>
                  </a:srgbClr>
                </a:gs>
              </a:gsLst>
              <a:lin ang="3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</p:grpSp>
      <p:pic>
        <p:nvPicPr>
          <p:cNvPr id="74" name="图片 73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4913" y="176378"/>
            <a:ext cx="1897854" cy="555905"/>
          </a:xfrm>
          <a:prstGeom prst="rect">
            <a:avLst/>
          </a:prstGeom>
        </p:spPr>
      </p:pic>
      <p:sp>
        <p:nvSpPr>
          <p:cNvPr id="15" name="标题占位符 1"/>
          <p:cNvSpPr txBox="1"/>
          <p:nvPr/>
        </p:nvSpPr>
        <p:spPr>
          <a:xfrm>
            <a:off x="965199" y="-61279"/>
            <a:ext cx="8759713" cy="817564"/>
          </a:xfrm>
          <a:prstGeom prst="rect">
            <a:avLst/>
          </a:prstGeom>
          <a:ln>
            <a:noFill/>
          </a:ln>
        </p:spPr>
        <p:txBody>
          <a:bodyPr vert="horz" lIns="0" tIns="45720" rIns="91440" bIns="45720" rtlCol="0" anchor="b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zh-CN" altLang="en-US" sz="2600" b="1" dirty="0">
                <a:solidFill>
                  <a:srgbClr val="0000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四、对比方法（2/2）：SAPG</a:t>
            </a:r>
            <a:endParaRPr lang="zh-CN" altLang="en-US" sz="2600" b="1" dirty="0">
              <a:solidFill>
                <a:srgbClr val="000000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75" name="Rounded Rectangle 74"/>
          <p:cNvSpPr/>
          <p:nvPr/>
        </p:nvSpPr>
        <p:spPr>
          <a:xfrm>
            <a:off x="658495" y="1136015"/>
            <a:ext cx="10469880" cy="17195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1430">
            <a:solidFill>
              <a:srgbClr val="1A78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868680" y="1312545"/>
            <a:ext cx="10058400" cy="133794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>
                <a:solidFill>
                  <a:schemeClr val="tx1"/>
                </a:solidFill>
                <a:latin typeface="Arial" panose="020B0604020202020204"/>
                <a:ea typeface="微软雅黑" panose="020B0503020204020204" charset="-122"/>
              </a:rPr>
              <a:t>架构：N = 24,576 个环境切成 M = 6 个 block</a:t>
            </a:r>
            <a:endParaRPr sz="2000">
              <a:solidFill>
                <a:schemeClr val="tx1"/>
              </a:solidFill>
              <a:latin typeface="Arial" panose="020B0604020202020204"/>
              <a:ea typeface="微软雅黑" panose="020B0503020204020204" charset="-122"/>
            </a:endParaRPr>
          </a:p>
          <a:p>
            <a:pPr algn="l">
              <a:lnSpc>
                <a:spcPct val="120000"/>
              </a:lnSpc>
            </a:pPr>
            <a:r>
              <a:rPr sz="2000">
                <a:solidFill>
                  <a:schemeClr val="tx1"/>
                </a:solidFill>
                <a:latin typeface="Arial" panose="020B0604020202020204"/>
                <a:ea typeface="微软雅黑" panose="020B0503020204020204" charset="-122"/>
              </a:rPr>
              <a:t>1 个</a:t>
            </a:r>
            <a:r>
              <a:rPr sz="2000">
                <a:solidFill>
                  <a:schemeClr val="tx1"/>
                </a:solidFill>
                <a:latin typeface="Arial" panose="020B0604020202020204"/>
                <a:ea typeface="微软雅黑" panose="020B0503020204020204" charset="-122"/>
              </a:rPr>
              <a:t> leader + 5 个 follower 各占一块</a:t>
            </a:r>
            <a:endParaRPr sz="2000">
              <a:solidFill>
                <a:schemeClr val="tx1"/>
              </a:solidFill>
              <a:latin typeface="Arial" panose="020B0604020202020204"/>
              <a:ea typeface="微软雅黑" panose="020B0503020204020204" charset="-122"/>
            </a:endParaRPr>
          </a:p>
          <a:p>
            <a:pPr algn="l">
              <a:lnSpc>
                <a:spcPct val="120000"/>
              </a:lnSpc>
            </a:pPr>
            <a:r>
              <a:rPr sz="2000">
                <a:solidFill>
                  <a:schemeClr val="tx1"/>
                </a:solidFill>
                <a:latin typeface="Arial" panose="020B0604020202020204"/>
                <a:ea typeface="微软雅黑" panose="020B0503020204020204" charset="-122"/>
              </a:rPr>
              <a:t>leader 同时充当价值函数供 follower 借用</a:t>
            </a:r>
            <a:endParaRPr sz="2000">
              <a:solidFill>
                <a:schemeClr val="tx1"/>
              </a:solidFill>
              <a:latin typeface="Arial" panose="020B0604020202020204"/>
              <a:ea typeface="微软雅黑" panose="020B0503020204020204" charset="-122"/>
            </a:endParaRPr>
          </a:p>
          <a:p>
            <a:pPr algn="l">
              <a:lnSpc>
                <a:spcPct val="120000"/>
              </a:lnSpc>
            </a:pPr>
            <a:endParaRPr sz="2000">
              <a:solidFill>
                <a:schemeClr val="tx1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77" name="Rounded Rectangle 76"/>
          <p:cNvSpPr/>
          <p:nvPr/>
        </p:nvSpPr>
        <p:spPr>
          <a:xfrm>
            <a:off x="658495" y="3259455"/>
            <a:ext cx="5139055" cy="2215515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11430">
            <a:solidFill>
              <a:srgbClr val="E2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868680" y="3369183"/>
            <a:ext cx="4754880" cy="19926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>
                <a:solidFill>
                  <a:schemeClr val="tx1"/>
                </a:solidFill>
                <a:latin typeface="Arial" panose="020B0604020202020204"/>
                <a:ea typeface="微软雅黑" panose="020B0503020204020204" charset="-122"/>
              </a:rPr>
              <a:t>① Leader 更新：两类样本混合</a:t>
            </a:r>
            <a:endParaRPr>
              <a:solidFill>
                <a:schemeClr val="tx1"/>
              </a:solidFill>
              <a:latin typeface="Arial" panose="020B0604020202020204"/>
              <a:ea typeface="微软雅黑" panose="020B0503020204020204" charset="-122"/>
            </a:endParaRPr>
          </a:p>
          <a:p>
            <a:pPr algn="l">
              <a:lnSpc>
                <a:spcPct val="120000"/>
              </a:lnSpc>
            </a:pPr>
            <a:r>
              <a:rPr>
                <a:solidFill>
                  <a:schemeClr val="tx1"/>
                </a:solidFill>
                <a:latin typeface="Arial" panose="020B0604020202020204"/>
                <a:ea typeface="微软雅黑" panose="020B0503020204020204" charset="-122"/>
              </a:rPr>
              <a:t>on-policy：r_L,on = π_L / π_L,old （比值 ≈ 1，安全）</a:t>
            </a:r>
            <a:endParaRPr>
              <a:solidFill>
                <a:schemeClr val="tx1"/>
              </a:solidFill>
              <a:latin typeface="Arial" panose="020B0604020202020204"/>
              <a:ea typeface="微软雅黑" panose="020B0503020204020204" charset="-122"/>
            </a:endParaRPr>
          </a:p>
          <a:p>
            <a:pPr algn="l">
              <a:lnSpc>
                <a:spcPct val="120000"/>
              </a:lnSpc>
            </a:pPr>
            <a:r>
              <a:rPr>
                <a:solidFill>
                  <a:schemeClr val="tx1"/>
                </a:solidFill>
                <a:latin typeface="Arial" panose="020B0604020202020204"/>
                <a:ea typeface="微软雅黑" panose="020B0503020204020204" charset="-122"/>
              </a:rPr>
              <a:t>off-policy：r_L,off = π_L / π_Fj,old （分母是另一个策略！）</a:t>
            </a:r>
            <a:endParaRPr>
              <a:solidFill>
                <a:schemeClr val="tx1"/>
              </a:solidFill>
              <a:latin typeface="Arial" panose="020B0604020202020204"/>
              <a:ea typeface="微软雅黑" panose="020B0503020204020204" charset="-122"/>
            </a:endParaRPr>
          </a:p>
          <a:p>
            <a:pPr algn="l">
              <a:lnSpc>
                <a:spcPct val="120000"/>
              </a:lnSpc>
            </a:pPr>
            <a:r>
              <a:rPr>
                <a:solidFill>
                  <a:schemeClr val="tx1"/>
                </a:solidFill>
                <a:latin typeface="Arial" panose="020B0604020202020204"/>
                <a:ea typeface="微软雅黑" panose="020B0503020204020204" charset="-122"/>
              </a:rPr>
              <a:t>每轮随机抽一个 follower j 贡献 off-policy 数据。</a:t>
            </a:r>
            <a:endParaRPr>
              <a:solidFill>
                <a:schemeClr val="tx1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79" name="Rounded Rectangle 78"/>
          <p:cNvSpPr/>
          <p:nvPr/>
        </p:nvSpPr>
        <p:spPr>
          <a:xfrm>
            <a:off x="5989320" y="3259455"/>
            <a:ext cx="5139055" cy="2224405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11430">
            <a:solidFill>
              <a:srgbClr val="E2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199505" y="3369310"/>
            <a:ext cx="4754880" cy="96139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>
                <a:solidFill>
                  <a:schemeClr val="tx1"/>
                </a:solidFill>
                <a:latin typeface="Arial" panose="020B0604020202020204"/>
                <a:ea typeface="微软雅黑" panose="020B0503020204020204" charset="-122"/>
              </a:rPr>
              <a:t>② Follower 更新：标准 PPO</a:t>
            </a:r>
            <a:endParaRPr>
              <a:solidFill>
                <a:schemeClr val="tx1"/>
              </a:solidFill>
              <a:latin typeface="Arial" panose="020B0604020202020204"/>
              <a:ea typeface="微软雅黑" panose="020B0503020204020204" charset="-122"/>
            </a:endParaRPr>
          </a:p>
          <a:p>
            <a:pPr algn="l">
              <a:lnSpc>
                <a:spcPct val="120000"/>
              </a:lnSpc>
            </a:pPr>
            <a:r>
              <a:rPr>
                <a:solidFill>
                  <a:schemeClr val="tx1"/>
                </a:solidFill>
                <a:latin typeface="Arial" panose="020B0604020202020204"/>
                <a:ea typeface="微软雅黑" panose="020B0503020204020204" charset="-122"/>
              </a:rPr>
              <a:t>r_Fi = π_Fi / π_Fi,old （纯 on-policy，比值 ≈ 1）</a:t>
            </a:r>
            <a:endParaRPr>
              <a:solidFill>
                <a:schemeClr val="tx1"/>
              </a:solidFill>
              <a:latin typeface="Arial" panose="020B0604020202020204"/>
              <a:ea typeface="微软雅黑" panose="020B0503020204020204" charset="-122"/>
            </a:endParaRPr>
          </a:p>
          <a:p>
            <a:pPr algn="l">
              <a:lnSpc>
                <a:spcPct val="120000"/>
              </a:lnSpc>
            </a:pPr>
            <a:endParaRPr>
              <a:solidFill>
                <a:schemeClr val="tx1"/>
              </a:solidFill>
              <a:latin typeface="Arial" panose="020B0604020202020204"/>
              <a:ea typeface="微软雅黑" panose="020B0503020204020204" charset="-122"/>
            </a:endParaRPr>
          </a:p>
          <a:p>
            <a:pPr algn="l">
              <a:lnSpc>
                <a:spcPct val="120000"/>
              </a:lnSpc>
            </a:pPr>
            <a:r>
              <a:rPr>
                <a:solidFill>
                  <a:schemeClr val="tx1"/>
                </a:solidFill>
                <a:latin typeface="Arial" panose="020B0604020202020204"/>
                <a:ea typeface="微软雅黑" panose="020B0503020204020204" charset="-122"/>
              </a:rPr>
              <a:t>③ 熵正则：对所有策略加熵奖励，鼓励探索</a:t>
            </a:r>
            <a:endParaRPr>
              <a:solidFill>
                <a:schemeClr val="tx1"/>
              </a:solidFill>
              <a:latin typeface="Arial" panose="020B0604020202020204"/>
              <a:ea typeface="微软雅黑" panose="020B0503020204020204" charset="-122"/>
            </a:endParaRPr>
          </a:p>
          <a:p>
            <a:pPr algn="l">
              <a:lnSpc>
                <a:spcPct val="120000"/>
              </a:lnSpc>
              <a:buClrTx/>
              <a:buSzTx/>
              <a:buNone/>
            </a:pPr>
            <a:r>
              <a:rPr>
                <a:solidFill>
                  <a:schemeClr val="tx1"/>
                </a:solidFill>
                <a:latin typeface="Arial" panose="020B0604020202020204"/>
                <a:ea typeface="微软雅黑" panose="020B0503020204020204" charset="-122"/>
              </a:rPr>
              <a:t>不做任何对齐时，follower 数据全被 leader 通过 IS 吸收。</a:t>
            </a:r>
            <a:endParaRPr>
              <a:solidFill>
                <a:schemeClr val="tx1"/>
              </a:solidFill>
              <a:latin typeface="Arial" panose="020B0604020202020204"/>
              <a:ea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 advTm="3000">
        <p15:prstTrans prst="pageCurlDouble"/>
      </p:transition>
    </mc:Choice>
    <mc:Fallback>
      <p:transition spd="slow" advTm="3000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7" name="文本框 36"/>
          <p:cNvSpPr txBox="1"/>
          <p:nvPr/>
        </p:nvSpPr>
        <p:spPr>
          <a:xfrm>
            <a:off x="8610404" y="6583649"/>
            <a:ext cx="301236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0" b="0" i="0" u="none" strike="noStrike" kern="120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Tsinghua University of China</a:t>
            </a:r>
            <a:endParaRPr kumimoji="0" lang="zh-CN" altLang="en-US" sz="1000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62" name="文本框 61"/>
          <p:cNvSpPr txBox="1"/>
          <p:nvPr/>
        </p:nvSpPr>
        <p:spPr>
          <a:xfrm>
            <a:off x="660400" y="6583649"/>
            <a:ext cx="194155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6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自强不息 厚德载物</a:t>
            </a:r>
            <a:endParaRPr kumimoji="0" lang="zh-CN" altLang="en-US" sz="1000" b="0" i="0" u="none" strike="noStrike" kern="1200" cap="none" spc="6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64" name="矩形 63"/>
          <p:cNvSpPr/>
          <p:nvPr/>
        </p:nvSpPr>
        <p:spPr>
          <a:xfrm>
            <a:off x="0" y="6570000"/>
            <a:ext cx="12192000" cy="288000"/>
          </a:xfrm>
          <a:prstGeom prst="rect">
            <a:avLst/>
          </a:prstGeom>
          <a:solidFill>
            <a:srgbClr val="1C629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66" name="文本框 65"/>
          <p:cNvSpPr txBox="1"/>
          <p:nvPr/>
        </p:nvSpPr>
        <p:spPr>
          <a:xfrm>
            <a:off x="594090" y="6583649"/>
            <a:ext cx="203132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defRPr/>
            </a:pPr>
            <a:r>
              <a:rPr lang="zh-CN" altLang="en-US" sz="1000" spc="600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知行合一、经世致用</a:t>
            </a:r>
            <a:endParaRPr kumimoji="0" lang="zh-CN" altLang="en-US" sz="1000" b="0" i="0" u="none" strike="noStrike" kern="1200" cap="none" spc="6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68" name="文本框 67"/>
          <p:cNvSpPr txBox="1"/>
          <p:nvPr/>
        </p:nvSpPr>
        <p:spPr>
          <a:xfrm>
            <a:off x="9137792" y="6583649"/>
            <a:ext cx="248497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r">
              <a:defRPr/>
            </a:pPr>
            <a:r>
              <a:rPr lang="en-US" altLang="zh-CN" sz="1000" spc="300" dirty="0">
                <a:solidFill>
                  <a:prstClr val="white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Central South University</a:t>
            </a:r>
            <a:endParaRPr kumimoji="0" lang="zh-CN" altLang="en-US" sz="1000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cxnSp>
        <p:nvCxnSpPr>
          <p:cNvPr id="69" name="直接连接符 68"/>
          <p:cNvCxnSpPr/>
          <p:nvPr/>
        </p:nvCxnSpPr>
        <p:spPr>
          <a:xfrm>
            <a:off x="660400" y="760413"/>
            <a:ext cx="10858500" cy="0"/>
          </a:xfrm>
          <a:prstGeom prst="line">
            <a:avLst/>
          </a:prstGeom>
          <a:noFill/>
          <a:ln w="22225" cap="flat" cmpd="sng" algn="ctr">
            <a:solidFill>
              <a:srgbClr val="1C6299"/>
            </a:solidFill>
            <a:prstDash val="solid"/>
            <a:miter lim="800000"/>
          </a:ln>
          <a:effectLst/>
        </p:spPr>
      </p:cxnSp>
      <p:grpSp>
        <p:nvGrpSpPr>
          <p:cNvPr id="70" name="组合 69"/>
          <p:cNvGrpSpPr/>
          <p:nvPr/>
        </p:nvGrpSpPr>
        <p:grpSpPr>
          <a:xfrm>
            <a:off x="203760" y="159728"/>
            <a:ext cx="725344" cy="619478"/>
            <a:chOff x="178632" y="159728"/>
            <a:chExt cx="725344" cy="619478"/>
          </a:xfrm>
        </p:grpSpPr>
        <p:sp>
          <p:nvSpPr>
            <p:cNvPr id="71" name="椭圆 70"/>
            <p:cNvSpPr/>
            <p:nvPr/>
          </p:nvSpPr>
          <p:spPr>
            <a:xfrm>
              <a:off x="358210" y="159728"/>
              <a:ext cx="468000" cy="468000"/>
            </a:xfrm>
            <a:prstGeom prst="ellipse">
              <a:avLst/>
            </a:prstGeom>
            <a:gradFill>
              <a:gsLst>
                <a:gs pos="0">
                  <a:srgbClr val="1C6299"/>
                </a:gs>
                <a:gs pos="100000">
                  <a:srgbClr val="5C307D">
                    <a:alpha val="90000"/>
                  </a:srgb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73" name="椭圆 72"/>
            <p:cNvSpPr/>
            <p:nvPr/>
          </p:nvSpPr>
          <p:spPr>
            <a:xfrm>
              <a:off x="178632" y="602993"/>
              <a:ext cx="176213" cy="176213"/>
            </a:xfrm>
            <a:prstGeom prst="ellipse">
              <a:avLst/>
            </a:prstGeom>
            <a:gradFill>
              <a:gsLst>
                <a:gs pos="0">
                  <a:srgbClr val="1C6299"/>
                </a:gs>
                <a:gs pos="100000">
                  <a:srgbClr val="5C307D">
                    <a:alpha val="90000"/>
                  </a:srgbClr>
                </a:gs>
              </a:gsLst>
              <a:lin ang="3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</p:grpSp>
      <p:pic>
        <p:nvPicPr>
          <p:cNvPr id="74" name="图片 73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4913" y="176378"/>
            <a:ext cx="1897854" cy="555905"/>
          </a:xfrm>
          <a:prstGeom prst="rect">
            <a:avLst/>
          </a:prstGeom>
        </p:spPr>
      </p:pic>
      <p:sp>
        <p:nvSpPr>
          <p:cNvPr id="15" name="标题占位符 1"/>
          <p:cNvSpPr txBox="1"/>
          <p:nvPr/>
        </p:nvSpPr>
        <p:spPr>
          <a:xfrm>
            <a:off x="965199" y="-100014"/>
            <a:ext cx="8759713" cy="817564"/>
          </a:xfrm>
          <a:prstGeom prst="rect">
            <a:avLst/>
          </a:prstGeom>
          <a:ln>
            <a:noFill/>
          </a:ln>
        </p:spPr>
        <p:txBody>
          <a:bodyPr vert="horz" lIns="0" tIns="45720" rIns="91440" bIns="45720" rtlCol="0" anchor="b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zh-CN" altLang="en-US" sz="2600" b="1" dirty="0">
                <a:solidFill>
                  <a:srgbClr val="0000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五、实验设置</a:t>
            </a:r>
            <a:endParaRPr lang="zh-CN" altLang="en-US" sz="2600" b="1" dirty="0">
              <a:solidFill>
                <a:srgbClr val="000000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75" name="Rounded Rectangle 74"/>
          <p:cNvSpPr/>
          <p:nvPr/>
        </p:nvSpPr>
        <p:spPr>
          <a:xfrm>
            <a:off x="658495" y="1097280"/>
            <a:ext cx="5139055" cy="2110105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1430">
            <a:solidFill>
              <a:srgbClr val="E2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868680" y="1207008"/>
            <a:ext cx="4754880" cy="18065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buClrTx/>
              <a:buSzTx/>
              <a:buFontTx/>
            </a:pPr>
            <a:r>
              <a:rPr lang="zh-CN" b="1">
                <a:solidFill>
                  <a:schemeClr val="tx1"/>
                </a:solidFill>
                <a:latin typeface="Arial" panose="020B0604020202020204"/>
                <a:ea typeface="微软雅黑" panose="020B0503020204020204" charset="-122"/>
              </a:rPr>
              <a:t>实验设置</a:t>
            </a:r>
            <a:endParaRPr lang="zh-CN" b="1">
              <a:solidFill>
                <a:schemeClr val="tx1"/>
              </a:solidFill>
              <a:latin typeface="Arial" panose="020B0604020202020204"/>
              <a:ea typeface="微软雅黑" panose="020B0503020204020204" charset="-122"/>
            </a:endParaRPr>
          </a:p>
          <a:p>
            <a:pPr algn="l">
              <a:lnSpc>
                <a:spcPct val="120000"/>
              </a:lnSpc>
            </a:pPr>
            <a:r>
              <a:rPr sz="1600">
                <a:solidFill>
                  <a:schemeClr val="tx1"/>
                </a:solidFill>
                <a:latin typeface="Arial" panose="020B0604020202020204"/>
                <a:ea typeface="微软雅黑" panose="020B0503020204020204" charset="-122"/>
              </a:rPr>
              <a:t>· 并行规模：N = 24,576 个环境</a:t>
            </a:r>
            <a:endParaRPr sz="1600">
              <a:solidFill>
                <a:schemeClr val="tx1"/>
              </a:solidFill>
              <a:latin typeface="Arial" panose="020B0604020202020204"/>
              <a:ea typeface="微软雅黑" panose="020B0503020204020204" charset="-122"/>
            </a:endParaRPr>
          </a:p>
          <a:p>
            <a:pPr algn="l">
              <a:lnSpc>
                <a:spcPct val="120000"/>
              </a:lnSpc>
            </a:pPr>
            <a:r>
              <a:rPr sz="1600">
                <a:solidFill>
                  <a:schemeClr val="tx1"/>
                </a:solidFill>
                <a:latin typeface="Arial" panose="020B0604020202020204"/>
                <a:ea typeface="微软雅黑" panose="020B0503020204020204" charset="-122"/>
              </a:rPr>
              <a:t>· 分块：M = 6（1 leader + 5 follower）</a:t>
            </a:r>
            <a:endParaRPr sz="1600">
              <a:solidFill>
                <a:schemeClr val="tx1"/>
              </a:solidFill>
              <a:latin typeface="Arial" panose="020B0604020202020204"/>
              <a:ea typeface="微软雅黑" panose="020B0503020204020204" charset="-122"/>
            </a:endParaRPr>
          </a:p>
          <a:p>
            <a:pPr algn="l">
              <a:lnSpc>
                <a:spcPct val="120000"/>
              </a:lnSpc>
            </a:pPr>
            <a:r>
              <a:rPr sz="1600">
                <a:solidFill>
                  <a:schemeClr val="tx1"/>
                </a:solidFill>
                <a:latin typeface="Arial" panose="020B0604020202020204"/>
                <a:ea typeface="微软雅黑" panose="020B0503020204020204" charset="-122"/>
              </a:rPr>
              <a:t>· 训练预算：每任务 2e10 环境步</a:t>
            </a:r>
            <a:endParaRPr sz="1600">
              <a:solidFill>
                <a:schemeClr val="tx1"/>
              </a:solidFill>
              <a:latin typeface="Arial" panose="020B0604020202020204"/>
              <a:ea typeface="微软雅黑" panose="020B0503020204020204" charset="-122"/>
            </a:endParaRPr>
          </a:p>
          <a:p>
            <a:pPr algn="l">
              <a:lnSpc>
                <a:spcPct val="120000"/>
              </a:lnSpc>
            </a:pPr>
            <a:r>
              <a:rPr sz="1600">
                <a:solidFill>
                  <a:schemeClr val="tx1"/>
                </a:solidFill>
                <a:latin typeface="Arial" panose="020B0604020202020204"/>
                <a:ea typeface="微软雅黑" panose="020B0503020204020204" charset="-122"/>
              </a:rPr>
              <a:t>· 统计单元：5 个随机种子（mean ± std）</a:t>
            </a:r>
            <a:endParaRPr sz="1600">
              <a:solidFill>
                <a:schemeClr val="tx1"/>
              </a:solidFill>
              <a:latin typeface="Arial" panose="020B0604020202020204"/>
              <a:ea typeface="微软雅黑" panose="020B0503020204020204" charset="-122"/>
            </a:endParaRPr>
          </a:p>
          <a:p>
            <a:pPr algn="l">
              <a:lnSpc>
                <a:spcPct val="120000"/>
              </a:lnSpc>
            </a:pPr>
            <a:r>
              <a:rPr sz="1600">
                <a:solidFill>
                  <a:schemeClr val="tx1"/>
                </a:solidFill>
                <a:latin typeface="Arial" panose="020B0604020202020204"/>
                <a:ea typeface="微软雅黑" panose="020B0503020204020204" charset="-122"/>
              </a:rPr>
              <a:t>· 硬件：GPU 集群 + A100；每条件 1~4 天</a:t>
            </a:r>
            <a:endParaRPr sz="1600">
              <a:solidFill>
                <a:schemeClr val="tx1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77" name="Rounded Rectangle 76"/>
          <p:cNvSpPr/>
          <p:nvPr/>
        </p:nvSpPr>
        <p:spPr>
          <a:xfrm>
            <a:off x="5989320" y="1097280"/>
            <a:ext cx="5139055" cy="257683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1430">
            <a:solidFill>
              <a:srgbClr val="E2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199632" y="1207008"/>
            <a:ext cx="4754880" cy="26047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zh-CN" b="1">
                <a:solidFill>
                  <a:schemeClr val="tx1"/>
                </a:solidFill>
                <a:latin typeface="Arial" panose="020B0604020202020204"/>
                <a:ea typeface="微软雅黑" panose="020B0503020204020204" charset="-122"/>
              </a:rPr>
              <a:t>任务安排</a:t>
            </a:r>
            <a:r>
              <a:rPr b="1">
                <a:solidFill>
                  <a:schemeClr val="tx1"/>
                </a:solidFill>
                <a:latin typeface="Arial" panose="020B0604020202020204"/>
                <a:ea typeface="微软雅黑" panose="020B0503020204020204" charset="-122"/>
              </a:rPr>
              <a:t>（全部稠密奖励）</a:t>
            </a:r>
            <a:endParaRPr b="1">
              <a:solidFill>
                <a:schemeClr val="tx1"/>
              </a:solidFill>
              <a:latin typeface="Arial" panose="020B0604020202020204"/>
              <a:ea typeface="微软雅黑" panose="020B0503020204020204" charset="-122"/>
            </a:endParaRPr>
          </a:p>
          <a:p>
            <a:pPr algn="l">
              <a:lnSpc>
                <a:spcPct val="120000"/>
              </a:lnSpc>
            </a:pPr>
            <a:r>
              <a:rPr sz="1600">
                <a:solidFill>
                  <a:srgbClr val="262A34"/>
                </a:solidFill>
                <a:latin typeface="Arial" panose="020B0604020202020204"/>
                <a:ea typeface="微软雅黑" panose="020B0503020204020204" charset="-122"/>
              </a:rPr>
              <a:t>· 手部灵巧：ShadowHand(24DoF)、AllegroHand(16DoF)</a:t>
            </a:r>
            <a:endParaRPr sz="1600">
              <a:solidFill>
                <a:srgbClr val="262A34"/>
              </a:solidFill>
              <a:latin typeface="Arial" panose="020B0604020202020204"/>
              <a:ea typeface="微软雅黑" panose="020B0503020204020204" charset="-122"/>
            </a:endParaRPr>
          </a:p>
          <a:p>
            <a:pPr algn="l">
              <a:lnSpc>
                <a:spcPct val="120000"/>
              </a:lnSpc>
            </a:pPr>
            <a:r>
              <a:rPr sz="1600">
                <a:solidFill>
                  <a:srgbClr val="262A34"/>
                </a:solidFill>
                <a:latin typeface="Arial" panose="020B0604020202020204"/>
                <a:ea typeface="微软雅黑" panose="020B0503020204020204" charset="-122"/>
              </a:rPr>
              <a:t>· 手+臂：AllegroKuka Regrasping / Reorientation / Throw</a:t>
            </a:r>
            <a:endParaRPr sz="1600">
              <a:solidFill>
                <a:srgbClr val="262A34"/>
              </a:solidFill>
              <a:latin typeface="Arial" panose="020B0604020202020204"/>
              <a:ea typeface="微软雅黑" panose="020B0503020204020204" charset="-122"/>
            </a:endParaRPr>
          </a:p>
          <a:p>
            <a:pPr algn="l">
              <a:lnSpc>
                <a:spcPct val="120000"/>
              </a:lnSpc>
            </a:pPr>
            <a:r>
              <a:rPr sz="1600">
                <a:solidFill>
                  <a:srgbClr val="262A34"/>
                </a:solidFill>
                <a:latin typeface="Arial" panose="020B0604020202020204"/>
                <a:ea typeface="微软雅黑" panose="020B0503020204020204" charset="-122"/>
              </a:rPr>
              <a:t>     Two-Arms Reorientation（双臂协同）</a:t>
            </a:r>
            <a:endParaRPr sz="1600">
              <a:solidFill>
                <a:srgbClr val="262A34"/>
              </a:solidFill>
              <a:latin typeface="Arial" panose="020B0604020202020204"/>
              <a:ea typeface="微软雅黑" panose="020B0503020204020204" charset="-122"/>
            </a:endParaRPr>
          </a:p>
          <a:p>
            <a:pPr algn="l">
              <a:lnSpc>
                <a:spcPct val="120000"/>
              </a:lnSpc>
            </a:pPr>
            <a:r>
              <a:rPr sz="1600">
                <a:solidFill>
                  <a:srgbClr val="262A34"/>
                </a:solidFill>
                <a:latin typeface="Arial" panose="020B0604020202020204"/>
                <a:ea typeface="微软雅黑" panose="020B0503020204020204" charset="-122"/>
              </a:rPr>
              <a:t>· 夹爪：FrankaCubePush、FrankaCubeStack(8DoF)</a:t>
            </a:r>
            <a:endParaRPr sz="1600">
              <a:solidFill>
                <a:srgbClr val="262A34"/>
              </a:solidFill>
              <a:latin typeface="Arial" panose="020B0604020202020204"/>
              <a:ea typeface="微软雅黑" panose="020B0503020204020204" charset="-122"/>
            </a:endParaRPr>
          </a:p>
          <a:p>
            <a:pPr algn="l">
              <a:lnSpc>
                <a:spcPct val="120000"/>
              </a:lnSpc>
            </a:pPr>
            <a:r>
              <a:rPr sz="1600">
                <a:solidFill>
                  <a:srgbClr val="262A34"/>
                </a:solidFill>
                <a:latin typeface="Arial" panose="020B0604020202020204"/>
                <a:ea typeface="微软雅黑" panose="020B0503020204020204" charset="-122"/>
              </a:rPr>
              <a:t>· 运动：Humanoid(21DoF)、Anymal(12DoF)</a:t>
            </a:r>
            <a:endParaRPr sz="1600">
              <a:solidFill>
                <a:srgbClr val="262A34"/>
              </a:solidFill>
              <a:latin typeface="Arial" panose="020B0604020202020204"/>
              <a:ea typeface="微软雅黑" panose="020B0503020204020204" charset="-122"/>
            </a:endParaRPr>
          </a:p>
          <a:p>
            <a:pPr algn="l">
              <a:lnSpc>
                <a:spcPct val="120000"/>
              </a:lnSpc>
            </a:pPr>
            <a:r>
              <a:rPr sz="1130">
                <a:solidFill>
                  <a:srgbClr val="6E7682"/>
                </a:solidFill>
                <a:latin typeface="Arial" panose="020B0604020202020204"/>
                <a:ea typeface="微软雅黑" panose="020B0503020204020204" charset="-122"/>
              </a:rPr>
              <a:t>·</a:t>
            </a:r>
            <a:endParaRPr sz="1130">
              <a:solidFill>
                <a:srgbClr val="6E7682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79" name="Rounded Rectangle 78"/>
          <p:cNvSpPr/>
          <p:nvPr/>
        </p:nvSpPr>
        <p:spPr>
          <a:xfrm>
            <a:off x="658495" y="3673475"/>
            <a:ext cx="10469880" cy="221488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11430">
            <a:solidFill>
              <a:srgbClr val="E8C8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895985" y="3729990"/>
            <a:ext cx="10058400" cy="194373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endParaRPr sz="1200">
              <a:solidFill>
                <a:schemeClr val="tx1"/>
              </a:solidFill>
              <a:latin typeface="Arial" panose="020B0604020202020204"/>
              <a:ea typeface="微软雅黑" panose="020B0503020204020204" charset="-122"/>
            </a:endParaRPr>
          </a:p>
          <a:p>
            <a:pPr algn="l">
              <a:lnSpc>
                <a:spcPct val="120000"/>
              </a:lnSpc>
            </a:pPr>
            <a:r>
              <a:rPr sz="2000">
                <a:solidFill>
                  <a:schemeClr val="tx1"/>
                </a:solidFill>
                <a:latin typeface="Arial" panose="020B0604020202020204"/>
                <a:ea typeface="微软雅黑" panose="020B0503020204020204" charset="-122"/>
              </a:rPr>
              <a:t>在稠密奖励下，「探索」通常不是主要瓶颈 —— 这引出一个替代解释疑问：</a:t>
            </a:r>
            <a:endParaRPr sz="2000">
              <a:solidFill>
                <a:schemeClr val="tx1"/>
              </a:solidFill>
              <a:latin typeface="Arial" panose="020B0604020202020204"/>
              <a:ea typeface="微软雅黑" panose="020B0503020204020204" charset="-122"/>
            </a:endParaRPr>
          </a:p>
          <a:p>
            <a:pPr algn="l">
              <a:lnSpc>
                <a:spcPct val="120000"/>
              </a:lnSpc>
            </a:pPr>
            <a:r>
              <a:rPr sz="2000">
                <a:solidFill>
                  <a:schemeClr val="tx1"/>
                </a:solidFill>
                <a:latin typeface="Arial" panose="020B0604020202020204"/>
                <a:ea typeface="微软雅黑" panose="020B0503020204020204" charset="-122"/>
              </a:rPr>
              <a:t>CPO 的收益究竟来自「更好的探索」还是「更稳的优化」？</a:t>
            </a:r>
            <a:endParaRPr sz="2000">
              <a:solidFill>
                <a:schemeClr val="tx1"/>
              </a:solidFill>
              <a:latin typeface="Arial" panose="020B0604020202020204"/>
              <a:ea typeface="微软雅黑" panose="020B0503020204020204" charset="-122"/>
            </a:endParaRPr>
          </a:p>
          <a:p>
            <a:pPr algn="l">
              <a:lnSpc>
                <a:spcPct val="120000"/>
              </a:lnSpc>
            </a:pPr>
            <a:r>
              <a:rPr sz="2000">
                <a:latin typeface="Arial" panose="020B0604020202020204"/>
                <a:ea typeface="微软雅黑" panose="020B0503020204020204" charset="-122"/>
                <a:sym typeface="+mn-ea"/>
              </a:rPr>
              <a:t>KL 约束提升的是有效样本量和降低梯度偏差，这属于优化的稳定性，而不是探索能力。所以全部采用的是稠密奖励</a:t>
            </a:r>
            <a:endParaRPr sz="2000">
              <a:latin typeface="Arial" panose="020B0604020202020204"/>
              <a:ea typeface="微软雅黑" panose="020B0503020204020204" charset="-122"/>
            </a:endParaRPr>
          </a:p>
          <a:p>
            <a:pPr algn="l">
              <a:lnSpc>
                <a:spcPct val="120000"/>
              </a:lnSpc>
            </a:pPr>
            <a:endParaRPr sz="2000">
              <a:solidFill>
                <a:schemeClr val="tx1"/>
              </a:solidFill>
              <a:latin typeface="Arial" panose="020B0604020202020204"/>
              <a:ea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 advTm="3000">
        <p15:prstTrans prst="pageCurlDouble"/>
      </p:transition>
    </mc:Choice>
    <mc:Fallback>
      <p:transition spd="slow" advTm="3000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7" name="文本框 36"/>
          <p:cNvSpPr txBox="1"/>
          <p:nvPr/>
        </p:nvSpPr>
        <p:spPr>
          <a:xfrm>
            <a:off x="8610404" y="6583649"/>
            <a:ext cx="301236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0" b="0" i="0" u="none" strike="noStrike" kern="120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Tsinghua University of China</a:t>
            </a:r>
            <a:endParaRPr kumimoji="0" lang="zh-CN" altLang="en-US" sz="1000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62" name="文本框 61"/>
          <p:cNvSpPr txBox="1"/>
          <p:nvPr/>
        </p:nvSpPr>
        <p:spPr>
          <a:xfrm>
            <a:off x="660400" y="6583649"/>
            <a:ext cx="194155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6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自强不息 厚德载物</a:t>
            </a:r>
            <a:endParaRPr kumimoji="0" lang="zh-CN" altLang="en-US" sz="1000" b="0" i="0" u="none" strike="noStrike" kern="1200" cap="none" spc="6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64" name="矩形 63"/>
          <p:cNvSpPr/>
          <p:nvPr/>
        </p:nvSpPr>
        <p:spPr>
          <a:xfrm>
            <a:off x="0" y="6570000"/>
            <a:ext cx="12192000" cy="288000"/>
          </a:xfrm>
          <a:prstGeom prst="rect">
            <a:avLst/>
          </a:prstGeom>
          <a:solidFill>
            <a:srgbClr val="1C629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66" name="文本框 65"/>
          <p:cNvSpPr txBox="1"/>
          <p:nvPr/>
        </p:nvSpPr>
        <p:spPr>
          <a:xfrm>
            <a:off x="594090" y="6583649"/>
            <a:ext cx="203132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defRPr/>
            </a:pPr>
            <a:r>
              <a:rPr lang="zh-CN" altLang="en-US" sz="1000" spc="600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知行合一、经世致用</a:t>
            </a:r>
            <a:endParaRPr kumimoji="0" lang="zh-CN" altLang="en-US" sz="1000" b="0" i="0" u="none" strike="noStrike" kern="1200" cap="none" spc="6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68" name="文本框 67"/>
          <p:cNvSpPr txBox="1"/>
          <p:nvPr/>
        </p:nvSpPr>
        <p:spPr>
          <a:xfrm>
            <a:off x="9137792" y="6583649"/>
            <a:ext cx="248497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r">
              <a:defRPr/>
            </a:pPr>
            <a:r>
              <a:rPr lang="en-US" altLang="zh-CN" sz="1000" spc="300" dirty="0">
                <a:solidFill>
                  <a:prstClr val="white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Central South University</a:t>
            </a:r>
            <a:endParaRPr kumimoji="0" lang="zh-CN" altLang="en-US" sz="1000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cxnSp>
        <p:nvCxnSpPr>
          <p:cNvPr id="69" name="直接连接符 68"/>
          <p:cNvCxnSpPr/>
          <p:nvPr/>
        </p:nvCxnSpPr>
        <p:spPr>
          <a:xfrm>
            <a:off x="660400" y="760413"/>
            <a:ext cx="10858500" cy="0"/>
          </a:xfrm>
          <a:prstGeom prst="line">
            <a:avLst/>
          </a:prstGeom>
          <a:noFill/>
          <a:ln w="22225" cap="flat" cmpd="sng" algn="ctr">
            <a:solidFill>
              <a:srgbClr val="1C6299"/>
            </a:solidFill>
            <a:prstDash val="solid"/>
            <a:miter lim="800000"/>
          </a:ln>
          <a:effectLst/>
        </p:spPr>
      </p:cxnSp>
      <p:grpSp>
        <p:nvGrpSpPr>
          <p:cNvPr id="70" name="组合 69"/>
          <p:cNvGrpSpPr/>
          <p:nvPr/>
        </p:nvGrpSpPr>
        <p:grpSpPr>
          <a:xfrm>
            <a:off x="203760" y="159728"/>
            <a:ext cx="725344" cy="619478"/>
            <a:chOff x="178632" y="159728"/>
            <a:chExt cx="725344" cy="619478"/>
          </a:xfrm>
        </p:grpSpPr>
        <p:sp>
          <p:nvSpPr>
            <p:cNvPr id="71" name="椭圆 70"/>
            <p:cNvSpPr/>
            <p:nvPr/>
          </p:nvSpPr>
          <p:spPr>
            <a:xfrm>
              <a:off x="358210" y="159728"/>
              <a:ext cx="468000" cy="468000"/>
            </a:xfrm>
            <a:prstGeom prst="ellipse">
              <a:avLst/>
            </a:prstGeom>
            <a:gradFill>
              <a:gsLst>
                <a:gs pos="0">
                  <a:srgbClr val="1C6299"/>
                </a:gs>
                <a:gs pos="100000">
                  <a:srgbClr val="5C307D">
                    <a:alpha val="90000"/>
                  </a:srgb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73" name="椭圆 72"/>
            <p:cNvSpPr/>
            <p:nvPr/>
          </p:nvSpPr>
          <p:spPr>
            <a:xfrm>
              <a:off x="178632" y="602993"/>
              <a:ext cx="176213" cy="176213"/>
            </a:xfrm>
            <a:prstGeom prst="ellipse">
              <a:avLst/>
            </a:prstGeom>
            <a:gradFill>
              <a:gsLst>
                <a:gs pos="0">
                  <a:srgbClr val="1C6299"/>
                </a:gs>
                <a:gs pos="100000">
                  <a:srgbClr val="5C307D">
                    <a:alpha val="90000"/>
                  </a:srgbClr>
                </a:gs>
              </a:gsLst>
              <a:lin ang="3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</p:grpSp>
      <p:pic>
        <p:nvPicPr>
          <p:cNvPr id="74" name="图片 73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4913" y="176378"/>
            <a:ext cx="1897854" cy="555905"/>
          </a:xfrm>
          <a:prstGeom prst="rect">
            <a:avLst/>
          </a:prstGeom>
        </p:spPr>
      </p:pic>
      <p:sp>
        <p:nvSpPr>
          <p:cNvPr id="15" name="标题占位符 1"/>
          <p:cNvSpPr txBox="1"/>
          <p:nvPr/>
        </p:nvSpPr>
        <p:spPr>
          <a:xfrm>
            <a:off x="965199" y="-100014"/>
            <a:ext cx="8759713" cy="817564"/>
          </a:xfrm>
          <a:prstGeom prst="rect">
            <a:avLst/>
          </a:prstGeom>
          <a:ln>
            <a:noFill/>
          </a:ln>
        </p:spPr>
        <p:txBody>
          <a:bodyPr vert="horz" lIns="0" tIns="45720" rIns="91440" bIns="45720" rtlCol="0" anchor="b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zh-CN" altLang="en-US" sz="2600" b="1" dirty="0">
                <a:solidFill>
                  <a:srgbClr val="0000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五、</a:t>
            </a:r>
            <a:r>
              <a:rPr lang="zh-CN" altLang="en-US" sz="2600" b="1" dirty="0">
                <a:solidFill>
                  <a:srgbClr val="0000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实验结果</a:t>
            </a:r>
            <a:endParaRPr lang="zh-CN" altLang="en-US" sz="2600" b="1" dirty="0">
              <a:solidFill>
                <a:srgbClr val="000000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graphicFrame>
        <p:nvGraphicFramePr>
          <p:cNvPr id="75" name="Table 74"/>
          <p:cNvGraphicFramePr>
            <a:graphicFrameLocks noGrp="1"/>
          </p:cNvGraphicFramePr>
          <p:nvPr>
            <p:custDataLst>
              <p:tags r:id="rId2"/>
            </p:custDataLst>
          </p:nvPr>
        </p:nvGraphicFramePr>
        <p:xfrm>
          <a:off x="594360" y="1033145"/>
          <a:ext cx="11028680" cy="48672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10180"/>
                <a:gridCol w="1962785"/>
                <a:gridCol w="2243455"/>
                <a:gridCol w="1962785"/>
                <a:gridCol w="2149475"/>
              </a:tblGrid>
              <a:tr h="695325"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</a:rPr>
                        <a:t>任务</a:t>
                      </a:r>
                      <a:endParaRPr sz="2000" b="1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</a:endParaRPr>
                    </a:p>
                  </a:txBody>
                  <a:tcPr marL="45720" marR="45720" marT="9144" marB="9144" anchor="ctr">
                    <a:solidFill>
                      <a:srgbClr val="1B629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</a:rPr>
                        <a:t>PPO</a:t>
                      </a:r>
                      <a:endParaRPr sz="2000" b="1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</a:endParaRPr>
                    </a:p>
                  </a:txBody>
                  <a:tcPr marL="45720" marR="45720" marT="9144" marB="9144" anchor="ctr">
                    <a:solidFill>
                      <a:srgbClr val="1B629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</a:rPr>
                        <a:t>PBT (DexPBT)</a:t>
                      </a:r>
                      <a:endParaRPr sz="2000" b="1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</a:endParaRPr>
                    </a:p>
                  </a:txBody>
                  <a:tcPr marL="45720" marR="45720" marT="9144" marB="9144" anchor="ctr">
                    <a:solidFill>
                      <a:srgbClr val="1B629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</a:rPr>
                        <a:t>SAPG</a:t>
                      </a:r>
                      <a:endParaRPr sz="2000" b="1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</a:endParaRPr>
                    </a:p>
                  </a:txBody>
                  <a:tcPr marL="45720" marR="45720" marT="9144" marB="9144" anchor="ctr">
                    <a:solidFill>
                      <a:srgbClr val="1B629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</a:rPr>
                        <a:t>CPO (ours)</a:t>
                      </a:r>
                      <a:endParaRPr sz="2000" b="1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</a:endParaRPr>
                    </a:p>
                  </a:txBody>
                  <a:tcPr marL="45720" marR="45720" marT="9144" marB="9144" anchor="ctr">
                    <a:solidFill>
                      <a:srgbClr val="1B6298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2000" b="0">
                          <a:solidFill>
                            <a:srgbClr val="262A34"/>
                          </a:solidFill>
                          <a:latin typeface="Arial" panose="020B0604020202020204"/>
                          <a:ea typeface="微软雅黑" panose="020B0503020204020204" charset="-122"/>
                        </a:rPr>
                        <a:t>ShadowHand</a:t>
                      </a:r>
                      <a:endParaRPr sz="2000" b="0">
                        <a:solidFill>
                          <a:srgbClr val="262A34"/>
                        </a:solidFill>
                        <a:latin typeface="Arial" panose="020B0604020202020204"/>
                        <a:ea typeface="微软雅黑" panose="020B0503020204020204" charset="-122"/>
                      </a:endParaRP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2000" b="0">
                          <a:solidFill>
                            <a:srgbClr val="262A34"/>
                          </a:solidFill>
                          <a:latin typeface="Arial" panose="020B0604020202020204"/>
                          <a:ea typeface="微软雅黑" panose="020B0503020204020204" charset="-122"/>
                        </a:rPr>
                        <a:t>10661 ± 1050</a:t>
                      </a:r>
                      <a:endParaRPr sz="2000" b="0">
                        <a:solidFill>
                          <a:srgbClr val="262A34"/>
                        </a:solidFill>
                        <a:latin typeface="Arial" panose="020B0604020202020204"/>
                        <a:ea typeface="微软雅黑" panose="020B0503020204020204" charset="-122"/>
                      </a:endParaRP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2000" b="0">
                          <a:solidFill>
                            <a:srgbClr val="262A34"/>
                          </a:solidFill>
                          <a:latin typeface="Arial" panose="020B0604020202020204"/>
                          <a:ea typeface="微软雅黑" panose="020B0503020204020204" charset="-122"/>
                        </a:rPr>
                        <a:t>10294 ± 1728</a:t>
                      </a:r>
                      <a:endParaRPr sz="2000" b="0">
                        <a:solidFill>
                          <a:srgbClr val="262A34"/>
                        </a:solidFill>
                        <a:latin typeface="Arial" panose="020B0604020202020204"/>
                        <a:ea typeface="微软雅黑" panose="020B0503020204020204" charset="-122"/>
                      </a:endParaRP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2000" b="0">
                          <a:solidFill>
                            <a:srgbClr val="262A34"/>
                          </a:solidFill>
                          <a:latin typeface="Arial" panose="020B0604020202020204"/>
                          <a:ea typeface="微软雅黑" panose="020B0503020204020204" charset="-122"/>
                        </a:rPr>
                        <a:t>12882 ± 343</a:t>
                      </a:r>
                      <a:endParaRPr sz="2000" b="0">
                        <a:solidFill>
                          <a:srgbClr val="262A34"/>
                        </a:solidFill>
                        <a:latin typeface="Arial" panose="020B0604020202020204"/>
                        <a:ea typeface="微软雅黑" panose="020B0503020204020204" charset="-122"/>
                      </a:endParaRP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2000" b="1">
                          <a:solidFill>
                            <a:srgbClr val="C0282D"/>
                          </a:solidFill>
                          <a:latin typeface="Arial" panose="020B0604020202020204"/>
                          <a:ea typeface="微软雅黑" panose="020B0503020204020204" charset="-122"/>
                        </a:rPr>
                        <a:t>13762 ± 414</a:t>
                      </a:r>
                      <a:endParaRPr sz="2000" b="1">
                        <a:solidFill>
                          <a:srgbClr val="C0282D"/>
                        </a:solidFill>
                        <a:latin typeface="Arial" panose="020B0604020202020204"/>
                        <a:ea typeface="微软雅黑" panose="020B0503020204020204" charset="-122"/>
                      </a:endParaRP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2000" b="0">
                          <a:solidFill>
                            <a:srgbClr val="262A34"/>
                          </a:solidFill>
                          <a:latin typeface="Arial" panose="020B0604020202020204"/>
                          <a:ea typeface="微软雅黑" panose="020B0503020204020204" charset="-122"/>
                        </a:rPr>
                        <a:t>AllegroHand</a:t>
                      </a:r>
                      <a:endParaRPr sz="2000" b="0">
                        <a:solidFill>
                          <a:srgbClr val="262A34"/>
                        </a:solidFill>
                        <a:latin typeface="Arial" panose="020B0604020202020204"/>
                        <a:ea typeface="微软雅黑" panose="020B0503020204020204" charset="-122"/>
                      </a:endParaRPr>
                    </a:p>
                  </a:txBody>
                  <a:tcPr marL="45720" marR="45720" marT="9144" marB="9144"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2000" b="0">
                          <a:solidFill>
                            <a:srgbClr val="262A34"/>
                          </a:solidFill>
                          <a:latin typeface="Arial" panose="020B0604020202020204"/>
                          <a:ea typeface="微软雅黑" panose="020B0503020204020204" charset="-122"/>
                        </a:rPr>
                        <a:t>10439 ± 1282</a:t>
                      </a:r>
                      <a:endParaRPr sz="2000" b="0">
                        <a:solidFill>
                          <a:srgbClr val="262A34"/>
                        </a:solidFill>
                        <a:latin typeface="Arial" panose="020B0604020202020204"/>
                        <a:ea typeface="微软雅黑" panose="020B0503020204020204" charset="-122"/>
                      </a:endParaRPr>
                    </a:p>
                  </a:txBody>
                  <a:tcPr marL="45720" marR="45720" marT="9144" marB="9144"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2000" b="0">
                          <a:solidFill>
                            <a:srgbClr val="262A34"/>
                          </a:solidFill>
                          <a:latin typeface="Arial" panose="020B0604020202020204"/>
                          <a:ea typeface="微软雅黑" panose="020B0503020204020204" charset="-122"/>
                        </a:rPr>
                        <a:t>13239 ± 239</a:t>
                      </a:r>
                      <a:endParaRPr sz="2000" b="0">
                        <a:solidFill>
                          <a:srgbClr val="262A34"/>
                        </a:solidFill>
                        <a:latin typeface="Arial" panose="020B0604020202020204"/>
                        <a:ea typeface="微软雅黑" panose="020B0503020204020204" charset="-122"/>
                      </a:endParaRPr>
                    </a:p>
                  </a:txBody>
                  <a:tcPr marL="45720" marR="45720" marT="9144" marB="9144"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2000" b="0">
                          <a:solidFill>
                            <a:srgbClr val="262A34"/>
                          </a:solidFill>
                          <a:latin typeface="Arial" panose="020B0604020202020204"/>
                          <a:ea typeface="微软雅黑" panose="020B0503020204020204" charset="-122"/>
                        </a:rPr>
                        <a:t>11989 ± 817</a:t>
                      </a:r>
                      <a:endParaRPr sz="2000" b="0">
                        <a:solidFill>
                          <a:srgbClr val="262A34"/>
                        </a:solidFill>
                        <a:latin typeface="Arial" panose="020B0604020202020204"/>
                        <a:ea typeface="微软雅黑" panose="020B0503020204020204" charset="-122"/>
                      </a:endParaRPr>
                    </a:p>
                  </a:txBody>
                  <a:tcPr marL="45720" marR="45720" marT="9144" marB="9144"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2000" b="1">
                          <a:solidFill>
                            <a:srgbClr val="C0282D"/>
                          </a:solidFill>
                          <a:latin typeface="Arial" panose="020B0604020202020204"/>
                          <a:ea typeface="微软雅黑" panose="020B0503020204020204" charset="-122"/>
                        </a:rPr>
                        <a:t>14421 ± 885</a:t>
                      </a:r>
                      <a:endParaRPr sz="2000" b="1">
                        <a:solidFill>
                          <a:srgbClr val="C0282D"/>
                        </a:solidFill>
                        <a:latin typeface="Arial" panose="020B0604020202020204"/>
                        <a:ea typeface="微软雅黑" panose="020B0503020204020204" charset="-122"/>
                      </a:endParaRPr>
                    </a:p>
                  </a:txBody>
                  <a:tcPr marL="45720" marR="45720" marT="9144" marB="9144" anchor="ctr">
                    <a:solidFill>
                      <a:srgbClr val="F2F5F9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2000" b="0">
                          <a:solidFill>
                            <a:srgbClr val="262A34"/>
                          </a:solidFill>
                          <a:latin typeface="Arial" panose="020B0604020202020204"/>
                          <a:ea typeface="微软雅黑" panose="020B0503020204020204" charset="-122"/>
                        </a:rPr>
                        <a:t>Regrasping</a:t>
                      </a:r>
                      <a:endParaRPr sz="2000" b="0">
                        <a:solidFill>
                          <a:srgbClr val="262A34"/>
                        </a:solidFill>
                        <a:latin typeface="Arial" panose="020B0604020202020204"/>
                        <a:ea typeface="微软雅黑" panose="020B0503020204020204" charset="-122"/>
                      </a:endParaRP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2000" b="0">
                          <a:solidFill>
                            <a:srgbClr val="262A34"/>
                          </a:solidFill>
                          <a:latin typeface="Arial" panose="020B0604020202020204"/>
                          <a:ea typeface="微软雅黑" panose="020B0503020204020204" charset="-122"/>
                        </a:rPr>
                        <a:t>0.76 ± 0.99</a:t>
                      </a:r>
                      <a:endParaRPr sz="2000" b="0">
                        <a:solidFill>
                          <a:srgbClr val="262A34"/>
                        </a:solidFill>
                        <a:latin typeface="Arial" panose="020B0604020202020204"/>
                        <a:ea typeface="微软雅黑" panose="020B0503020204020204" charset="-122"/>
                      </a:endParaRP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2000" b="0">
                          <a:solidFill>
                            <a:srgbClr val="262A34"/>
                          </a:solidFill>
                          <a:latin typeface="Arial" panose="020B0604020202020204"/>
                          <a:ea typeface="微软雅黑" panose="020B0503020204020204" charset="-122"/>
                        </a:rPr>
                        <a:t>35.26 ± 2.82</a:t>
                      </a:r>
                      <a:endParaRPr sz="2000" b="0">
                        <a:solidFill>
                          <a:srgbClr val="262A34"/>
                        </a:solidFill>
                        <a:latin typeface="Arial" panose="020B0604020202020204"/>
                        <a:ea typeface="微软雅黑" panose="020B0503020204020204" charset="-122"/>
                      </a:endParaRP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2000" b="0">
                          <a:solidFill>
                            <a:srgbClr val="262A34"/>
                          </a:solidFill>
                          <a:latin typeface="Arial" panose="020B0604020202020204"/>
                          <a:ea typeface="微软雅黑" panose="020B0503020204020204" charset="-122"/>
                        </a:rPr>
                        <a:t>37.20 ± 0.65</a:t>
                      </a:r>
                      <a:endParaRPr sz="2000" b="0">
                        <a:solidFill>
                          <a:srgbClr val="262A34"/>
                        </a:solidFill>
                        <a:latin typeface="Arial" panose="020B0604020202020204"/>
                        <a:ea typeface="微软雅黑" panose="020B0503020204020204" charset="-122"/>
                      </a:endParaRP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2000" b="1">
                          <a:solidFill>
                            <a:srgbClr val="C0282D"/>
                          </a:solidFill>
                          <a:latin typeface="Arial" panose="020B0604020202020204"/>
                          <a:ea typeface="微软雅黑" panose="020B0503020204020204" charset="-122"/>
                        </a:rPr>
                        <a:t>37.44 ± 1.21</a:t>
                      </a:r>
                      <a:endParaRPr sz="2000" b="1">
                        <a:solidFill>
                          <a:srgbClr val="C0282D"/>
                        </a:solidFill>
                        <a:latin typeface="Arial" panose="020B0604020202020204"/>
                        <a:ea typeface="微软雅黑" panose="020B0503020204020204" charset="-122"/>
                      </a:endParaRP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2000" b="0">
                          <a:solidFill>
                            <a:srgbClr val="262A34"/>
                          </a:solidFill>
                          <a:latin typeface="Arial" panose="020B0604020202020204"/>
                          <a:ea typeface="微软雅黑" panose="020B0503020204020204" charset="-122"/>
                        </a:rPr>
                        <a:t>Reorientation</a:t>
                      </a:r>
                      <a:endParaRPr sz="2000" b="0">
                        <a:solidFill>
                          <a:srgbClr val="262A34"/>
                        </a:solidFill>
                        <a:latin typeface="Arial" panose="020B0604020202020204"/>
                        <a:ea typeface="微软雅黑" panose="020B0503020204020204" charset="-122"/>
                      </a:endParaRPr>
                    </a:p>
                  </a:txBody>
                  <a:tcPr marL="45720" marR="45720" marT="9144" marB="9144"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2000" b="0">
                          <a:solidFill>
                            <a:srgbClr val="262A34"/>
                          </a:solidFill>
                          <a:latin typeface="Arial" panose="020B0604020202020204"/>
                          <a:ea typeface="微软雅黑" panose="020B0503020204020204" charset="-122"/>
                        </a:rPr>
                        <a:t>1.04 ± 0.98</a:t>
                      </a:r>
                      <a:endParaRPr sz="2000" b="0">
                        <a:solidFill>
                          <a:srgbClr val="262A34"/>
                        </a:solidFill>
                        <a:latin typeface="Arial" panose="020B0604020202020204"/>
                        <a:ea typeface="微软雅黑" panose="020B0503020204020204" charset="-122"/>
                      </a:endParaRPr>
                    </a:p>
                  </a:txBody>
                  <a:tcPr marL="45720" marR="45720" marT="9144" marB="9144"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2000" b="0">
                          <a:solidFill>
                            <a:srgbClr val="262A34"/>
                          </a:solidFill>
                          <a:latin typeface="Arial" panose="020B0604020202020204"/>
                          <a:ea typeface="微软雅黑" panose="020B0503020204020204" charset="-122"/>
                        </a:rPr>
                        <a:t>2.92 ± 4.27</a:t>
                      </a:r>
                      <a:endParaRPr sz="2000" b="0">
                        <a:solidFill>
                          <a:srgbClr val="262A34"/>
                        </a:solidFill>
                        <a:latin typeface="Arial" panose="020B0604020202020204"/>
                        <a:ea typeface="微软雅黑" panose="020B0503020204020204" charset="-122"/>
                      </a:endParaRPr>
                    </a:p>
                  </a:txBody>
                  <a:tcPr marL="45720" marR="45720" marT="9144" marB="9144"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2000" b="0">
                          <a:solidFill>
                            <a:srgbClr val="262A34"/>
                          </a:solidFill>
                          <a:latin typeface="Arial" panose="020B0604020202020204"/>
                          <a:ea typeface="微软雅黑" panose="020B0503020204020204" charset="-122"/>
                        </a:rPr>
                        <a:t>38.79 ± 1.66</a:t>
                      </a:r>
                      <a:endParaRPr sz="2000" b="0">
                        <a:solidFill>
                          <a:srgbClr val="262A34"/>
                        </a:solidFill>
                        <a:latin typeface="Arial" panose="020B0604020202020204"/>
                        <a:ea typeface="微软雅黑" panose="020B0503020204020204" charset="-122"/>
                      </a:endParaRPr>
                    </a:p>
                  </a:txBody>
                  <a:tcPr marL="45720" marR="45720" marT="9144" marB="9144"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2000" b="1">
                          <a:solidFill>
                            <a:srgbClr val="C0282D"/>
                          </a:solidFill>
                          <a:latin typeface="Arial" panose="020B0604020202020204"/>
                          <a:ea typeface="微软雅黑" panose="020B0503020204020204" charset="-122"/>
                        </a:rPr>
                        <a:t>43.75 ± 0.65</a:t>
                      </a:r>
                      <a:endParaRPr sz="2000" b="1">
                        <a:solidFill>
                          <a:srgbClr val="C0282D"/>
                        </a:solidFill>
                        <a:latin typeface="Arial" panose="020B0604020202020204"/>
                        <a:ea typeface="微软雅黑" panose="020B0503020204020204" charset="-122"/>
                      </a:endParaRPr>
                    </a:p>
                  </a:txBody>
                  <a:tcPr marL="45720" marR="45720" marT="9144" marB="9144" anchor="ctr">
                    <a:solidFill>
                      <a:srgbClr val="F2F5F9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2000" b="0">
                          <a:solidFill>
                            <a:srgbClr val="262A34"/>
                          </a:solidFill>
                          <a:latin typeface="Arial" panose="020B0604020202020204"/>
                          <a:ea typeface="微软雅黑" panose="020B0503020204020204" charset="-122"/>
                        </a:rPr>
                        <a:t>Throw</a:t>
                      </a:r>
                      <a:endParaRPr sz="2000" b="0">
                        <a:solidFill>
                          <a:srgbClr val="262A34"/>
                        </a:solidFill>
                        <a:latin typeface="Arial" panose="020B0604020202020204"/>
                        <a:ea typeface="微软雅黑" panose="020B0503020204020204" charset="-122"/>
                      </a:endParaRP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2000" b="0">
                          <a:solidFill>
                            <a:srgbClr val="262A34"/>
                          </a:solidFill>
                          <a:latin typeface="Arial" panose="020B0604020202020204"/>
                          <a:ea typeface="微软雅黑" panose="020B0503020204020204" charset="-122"/>
                        </a:rPr>
                        <a:t>15.69 ± 3.34</a:t>
                      </a:r>
                      <a:endParaRPr sz="2000" b="0">
                        <a:solidFill>
                          <a:srgbClr val="262A34"/>
                        </a:solidFill>
                        <a:latin typeface="Arial" panose="020B0604020202020204"/>
                        <a:ea typeface="微软雅黑" panose="020B0503020204020204" charset="-122"/>
                      </a:endParaRP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2000" b="0">
                          <a:solidFill>
                            <a:srgbClr val="262A34"/>
                          </a:solidFill>
                          <a:latin typeface="Arial" panose="020B0604020202020204"/>
                          <a:ea typeface="微软雅黑" panose="020B0503020204020204" charset="-122"/>
                        </a:rPr>
                        <a:t>19.08 ± 1.02</a:t>
                      </a:r>
                      <a:endParaRPr sz="2000" b="0">
                        <a:solidFill>
                          <a:srgbClr val="262A34"/>
                        </a:solidFill>
                        <a:latin typeface="Arial" panose="020B0604020202020204"/>
                        <a:ea typeface="微软雅黑" panose="020B0503020204020204" charset="-122"/>
                      </a:endParaRP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buClrTx/>
                        <a:buSzTx/>
                        <a:buFontTx/>
                      </a:pPr>
                      <a:r>
                        <a:rPr sz="2000" b="1">
                          <a:solidFill>
                            <a:srgbClr val="C0282D"/>
                          </a:solidFill>
                          <a:latin typeface="Arial" panose="020B0604020202020204"/>
                          <a:ea typeface="微软雅黑" panose="020B0503020204020204" charset="-122"/>
                        </a:rPr>
                        <a:t>22.51 ± 1.15</a:t>
                      </a:r>
                      <a:endParaRPr sz="2000" b="1">
                        <a:solidFill>
                          <a:srgbClr val="C0282D"/>
                        </a:solidFill>
                        <a:latin typeface="Arial" panose="020B0604020202020204"/>
                        <a:ea typeface="微软雅黑" panose="020B0503020204020204" charset="-122"/>
                      </a:endParaRP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2000" b="0">
                          <a:solidFill>
                            <a:schemeClr val="tx1"/>
                          </a:solidFill>
                          <a:latin typeface="Arial" panose="020B0604020202020204"/>
                          <a:ea typeface="微软雅黑" panose="020B0503020204020204" charset="-122"/>
                        </a:rPr>
                        <a:t>21.69 ± 2.44</a:t>
                      </a:r>
                      <a:endParaRPr sz="2000" b="0">
                        <a:solidFill>
                          <a:schemeClr val="tx1"/>
                        </a:solidFill>
                        <a:latin typeface="Arial" panose="020B0604020202020204"/>
                        <a:ea typeface="微软雅黑" panose="020B0503020204020204" charset="-122"/>
                      </a:endParaRP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2000" b="0">
                          <a:solidFill>
                            <a:srgbClr val="262A34"/>
                          </a:solidFill>
                          <a:latin typeface="Arial" panose="020B0604020202020204"/>
                          <a:ea typeface="微软雅黑" panose="020B0503020204020204" charset="-122"/>
                        </a:rPr>
                        <a:t>Two-Arms Reorientation</a:t>
                      </a:r>
                      <a:endParaRPr sz="2000" b="0">
                        <a:solidFill>
                          <a:srgbClr val="262A34"/>
                        </a:solidFill>
                        <a:latin typeface="Arial" panose="020B0604020202020204"/>
                        <a:ea typeface="微软雅黑" panose="020B0503020204020204" charset="-122"/>
                      </a:endParaRPr>
                    </a:p>
                  </a:txBody>
                  <a:tcPr marL="45720" marR="45720" marT="9144" marB="9144"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2000" b="0">
                          <a:solidFill>
                            <a:srgbClr val="262A34"/>
                          </a:solidFill>
                          <a:latin typeface="Arial" panose="020B0604020202020204"/>
                          <a:ea typeface="微软雅黑" panose="020B0503020204020204" charset="-122"/>
                        </a:rPr>
                        <a:t>1.41 ± 0.80</a:t>
                      </a:r>
                      <a:endParaRPr sz="2000" b="0">
                        <a:solidFill>
                          <a:srgbClr val="262A34"/>
                        </a:solidFill>
                        <a:latin typeface="Arial" panose="020B0604020202020204"/>
                        <a:ea typeface="微软雅黑" panose="020B0503020204020204" charset="-122"/>
                      </a:endParaRPr>
                    </a:p>
                  </a:txBody>
                  <a:tcPr marL="45720" marR="45720" marT="9144" marB="9144"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2000" b="0">
                          <a:solidFill>
                            <a:srgbClr val="262A34"/>
                          </a:solidFill>
                          <a:latin typeface="Arial" panose="020B0604020202020204"/>
                          <a:ea typeface="微软雅黑" panose="020B0503020204020204" charset="-122"/>
                        </a:rPr>
                        <a:t>26.43 ± 11.12</a:t>
                      </a:r>
                      <a:endParaRPr sz="2000" b="0">
                        <a:solidFill>
                          <a:srgbClr val="262A34"/>
                        </a:solidFill>
                        <a:latin typeface="Arial" panose="020B0604020202020204"/>
                        <a:ea typeface="微软雅黑" panose="020B0503020204020204" charset="-122"/>
                      </a:endParaRPr>
                    </a:p>
                  </a:txBody>
                  <a:tcPr marL="45720" marR="45720" marT="9144" marB="9144"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2000" b="0">
                          <a:solidFill>
                            <a:srgbClr val="262A34"/>
                          </a:solidFill>
                          <a:latin typeface="Arial" panose="020B0604020202020204"/>
                          <a:ea typeface="微软雅黑" panose="020B0503020204020204" charset="-122"/>
                        </a:rPr>
                        <a:t>5.11 ± 3.41</a:t>
                      </a:r>
                      <a:endParaRPr sz="2000" b="0">
                        <a:solidFill>
                          <a:srgbClr val="262A34"/>
                        </a:solidFill>
                        <a:latin typeface="Arial" panose="020B0604020202020204"/>
                        <a:ea typeface="微软雅黑" panose="020B0503020204020204" charset="-122"/>
                      </a:endParaRPr>
                    </a:p>
                  </a:txBody>
                  <a:tcPr marL="45720" marR="45720" marT="9144" marB="9144"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2000" b="1">
                          <a:solidFill>
                            <a:srgbClr val="C0282D"/>
                          </a:solidFill>
                          <a:latin typeface="Arial" panose="020B0604020202020204"/>
                          <a:ea typeface="微软雅黑" panose="020B0503020204020204" charset="-122"/>
                        </a:rPr>
                        <a:t>35.30 ± 2.77</a:t>
                      </a:r>
                      <a:endParaRPr sz="2000" b="1">
                        <a:solidFill>
                          <a:srgbClr val="C0282D"/>
                        </a:solidFill>
                        <a:latin typeface="Arial" panose="020B0604020202020204"/>
                        <a:ea typeface="微软雅黑" panose="020B0503020204020204" charset="-122"/>
                      </a:endParaRPr>
                    </a:p>
                  </a:txBody>
                  <a:tcPr marL="45720" marR="45720" marT="9144" marB="9144" anchor="ctr">
                    <a:solidFill>
                      <a:srgbClr val="F2F5F9"/>
                    </a:solidFill>
                  </a:tcPr>
                </a:tc>
              </a:tr>
            </a:tbl>
          </a:graphicData>
        </a:graphic>
      </p:graphicFrame>
      <p:sp>
        <p:nvSpPr>
          <p:cNvPr id="4" name="文本框 3"/>
          <p:cNvSpPr txBox="1"/>
          <p:nvPr/>
        </p:nvSpPr>
        <p:spPr>
          <a:xfrm>
            <a:off x="571500" y="6024245"/>
            <a:ext cx="66389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>
                <a:solidFill>
                  <a:srgbClr val="262A34"/>
                </a:solidFill>
                <a:latin typeface="Arial" panose="020B0604020202020204"/>
                <a:ea typeface="微软雅黑" panose="020B0503020204020204" charset="-122"/>
              </a:rPr>
              <a:t>数字含义：</a:t>
            </a:r>
            <a:r>
              <a:rPr>
                <a:solidFill>
                  <a:srgbClr val="262A34"/>
                </a:solidFill>
                <a:latin typeface="Arial" panose="020B0604020202020204"/>
                <a:ea typeface="微软雅黑" panose="020B0503020204020204" charset="-122"/>
              </a:rPr>
              <a:t>最终</a:t>
            </a:r>
            <a:r>
              <a:rPr lang="zh-CN">
                <a:solidFill>
                  <a:srgbClr val="262A34"/>
                </a:solidFill>
                <a:latin typeface="Arial" panose="020B0604020202020204"/>
                <a:ea typeface="微软雅黑" panose="020B0503020204020204" charset="-122"/>
              </a:rPr>
              <a:t>回报</a:t>
            </a:r>
            <a:r>
              <a:rPr>
                <a:solidFill>
                  <a:srgbClr val="262A34"/>
                </a:solidFill>
                <a:latin typeface="Arial" panose="020B0604020202020204"/>
                <a:ea typeface="微软雅黑" panose="020B0503020204020204" charset="-122"/>
                <a:sym typeface="+mn-ea"/>
              </a:rPr>
              <a:t>±</a:t>
            </a:r>
            <a:r>
              <a:rPr lang="zh-CN">
                <a:solidFill>
                  <a:srgbClr val="262A34"/>
                </a:solidFill>
                <a:latin typeface="Arial" panose="020B0604020202020204"/>
                <a:ea typeface="微软雅黑" panose="020B0503020204020204" charset="-122"/>
                <a:sym typeface="+mn-ea"/>
              </a:rPr>
              <a:t>标准差</a:t>
            </a:r>
            <a:endParaRPr lang="zh-CN">
              <a:solidFill>
                <a:srgbClr val="262A34"/>
              </a:solidFill>
              <a:latin typeface="Arial" panose="020B0604020202020204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 advTm="3000">
        <p15:prstTrans prst="pageCurlDouble"/>
      </p:transition>
    </mc:Choice>
    <mc:Fallback>
      <p:transition spd="slow" advTm="3000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7" name="文本框 36"/>
          <p:cNvSpPr txBox="1"/>
          <p:nvPr/>
        </p:nvSpPr>
        <p:spPr>
          <a:xfrm>
            <a:off x="8610404" y="6583649"/>
            <a:ext cx="301236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0" b="0" i="0" u="none" strike="noStrike" kern="120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Tsinghua University of China</a:t>
            </a:r>
            <a:endParaRPr kumimoji="0" lang="zh-CN" altLang="en-US" sz="1000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62" name="文本框 61"/>
          <p:cNvSpPr txBox="1"/>
          <p:nvPr/>
        </p:nvSpPr>
        <p:spPr>
          <a:xfrm>
            <a:off x="660400" y="6583649"/>
            <a:ext cx="194155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6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自强不息 厚德载物</a:t>
            </a:r>
            <a:endParaRPr kumimoji="0" lang="zh-CN" altLang="en-US" sz="1000" b="0" i="0" u="none" strike="noStrike" kern="1200" cap="none" spc="6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64" name="矩形 63"/>
          <p:cNvSpPr/>
          <p:nvPr/>
        </p:nvSpPr>
        <p:spPr>
          <a:xfrm>
            <a:off x="0" y="6570000"/>
            <a:ext cx="12192000" cy="288000"/>
          </a:xfrm>
          <a:prstGeom prst="rect">
            <a:avLst/>
          </a:prstGeom>
          <a:solidFill>
            <a:srgbClr val="1C629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66" name="文本框 65"/>
          <p:cNvSpPr txBox="1"/>
          <p:nvPr/>
        </p:nvSpPr>
        <p:spPr>
          <a:xfrm>
            <a:off x="594090" y="6583649"/>
            <a:ext cx="203132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defRPr/>
            </a:pPr>
            <a:r>
              <a:rPr lang="zh-CN" altLang="en-US" sz="1000" spc="600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知行合一、经世致用</a:t>
            </a:r>
            <a:endParaRPr kumimoji="0" lang="zh-CN" altLang="en-US" sz="1000" b="0" i="0" u="none" strike="noStrike" kern="1200" cap="none" spc="6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68" name="文本框 67"/>
          <p:cNvSpPr txBox="1"/>
          <p:nvPr/>
        </p:nvSpPr>
        <p:spPr>
          <a:xfrm>
            <a:off x="9137792" y="6583649"/>
            <a:ext cx="248497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r">
              <a:defRPr/>
            </a:pPr>
            <a:r>
              <a:rPr lang="en-US" altLang="zh-CN" sz="1000" spc="300" dirty="0">
                <a:solidFill>
                  <a:prstClr val="white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Central South University</a:t>
            </a:r>
            <a:endParaRPr kumimoji="0" lang="zh-CN" altLang="en-US" sz="1000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cxnSp>
        <p:nvCxnSpPr>
          <p:cNvPr id="69" name="直接连接符 68"/>
          <p:cNvCxnSpPr/>
          <p:nvPr/>
        </p:nvCxnSpPr>
        <p:spPr>
          <a:xfrm>
            <a:off x="660400" y="760413"/>
            <a:ext cx="10858500" cy="0"/>
          </a:xfrm>
          <a:prstGeom prst="line">
            <a:avLst/>
          </a:prstGeom>
          <a:noFill/>
          <a:ln w="22225" cap="flat" cmpd="sng" algn="ctr">
            <a:solidFill>
              <a:srgbClr val="1C6299"/>
            </a:solidFill>
            <a:prstDash val="solid"/>
            <a:miter lim="800000"/>
          </a:ln>
          <a:effectLst/>
        </p:spPr>
      </p:cxnSp>
      <p:grpSp>
        <p:nvGrpSpPr>
          <p:cNvPr id="70" name="组合 69"/>
          <p:cNvGrpSpPr/>
          <p:nvPr/>
        </p:nvGrpSpPr>
        <p:grpSpPr>
          <a:xfrm>
            <a:off x="203760" y="159728"/>
            <a:ext cx="725344" cy="619478"/>
            <a:chOff x="178632" y="159728"/>
            <a:chExt cx="725344" cy="619478"/>
          </a:xfrm>
        </p:grpSpPr>
        <p:sp>
          <p:nvSpPr>
            <p:cNvPr id="71" name="椭圆 70"/>
            <p:cNvSpPr/>
            <p:nvPr/>
          </p:nvSpPr>
          <p:spPr>
            <a:xfrm>
              <a:off x="358210" y="159728"/>
              <a:ext cx="468000" cy="468000"/>
            </a:xfrm>
            <a:prstGeom prst="ellipse">
              <a:avLst/>
            </a:prstGeom>
            <a:gradFill>
              <a:gsLst>
                <a:gs pos="0">
                  <a:srgbClr val="1C6299"/>
                </a:gs>
                <a:gs pos="100000">
                  <a:srgbClr val="5C307D">
                    <a:alpha val="90000"/>
                  </a:srgb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73" name="椭圆 72"/>
            <p:cNvSpPr/>
            <p:nvPr/>
          </p:nvSpPr>
          <p:spPr>
            <a:xfrm>
              <a:off x="178632" y="602993"/>
              <a:ext cx="176213" cy="176213"/>
            </a:xfrm>
            <a:prstGeom prst="ellipse">
              <a:avLst/>
            </a:prstGeom>
            <a:gradFill>
              <a:gsLst>
                <a:gs pos="0">
                  <a:srgbClr val="1C6299"/>
                </a:gs>
                <a:gs pos="100000">
                  <a:srgbClr val="5C307D">
                    <a:alpha val="90000"/>
                  </a:srgbClr>
                </a:gs>
              </a:gsLst>
              <a:lin ang="3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</p:grpSp>
      <p:pic>
        <p:nvPicPr>
          <p:cNvPr id="74" name="图片 73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4913" y="176378"/>
            <a:ext cx="1897854" cy="555905"/>
          </a:xfrm>
          <a:prstGeom prst="rect">
            <a:avLst/>
          </a:prstGeom>
        </p:spPr>
      </p:pic>
      <p:sp>
        <p:nvSpPr>
          <p:cNvPr id="15" name="标题占位符 1"/>
          <p:cNvSpPr txBox="1"/>
          <p:nvPr/>
        </p:nvSpPr>
        <p:spPr>
          <a:xfrm>
            <a:off x="965199" y="-100014"/>
            <a:ext cx="8759713" cy="817564"/>
          </a:xfrm>
          <a:prstGeom prst="rect">
            <a:avLst/>
          </a:prstGeom>
          <a:ln>
            <a:noFill/>
          </a:ln>
        </p:spPr>
        <p:txBody>
          <a:bodyPr vert="horz" lIns="0" tIns="45720" rIns="91440" bIns="45720" rtlCol="0" anchor="b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zh-CN" altLang="en-US" sz="2600" b="1" dirty="0">
                <a:solidFill>
                  <a:srgbClr val="0000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五、ESS值的变化</a:t>
            </a:r>
            <a:endParaRPr lang="zh-CN" altLang="en-US" sz="2600" b="1" dirty="0">
              <a:solidFill>
                <a:srgbClr val="000000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60400" y="803275"/>
            <a:ext cx="10473055" cy="20040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>
              <a:lnSpc>
                <a:spcPct val="116000"/>
              </a:lnSpc>
              <a:spcAft>
                <a:spcPts val="300"/>
              </a:spcAft>
            </a:pPr>
          </a:p>
        </p:txBody>
      </p:sp>
      <p:pic>
        <p:nvPicPr>
          <p:cNvPr id="75" name="Picture 74" descr="fig4_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835" y="902335"/>
            <a:ext cx="11559540" cy="535432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05810" y="1026795"/>
            <a:ext cx="6099810" cy="4667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 advTm="3000">
        <p15:prstTrans prst="pageCurlDouble"/>
      </p:transition>
    </mc:Choice>
    <mc:Fallback>
      <p:transition spd="slow" advTm="3000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7" name="文本框 36"/>
          <p:cNvSpPr txBox="1"/>
          <p:nvPr/>
        </p:nvSpPr>
        <p:spPr>
          <a:xfrm>
            <a:off x="8610404" y="6583649"/>
            <a:ext cx="301236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0" b="0" i="0" u="none" strike="noStrike" kern="120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Tsinghua University of China</a:t>
            </a:r>
            <a:endParaRPr kumimoji="0" lang="zh-CN" altLang="en-US" sz="1000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62" name="文本框 61"/>
          <p:cNvSpPr txBox="1"/>
          <p:nvPr/>
        </p:nvSpPr>
        <p:spPr>
          <a:xfrm>
            <a:off x="660400" y="6583649"/>
            <a:ext cx="194155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6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自强不息 厚德载物</a:t>
            </a:r>
            <a:endParaRPr kumimoji="0" lang="zh-CN" altLang="en-US" sz="1000" b="0" i="0" u="none" strike="noStrike" kern="1200" cap="none" spc="6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64" name="矩形 63"/>
          <p:cNvSpPr/>
          <p:nvPr/>
        </p:nvSpPr>
        <p:spPr>
          <a:xfrm>
            <a:off x="0" y="6570000"/>
            <a:ext cx="12192000" cy="288000"/>
          </a:xfrm>
          <a:prstGeom prst="rect">
            <a:avLst/>
          </a:prstGeom>
          <a:solidFill>
            <a:srgbClr val="1C629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66" name="文本框 65"/>
          <p:cNvSpPr txBox="1"/>
          <p:nvPr/>
        </p:nvSpPr>
        <p:spPr>
          <a:xfrm>
            <a:off x="594090" y="6583649"/>
            <a:ext cx="203132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defRPr/>
            </a:pPr>
            <a:r>
              <a:rPr lang="zh-CN" altLang="en-US" sz="1000" spc="600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知行合一、经世致用</a:t>
            </a:r>
            <a:endParaRPr kumimoji="0" lang="zh-CN" altLang="en-US" sz="1000" b="0" i="0" u="none" strike="noStrike" kern="1200" cap="none" spc="6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68" name="文本框 67"/>
          <p:cNvSpPr txBox="1"/>
          <p:nvPr/>
        </p:nvSpPr>
        <p:spPr>
          <a:xfrm>
            <a:off x="9137792" y="6583649"/>
            <a:ext cx="248497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r">
              <a:defRPr/>
            </a:pPr>
            <a:r>
              <a:rPr lang="en-US" altLang="zh-CN" sz="1000" spc="300" dirty="0">
                <a:solidFill>
                  <a:prstClr val="white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Central South University</a:t>
            </a:r>
            <a:endParaRPr kumimoji="0" lang="zh-CN" altLang="en-US" sz="1000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cxnSp>
        <p:nvCxnSpPr>
          <p:cNvPr id="69" name="直接连接符 68"/>
          <p:cNvCxnSpPr/>
          <p:nvPr/>
        </p:nvCxnSpPr>
        <p:spPr>
          <a:xfrm>
            <a:off x="660400" y="760413"/>
            <a:ext cx="10858500" cy="0"/>
          </a:xfrm>
          <a:prstGeom prst="line">
            <a:avLst/>
          </a:prstGeom>
          <a:noFill/>
          <a:ln w="22225" cap="flat" cmpd="sng" algn="ctr">
            <a:solidFill>
              <a:srgbClr val="1C6299"/>
            </a:solidFill>
            <a:prstDash val="solid"/>
            <a:miter lim="800000"/>
          </a:ln>
          <a:effectLst/>
        </p:spPr>
      </p:cxnSp>
      <p:grpSp>
        <p:nvGrpSpPr>
          <p:cNvPr id="70" name="组合 69"/>
          <p:cNvGrpSpPr/>
          <p:nvPr/>
        </p:nvGrpSpPr>
        <p:grpSpPr>
          <a:xfrm>
            <a:off x="203760" y="159728"/>
            <a:ext cx="725344" cy="619478"/>
            <a:chOff x="178632" y="159728"/>
            <a:chExt cx="725344" cy="619478"/>
          </a:xfrm>
        </p:grpSpPr>
        <p:sp>
          <p:nvSpPr>
            <p:cNvPr id="71" name="椭圆 70"/>
            <p:cNvSpPr/>
            <p:nvPr/>
          </p:nvSpPr>
          <p:spPr>
            <a:xfrm>
              <a:off x="358210" y="159728"/>
              <a:ext cx="468000" cy="468000"/>
            </a:xfrm>
            <a:prstGeom prst="ellipse">
              <a:avLst/>
            </a:prstGeom>
            <a:gradFill>
              <a:gsLst>
                <a:gs pos="0">
                  <a:srgbClr val="1C6299"/>
                </a:gs>
                <a:gs pos="100000">
                  <a:srgbClr val="5C307D">
                    <a:alpha val="90000"/>
                  </a:srgb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73" name="椭圆 72"/>
            <p:cNvSpPr/>
            <p:nvPr/>
          </p:nvSpPr>
          <p:spPr>
            <a:xfrm>
              <a:off x="178632" y="602993"/>
              <a:ext cx="176213" cy="176213"/>
            </a:xfrm>
            <a:prstGeom prst="ellipse">
              <a:avLst/>
            </a:prstGeom>
            <a:gradFill>
              <a:gsLst>
                <a:gs pos="0">
                  <a:srgbClr val="1C6299"/>
                </a:gs>
                <a:gs pos="100000">
                  <a:srgbClr val="5C307D">
                    <a:alpha val="90000"/>
                  </a:srgbClr>
                </a:gs>
              </a:gsLst>
              <a:lin ang="3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</p:grpSp>
      <p:pic>
        <p:nvPicPr>
          <p:cNvPr id="74" name="图片 73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4913" y="176378"/>
            <a:ext cx="1897854" cy="555905"/>
          </a:xfrm>
          <a:prstGeom prst="rect">
            <a:avLst/>
          </a:prstGeom>
        </p:spPr>
      </p:pic>
      <p:sp>
        <p:nvSpPr>
          <p:cNvPr id="15" name="标题占位符 1"/>
          <p:cNvSpPr txBox="1"/>
          <p:nvPr/>
        </p:nvSpPr>
        <p:spPr>
          <a:xfrm>
            <a:off x="965199" y="-99379"/>
            <a:ext cx="8759713" cy="817564"/>
          </a:xfrm>
          <a:prstGeom prst="rect">
            <a:avLst/>
          </a:prstGeom>
          <a:ln>
            <a:noFill/>
          </a:ln>
        </p:spPr>
        <p:txBody>
          <a:bodyPr vert="horz" lIns="0" tIns="45720" rIns="91440" bIns="45720" rtlCol="0" anchor="b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zh-CN" altLang="en-US" sz="2600" b="1" dirty="0">
                <a:solidFill>
                  <a:srgbClr val="0000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五、机制验证：follower 自发环绕 leader</a:t>
            </a:r>
            <a:endParaRPr lang="zh-CN" altLang="en-US" sz="2600" b="1" dirty="0">
              <a:solidFill>
                <a:srgbClr val="000000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60400" y="803275"/>
            <a:ext cx="10473055" cy="20040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>
              <a:lnSpc>
                <a:spcPct val="116000"/>
              </a:lnSpc>
              <a:spcAft>
                <a:spcPts val="300"/>
              </a:spcAft>
            </a:pPr>
          </a:p>
        </p:txBody>
      </p:sp>
      <p:pic>
        <p:nvPicPr>
          <p:cNvPr id="75" name="Picture 74" descr="fig5_kl_hea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495" y="864235"/>
            <a:ext cx="11001375" cy="4693920"/>
          </a:xfrm>
          <a:prstGeom prst="rect">
            <a:avLst/>
          </a:prstGeom>
        </p:spPr>
      </p:pic>
      <p:sp>
        <p:nvSpPr>
          <p:cNvPr id="76" name="Rounded Rectangle 75"/>
          <p:cNvSpPr/>
          <p:nvPr/>
        </p:nvSpPr>
        <p:spPr>
          <a:xfrm>
            <a:off x="808990" y="5643245"/>
            <a:ext cx="10469880" cy="550545"/>
          </a:xfrm>
          <a:prstGeom prst="roundRect">
            <a:avLst>
              <a:gd name="adj" fmla="val 5000"/>
            </a:avLst>
          </a:prstGeom>
          <a:solidFill>
            <a:srgbClr val="F3FBF5"/>
          </a:solidFill>
          <a:ln w="11430">
            <a:solidFill>
              <a:srgbClr val="96C8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914400" y="5794248"/>
            <a:ext cx="10058400" cy="2120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1">
                <a:solidFill>
                  <a:srgbClr val="70AD47"/>
                </a:solidFill>
                <a:latin typeface="Arial" panose="020B0604020202020204"/>
                <a:ea typeface="微软雅黑" panose="020B0503020204020204" charset="-122"/>
              </a:rPr>
              <a:t>反直觉观察：CPO 中 leader 稳定成为每个 follower 的最近邻 —— 没有机制显式要求leader 当中心</a:t>
            </a:r>
            <a:endParaRPr sz="1150" b="1">
              <a:solidFill>
                <a:srgbClr val="70AD47"/>
              </a:solidFill>
              <a:latin typeface="Arial" panose="020B0604020202020204"/>
              <a:ea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 advTm="3000">
        <p15:prstTrans prst="pageCurlDouble"/>
      </p:transition>
    </mc:Choice>
    <mc:Fallback>
      <p:transition spd="slow" advTm="3000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7" name="文本框 36"/>
          <p:cNvSpPr txBox="1"/>
          <p:nvPr/>
        </p:nvSpPr>
        <p:spPr>
          <a:xfrm>
            <a:off x="8610404" y="6583649"/>
            <a:ext cx="301236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0" b="0" i="0" u="none" strike="noStrike" kern="120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Tsinghua University of China</a:t>
            </a:r>
            <a:endParaRPr kumimoji="0" lang="zh-CN" altLang="en-US" sz="1000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62" name="文本框 61"/>
          <p:cNvSpPr txBox="1"/>
          <p:nvPr/>
        </p:nvSpPr>
        <p:spPr>
          <a:xfrm>
            <a:off x="660400" y="6583649"/>
            <a:ext cx="194155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6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自强不息 厚德载物</a:t>
            </a:r>
            <a:endParaRPr kumimoji="0" lang="zh-CN" altLang="en-US" sz="1000" b="0" i="0" u="none" strike="noStrike" kern="1200" cap="none" spc="6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64" name="矩形 63"/>
          <p:cNvSpPr/>
          <p:nvPr/>
        </p:nvSpPr>
        <p:spPr>
          <a:xfrm>
            <a:off x="0" y="6570000"/>
            <a:ext cx="12192000" cy="288000"/>
          </a:xfrm>
          <a:prstGeom prst="rect">
            <a:avLst/>
          </a:prstGeom>
          <a:solidFill>
            <a:srgbClr val="1C629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66" name="文本框 65"/>
          <p:cNvSpPr txBox="1"/>
          <p:nvPr/>
        </p:nvSpPr>
        <p:spPr>
          <a:xfrm>
            <a:off x="594090" y="6583649"/>
            <a:ext cx="203132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defRPr/>
            </a:pPr>
            <a:r>
              <a:rPr lang="zh-CN" altLang="en-US" sz="1000" spc="600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知行合一、经世致用</a:t>
            </a:r>
            <a:endParaRPr kumimoji="0" lang="zh-CN" altLang="en-US" sz="1000" b="0" i="0" u="none" strike="noStrike" kern="1200" cap="none" spc="6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68" name="文本框 67"/>
          <p:cNvSpPr txBox="1"/>
          <p:nvPr/>
        </p:nvSpPr>
        <p:spPr>
          <a:xfrm>
            <a:off x="9137792" y="6583649"/>
            <a:ext cx="248497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r">
              <a:defRPr/>
            </a:pPr>
            <a:r>
              <a:rPr lang="en-US" altLang="zh-CN" sz="1000" spc="300" dirty="0">
                <a:solidFill>
                  <a:prstClr val="white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Central South University</a:t>
            </a:r>
            <a:endParaRPr kumimoji="0" lang="zh-CN" altLang="en-US" sz="1000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cxnSp>
        <p:nvCxnSpPr>
          <p:cNvPr id="69" name="直接连接符 68"/>
          <p:cNvCxnSpPr/>
          <p:nvPr/>
        </p:nvCxnSpPr>
        <p:spPr>
          <a:xfrm>
            <a:off x="660400" y="760413"/>
            <a:ext cx="10858500" cy="0"/>
          </a:xfrm>
          <a:prstGeom prst="line">
            <a:avLst/>
          </a:prstGeom>
          <a:noFill/>
          <a:ln w="22225" cap="flat" cmpd="sng" algn="ctr">
            <a:solidFill>
              <a:srgbClr val="1C6299"/>
            </a:solidFill>
            <a:prstDash val="solid"/>
            <a:miter lim="800000"/>
          </a:ln>
          <a:effectLst/>
        </p:spPr>
      </p:cxnSp>
      <p:grpSp>
        <p:nvGrpSpPr>
          <p:cNvPr id="70" name="组合 69"/>
          <p:cNvGrpSpPr/>
          <p:nvPr/>
        </p:nvGrpSpPr>
        <p:grpSpPr>
          <a:xfrm>
            <a:off x="203760" y="159728"/>
            <a:ext cx="725344" cy="619478"/>
            <a:chOff x="178632" y="159728"/>
            <a:chExt cx="725344" cy="619478"/>
          </a:xfrm>
        </p:grpSpPr>
        <p:sp>
          <p:nvSpPr>
            <p:cNvPr id="71" name="椭圆 70"/>
            <p:cNvSpPr/>
            <p:nvPr/>
          </p:nvSpPr>
          <p:spPr>
            <a:xfrm>
              <a:off x="358210" y="159728"/>
              <a:ext cx="468000" cy="468000"/>
            </a:xfrm>
            <a:prstGeom prst="ellipse">
              <a:avLst/>
            </a:prstGeom>
            <a:gradFill>
              <a:gsLst>
                <a:gs pos="0">
                  <a:srgbClr val="1C6299"/>
                </a:gs>
                <a:gs pos="100000">
                  <a:srgbClr val="5C307D">
                    <a:alpha val="90000"/>
                  </a:srgb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73" name="椭圆 72"/>
            <p:cNvSpPr/>
            <p:nvPr/>
          </p:nvSpPr>
          <p:spPr>
            <a:xfrm>
              <a:off x="178632" y="602993"/>
              <a:ext cx="176213" cy="176213"/>
            </a:xfrm>
            <a:prstGeom prst="ellipse">
              <a:avLst/>
            </a:prstGeom>
            <a:gradFill>
              <a:gsLst>
                <a:gs pos="0">
                  <a:srgbClr val="1C6299"/>
                </a:gs>
                <a:gs pos="100000">
                  <a:srgbClr val="5C307D">
                    <a:alpha val="90000"/>
                  </a:srgbClr>
                </a:gs>
              </a:gsLst>
              <a:lin ang="3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</p:grpSp>
      <p:pic>
        <p:nvPicPr>
          <p:cNvPr id="74" name="图片 73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4913" y="176378"/>
            <a:ext cx="1897854" cy="555905"/>
          </a:xfrm>
          <a:prstGeom prst="rect">
            <a:avLst/>
          </a:prstGeom>
        </p:spPr>
      </p:pic>
      <p:sp>
        <p:nvSpPr>
          <p:cNvPr id="15" name="标题占位符 1"/>
          <p:cNvSpPr txBox="1"/>
          <p:nvPr/>
        </p:nvSpPr>
        <p:spPr>
          <a:xfrm>
            <a:off x="965199" y="-100014"/>
            <a:ext cx="8759713" cy="817564"/>
          </a:xfrm>
          <a:prstGeom prst="rect">
            <a:avLst/>
          </a:prstGeom>
          <a:ln>
            <a:noFill/>
          </a:ln>
        </p:spPr>
        <p:txBody>
          <a:bodyPr vert="horz" lIns="0" tIns="45720" rIns="91440" bIns="45720" rtlCol="0" anchor="b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zh-CN" altLang="en-US" sz="2600" b="1" dirty="0">
                <a:solidFill>
                  <a:srgbClr val="0000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五、消融实验</a:t>
            </a:r>
            <a:endParaRPr lang="zh-CN" altLang="en-US" sz="2600" b="1" dirty="0">
              <a:solidFill>
                <a:srgbClr val="000000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60400" y="803275"/>
            <a:ext cx="10473055" cy="20040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>
              <a:lnSpc>
                <a:spcPct val="116000"/>
              </a:lnSpc>
              <a:spcAft>
                <a:spcPts val="300"/>
              </a:spcAft>
            </a:pPr>
          </a:p>
        </p:txBody>
      </p:sp>
      <p:graphicFrame>
        <p:nvGraphicFramePr>
          <p:cNvPr id="75" name="Table 74"/>
          <p:cNvGraphicFramePr>
            <a:graphicFrameLocks noGrp="1"/>
          </p:cNvGraphicFramePr>
          <p:nvPr>
            <p:custDataLst>
              <p:tags r:id="rId2"/>
            </p:custDataLst>
          </p:nvPr>
        </p:nvGraphicFramePr>
        <p:xfrm>
          <a:off x="658495" y="1083310"/>
          <a:ext cx="10963910" cy="2712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96770"/>
                <a:gridCol w="2670175"/>
                <a:gridCol w="4003675"/>
                <a:gridCol w="2193290"/>
              </a:tblGrid>
              <a:tr h="676275"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</a:rPr>
                        <a:t>变体</a:t>
                      </a:r>
                      <a:endParaRPr sz="1800" b="1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</a:endParaRPr>
                    </a:p>
                  </a:txBody>
                  <a:tcPr marL="45720" marR="45720" marT="9144" marB="9144" anchor="ctr">
                    <a:solidFill>
                      <a:srgbClr val="1B629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</a:rPr>
                        <a:t>操作</a:t>
                      </a:r>
                      <a:endParaRPr sz="1800" b="1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</a:endParaRPr>
                    </a:p>
                  </a:txBody>
                  <a:tcPr marL="45720" marR="45720" marT="9144" marB="9144" anchor="ctr">
                    <a:solidFill>
                      <a:srgbClr val="1B629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</a:rPr>
                        <a:t>结果</a:t>
                      </a:r>
                      <a:endParaRPr sz="1800" b="1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</a:endParaRPr>
                    </a:p>
                  </a:txBody>
                  <a:tcPr marL="45720" marR="45720" marT="9144" marB="9144" anchor="ctr">
                    <a:solidFill>
                      <a:srgbClr val="1B629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</a:rPr>
                        <a:t>结论</a:t>
                      </a:r>
                      <a:endParaRPr sz="1800" b="1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</a:endParaRPr>
                    </a:p>
                  </a:txBody>
                  <a:tcPr marL="45720" marR="45720" marT="9144" marB="9144" anchor="ctr">
                    <a:solidFill>
                      <a:srgbClr val="1B6298"/>
                    </a:solidFill>
                  </a:tcPr>
                </a:tc>
              </a:tr>
              <a:tr h="676275"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1800" b="0">
                          <a:solidFill>
                            <a:srgbClr val="262A34"/>
                          </a:solidFill>
                          <a:latin typeface="Arial" panose="020B0604020202020204"/>
                          <a:ea typeface="微软雅黑" panose="020B0503020204020204" charset="-122"/>
                        </a:rPr>
                        <a:t>完整 CPO</a:t>
                      </a:r>
                      <a:endParaRPr sz="1800" b="0">
                        <a:solidFill>
                          <a:srgbClr val="262A34"/>
                        </a:solidFill>
                        <a:latin typeface="Arial" panose="020B0604020202020204"/>
                        <a:ea typeface="微软雅黑" panose="020B0503020204020204" charset="-122"/>
                      </a:endParaRP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1800" b="0">
                          <a:solidFill>
                            <a:srgbClr val="262A34"/>
                          </a:solidFill>
                          <a:latin typeface="Arial" panose="020B0604020202020204"/>
                          <a:ea typeface="微软雅黑" panose="020B0503020204020204" charset="-122"/>
                        </a:rPr>
                        <a:t>—</a:t>
                      </a:r>
                      <a:endParaRPr sz="1800" b="0">
                        <a:solidFill>
                          <a:srgbClr val="262A34"/>
                        </a:solidFill>
                        <a:latin typeface="Arial" panose="020B0604020202020204"/>
                        <a:ea typeface="微软雅黑" panose="020B0503020204020204" charset="-122"/>
                      </a:endParaRP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1800" b="0">
                          <a:solidFill>
                            <a:srgbClr val="262A34"/>
                          </a:solidFill>
                          <a:latin typeface="Arial" panose="020B0604020202020204"/>
                          <a:ea typeface="微软雅黑" panose="020B0503020204020204" charset="-122"/>
                        </a:rPr>
                        <a:t>基准</a:t>
                      </a:r>
                      <a:endParaRPr sz="1800" b="0">
                        <a:solidFill>
                          <a:srgbClr val="262A34"/>
                        </a:solidFill>
                        <a:latin typeface="Arial" panose="020B0604020202020204"/>
                        <a:ea typeface="微软雅黑" panose="020B0503020204020204" charset="-122"/>
                      </a:endParaRP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1800" b="1">
                          <a:solidFill>
                            <a:srgbClr val="C0282D"/>
                          </a:solidFill>
                          <a:latin typeface="Arial" panose="020B0604020202020204"/>
                          <a:ea typeface="微软雅黑" panose="020B0503020204020204" charset="-122"/>
                        </a:rPr>
                        <a:t>—</a:t>
                      </a:r>
                      <a:endParaRPr sz="1800" b="1">
                        <a:solidFill>
                          <a:srgbClr val="C0282D"/>
                        </a:solidFill>
                        <a:latin typeface="Arial" panose="020B0604020202020204"/>
                        <a:ea typeface="微软雅黑" panose="020B0503020204020204" charset="-122"/>
                      </a:endParaRP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680085"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1800" b="0">
                          <a:solidFill>
                            <a:srgbClr val="262A34"/>
                          </a:solidFill>
                          <a:latin typeface="Arial" panose="020B0604020202020204"/>
                          <a:ea typeface="微软雅黑" panose="020B0503020204020204" charset="-122"/>
                        </a:rPr>
                        <a:t>CPO (w/o KLC)</a:t>
                      </a:r>
                      <a:endParaRPr sz="1800" b="0">
                        <a:solidFill>
                          <a:srgbClr val="262A34"/>
                        </a:solidFill>
                        <a:latin typeface="Arial" panose="020B0604020202020204"/>
                        <a:ea typeface="微软雅黑" panose="020B0503020204020204" charset="-122"/>
                      </a:endParaRPr>
                    </a:p>
                  </a:txBody>
                  <a:tcPr marL="45720" marR="45720" marT="9144" marB="9144"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1800" b="0">
                          <a:solidFill>
                            <a:srgbClr val="262A34"/>
                          </a:solidFill>
                          <a:latin typeface="Arial" panose="020B0604020202020204"/>
                          <a:ea typeface="微软雅黑" panose="020B0503020204020204" charset="-122"/>
                        </a:rPr>
                        <a:t>β = 0（去掉 KL 约束）</a:t>
                      </a:r>
                      <a:endParaRPr sz="1800" b="0">
                        <a:solidFill>
                          <a:srgbClr val="262A34"/>
                        </a:solidFill>
                        <a:latin typeface="Arial" panose="020B0604020202020204"/>
                        <a:ea typeface="微软雅黑" panose="020B0503020204020204" charset="-122"/>
                      </a:endParaRPr>
                    </a:p>
                  </a:txBody>
                  <a:tcPr marL="45720" marR="45720" marT="9144" marB="9144"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1800" b="0">
                          <a:solidFill>
                            <a:srgbClr val="262A34"/>
                          </a:solidFill>
                          <a:latin typeface="Arial" panose="020B0604020202020204"/>
                          <a:ea typeface="微软雅黑" panose="020B0503020204020204" charset="-122"/>
                        </a:rPr>
                        <a:t>性能明显下降；热力图显示 follower 显著错位</a:t>
                      </a:r>
                      <a:endParaRPr sz="1800" b="0">
                        <a:solidFill>
                          <a:srgbClr val="262A34"/>
                        </a:solidFill>
                        <a:latin typeface="Arial" panose="020B0604020202020204"/>
                        <a:ea typeface="微软雅黑" panose="020B0503020204020204" charset="-122"/>
                      </a:endParaRPr>
                    </a:p>
                  </a:txBody>
                  <a:tcPr marL="45720" marR="45720" marT="9144" marB="9144"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1800" b="1">
                          <a:solidFill>
                            <a:srgbClr val="C0282D"/>
                          </a:solidFill>
                          <a:latin typeface="Arial" panose="020B0604020202020204"/>
                          <a:ea typeface="微软雅黑" panose="020B0503020204020204" charset="-122"/>
                        </a:rPr>
                        <a:t> KL 约束是核心组件</a:t>
                      </a:r>
                      <a:endParaRPr sz="1800" b="1">
                        <a:solidFill>
                          <a:srgbClr val="C0282D"/>
                        </a:solidFill>
                        <a:latin typeface="Arial" panose="020B0604020202020204"/>
                        <a:ea typeface="微软雅黑" panose="020B0503020204020204" charset="-122"/>
                      </a:endParaRPr>
                    </a:p>
                  </a:txBody>
                  <a:tcPr marL="45720" marR="45720" marT="9144" marB="9144" anchor="ctr">
                    <a:solidFill>
                      <a:srgbClr val="F2F5F9"/>
                    </a:solidFill>
                  </a:tcPr>
                </a:tc>
              </a:tr>
              <a:tr h="680085"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1800" b="0">
                          <a:solidFill>
                            <a:srgbClr val="262A34"/>
                          </a:solidFill>
                          <a:latin typeface="Arial" panose="020B0604020202020204"/>
                          <a:ea typeface="微软雅黑" panose="020B0503020204020204" charset="-122"/>
                        </a:rPr>
                        <a:t>CPO (w/o AdR)</a:t>
                      </a:r>
                      <a:endParaRPr sz="1800" b="0">
                        <a:solidFill>
                          <a:srgbClr val="262A34"/>
                        </a:solidFill>
                        <a:latin typeface="Arial" panose="020B0604020202020204"/>
                        <a:ea typeface="微软雅黑" panose="020B0503020204020204" charset="-122"/>
                      </a:endParaRP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1800" b="0">
                          <a:solidFill>
                            <a:srgbClr val="262A34"/>
                          </a:solidFill>
                          <a:latin typeface="Arial" panose="020B0604020202020204"/>
                          <a:ea typeface="微软雅黑" panose="020B0503020204020204" charset="-122"/>
                        </a:rPr>
                        <a:t>λ_adv = 0（去掉对抗奖励）</a:t>
                      </a:r>
                      <a:endParaRPr sz="1800" b="0">
                        <a:solidFill>
                          <a:srgbClr val="262A34"/>
                        </a:solidFill>
                        <a:latin typeface="Arial" panose="020B0604020202020204"/>
                        <a:ea typeface="微软雅黑" panose="020B0503020204020204" charset="-122"/>
                      </a:endParaRP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1800" b="0">
                          <a:solidFill>
                            <a:srgbClr val="262A34"/>
                          </a:solidFill>
                          <a:latin typeface="Arial" panose="020B0604020202020204"/>
                          <a:ea typeface="微软雅黑" panose="020B0503020204020204" charset="-122"/>
                        </a:rPr>
                        <a:t>性能与完整 CPO 差别很小，仅降低种子方差</a:t>
                      </a:r>
                      <a:endParaRPr sz="1800" b="0">
                        <a:solidFill>
                          <a:srgbClr val="262A34"/>
                        </a:solidFill>
                        <a:latin typeface="Arial" panose="020B0604020202020204"/>
                        <a:ea typeface="微软雅黑" panose="020B0503020204020204" charset="-122"/>
                      </a:endParaRP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1800" b="1">
                          <a:solidFill>
                            <a:srgbClr val="C0282D"/>
                          </a:solidFill>
                          <a:latin typeface="Arial" panose="020B0604020202020204"/>
                          <a:ea typeface="微软雅黑" panose="020B0503020204020204" charset="-122"/>
                        </a:rPr>
                        <a:t> 对抗奖励近乎冗余</a:t>
                      </a:r>
                      <a:endParaRPr sz="1800" b="1">
                        <a:solidFill>
                          <a:srgbClr val="C0282D"/>
                        </a:solidFill>
                        <a:latin typeface="Arial" panose="020B0604020202020204"/>
                        <a:ea typeface="微软雅黑" panose="020B0503020204020204" charset="-122"/>
                      </a:endParaRP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6" name="Rounded Rectangle 75"/>
          <p:cNvSpPr/>
          <p:nvPr/>
        </p:nvSpPr>
        <p:spPr>
          <a:xfrm>
            <a:off x="660400" y="3897630"/>
            <a:ext cx="5139055" cy="229489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1430">
            <a:solidFill>
              <a:srgbClr val="E2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851535" y="4004310"/>
            <a:ext cx="4754880" cy="21717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b="1">
                <a:solidFill>
                  <a:srgbClr val="1B6298"/>
                </a:solidFill>
                <a:latin typeface="Arial" panose="020B0604020202020204"/>
                <a:ea typeface="微软雅黑" panose="020B0503020204020204" charset="-122"/>
              </a:rPr>
              <a:t>两个关键发现</a:t>
            </a:r>
            <a:endParaRPr b="1">
              <a:solidFill>
                <a:srgbClr val="1B6298"/>
              </a:solidFill>
              <a:latin typeface="Arial" panose="020B0604020202020204"/>
              <a:ea typeface="微软雅黑" panose="020B0503020204020204" charset="-122"/>
            </a:endParaRPr>
          </a:p>
          <a:p>
            <a:pPr algn="l">
              <a:lnSpc>
                <a:spcPct val="120000"/>
              </a:lnSpc>
            </a:pPr>
            <a:r>
              <a:rPr sz="1600" b="0">
                <a:solidFill>
                  <a:srgbClr val="262A34"/>
                </a:solidFill>
                <a:latin typeface="Arial" panose="020B0604020202020204"/>
                <a:ea typeface="微软雅黑" panose="020B0503020204020204" charset="-122"/>
              </a:rPr>
              <a:t> 即使去掉对抗奖励，每个 follower 的最近邻依旧</a:t>
            </a:r>
            <a:endParaRPr sz="1600" b="0">
              <a:solidFill>
                <a:srgbClr val="262A34"/>
              </a:solidFill>
              <a:latin typeface="Arial" panose="020B0604020202020204"/>
              <a:ea typeface="微软雅黑" panose="020B0503020204020204" charset="-122"/>
            </a:endParaRPr>
          </a:p>
          <a:p>
            <a:pPr algn="l">
              <a:lnSpc>
                <a:spcPct val="120000"/>
              </a:lnSpc>
            </a:pPr>
            <a:r>
              <a:rPr sz="1600" b="0">
                <a:solidFill>
                  <a:srgbClr val="262A34"/>
                </a:solidFill>
                <a:latin typeface="Arial" panose="020B0604020202020204"/>
                <a:ea typeface="微软雅黑" panose="020B0503020204020204" charset="-122"/>
              </a:rPr>
              <a:t>   稳定是 leader</a:t>
            </a:r>
            <a:endParaRPr sz="1600" b="0">
              <a:solidFill>
                <a:srgbClr val="262A34"/>
              </a:solidFill>
              <a:latin typeface="Arial" panose="020B0604020202020204"/>
              <a:ea typeface="微软雅黑" panose="020B0503020204020204" charset="-122"/>
            </a:endParaRPr>
          </a:p>
          <a:p>
            <a:pPr algn="l">
              <a:lnSpc>
                <a:spcPct val="120000"/>
              </a:lnSpc>
            </a:pPr>
            <a:endParaRPr sz="2800"/>
          </a:p>
          <a:p>
            <a:pPr algn="l">
              <a:lnSpc>
                <a:spcPct val="120000"/>
              </a:lnSpc>
              <a:buClrTx/>
              <a:buSzTx/>
              <a:buNone/>
            </a:pPr>
            <a:r>
              <a:rPr sz="1600">
                <a:solidFill>
                  <a:srgbClr val="262A34"/>
                </a:solidFill>
                <a:latin typeface="Arial" panose="020B0604020202020204"/>
                <a:ea typeface="微软雅黑" panose="020B0503020204020204" charset="-122"/>
              </a:rPr>
              <a:t>作者说明：防止 overconcentration 的目标已由 KL</a:t>
            </a:r>
            <a:endParaRPr sz="1600">
              <a:solidFill>
                <a:srgbClr val="262A34"/>
              </a:solidFill>
              <a:latin typeface="Arial" panose="020B0604020202020204"/>
              <a:ea typeface="微软雅黑" panose="020B0503020204020204" charset="-122"/>
            </a:endParaRPr>
          </a:p>
          <a:p>
            <a:pPr algn="l">
              <a:lnSpc>
                <a:spcPct val="120000"/>
              </a:lnSpc>
              <a:buClrTx/>
              <a:buSzTx/>
              <a:buNone/>
            </a:pPr>
            <a:r>
              <a:rPr sz="1600">
                <a:solidFill>
                  <a:srgbClr val="262A34"/>
                </a:solidFill>
                <a:latin typeface="Arial" panose="020B0604020202020204"/>
                <a:ea typeface="微软雅黑" panose="020B0503020204020204" charset="-122"/>
              </a:rPr>
              <a:t>约束 + 熵正则达成。</a:t>
            </a:r>
            <a:endParaRPr sz="1600">
              <a:solidFill>
                <a:srgbClr val="262A34"/>
              </a:solidFill>
              <a:latin typeface="Arial" panose="020B0604020202020204"/>
              <a:ea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 advTm="3000">
        <p15:prstTrans prst="pageCurlDouble"/>
      </p:transition>
    </mc:Choice>
    <mc:Fallback>
      <p:transition spd="slow" advTm="3000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7" name="文本框 36"/>
          <p:cNvSpPr txBox="1"/>
          <p:nvPr/>
        </p:nvSpPr>
        <p:spPr>
          <a:xfrm>
            <a:off x="8610404" y="6583649"/>
            <a:ext cx="301236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0" b="0" i="0" u="none" strike="noStrike" kern="120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Tsinghua University of China</a:t>
            </a:r>
            <a:endParaRPr kumimoji="0" lang="zh-CN" altLang="en-US" sz="1000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62" name="文本框 61"/>
          <p:cNvSpPr txBox="1"/>
          <p:nvPr/>
        </p:nvSpPr>
        <p:spPr>
          <a:xfrm>
            <a:off x="660400" y="6583649"/>
            <a:ext cx="194155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6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自强不息 厚德载物</a:t>
            </a:r>
            <a:endParaRPr kumimoji="0" lang="zh-CN" altLang="en-US" sz="1000" b="0" i="0" u="none" strike="noStrike" kern="1200" cap="none" spc="6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64" name="矩形 63"/>
          <p:cNvSpPr/>
          <p:nvPr/>
        </p:nvSpPr>
        <p:spPr>
          <a:xfrm>
            <a:off x="0" y="6570000"/>
            <a:ext cx="12192000" cy="288000"/>
          </a:xfrm>
          <a:prstGeom prst="rect">
            <a:avLst/>
          </a:prstGeom>
          <a:solidFill>
            <a:srgbClr val="1C629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66" name="文本框 65"/>
          <p:cNvSpPr txBox="1"/>
          <p:nvPr/>
        </p:nvSpPr>
        <p:spPr>
          <a:xfrm>
            <a:off x="594090" y="6583649"/>
            <a:ext cx="203132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defRPr/>
            </a:pPr>
            <a:r>
              <a:rPr lang="zh-CN" altLang="en-US" sz="1000" spc="600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知行合一、经世致用</a:t>
            </a:r>
            <a:endParaRPr kumimoji="0" lang="zh-CN" altLang="en-US" sz="1000" b="0" i="0" u="none" strike="noStrike" kern="1200" cap="none" spc="6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68" name="文本框 67"/>
          <p:cNvSpPr txBox="1"/>
          <p:nvPr/>
        </p:nvSpPr>
        <p:spPr>
          <a:xfrm>
            <a:off x="9137792" y="6583649"/>
            <a:ext cx="248497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r">
              <a:defRPr/>
            </a:pPr>
            <a:r>
              <a:rPr lang="en-US" altLang="zh-CN" sz="1000" spc="300" dirty="0">
                <a:solidFill>
                  <a:prstClr val="white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Central South University</a:t>
            </a:r>
            <a:endParaRPr kumimoji="0" lang="zh-CN" altLang="en-US" sz="1000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cxnSp>
        <p:nvCxnSpPr>
          <p:cNvPr id="69" name="直接连接符 68"/>
          <p:cNvCxnSpPr/>
          <p:nvPr/>
        </p:nvCxnSpPr>
        <p:spPr>
          <a:xfrm>
            <a:off x="660400" y="760413"/>
            <a:ext cx="10858500" cy="0"/>
          </a:xfrm>
          <a:prstGeom prst="line">
            <a:avLst/>
          </a:prstGeom>
          <a:noFill/>
          <a:ln w="22225" cap="flat" cmpd="sng" algn="ctr">
            <a:solidFill>
              <a:srgbClr val="1C6299"/>
            </a:solidFill>
            <a:prstDash val="solid"/>
            <a:miter lim="800000"/>
          </a:ln>
          <a:effectLst/>
        </p:spPr>
      </p:cxnSp>
      <p:grpSp>
        <p:nvGrpSpPr>
          <p:cNvPr id="70" name="组合 69"/>
          <p:cNvGrpSpPr/>
          <p:nvPr/>
        </p:nvGrpSpPr>
        <p:grpSpPr>
          <a:xfrm>
            <a:off x="203760" y="159728"/>
            <a:ext cx="725344" cy="619478"/>
            <a:chOff x="178632" y="159728"/>
            <a:chExt cx="725344" cy="619478"/>
          </a:xfrm>
        </p:grpSpPr>
        <p:sp>
          <p:nvSpPr>
            <p:cNvPr id="71" name="椭圆 70"/>
            <p:cNvSpPr/>
            <p:nvPr/>
          </p:nvSpPr>
          <p:spPr>
            <a:xfrm>
              <a:off x="358210" y="159728"/>
              <a:ext cx="468000" cy="468000"/>
            </a:xfrm>
            <a:prstGeom prst="ellipse">
              <a:avLst/>
            </a:prstGeom>
            <a:gradFill>
              <a:gsLst>
                <a:gs pos="0">
                  <a:srgbClr val="1C6299"/>
                </a:gs>
                <a:gs pos="100000">
                  <a:srgbClr val="5C307D">
                    <a:alpha val="90000"/>
                  </a:srgb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73" name="椭圆 72"/>
            <p:cNvSpPr/>
            <p:nvPr/>
          </p:nvSpPr>
          <p:spPr>
            <a:xfrm>
              <a:off x="178632" y="602993"/>
              <a:ext cx="176213" cy="176213"/>
            </a:xfrm>
            <a:prstGeom prst="ellipse">
              <a:avLst/>
            </a:prstGeom>
            <a:gradFill>
              <a:gsLst>
                <a:gs pos="0">
                  <a:srgbClr val="1C6299"/>
                </a:gs>
                <a:gs pos="100000">
                  <a:srgbClr val="5C307D">
                    <a:alpha val="90000"/>
                  </a:srgbClr>
                </a:gs>
              </a:gsLst>
              <a:lin ang="3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</p:grpSp>
      <p:pic>
        <p:nvPicPr>
          <p:cNvPr id="74" name="图片 73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4913" y="176378"/>
            <a:ext cx="1897854" cy="555905"/>
          </a:xfrm>
          <a:prstGeom prst="rect">
            <a:avLst/>
          </a:prstGeom>
        </p:spPr>
      </p:pic>
      <p:sp>
        <p:nvSpPr>
          <p:cNvPr id="15" name="标题占位符 1"/>
          <p:cNvSpPr txBox="1"/>
          <p:nvPr/>
        </p:nvSpPr>
        <p:spPr>
          <a:xfrm>
            <a:off x="965199" y="-100014"/>
            <a:ext cx="8759713" cy="817564"/>
          </a:xfrm>
          <a:prstGeom prst="rect">
            <a:avLst/>
          </a:prstGeom>
          <a:ln>
            <a:noFill/>
          </a:ln>
        </p:spPr>
        <p:txBody>
          <a:bodyPr vert="horz" lIns="0" tIns="45720" rIns="91440" bIns="45720" rtlCol="0" anchor="b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zh-CN" altLang="en-US" sz="2600" b="1" dirty="0">
                <a:solidFill>
                  <a:srgbClr val="0000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六、总结</a:t>
            </a:r>
            <a:endParaRPr lang="zh-CN" altLang="en-US" sz="2600" b="1" dirty="0">
              <a:solidFill>
                <a:srgbClr val="000000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60400" y="803275"/>
            <a:ext cx="10473055" cy="20040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>
              <a:lnSpc>
                <a:spcPct val="116000"/>
              </a:lnSpc>
              <a:spcAft>
                <a:spcPts val="300"/>
              </a:spcAft>
            </a:pPr>
          </a:p>
        </p:txBody>
      </p:sp>
      <p:sp>
        <p:nvSpPr>
          <p:cNvPr id="75" name="Rounded Rectangle 74"/>
          <p:cNvSpPr/>
          <p:nvPr/>
        </p:nvSpPr>
        <p:spPr>
          <a:xfrm>
            <a:off x="658495" y="1097280"/>
            <a:ext cx="10469880" cy="460629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1430">
            <a:solidFill>
              <a:srgbClr val="E2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868680" y="1313815"/>
            <a:ext cx="10058400" cy="39801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buClrTx/>
              <a:buSzTx/>
              <a:buFontTx/>
            </a:pPr>
            <a:r>
              <a:rPr sz="2400" b="1">
                <a:solidFill>
                  <a:srgbClr val="1B6298"/>
                </a:solidFill>
                <a:latin typeface="Arial" panose="020B0604020202020204"/>
                <a:ea typeface="微软雅黑" panose="020B0503020204020204" charset="-122"/>
              </a:rPr>
              <a:t>作者的核心结论</a:t>
            </a:r>
            <a:endParaRPr sz="2000">
              <a:solidFill>
                <a:srgbClr val="262A34"/>
              </a:solidFill>
              <a:latin typeface="Arial" panose="020B0604020202020204"/>
              <a:ea typeface="微软雅黑" panose="020B0503020204020204" charset="-122"/>
            </a:endParaRPr>
          </a:p>
          <a:p>
            <a:pPr algn="l">
              <a:lnSpc>
                <a:spcPct val="120000"/>
              </a:lnSpc>
            </a:pPr>
            <a:r>
              <a:rPr sz="2000" b="0">
                <a:solidFill>
                  <a:srgbClr val="262A34"/>
                </a:solidFill>
                <a:latin typeface="Arial" panose="020B0604020202020204"/>
                <a:ea typeface="微软雅黑" panose="020B0503020204020204" charset="-122"/>
              </a:rPr>
              <a:t>① 理论上：过度策略间多样性</a:t>
            </a:r>
            <a:r>
              <a:rPr lang="zh-CN" sz="2000" b="0">
                <a:solidFill>
                  <a:srgbClr val="262A34"/>
                </a:solidFill>
                <a:latin typeface="Arial" panose="020B0604020202020204"/>
                <a:ea typeface="微软雅黑" panose="020B0503020204020204" charset="-122"/>
              </a:rPr>
              <a:t>会</a:t>
            </a:r>
            <a:r>
              <a:rPr sz="2000" b="0">
                <a:solidFill>
                  <a:srgbClr val="262A34"/>
                </a:solidFill>
                <a:latin typeface="Arial" panose="020B0604020202020204"/>
                <a:ea typeface="微软雅黑" panose="020B0503020204020204" charset="-122"/>
              </a:rPr>
              <a:t>通过降低 ESS、增大裁剪偏差削弱单调改进</a:t>
            </a:r>
            <a:r>
              <a:rPr lang="zh-CN" sz="2000" b="0">
                <a:solidFill>
                  <a:srgbClr val="262A34"/>
                </a:solidFill>
                <a:latin typeface="Arial" panose="020B0604020202020204"/>
                <a:ea typeface="微软雅黑" panose="020B0503020204020204" charset="-122"/>
              </a:rPr>
              <a:t>从而导致</a:t>
            </a:r>
            <a:r>
              <a:rPr sz="2000" b="0">
                <a:solidFill>
                  <a:srgbClr val="262A34"/>
                </a:solidFill>
                <a:latin typeface="Arial" panose="020B0604020202020204"/>
                <a:ea typeface="微软雅黑" panose="020B0503020204020204" charset="-122"/>
              </a:rPr>
              <a:t>损害学习</a:t>
            </a:r>
            <a:endParaRPr sz="2000" b="0">
              <a:solidFill>
                <a:srgbClr val="262A34"/>
              </a:solidFill>
              <a:latin typeface="Arial" panose="020B0604020202020204"/>
              <a:ea typeface="微软雅黑" panose="020B0503020204020204" charset="-122"/>
            </a:endParaRPr>
          </a:p>
          <a:p>
            <a:pPr algn="l">
              <a:lnSpc>
                <a:spcPct val="120000"/>
              </a:lnSpc>
            </a:pPr>
            <a:r>
              <a:rPr sz="2000" b="0">
                <a:solidFill>
                  <a:srgbClr val="262A34"/>
                </a:solidFill>
                <a:latin typeface="Arial" panose="020B0604020202020204"/>
                <a:ea typeface="微软雅黑" panose="020B0503020204020204" charset="-122"/>
              </a:rPr>
              <a:t>② 方法上：CPO = KL 约束 + 对抗奖励，在样本效率与最终性能上超越 SAPG、DexPBT、PPO</a:t>
            </a:r>
            <a:endParaRPr sz="2000" b="0">
              <a:solidFill>
                <a:srgbClr val="262A34"/>
              </a:solidFill>
              <a:latin typeface="Arial" panose="020B0604020202020204"/>
              <a:ea typeface="微软雅黑" panose="020B0503020204020204" charset="-122"/>
            </a:endParaRPr>
          </a:p>
          <a:p>
            <a:pPr algn="l">
              <a:lnSpc>
                <a:spcPct val="120000"/>
              </a:lnSpc>
            </a:pPr>
            <a:r>
              <a:rPr sz="2000" b="0">
                <a:solidFill>
                  <a:srgbClr val="262A34"/>
                </a:solidFill>
                <a:latin typeface="Arial" panose="020B0604020202020204"/>
                <a:ea typeface="微软雅黑" panose="020B0503020204020204" charset="-122"/>
              </a:rPr>
              <a:t>③ 机制上：KL 约束使 IS 比值靠近 1 → 提升 ESS；follower 自然环绕 leader</a:t>
            </a:r>
            <a:endParaRPr sz="2000" b="0">
              <a:solidFill>
                <a:srgbClr val="262A34"/>
              </a:solidFill>
              <a:latin typeface="Arial" panose="020B0604020202020204"/>
              <a:ea typeface="微软雅黑" panose="020B0503020204020204" charset="-122"/>
            </a:endParaRPr>
          </a:p>
          <a:p>
            <a:pPr algn="l">
              <a:lnSpc>
                <a:spcPct val="120000"/>
              </a:lnSpc>
              <a:buClrTx/>
              <a:buSzTx/>
              <a:buFontTx/>
            </a:pPr>
            <a:r>
              <a:rPr sz="2000">
                <a:solidFill>
                  <a:srgbClr val="262A34"/>
                </a:solidFill>
                <a:latin typeface="Arial" panose="020B0604020202020204"/>
                <a:ea typeface="微软雅黑" panose="020B0503020204020204" charset="-122"/>
              </a:rPr>
              <a:t>④ 结论：仅仅促进多样性不够，对多样性的恰当控制才是关键</a:t>
            </a:r>
            <a:endParaRPr sz="2000">
              <a:solidFill>
                <a:srgbClr val="262A34"/>
              </a:solidFill>
              <a:latin typeface="Arial" panose="020B0604020202020204"/>
              <a:ea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 advTm="3000">
        <p15:prstTrans prst="pageCurlDouble"/>
      </p:transition>
    </mc:Choice>
    <mc:Fallback>
      <p:transition spd="slow" advTm="3000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304" y="1951493"/>
            <a:ext cx="12220271" cy="1838567"/>
          </a:xfrm>
          <a:prstGeom prst="rect">
            <a:avLst/>
          </a:prstGeom>
          <a:solidFill>
            <a:srgbClr val="1C62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3765">
              <a:defRPr/>
            </a:pPr>
            <a:endParaRPr lang="zh-CN" altLang="en-US" sz="1800">
              <a:solidFill>
                <a:prstClr val="white"/>
              </a:solidFill>
              <a:latin typeface="Calibri" panose="020F0502020204030204"/>
              <a:ea typeface="等线" panose="02010600030101010101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644784" y="2252225"/>
            <a:ext cx="267573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3765">
              <a:defRPr/>
            </a:pPr>
            <a:r>
              <a:rPr lang="zh-CN" altLang="en-US" sz="5400" b="1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谢 谢 ！</a:t>
            </a:r>
            <a:endParaRPr lang="zh-CN" altLang="en-US" sz="5400" b="1" dirty="0">
              <a:solidFill>
                <a:prstClr val="whit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椭圆 11"/>
          <p:cNvSpPr/>
          <p:nvPr/>
        </p:nvSpPr>
        <p:spPr>
          <a:xfrm>
            <a:off x="1524353" y="1558640"/>
            <a:ext cx="2624273" cy="2624273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3765">
              <a:defRPr/>
            </a:pPr>
            <a:endParaRPr lang="zh-CN" altLang="en-US" sz="1800">
              <a:solidFill>
                <a:prstClr val="white"/>
              </a:solidFill>
              <a:latin typeface="Calibri" panose="020F0502020204030204"/>
              <a:ea typeface="等线" panose="02010600030101010101" pitchFamily="2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6181" y="1418982"/>
            <a:ext cx="3140616" cy="290358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751" y="212782"/>
            <a:ext cx="1966449" cy="575997"/>
          </a:xfrm>
          <a:prstGeom prst="rect">
            <a:avLst/>
          </a:prstGeom>
        </p:spPr>
      </p:pic>
      <p:sp>
        <p:nvSpPr>
          <p:cNvPr id="19" name="矩形 18"/>
          <p:cNvSpPr/>
          <p:nvPr/>
        </p:nvSpPr>
        <p:spPr>
          <a:xfrm>
            <a:off x="5701249" y="3291452"/>
            <a:ext cx="6498497" cy="276956"/>
          </a:xfrm>
          <a:prstGeom prst="rect">
            <a:avLst/>
          </a:prstGeom>
        </p:spPr>
        <p:txBody>
          <a:bodyPr wrap="square" lIns="91397" tIns="45699" rIns="91397" bIns="45699">
            <a:spAutoFit/>
          </a:bodyPr>
          <a:lstStyle/>
          <a:p>
            <a:pPr defTabSz="913765">
              <a:defRPr/>
            </a:pPr>
            <a:r>
              <a:rPr lang="en-US" altLang="zh-CN" sz="1200" b="1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THANKS FOR ALL</a:t>
            </a:r>
            <a:endParaRPr lang="en-US" altLang="zh-CN" sz="1200" b="1" dirty="0">
              <a:solidFill>
                <a:prstClr val="whit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Click="0" advTm="1000"/>
    </mc:Choice>
    <mc:Fallback>
      <p:transition advClick="0" advTm="1000"/>
    </mc:Fallback>
  </mc:AlternateContent>
</p:sld>
</file>

<file path=ppt/tags/tag1.xml><?xml version="1.0" encoding="utf-8"?>
<p:tagLst xmlns:p="http://schemas.openxmlformats.org/presentationml/2006/main">
  <p:tag name="TABLE_ENDDRAG_ORIGIN_RECT" val="868*383"/>
  <p:tag name="TABLE_ENDDRAG_RECT" val="46*81*868*383"/>
</p:tagLst>
</file>

<file path=ppt/tags/tag2.xml><?xml version="1.0" encoding="utf-8"?>
<p:tagLst xmlns:p="http://schemas.openxmlformats.org/presentationml/2006/main">
  <p:tag name="TABLE_ENDDRAG_ORIGIN_RECT" val="863*213"/>
  <p:tag name="TABLE_ENDDRAG_RECT" val="51*85*863*213"/>
</p:tagLst>
</file>

<file path=ppt/tags/tag3.xml><?xml version="1.0" encoding="utf-8"?>
<p:tagLst xmlns:p="http://schemas.openxmlformats.org/presentationml/2006/main">
  <p:tag name="COMMONDATA" val="eyJoZGlkIjoiOWZkNGJhZTM4YTVkZmQ1MmQwZmZhNzc0MzFiNTc4ZjAifQ=="/>
  <p:tag name="commondata" val="eyJoZGlkIjoiNDllYjZlY2E1NzI0NjExNzdhYjQ3NjY1NjVhMmIwODUifQ=="/>
</p:tagLst>
</file>

<file path=ppt/theme/theme1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自定义设计方案">
  <a:themeElements>
    <a:clrScheme name="自定义 100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91B89"/>
      </a:accent1>
      <a:accent2>
        <a:srgbClr val="EEB51A"/>
      </a:accent2>
      <a:accent3>
        <a:srgbClr val="591B89"/>
      </a:accent3>
      <a:accent4>
        <a:srgbClr val="EEB51A"/>
      </a:accent4>
      <a:accent5>
        <a:srgbClr val="591B89"/>
      </a:accent5>
      <a:accent6>
        <a:srgbClr val="EEB51A"/>
      </a:accent6>
      <a:hlink>
        <a:srgbClr val="591B89"/>
      </a:hlink>
      <a:folHlink>
        <a:srgbClr val="EEB51A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4311</Words>
  <Application>WPS 演示</Application>
  <PresentationFormat>宽屏</PresentationFormat>
  <Paragraphs>369</Paragraphs>
  <Slides>16</Slides>
  <Notes>27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16</vt:i4>
      </vt:variant>
    </vt:vector>
  </HeadingPairs>
  <TitlesOfParts>
    <vt:vector size="31" baseType="lpstr">
      <vt:lpstr>Arial</vt:lpstr>
      <vt:lpstr>宋体</vt:lpstr>
      <vt:lpstr>Wingdings</vt:lpstr>
      <vt:lpstr>Calibri</vt:lpstr>
      <vt:lpstr>等线</vt:lpstr>
      <vt:lpstr>Arial</vt:lpstr>
      <vt:lpstr>微软雅黑</vt:lpstr>
      <vt:lpstr>黑体</vt:lpstr>
      <vt:lpstr>Times New Roman</vt:lpstr>
      <vt:lpstr>Arial Unicode MS</vt:lpstr>
      <vt:lpstr>等线 Light</vt:lpstr>
      <vt:lpstr>Calibri Light</vt:lpstr>
      <vt:lpstr>1_Office 主题​​</vt:lpstr>
      <vt:lpstr>2_Office 主题​​</vt:lpstr>
      <vt:lpstr>1_自定义设计方案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紫色沉稳简约毕业答辩毕业论文答辩PPT</dc:title>
  <dc:creator>秦佳瑶</dc:creator>
  <cp:lastModifiedBy>许贺</cp:lastModifiedBy>
  <cp:revision>950</cp:revision>
  <dcterms:created xsi:type="dcterms:W3CDTF">2019-03-09T08:01:00Z</dcterms:created>
  <dcterms:modified xsi:type="dcterms:W3CDTF">2026-10-17T13:06:50Z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2052-12.1.0.19770</vt:lpwstr>
  </property>
  <property fmtid="{D5CDD505-2E9C-101B-9397-08002B2CF9AE}" pid="3" name="ICV">
    <vt:lpwstr>27D4A64D173C4C078D123F2CD2C2332D_13</vt:lpwstr>
  </property>
</Properties>
</file>