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6" r:id="rId3"/>
  </p:sldMasterIdLst>
  <p:notesMasterIdLst>
    <p:notesMasterId r:id="rId17"/>
  </p:notesMasterIdLst>
  <p:sldIdLst>
    <p:sldId id="3228" r:id="rId4"/>
    <p:sldId id="3320" r:id="rId5"/>
    <p:sldId id="3457" r:id="rId6"/>
    <p:sldId id="3449" r:id="rId7"/>
    <p:sldId id="3489" r:id="rId8"/>
    <p:sldId id="3490" r:id="rId9"/>
    <p:sldId id="3491" r:id="rId10"/>
    <p:sldId id="3494" r:id="rId11"/>
    <p:sldId id="3493" r:id="rId12"/>
    <p:sldId id="3460" r:id="rId13"/>
    <p:sldId id="3462" r:id="rId14"/>
    <p:sldId id="3495" r:id="rId15"/>
    <p:sldId id="3231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84570" autoAdjust="0"/>
  </p:normalViewPr>
  <p:slideViewPr>
    <p:cSldViewPr snapToGrid="0" showGuides="1">
      <p:cViewPr>
        <p:scale>
          <a:sx n="100" d="100"/>
          <a:sy n="100" d="100"/>
        </p:scale>
        <p:origin x="354" y="-6"/>
      </p:cViewPr>
      <p:guideLst>
        <p:guide orient="horz" pos="2187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《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超越启发式提示：一种概念引导的贝叶斯框架用于零样本图像识别</a:t>
            </a:r>
            <a:r>
              <a:rPr lang="zh-CN" altLang="en-US" dirty="0"/>
              <a:t>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刘辉</a:t>
            </a:r>
            <a:r>
              <a:rPr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来自</a:t>
            </a:r>
            <a:r>
              <a:rPr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香港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城市</a:t>
            </a:r>
            <a:r>
              <a:rPr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大学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，研究方向是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可信人工智能和大语言模型</a:t>
            </a:r>
            <a:endParaRPr 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  <a:t>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不再直接用类别名判断图像类别，而是假设每个类别背后有一组隐藏视觉概念；模型逐个评估这些概念对当前图像的支持程度，再把所有概念证据加权求和，得到最终类别概率。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“</a:t>
            </a:r>
            <a:r>
              <a:rPr lang="zh-CN" altLang="en-US" b="1" dirty="0"/>
              <a:t>太启发式</a:t>
            </a:r>
            <a:r>
              <a:rPr lang="zh-CN" altLang="en-US" dirty="0"/>
              <a:t>”的意思是：</a:t>
            </a:r>
            <a:r>
              <a:rPr lang="zh-CN" altLang="en-US" b="1" dirty="0"/>
              <a:t>方法主要，而不是由清晰的理论目标、可验证的选择标准或任务机制推导出来。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936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295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257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原来的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型是有一个类别文本，通过计算文本向量和视觉向量的相似度来进行分类，文本向量越接近该类别的视觉向量的中心，那么分类结果就可能会越准确，我们对概念进行组合，就相当于对原始的类别文本向量进行语义扰动，就可能产生和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视觉向量的中心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对齐的文本向量。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106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为什么找</a:t>
            </a:r>
            <a:r>
              <a:rPr lang="zh-CN" altLang="en-US" dirty="0"/>
              <a:t>行列式值最大能保证多样性？</a:t>
            </a:r>
            <a:endParaRPr lang="en-US" altLang="zh-CN" dirty="0"/>
          </a:p>
          <a:p>
            <a:pPr indent="0" fontAlgn="auto">
              <a:lnSpc>
                <a:spcPct val="150000"/>
              </a:lnSpc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因为相似度矩阵，行表示一个概念与其他概念的相似程度。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行列式越大说明相似度矩阵张成的空间越大，说明行向量之间越正交，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行向量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之间的差异性越大。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572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基本原理就是给异常概念赋低值，给正常概念赋高值。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其中 </a:t>
            </a:r>
            <a:r>
              <a:rPr lang="el-GR" altLang="zh-CN" dirty="0"/>
              <a:t>ρ</a:t>
            </a:r>
            <a:r>
              <a:rPr lang="zh-CN" altLang="en-US" dirty="0"/>
              <a:t>表示当前类别下异常 </a:t>
            </a:r>
            <a:r>
              <a:rPr lang="en-US" altLang="zh-CN" dirty="0"/>
              <a:t>concept </a:t>
            </a:r>
            <a:r>
              <a:rPr lang="zh-CN" altLang="en-US" dirty="0"/>
              <a:t>的比例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当前类别 </a:t>
            </a:r>
            <a:r>
              <a:rPr lang="en-US" altLang="zh-CN" dirty="0"/>
              <a:t>concept </a:t>
            </a:r>
            <a:r>
              <a:rPr lang="zh-CN" altLang="en-US" dirty="0"/>
              <a:t>分布稳定，异常概念少，权重调整较轻；</a:t>
            </a:r>
            <a:br>
              <a:rPr lang="zh-CN" altLang="en-US" dirty="0"/>
            </a:br>
            <a:r>
              <a:rPr lang="zh-CN" altLang="en-US" dirty="0"/>
              <a:t>当前类别 </a:t>
            </a:r>
            <a:r>
              <a:rPr lang="en-US" altLang="zh-CN" dirty="0"/>
              <a:t>concept </a:t>
            </a:r>
            <a:r>
              <a:rPr lang="zh-CN" altLang="en-US" dirty="0"/>
              <a:t>分布长尾严重，异常概念多，权重调整更强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MAD </a:t>
            </a:r>
            <a:r>
              <a:rPr lang="zh-CN" altLang="en-US" dirty="0"/>
              <a:t>表示这些 </a:t>
            </a:r>
            <a:r>
              <a:rPr lang="en-US" altLang="zh-CN" dirty="0"/>
              <a:t>concept </a:t>
            </a:r>
            <a:r>
              <a:rPr lang="zh-CN" altLang="en-US" dirty="0"/>
              <a:t>相似度围绕中位数的正常波动范围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l-GR" altLang="zh-CN" dirty="0"/>
              <a:t>σ(·)</a:t>
            </a:r>
            <a:r>
              <a:rPr lang="en-US" altLang="zh-CN" dirty="0"/>
              <a:t> </a:t>
            </a:r>
            <a:r>
              <a:rPr lang="zh-CN" altLang="en-US" dirty="0"/>
              <a:t>表示</a:t>
            </a:r>
            <a:r>
              <a:rPr lang="en-US" altLang="zh-CN" dirty="0"/>
              <a:t>sigmoid</a:t>
            </a:r>
            <a:r>
              <a:rPr lang="zh-CN" altLang="en-US" dirty="0"/>
              <a:t>函数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/>
              <a:t>CLIP+E</a:t>
            </a:r>
            <a:r>
              <a:rPr lang="en-US" altLang="zh-CN" dirty="0"/>
              <a:t> </a:t>
            </a:r>
            <a:r>
              <a:rPr lang="zh-CN" altLang="en-US" dirty="0"/>
              <a:t>会为每个类别使用多个手工设计的 </a:t>
            </a:r>
            <a:r>
              <a:rPr lang="en-US" altLang="zh-CN" dirty="0"/>
              <a:t>prompt templates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第二项表示对图片进行数据加强的模型。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CGBC Prior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表示只采用概念生成模块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852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49373" y="2546254"/>
            <a:ext cx="8398143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Beyond Heuristic Prompting: A Concept-Guided Bayesian Framework for Zero-Shot Image Recognition</a:t>
            </a: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CVPR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2026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946F0-69C9-40D5-B9EC-E56788CB3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648" y="803277"/>
            <a:ext cx="5550986" cy="5588920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3725" y="988060"/>
            <a:ext cx="1136586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、目前存在的问题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60400" y="2522456"/>
            <a:ext cx="2632758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</a:t>
            </a: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497EEF-8377-4190-8CC0-164EDF8D8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522248"/>
            <a:ext cx="111969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基于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CLIP zero-shot 分类通常用</a:t>
            </a:r>
            <a:r>
              <a:rPr lang="en-US" altLang="zh-CN" dirty="0">
                <a:latin typeface="Arial" panose="020B0604020202020204" pitchFamily="34" charset="0"/>
              </a:rPr>
              <a:t>LLM </a:t>
            </a:r>
            <a:r>
              <a:rPr lang="zh-CN" altLang="en-US" dirty="0">
                <a:latin typeface="Arial" panose="020B0604020202020204" pitchFamily="34" charset="0"/>
              </a:rPr>
              <a:t>生成很多类别描述，但这些描述大多是</a:t>
            </a:r>
            <a:r>
              <a:rPr lang="zh-CN" altLang="zh-CN" sz="1800" b="1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靠经验规则或人工直觉</a:t>
            </a:r>
            <a:r>
              <a:rPr lang="zh-CN" altLang="en-US" sz="1800" b="1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提示</a:t>
            </a:r>
            <a:r>
              <a:rPr lang="en-US" altLang="zh-CN" sz="1800" b="1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LLM</a:t>
            </a:r>
            <a:r>
              <a:rPr lang="zh-CN" altLang="en-US" sz="1800" b="1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生成的</a:t>
            </a:r>
            <a:r>
              <a:rPr lang="zh-CN" altLang="en-US" dirty="0">
                <a:latin typeface="Arial" panose="020B0604020202020204" pitchFamily="34" charset="0"/>
              </a:rPr>
              <a:t>，缺少理论解释。而且</a:t>
            </a:r>
            <a:r>
              <a:rPr lang="en-US" altLang="zh-CN" dirty="0">
                <a:latin typeface="Arial" panose="020B0604020202020204" pitchFamily="34" charset="0"/>
              </a:rPr>
              <a:t> LLM </a:t>
            </a:r>
            <a:r>
              <a:rPr lang="zh-CN" altLang="en-US" dirty="0">
                <a:latin typeface="Arial" panose="020B0604020202020204" pitchFamily="34" charset="0"/>
              </a:rPr>
              <a:t>生成的类别描述中可能有很多无效、冗余甚至误导性的概念，默认所有类别描述都是同样重要的。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F1C8BD-269D-4CE1-942F-4752DD86D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429" y="2197615"/>
            <a:ext cx="5367338" cy="30428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3A46301-C1AF-44B8-8A3E-F9D9C2B88A8F}"/>
              </a:ext>
            </a:extLst>
          </p:cNvPr>
          <p:cNvSpPr txBox="1"/>
          <p:nvPr/>
        </p:nvSpPr>
        <p:spPr>
          <a:xfrm>
            <a:off x="682393" y="3072711"/>
            <a:ext cx="510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于是作者提出</a:t>
            </a:r>
            <a:r>
              <a:rPr lang="en-US" altLang="zh-CN" dirty="0"/>
              <a:t>CGBC</a:t>
            </a:r>
            <a:r>
              <a:rPr lang="zh-CN" altLang="en-US" dirty="0"/>
              <a:t>，侧重于解决“生成哪些概念”和“如何确定概念的重要性”这两个问题。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A90DAA-0B6F-40BF-82CD-76743837E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030" y="1157287"/>
            <a:ext cx="8858250" cy="4543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：大语言模型驱动的概念生成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3EC5E-672A-4B53-9124-EE79C3E73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8" y="1432258"/>
            <a:ext cx="5734050" cy="42005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43326AB-F836-4BE4-A62B-408F68144F91}"/>
              </a:ext>
            </a:extLst>
          </p:cNvPr>
          <p:cNvSpPr txBox="1"/>
          <p:nvPr/>
        </p:nvSpPr>
        <p:spPr>
          <a:xfrm>
            <a:off x="6467889" y="162033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判别性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3563E1-7384-4392-8762-A5C5A1E65772}"/>
              </a:ext>
            </a:extLst>
          </p:cNvPr>
          <p:cNvSpPr txBox="1"/>
          <p:nvPr/>
        </p:nvSpPr>
        <p:spPr>
          <a:xfrm>
            <a:off x="6467889" y="3850894"/>
            <a:ext cx="628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多样性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D17148-E78D-4A71-B7EB-F0F69A2A6241}"/>
              </a:ext>
            </a:extLst>
          </p:cNvPr>
          <p:cNvSpPr txBox="1"/>
          <p:nvPr/>
        </p:nvSpPr>
        <p:spPr>
          <a:xfrm>
            <a:off x="6467889" y="2707931"/>
            <a:ext cx="6375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组合性</a:t>
            </a:r>
          </a:p>
        </p:txBody>
      </p:sp>
    </p:spTree>
    <p:extLst>
      <p:ext uri="{BB962C8B-B14F-4D97-AF65-F5344CB8AC3E}">
        <p14:creationId xmlns:p14="http://schemas.microsoft.com/office/powerpoint/2010/main" val="152129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：大语言模型驱动的概念生成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3EC5E-672A-4B53-9124-EE79C3E73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8" y="1432258"/>
            <a:ext cx="5734050" cy="42005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43326AB-F836-4BE4-A62B-408F68144F91}"/>
              </a:ext>
            </a:extLst>
          </p:cNvPr>
          <p:cNvSpPr txBox="1"/>
          <p:nvPr/>
        </p:nvSpPr>
        <p:spPr>
          <a:xfrm>
            <a:off x="6467889" y="162033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判别性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88EB90-B6AD-49A9-A548-A9CE299383AC}"/>
              </a:ext>
            </a:extLst>
          </p:cNvPr>
          <p:cNvSpPr/>
          <p:nvPr/>
        </p:nvSpPr>
        <p:spPr>
          <a:xfrm>
            <a:off x="594090" y="2544416"/>
            <a:ext cx="5515728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247893-E7A3-416D-891E-2A0926BEE2F7}"/>
              </a:ext>
            </a:extLst>
          </p:cNvPr>
          <p:cNvSpPr/>
          <p:nvPr/>
        </p:nvSpPr>
        <p:spPr>
          <a:xfrm>
            <a:off x="2750550" y="3484327"/>
            <a:ext cx="3359268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A1EA63-D298-49E1-AD76-529CFFB86649}"/>
              </a:ext>
            </a:extLst>
          </p:cNvPr>
          <p:cNvSpPr txBox="1"/>
          <p:nvPr/>
        </p:nvSpPr>
        <p:spPr>
          <a:xfrm>
            <a:off x="6648229" y="2052952"/>
            <a:ext cx="4949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根据类名两两计算相似度，找到每个类别最难区分的</a:t>
            </a:r>
            <a:r>
              <a:rPr lang="en-US" altLang="zh-CN" dirty="0"/>
              <a:t>L</a:t>
            </a:r>
            <a:r>
              <a:rPr lang="zh-CN" altLang="en-US" dirty="0"/>
              <a:t>个类，利用</a:t>
            </a:r>
            <a:r>
              <a:rPr lang="en-US" altLang="zh-CN" dirty="0"/>
              <a:t>LLM</a:t>
            </a:r>
            <a:r>
              <a:rPr lang="zh-CN" altLang="en-US" dirty="0"/>
              <a:t>为每个类别生成相应的判别概念。</a:t>
            </a:r>
          </a:p>
        </p:txBody>
      </p:sp>
    </p:spTree>
    <p:extLst>
      <p:ext uri="{BB962C8B-B14F-4D97-AF65-F5344CB8AC3E}">
        <p14:creationId xmlns:p14="http://schemas.microsoft.com/office/powerpoint/2010/main" val="3394650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：大语言模型驱动的概念生成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3EC5E-672A-4B53-9124-EE79C3E73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8" y="1432258"/>
            <a:ext cx="5734050" cy="42005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43326AB-F836-4BE4-A62B-408F68144F91}"/>
              </a:ext>
            </a:extLst>
          </p:cNvPr>
          <p:cNvSpPr txBox="1"/>
          <p:nvPr/>
        </p:nvSpPr>
        <p:spPr>
          <a:xfrm>
            <a:off x="6467889" y="162033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组合性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88EB90-B6AD-49A9-A548-A9CE299383AC}"/>
              </a:ext>
            </a:extLst>
          </p:cNvPr>
          <p:cNvSpPr/>
          <p:nvPr/>
        </p:nvSpPr>
        <p:spPr>
          <a:xfrm>
            <a:off x="670290" y="4408193"/>
            <a:ext cx="2501535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247893-E7A3-416D-891E-2A0926BEE2F7}"/>
              </a:ext>
            </a:extLst>
          </p:cNvPr>
          <p:cNvSpPr/>
          <p:nvPr/>
        </p:nvSpPr>
        <p:spPr>
          <a:xfrm>
            <a:off x="664549" y="3479005"/>
            <a:ext cx="2135801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99F35B-3E9B-4739-9474-9ACA3398392A}"/>
              </a:ext>
            </a:extLst>
          </p:cNvPr>
          <p:cNvSpPr txBox="1"/>
          <p:nvPr/>
        </p:nvSpPr>
        <p:spPr>
          <a:xfrm>
            <a:off x="6462178" y="2056811"/>
            <a:ext cx="51334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单个原子概念可能太弱，因此可以把多个原子概念组合起来形成更强的复合概念。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concept 1</a:t>
            </a:r>
            <a:r>
              <a:rPr lang="zh-CN" altLang="en-US" dirty="0"/>
              <a:t>：</a:t>
            </a:r>
            <a:r>
              <a:rPr lang="en-US" altLang="zh-CN" dirty="0"/>
              <a:t>T-shaped flattened head </a:t>
            </a:r>
          </a:p>
          <a:p>
            <a:r>
              <a:rPr lang="en-US" altLang="zh-CN" dirty="0"/>
              <a:t>concept 2</a:t>
            </a:r>
            <a:r>
              <a:rPr lang="zh-CN" altLang="en-US" dirty="0"/>
              <a:t>：</a:t>
            </a:r>
            <a:r>
              <a:rPr lang="en-US" altLang="zh-CN" dirty="0"/>
              <a:t>wide-set eyes </a:t>
            </a:r>
          </a:p>
          <a:p>
            <a:r>
              <a:rPr lang="en-US" altLang="zh-CN" dirty="0"/>
              <a:t>concept 3</a:t>
            </a:r>
            <a:r>
              <a:rPr lang="zh-CN" altLang="en-US" dirty="0"/>
              <a:t>：</a:t>
            </a:r>
            <a:r>
              <a:rPr lang="en-US" altLang="zh-CN" dirty="0"/>
              <a:t>gray body</a:t>
            </a:r>
          </a:p>
          <a:p>
            <a:r>
              <a:rPr lang="zh-CN" altLang="en-US" dirty="0"/>
              <a:t>组合得到</a:t>
            </a:r>
            <a:endParaRPr lang="en-US" altLang="zh-CN" dirty="0"/>
          </a:p>
          <a:p>
            <a:r>
              <a:rPr lang="en-US" altLang="zh-CN" dirty="0"/>
              <a:t>T-shaped flattened head or wide-set eyes</a:t>
            </a:r>
          </a:p>
          <a:p>
            <a:r>
              <a:rPr lang="zh-CN" altLang="en-US" dirty="0"/>
              <a:t>这种复合概念比单个概念更丰富，也更鲁棒。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41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：大语言模型驱动的概念生成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3EC5E-672A-4B53-9124-EE79C3E73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8" y="1432258"/>
            <a:ext cx="5734050" cy="42005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43326AB-F836-4BE4-A62B-408F68144F91}"/>
              </a:ext>
            </a:extLst>
          </p:cNvPr>
          <p:cNvSpPr txBox="1"/>
          <p:nvPr/>
        </p:nvSpPr>
        <p:spPr>
          <a:xfrm>
            <a:off x="6467889" y="162033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组合性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88EB90-B6AD-49A9-A548-A9CE299383AC}"/>
              </a:ext>
            </a:extLst>
          </p:cNvPr>
          <p:cNvSpPr/>
          <p:nvPr/>
        </p:nvSpPr>
        <p:spPr>
          <a:xfrm>
            <a:off x="594090" y="4408193"/>
            <a:ext cx="2501535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247893-E7A3-416D-891E-2A0926BEE2F7}"/>
              </a:ext>
            </a:extLst>
          </p:cNvPr>
          <p:cNvSpPr/>
          <p:nvPr/>
        </p:nvSpPr>
        <p:spPr>
          <a:xfrm>
            <a:off x="588349" y="3479005"/>
            <a:ext cx="2135801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D2855E-D157-46C0-9529-94490BC82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237" y="1876662"/>
            <a:ext cx="2581275" cy="6286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037DCB-8C77-4A32-86DB-F0B372F82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551" y="2561303"/>
            <a:ext cx="1628775" cy="5429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70D7553-0796-4B7C-BBB1-47C688248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935" y="3152775"/>
            <a:ext cx="2533650" cy="5524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00F5E3C-2EDC-4F26-9A2E-AB9C053677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7633" y="4260250"/>
            <a:ext cx="3943350" cy="5048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E9FB3D7-8060-447B-8385-D376C3F7BC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4895" y="4831156"/>
            <a:ext cx="2028825" cy="4667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BE62487-2CD3-4DF7-B9B3-BE96D3BFB3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7154" y="5348977"/>
            <a:ext cx="2581275" cy="4572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91A15F6-B1B6-4DF2-B58A-7C4524D15F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551" y="3705225"/>
            <a:ext cx="1628775" cy="64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8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：大语言模型驱动的概念生成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3EC5E-672A-4B53-9124-EE79C3E73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8" y="1432258"/>
            <a:ext cx="5734050" cy="42005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43326AB-F836-4BE4-A62B-408F68144F91}"/>
              </a:ext>
            </a:extLst>
          </p:cNvPr>
          <p:cNvSpPr txBox="1"/>
          <p:nvPr/>
        </p:nvSpPr>
        <p:spPr>
          <a:xfrm>
            <a:off x="6467889" y="162033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多样性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88EB90-B6AD-49A9-A548-A9CE299383AC}"/>
              </a:ext>
            </a:extLst>
          </p:cNvPr>
          <p:cNvSpPr/>
          <p:nvPr/>
        </p:nvSpPr>
        <p:spPr>
          <a:xfrm>
            <a:off x="3966355" y="4413594"/>
            <a:ext cx="2034396" cy="9345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87D8E2-83EB-4D4E-86BC-CE6EB6959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909" y="2173919"/>
            <a:ext cx="2781300" cy="3238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D24F02-DADF-4A7E-91CB-FB618F3339CE}"/>
              </a:ext>
            </a:extLst>
          </p:cNvPr>
          <p:cNvSpPr txBox="1"/>
          <p:nvPr/>
        </p:nvSpPr>
        <p:spPr>
          <a:xfrm>
            <a:off x="6467889" y="2628900"/>
            <a:ext cx="4609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采用</a:t>
            </a:r>
            <a:r>
              <a:rPr lang="en-US" altLang="zh-CN" dirty="0" err="1"/>
              <a:t>dpp</a:t>
            </a:r>
            <a:r>
              <a:rPr lang="zh-CN" altLang="en-US" dirty="0"/>
              <a:t>算法来保证多样性，其原理候选概念中两两计算相似度，得到概念相似度矩阵。从概念相似度矩阵中找到一个行列式值最大的相似度子矩阵。</a:t>
            </a:r>
          </a:p>
        </p:txBody>
      </p:sp>
    </p:spTree>
    <p:extLst>
      <p:ext uri="{BB962C8B-B14F-4D97-AF65-F5344CB8AC3E}">
        <p14:creationId xmlns:p14="http://schemas.microsoft.com/office/powerpoint/2010/main" val="205076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94360" y="777240"/>
            <a:ext cx="10925175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500"/>
              </a:spcAft>
            </a:pPr>
            <a:r>
              <a:rPr lang="zh-CN" sz="2000" b="1" dirty="0"/>
              <a:t>模块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：基于自适应软截尾的似然函数</a:t>
            </a:r>
            <a:endParaRPr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45B93F-26ED-43DE-B8A3-CB9F6D41C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99" y="1293495"/>
            <a:ext cx="3305175" cy="4524375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E57DFB3-2C51-409B-84CB-89AA8607A668}"/>
              </a:ext>
            </a:extLst>
          </p:cNvPr>
          <p:cNvSpPr txBox="1"/>
          <p:nvPr/>
        </p:nvSpPr>
        <p:spPr>
          <a:xfrm>
            <a:off x="4284279" y="14844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先计算该类别下所有 </a:t>
            </a:r>
            <a:r>
              <a:rPr lang="en-US" altLang="zh-CN" dirty="0"/>
              <a:t>concept </a:t>
            </a:r>
            <a:r>
              <a:rPr lang="zh-CN" altLang="en-US" dirty="0"/>
              <a:t>相似度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70D7C36-28BA-4C7A-B681-B0B6D77A513D}"/>
              </a:ext>
            </a:extLst>
          </p:cNvPr>
          <p:cNvSpPr txBox="1"/>
          <p:nvPr/>
        </p:nvSpPr>
        <p:spPr>
          <a:xfrm>
            <a:off x="4284279" y="2344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计算中位数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9955D9-B24F-4162-86FD-7902AE4856A8}"/>
              </a:ext>
            </a:extLst>
          </p:cNvPr>
          <p:cNvSpPr txBox="1"/>
          <p:nvPr/>
        </p:nvSpPr>
        <p:spPr>
          <a:xfrm>
            <a:off x="4284279" y="32295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计算 </a:t>
            </a:r>
            <a:r>
              <a:rPr lang="en-US" altLang="zh-CN" dirty="0"/>
              <a:t>MAD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CCBD85-E5EF-4523-B06F-B7808996824D}"/>
              </a:ext>
            </a:extLst>
          </p:cNvPr>
          <p:cNvSpPr txBox="1"/>
          <p:nvPr/>
        </p:nvSpPr>
        <p:spPr>
          <a:xfrm>
            <a:off x="4284279" y="41663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判断每个 </a:t>
            </a:r>
            <a:r>
              <a:rPr lang="en-US" altLang="zh-CN" dirty="0"/>
              <a:t>concept </a:t>
            </a:r>
            <a:r>
              <a:rPr lang="zh-CN" altLang="en-US" dirty="0"/>
              <a:t>是否偏离整体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F3C9D14-F01E-4113-82C0-33FDFE9E5191}"/>
              </a:ext>
            </a:extLst>
          </p:cNvPr>
          <p:cNvSpPr txBox="1"/>
          <p:nvPr/>
        </p:nvSpPr>
        <p:spPr>
          <a:xfrm>
            <a:off x="4284279" y="50492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给 </a:t>
            </a:r>
            <a:r>
              <a:rPr lang="en-US" altLang="zh-CN" dirty="0"/>
              <a:t>concept </a:t>
            </a:r>
            <a:r>
              <a:rPr lang="zh-CN" altLang="en-US" dirty="0"/>
              <a:t>分配软权重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3487210-F9BA-4C00-913E-44DE659B4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753" y="1900397"/>
            <a:ext cx="2543175" cy="3714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E4F481B-2B01-41E3-ACB9-B1C043ED7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6913" y="2661798"/>
            <a:ext cx="1881188" cy="56524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AA1736E-1230-4CA9-B7BC-63AECD8072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8753" y="3673208"/>
            <a:ext cx="3038475" cy="42862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5ACDF36-50B2-4BEF-89AB-105E820D42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0690" y="4506685"/>
            <a:ext cx="2514600" cy="5715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FF2BAA7-B6FA-429E-9564-1A8750C6E5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0690" y="5373587"/>
            <a:ext cx="2647950" cy="1076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4678680"/>
            <a:ext cx="464947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4E14A75-97A2-46F5-A320-0B65123F8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490" y="4237574"/>
            <a:ext cx="5915025" cy="2114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D614A2-DBD0-4658-A26C-56B9617A6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" y="871125"/>
            <a:ext cx="12039600" cy="335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C34080-CBDC-4CEB-9506-543BF16AC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647" y="3544887"/>
            <a:ext cx="5772150" cy="25527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16AE64-E8B7-41BE-81A3-8A1F1AE9C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004" y="1047750"/>
            <a:ext cx="5743575" cy="23812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047D243-DC78-4433-9383-E6F47AFCD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555" y="1300161"/>
            <a:ext cx="57912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9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llYjZlY2E1NzI0NjExNzdhYjQ3NjY1NjVhMmIwOD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905</Words>
  <Application>Microsoft Office PowerPoint</Application>
  <PresentationFormat>宽屏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PingFang SC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Times New Roman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秦佳瑶</dc:creator>
  <cp:lastModifiedBy>xiong guo</cp:lastModifiedBy>
  <cp:revision>987</cp:revision>
  <dcterms:created xsi:type="dcterms:W3CDTF">2019-03-09T08:01:00Z</dcterms:created>
  <dcterms:modified xsi:type="dcterms:W3CDTF">2026-05-30T10:32:03Z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0C95BC188EFC487BA7C01F2F718226AD_13</vt:lpwstr>
  </property>
</Properties>
</file>