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361" r:id="rId5"/>
    <p:sldId id="306" r:id="rId6"/>
    <p:sldId id="365" r:id="rId7"/>
    <p:sldId id="308" r:id="rId8"/>
    <p:sldId id="359" r:id="rId9"/>
    <p:sldId id="307" r:id="rId10"/>
    <p:sldId id="362" r:id="rId11"/>
    <p:sldId id="374" r:id="rId12"/>
    <p:sldId id="373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4" userDrawn="1">
          <p15:clr>
            <a:srgbClr val="A4A3A4"/>
          </p15:clr>
        </p15:guide>
        <p15:guide id="2" pos="3895" userDrawn="1">
          <p15:clr>
            <a:srgbClr val="A4A3A4"/>
          </p15:clr>
        </p15:guide>
        <p15:guide id="3" pos="404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27499155" name="272km" initials="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B0FC"/>
    <a:srgbClr val="203864"/>
    <a:srgbClr val="D91515"/>
    <a:srgbClr val="EE0000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howGuides="1">
      <p:cViewPr varScale="1">
        <p:scale>
          <a:sx n="91" d="100"/>
          <a:sy n="91" d="100"/>
        </p:scale>
        <p:origin x="71" y="110"/>
      </p:cViewPr>
      <p:guideLst>
        <p:guide orient="horz" pos="2284"/>
        <p:guide pos="3895"/>
        <p:guide pos="4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endParaRPr lang="zh-CN" alt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F772-9AF6-740C-C72D-68F3A707B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075C78-4EF3-0EA3-6169-804168249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5F346-22E2-E908-9597-B8485B144EF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34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81583" y="162128"/>
            <a:ext cx="11815864" cy="6533744"/>
          </a:xfrm>
          <a:prstGeom prst="rect">
            <a:avLst/>
          </a:pr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5304817" y="1"/>
            <a:ext cx="1569396" cy="173152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5304817" y="6634265"/>
            <a:ext cx="1569396" cy="22373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10798227" y="5070856"/>
            <a:ext cx="1197659" cy="1389113"/>
            <a:chOff x="-1356283" y="1212273"/>
            <a:chExt cx="1599245" cy="1854896"/>
          </a:xfrm>
        </p:grpSpPr>
        <p:sp>
          <p:nvSpPr>
            <p:cNvPr id="28" name="等腰三角形 27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等腰三角形 33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94553" y="193560"/>
            <a:ext cx="2019597" cy="1884355"/>
            <a:chOff x="214742" y="270164"/>
            <a:chExt cx="2661150" cy="2482947"/>
          </a:xfrm>
        </p:grpSpPr>
        <p:grpSp>
          <p:nvGrpSpPr>
            <p:cNvPr id="38" name="组合 37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2" name="等腰三角形 41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等腰三角形 52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等腰三角形 38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等腰三角形 40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94341" y="5268976"/>
            <a:ext cx="1197659" cy="1389113"/>
            <a:chOff x="-1356283" y="1212273"/>
            <a:chExt cx="1599245" cy="1854896"/>
          </a:xfrm>
        </p:grpSpPr>
        <p:sp>
          <p:nvSpPr>
            <p:cNvPr id="25" name="等腰三角形 24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等腰三角形 31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直接连接符 33"/>
          <p:cNvCxnSpPr/>
          <p:nvPr userDrawn="1"/>
        </p:nvCxnSpPr>
        <p:spPr>
          <a:xfrm flipH="1">
            <a:off x="533400" y="6507480"/>
            <a:ext cx="10637520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  <a:t>‹#›</a:t>
            </a:fld>
            <a:endParaRPr lang="zh-CN" altLang="en-US" sz="160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-14298" y="155435"/>
            <a:ext cx="2957239" cy="2759208"/>
            <a:chOff x="214742" y="270164"/>
            <a:chExt cx="2661150" cy="2482947"/>
          </a:xfrm>
        </p:grpSpPr>
        <p:grpSp>
          <p:nvGrpSpPr>
            <p:cNvPr id="37" name="组合 36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41" name="等腰三角形 40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等腰三角形 41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等腰三角形 42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等腰三角形 45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等腰三角形 46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等腰三角形 48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等腰三角形 50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等腰三角形 51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等腰三角形 37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等腰三角形 39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64127" y="6507480"/>
            <a:ext cx="10706793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5"/>
          <p:cNvSpPr txBox="1"/>
          <p:nvPr userDrawn="1"/>
        </p:nvSpPr>
        <p:spPr>
          <a:xfrm>
            <a:off x="11217390" y="6324917"/>
            <a:ext cx="524423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015B73C-FE37-48BC-8A31-84F8B5A93988}" type="slidenum">
              <a:rPr lang="zh-CN" altLang="en-US" sz="1600" smtClean="0">
                <a:solidFill>
                  <a:schemeClr val="accent1">
                    <a:lumMod val="50000"/>
                  </a:schemeClr>
                </a:solidFill>
              </a:rPr>
              <a:t>‹#›</a:t>
            </a:fld>
            <a:endParaRPr lang="zh-CN" altLang="en-US" sz="160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1452916" y="5846548"/>
            <a:ext cx="739084" cy="971841"/>
            <a:chOff x="-1164737" y="1521462"/>
            <a:chExt cx="1407699" cy="1851021"/>
          </a:xfrm>
        </p:grpSpPr>
        <p:sp>
          <p:nvSpPr>
            <p:cNvPr id="9" name="等腰三角形 8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6200000" flipH="1">
              <a:off x="-340775" y="2796755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 flipH="1">
              <a:off x="-1192059" y="2894582"/>
              <a:ext cx="396178" cy="341533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0"/>
            <a:ext cx="3581400" cy="3341572"/>
            <a:chOff x="214742" y="270164"/>
            <a:chExt cx="2661150" cy="2482947"/>
          </a:xfrm>
        </p:grpSpPr>
        <p:grpSp>
          <p:nvGrpSpPr>
            <p:cNvPr id="6" name="组合 5"/>
            <p:cNvGrpSpPr/>
            <p:nvPr/>
          </p:nvGrpSpPr>
          <p:grpSpPr>
            <a:xfrm>
              <a:off x="214745" y="270164"/>
              <a:ext cx="2661147" cy="1854896"/>
              <a:chOff x="-531648" y="-111394"/>
              <a:chExt cx="4186764" cy="2918295"/>
            </a:xfrm>
          </p:grpSpPr>
          <p:sp>
            <p:nvSpPr>
              <p:cNvPr id="10" name="等腰三角形 9"/>
              <p:cNvSpPr/>
              <p:nvPr/>
            </p:nvSpPr>
            <p:spPr>
              <a:xfrm rot="5400000">
                <a:off x="239949" y="1415033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 rot="16200000" flipH="1">
                <a:off x="239950" y="928589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1078643" y="92859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等腰三角形 12"/>
              <p:cNvSpPr/>
              <p:nvPr/>
            </p:nvSpPr>
            <p:spPr>
              <a:xfrm rot="5400000">
                <a:off x="1078643" y="928591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 rot="16200000" flipH="1">
                <a:off x="1072343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6200000" flipH="1">
                <a:off x="1078643" y="442147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 rot="5400000">
                <a:off x="1910636" y="1414670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 rot="16200000" flipH="1">
                <a:off x="-598744" y="442146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 rot="5400000">
                <a:off x="1917335" y="435695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 rot="5400000">
                <a:off x="1075493" y="1901112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 rot="5400000">
                <a:off x="2749326" y="909958"/>
                <a:ext cx="972885" cy="838694"/>
              </a:xfrm>
              <a:prstGeom prst="triangle">
                <a:avLst/>
              </a:prstGeom>
              <a:solidFill>
                <a:srgbClr val="F0F4F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 rot="16200000" flipH="1">
                <a:off x="246647" y="-44298"/>
                <a:ext cx="972885" cy="838694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 userDrawn="1"/>
            </p:nvSpPr>
            <p:spPr>
              <a:xfrm rot="5400000">
                <a:off x="2749326" y="-43017"/>
                <a:ext cx="972885" cy="838693"/>
              </a:xfrm>
              <a:prstGeom prst="triangle">
                <a:avLst/>
              </a:prstGeom>
              <a:solidFill>
                <a:schemeClr val="accent1">
                  <a:lumMod val="20000"/>
                  <a:lumOff val="80000"/>
                  <a:alpha val="3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/>
            <p:cNvSpPr/>
            <p:nvPr/>
          </p:nvSpPr>
          <p:spPr>
            <a:xfrm rot="5400000">
              <a:off x="172095" y="2177383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 rot="5400000">
              <a:off x="175400" y="154909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/>
          </p:nvSpPr>
          <p:spPr>
            <a:xfrm rot="5400000">
              <a:off x="705178" y="1858288"/>
              <a:ext cx="618375" cy="533082"/>
            </a:xfrm>
            <a:prstGeom prst="triangle">
              <a:avLst/>
            </a:prstGeom>
            <a:solidFill>
              <a:srgbClr val="F0F4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11352349" y="5684214"/>
            <a:ext cx="839651" cy="973875"/>
            <a:chOff x="-1356283" y="1212273"/>
            <a:chExt cx="1599245" cy="1854896"/>
          </a:xfrm>
        </p:grpSpPr>
        <p:sp>
          <p:nvSpPr>
            <p:cNvPr id="23" name="等腰三角形 22"/>
            <p:cNvSpPr/>
            <p:nvPr/>
          </p:nvSpPr>
          <p:spPr>
            <a:xfrm rot="5400000">
              <a:off x="-865849" y="218248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 flipH="1">
              <a:off x="-865848" y="1873296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等腰三角形 24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332767" y="1873297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-336771" y="2182254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等腰三角形 27"/>
            <p:cNvSpPr/>
            <p:nvPr/>
          </p:nvSpPr>
          <p:spPr>
            <a:xfrm rot="16200000" flipH="1">
              <a:off x="-332767" y="1564109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等腰三角形 28"/>
            <p:cNvSpPr/>
            <p:nvPr/>
          </p:nvSpPr>
          <p:spPr>
            <a:xfrm rot="16200000" flipH="1">
              <a:off x="-1398930" y="1564108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-334769" y="2491441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/>
            <p:cNvSpPr/>
            <p:nvPr/>
          </p:nvSpPr>
          <p:spPr>
            <a:xfrm rot="16200000" flipH="1">
              <a:off x="-861591" y="1254920"/>
              <a:ext cx="618375" cy="533082"/>
            </a:xfrm>
            <a:prstGeom prst="triangle">
              <a:avLst/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/>
          <p:cNvPicPr/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8E6D3-EC10-435A-83A8-4CF3748666BF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5B73C-FE37-48BC-8A31-84F8B5A939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640421" y="3947364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89192" y="2071597"/>
            <a:ext cx="10613615" cy="16780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Font typeface="Wingdings" panose="05000000000000000000" charset="0"/>
            </a:pPr>
            <a:r>
              <a:rPr lang="zh-CN" altLang="zh-CN" sz="3200" b="1">
                <a:solidFill>
                  <a:schemeClr val="accent5">
                    <a:lumMod val="50000"/>
                  </a:schemeClr>
                </a:solidFill>
                <a:cs typeface="+mn-ea"/>
              </a:rPr>
              <a:t>MedReasoner: Reinforcement Learning Drives Reasoning Grounding from Clinical Thought to Pixel-Level Precision</a:t>
            </a:r>
            <a:endParaRPr lang="en-US" altLang="zh-CN" sz="3200" b="1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99540" y="4261584"/>
            <a:ext cx="8091771" cy="540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>
                <a:solidFill>
                  <a:schemeClr val="accent5">
                    <a:lumMod val="50000"/>
                  </a:schemeClr>
                </a:solidFill>
                <a:cs typeface="+mn-ea"/>
              </a:rPr>
              <a:t>AAAI-26</a:t>
            </a:r>
            <a:endParaRPr lang="zh-CN" altLang="en-US" sz="2400">
              <a:solidFill>
                <a:schemeClr val="accent5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2160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01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作者</a:t>
            </a:r>
          </a:p>
        </p:txBody>
      </p:sp>
      <p:pic>
        <p:nvPicPr>
          <p:cNvPr id="10" name="图片 9"/>
          <p:cNvPicPr/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C3C7FC2D-2C1C-B7F0-6D41-B8EF8CA2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86" y="895864"/>
            <a:ext cx="10747824" cy="5581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问题导入</a:t>
            </a:r>
          </a:p>
        </p:txBody>
      </p:sp>
      <p:pic>
        <p:nvPicPr>
          <p:cNvPr id="6" name="图片 5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90A36942-7B90-AD80-FBC5-B8DFA1143B6F}"/>
              </a:ext>
            </a:extLst>
          </p:cNvPr>
          <p:cNvSpPr txBox="1"/>
          <p:nvPr/>
        </p:nvSpPr>
        <p:spPr>
          <a:xfrm>
            <a:off x="591823" y="1050324"/>
            <a:ext cx="1115568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dirty="0">
                <a:solidFill>
                  <a:srgbClr val="2B2D31"/>
                </a:solidFill>
                <a:latin typeface="微软雅黑"/>
              </a:rPr>
              <a:t>• </a:t>
            </a:r>
            <a:r>
              <a:rPr sz="2000" b="0" dirty="0" err="1">
                <a:solidFill>
                  <a:srgbClr val="2B2D31"/>
                </a:solidFill>
                <a:latin typeface="微软雅黑"/>
              </a:rPr>
              <a:t>现有医学定位流水线靠</a:t>
            </a:r>
            <a:r>
              <a:rPr sz="2000" b="1" dirty="0" err="1">
                <a:solidFill>
                  <a:srgbClr val="C00000"/>
                </a:solidFill>
                <a:latin typeface="微软雅黑"/>
              </a:rPr>
              <a:t>全监督微调（SFT</a:t>
            </a:r>
            <a:r>
              <a:rPr sz="2000" b="1" dirty="0">
                <a:solidFill>
                  <a:srgbClr val="C00000"/>
                </a:solidFill>
                <a:latin typeface="微软雅黑"/>
              </a:rPr>
              <a:t>）</a:t>
            </a:r>
            <a:r>
              <a:rPr sz="2000" b="0" dirty="0">
                <a:solidFill>
                  <a:srgbClr val="2B2D31"/>
                </a:solidFill>
                <a:latin typeface="微软雅黑"/>
              </a:rPr>
              <a:t> + </a:t>
            </a:r>
            <a:r>
              <a:rPr sz="2000" b="0" dirty="0" err="1">
                <a:solidFill>
                  <a:srgbClr val="2B2D31"/>
                </a:solidFill>
                <a:latin typeface="微软雅黑"/>
              </a:rPr>
              <a:t>显式空间提示（如“分割左肺</a:t>
            </a:r>
            <a:r>
              <a:rPr sz="2000" b="0" dirty="0">
                <a:solidFill>
                  <a:srgbClr val="2B2D31"/>
                </a:solidFill>
                <a:latin typeface="微软雅黑"/>
              </a:rPr>
              <a:t>”）：</a:t>
            </a:r>
          </a:p>
          <a:p>
            <a:pPr lvl="1">
              <a:spcAft>
                <a:spcPts val="600"/>
              </a:spcAft>
            </a:pPr>
            <a:r>
              <a:rPr sz="1800" b="0" dirty="0">
                <a:solidFill>
                  <a:srgbClr val="2B2D31"/>
                </a:solidFill>
                <a:latin typeface="微软雅黑"/>
              </a:rPr>
              <a:t>– </a:t>
            </a:r>
            <a:r>
              <a:rPr sz="1800" b="0" dirty="0" err="1">
                <a:solidFill>
                  <a:srgbClr val="2B2D31"/>
                </a:solidFill>
                <a:latin typeface="微软雅黑"/>
              </a:rPr>
              <a:t>标注成本极高，且与真实临床提问方式</a:t>
            </a:r>
            <a:r>
              <a:rPr dirty="0" err="1">
                <a:solidFill>
                  <a:srgbClr val="2B2D31"/>
                </a:solidFill>
                <a:latin typeface="微软雅黑"/>
              </a:rPr>
              <a:t>严重脱节</a:t>
            </a:r>
            <a:r>
              <a:rPr sz="1800" b="0" dirty="0">
                <a:solidFill>
                  <a:srgbClr val="2B2D31"/>
                </a:solidFill>
                <a:latin typeface="微软雅黑"/>
              </a:rPr>
              <a:t>；</a:t>
            </a:r>
          </a:p>
          <a:p>
            <a:pPr lvl="1">
              <a:spcAft>
                <a:spcPts val="600"/>
              </a:spcAft>
            </a:pPr>
            <a:r>
              <a:rPr sz="1800" b="0" dirty="0">
                <a:solidFill>
                  <a:srgbClr val="2B2D31"/>
                </a:solidFill>
                <a:latin typeface="微软雅黑"/>
              </a:rPr>
              <a:t>– </a:t>
            </a:r>
            <a:r>
              <a:rPr sz="1800" b="0" dirty="0" err="1">
                <a:solidFill>
                  <a:srgbClr val="2B2D31"/>
                </a:solidFill>
                <a:latin typeface="微软雅黑"/>
              </a:rPr>
              <a:t>模型容易“复述”显式短语，缺乏真正的推理能力</a:t>
            </a:r>
            <a:r>
              <a:rPr sz="1800" b="0" dirty="0">
                <a:solidFill>
                  <a:srgbClr val="2B2D31"/>
                </a:solidFill>
                <a:latin typeface="微软雅黑"/>
              </a:rPr>
              <a:t>。</a:t>
            </a: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2B2D31"/>
                </a:solidFill>
                <a:latin typeface="微软雅黑"/>
              </a:rPr>
              <a:t>• </a:t>
            </a:r>
            <a:r>
              <a:rPr sz="2000" b="0" dirty="0" err="1">
                <a:solidFill>
                  <a:srgbClr val="2B2D31"/>
                </a:solidFill>
                <a:latin typeface="微软雅黑"/>
              </a:rPr>
              <a:t>临床提问往往是隐式的：例如“左侧那道细长、带分支的影子能看出什么</a:t>
            </a:r>
            <a:r>
              <a:rPr sz="2000" b="0" dirty="0">
                <a:solidFill>
                  <a:srgbClr val="2B2D31"/>
                </a:solidFill>
                <a:latin typeface="微软雅黑"/>
              </a:rPr>
              <a:t>？”——</a:t>
            </a:r>
            <a:r>
              <a:rPr sz="2000" b="0" dirty="0" err="1">
                <a:solidFill>
                  <a:srgbClr val="2B2D31"/>
                </a:solidFill>
                <a:latin typeface="微软雅黑"/>
              </a:rPr>
              <a:t>没有直接点名目标</a:t>
            </a:r>
            <a:r>
              <a:rPr sz="2000" b="0" dirty="0">
                <a:solidFill>
                  <a:srgbClr val="2B2D31"/>
                </a:solidFill>
                <a:latin typeface="微软雅黑"/>
              </a:rPr>
              <a:t>。</a:t>
            </a:r>
          </a:p>
          <a:p>
            <a:pPr>
              <a:spcAft>
                <a:spcPts val="600"/>
              </a:spcAft>
            </a:pPr>
            <a:r>
              <a:rPr sz="2000" b="0" dirty="0">
                <a:solidFill>
                  <a:srgbClr val="2B2D31"/>
                </a:solidFill>
                <a:latin typeface="微软雅黑"/>
              </a:rPr>
              <a:t>• </a:t>
            </a:r>
            <a:r>
              <a:rPr sz="2000" b="0" dirty="0" err="1">
                <a:solidFill>
                  <a:srgbClr val="2B2D31"/>
                </a:solidFill>
                <a:latin typeface="微软雅黑"/>
              </a:rPr>
              <a:t>很多模型能</a:t>
            </a:r>
            <a:r>
              <a:rPr sz="2000" dirty="0" err="1">
                <a:solidFill>
                  <a:srgbClr val="2B2D31"/>
                </a:solidFill>
                <a:latin typeface="微软雅黑"/>
              </a:rPr>
              <a:t>说出解剖结构的名字</a:t>
            </a:r>
            <a:r>
              <a:rPr sz="2000" err="1">
                <a:solidFill>
                  <a:srgbClr val="2B2D31"/>
                </a:solidFill>
                <a:latin typeface="微软雅黑"/>
              </a:rPr>
              <a:t>，</a:t>
            </a:r>
            <a:r>
              <a:rPr sz="2000">
                <a:solidFill>
                  <a:srgbClr val="2B2D31"/>
                </a:solidFill>
                <a:latin typeface="微软雅黑"/>
              </a:rPr>
              <a:t>却无法把它</a:t>
            </a:r>
            <a:r>
              <a:rPr sz="2000" b="1">
                <a:solidFill>
                  <a:srgbClr val="C00000"/>
                </a:solidFill>
                <a:latin typeface="微软雅黑"/>
              </a:rPr>
              <a:t>定位</a:t>
            </a:r>
            <a:r>
              <a:rPr sz="2000" b="0">
                <a:solidFill>
                  <a:srgbClr val="2B2D31"/>
                </a:solidFill>
                <a:latin typeface="微软雅黑"/>
              </a:rPr>
              <a:t>到图像区域</a:t>
            </a:r>
            <a:r>
              <a:rPr sz="2000" b="0" dirty="0">
                <a:solidFill>
                  <a:srgbClr val="2B2D31"/>
                </a:solidFill>
                <a:latin typeface="微软雅黑"/>
              </a:rPr>
              <a:t>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15D3B60-ABBA-911E-1405-1ED2BE9227E4}"/>
              </a:ext>
            </a:extLst>
          </p:cNvPr>
          <p:cNvSpPr txBox="1"/>
          <p:nvPr/>
        </p:nvSpPr>
        <p:spPr>
          <a:xfrm>
            <a:off x="609786" y="3848269"/>
            <a:ext cx="6094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Q1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：如何构造既贴近医生隐式提问、又带像素级标注的训练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/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评测数据？</a:t>
            </a:r>
          </a:p>
          <a:p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Q2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：如何在没有手工空间提示的情况下，让模型理解隐式查询并精准定位？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>
            <p:custDataLst>
              <p:tags r:id="rId1"/>
            </p:custDataLst>
          </p:nvPr>
        </p:nvSpPr>
        <p:spPr>
          <a:xfrm>
            <a:off x="1006955" y="331594"/>
            <a:ext cx="182562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02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问题导入</a:t>
            </a:r>
          </a:p>
        </p:txBody>
      </p:sp>
      <p:pic>
        <p:nvPicPr>
          <p:cNvPr id="6" name="图片 5"/>
          <p:cNvPicPr/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3194856" y="779926"/>
            <a:ext cx="5538470" cy="5353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针对以上问题给出本文解决方案</a:t>
            </a:r>
          </a:p>
        </p:txBody>
      </p:sp>
      <p:sp>
        <p:nvSpPr>
          <p:cNvPr id="20" name="上箭头 1"/>
          <p:cNvSpPr/>
          <p:nvPr/>
        </p:nvSpPr>
        <p:spPr>
          <a:xfrm flipV="1">
            <a:off x="5743574" y="1315231"/>
            <a:ext cx="352426" cy="53530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D5EAE054-B4E1-0585-9C78-BD2F0D4CCC58}"/>
              </a:ext>
            </a:extLst>
          </p:cNvPr>
          <p:cNvSpPr/>
          <p:nvPr/>
        </p:nvSpPr>
        <p:spPr>
          <a:xfrm>
            <a:off x="2113005" y="1916965"/>
            <a:ext cx="8180173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E8A5841-76BA-D827-6FDB-A0431B85F5F4}"/>
              </a:ext>
            </a:extLst>
          </p:cNvPr>
          <p:cNvSpPr txBox="1"/>
          <p:nvPr/>
        </p:nvSpPr>
        <p:spPr>
          <a:xfrm>
            <a:off x="2307417" y="2034975"/>
            <a:ext cx="7930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>
                <a:solidFill>
                  <a:srgbClr val="4472C4"/>
                </a:solidFill>
                <a:latin typeface="微软雅黑"/>
              </a:rPr>
              <a:t>定义 </a:t>
            </a:r>
            <a:r>
              <a:rPr lang="en-US" altLang="zh-CN" b="1">
                <a:solidFill>
                  <a:srgbClr val="4472C4"/>
                </a:solidFill>
                <a:latin typeface="微软雅黑"/>
              </a:rPr>
              <a:t>UMRG </a:t>
            </a:r>
            <a:r>
              <a:rPr lang="zh-CN" altLang="en-US" b="1">
                <a:solidFill>
                  <a:srgbClr val="4472C4"/>
                </a:solidFill>
                <a:latin typeface="微软雅黑"/>
              </a:rPr>
              <a:t>任务：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统一医学推理定位：解释隐式查询 → 结合视觉线索与解剖先验推理 → 生成像素级定位，三步对应医生“看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想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画”。</a:t>
            </a:r>
          </a:p>
          <a:p>
            <a:endParaRPr lang="zh-CN" altLang="en-US">
              <a:cs typeface="+mn-ea"/>
            </a:endParaRPr>
          </a:p>
        </p:txBody>
      </p:sp>
      <p:sp>
        <p:nvSpPr>
          <p:cNvPr id="5" name="流程图: 可选过程 4">
            <a:extLst>
              <a:ext uri="{FF2B5EF4-FFF2-40B4-BE49-F238E27FC236}">
                <a16:creationId xmlns:a16="http://schemas.microsoft.com/office/drawing/2014/main" id="{151D08FE-FFE2-EDB7-CFEE-66CD4CC58482}"/>
              </a:ext>
            </a:extLst>
          </p:cNvPr>
          <p:cNvSpPr/>
          <p:nvPr/>
        </p:nvSpPr>
        <p:spPr>
          <a:xfrm>
            <a:off x="2113005" y="3324019"/>
            <a:ext cx="8180173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3432B6-31BC-5685-D83E-AFF4FC458966}"/>
              </a:ext>
            </a:extLst>
          </p:cNvPr>
          <p:cNvSpPr txBox="1"/>
          <p:nvPr/>
        </p:nvSpPr>
        <p:spPr>
          <a:xfrm>
            <a:off x="2307417" y="3442029"/>
            <a:ext cx="7930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>
                <a:solidFill>
                  <a:srgbClr val="4472C4"/>
                </a:solidFill>
                <a:latin typeface="微软雅黑"/>
              </a:rPr>
              <a:t> 发布 </a:t>
            </a:r>
            <a:r>
              <a:rPr lang="en-US" altLang="zh-CN" b="1">
                <a:solidFill>
                  <a:srgbClr val="4472C4"/>
                </a:solidFill>
                <a:latin typeface="微软雅黑"/>
              </a:rPr>
              <a:t>U-MRG-14K </a:t>
            </a:r>
            <a:r>
              <a:rPr lang="zh-CN" altLang="en-US" b="1">
                <a:solidFill>
                  <a:srgbClr val="4472C4"/>
                </a:solidFill>
                <a:latin typeface="微软雅黑"/>
              </a:rPr>
              <a:t>数据集：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14K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样本，含像素级掩码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+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隐式临床查询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+ CoT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推理链；覆盖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10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种模态、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15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个大类、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108 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2B2D31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个细类。</a:t>
            </a:r>
          </a:p>
          <a:p>
            <a:endParaRPr lang="zh-CN" altLang="en-US">
              <a:cs typeface="+mn-ea"/>
            </a:endParaRPr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944EFF33-10DB-AB84-98BB-C678F4A98C30}"/>
              </a:ext>
            </a:extLst>
          </p:cNvPr>
          <p:cNvSpPr/>
          <p:nvPr/>
        </p:nvSpPr>
        <p:spPr>
          <a:xfrm>
            <a:off x="2113005" y="4731073"/>
            <a:ext cx="8180173" cy="92333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0AF836-C48A-3D10-7F39-6F1D0E98C18E}"/>
              </a:ext>
            </a:extLst>
          </p:cNvPr>
          <p:cNvSpPr txBox="1"/>
          <p:nvPr/>
        </p:nvSpPr>
        <p:spPr>
          <a:xfrm>
            <a:off x="2307417" y="4849083"/>
            <a:ext cx="7930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400"/>
              </a:spcBef>
            </a:pPr>
            <a:r>
              <a:rPr lang="zh-CN" altLang="en-US" b="1">
                <a:solidFill>
                  <a:srgbClr val="4472C4"/>
                </a:solidFill>
                <a:latin typeface="微软雅黑"/>
              </a:rPr>
              <a:t>提出 </a:t>
            </a:r>
            <a:r>
              <a:rPr lang="en-US" altLang="zh-CN" b="1">
                <a:solidFill>
                  <a:srgbClr val="4472C4"/>
                </a:solidFill>
                <a:latin typeface="微软雅黑"/>
              </a:rPr>
              <a:t>MedReasoner </a:t>
            </a:r>
            <a:r>
              <a:rPr lang="zh-CN" altLang="en-US" b="1">
                <a:solidFill>
                  <a:srgbClr val="4472C4"/>
                </a:solidFill>
                <a:latin typeface="微软雅黑"/>
              </a:rPr>
              <a:t>框架：</a:t>
            </a:r>
            <a:r>
              <a:rPr lang="zh-CN" altLang="en-US">
                <a:solidFill>
                  <a:srgbClr val="2B2D31"/>
                </a:solidFill>
                <a:latin typeface="微软雅黑"/>
              </a:rPr>
              <a:t>推理与分割解耦：</a:t>
            </a:r>
            <a:r>
              <a:rPr lang="en-US" altLang="zh-CN">
                <a:solidFill>
                  <a:srgbClr val="2B2D31"/>
                </a:solidFill>
                <a:latin typeface="微软雅黑"/>
              </a:rPr>
              <a:t>MLLM </a:t>
            </a:r>
            <a:r>
              <a:rPr lang="zh-CN" altLang="en-US">
                <a:solidFill>
                  <a:srgbClr val="2B2D31"/>
                </a:solidFill>
                <a:latin typeface="微软雅黑"/>
              </a:rPr>
              <a:t>推理器用强化学习优化，冻结的分割专家把空间提示转成掩码。</a:t>
            </a:r>
          </a:p>
          <a:p>
            <a:endParaRPr lang="zh-CN" altLang="en-US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4105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03 U-MRG-14K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数据集构建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CE0E2AE-912B-7EB4-B3CE-E155FD4FB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021" y="864973"/>
            <a:ext cx="8661721" cy="33163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359CACC-C4F3-3B66-D6D4-BD2E3A9D6B97}"/>
              </a:ext>
            </a:extLst>
          </p:cNvPr>
          <p:cNvSpPr txBox="1"/>
          <p:nvPr/>
        </p:nvSpPr>
        <p:spPr>
          <a:xfrm>
            <a:off x="1113434" y="4507792"/>
            <a:ext cx="1028111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• Stage1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数据清洗：从 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SA-Med2D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、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BiomedParse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、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IMIS-Bench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汇集 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14K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图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-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掩码对，统一分类体系。</a:t>
            </a:r>
          </a:p>
          <a:p>
            <a:pPr>
              <a:spcAft>
                <a:spcPts val="600"/>
              </a:spcAft>
            </a:pP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• Stage2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描述与 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QA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模板：用 </a:t>
            </a:r>
            <a:r>
              <a:rPr lang="en-US" altLang="zh-CN" sz="1800" b="1">
                <a:solidFill>
                  <a:srgbClr val="C00000"/>
                </a:solidFill>
                <a:latin typeface="微软雅黑"/>
              </a:rPr>
              <a:t>GPT-4o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 生成短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/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长描述，并为每个大类设计约 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20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个隐式提问模板。</a:t>
            </a:r>
          </a:p>
          <a:p>
            <a:pPr>
              <a:spcAft>
                <a:spcPts val="600"/>
              </a:spcAft>
            </a:pP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• Stage3 QA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合成 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+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人工筛选：逐样本生成含 </a:t>
            </a:r>
            <a:r>
              <a:rPr lang="en-US" altLang="zh-CN" sz="1800" b="0">
                <a:solidFill>
                  <a:srgbClr val="2B2D31"/>
                </a:solidFill>
                <a:latin typeface="微软雅黑"/>
              </a:rPr>
              <a:t>CoT </a:t>
            </a:r>
            <a:r>
              <a:rPr lang="zh-CN" altLang="en-US" sz="1800" b="0">
                <a:solidFill>
                  <a:srgbClr val="2B2D31"/>
                </a:solidFill>
                <a:latin typeface="微软雅黑"/>
              </a:rPr>
              <a:t>推理链的问答，人工剔除事实错误与错位推理。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4463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04 MedReasoner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框架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2A9661A-F2A4-7DD1-B23E-F51C43E73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321" y="884237"/>
            <a:ext cx="8057697" cy="3636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A46BCA-19C7-86EC-0652-44401FCDEDA2}"/>
              </a:ext>
            </a:extLst>
          </p:cNvPr>
          <p:cNvSpPr txBox="1"/>
          <p:nvPr/>
        </p:nvSpPr>
        <p:spPr>
          <a:xfrm>
            <a:off x="424499" y="4624647"/>
            <a:ext cx="1115568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</a:t>
            </a:r>
            <a:r>
              <a:rPr sz="1700" b="1">
                <a:solidFill>
                  <a:srgbClr val="C00000"/>
                </a:solidFill>
                <a:latin typeface="微软雅黑"/>
              </a:rPr>
              <a:t>CRM 临床推理模块</a:t>
            </a:r>
            <a:r>
              <a:rPr sz="1700" b="0">
                <a:solidFill>
                  <a:srgbClr val="2B2D31"/>
                </a:solidFill>
                <a:latin typeface="微软雅黑"/>
              </a:rPr>
              <a:t>（可训练 MLLM，</a:t>
            </a:r>
            <a:r>
              <a:rPr lang="zh-CN" altLang="en-US" sz="1700">
                <a:solidFill>
                  <a:srgbClr val="2B2D31"/>
                </a:solidFill>
                <a:latin typeface="微软雅黑"/>
              </a:rPr>
              <a:t>论文</a:t>
            </a:r>
            <a:r>
              <a:rPr sz="1700" b="0">
                <a:solidFill>
                  <a:srgbClr val="2B2D31"/>
                </a:solidFill>
                <a:latin typeface="微软雅黑"/>
              </a:rPr>
              <a:t>默认 Lingshu-7B）：输入图像+隐式查询，输出 &lt;think&gt; 推理链 + &lt;answer&gt; 空间提示（一个边界框 + 两个关键点）。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</a:t>
            </a:r>
            <a:r>
              <a:rPr sz="1700" b="1">
                <a:solidFill>
                  <a:srgbClr val="C00000"/>
                </a:solidFill>
                <a:latin typeface="微软雅黑"/>
              </a:rPr>
              <a:t>ASM 解剖分割模块</a:t>
            </a:r>
            <a:r>
              <a:rPr sz="1700" b="0">
                <a:solidFill>
                  <a:srgbClr val="2B2D31"/>
                </a:solidFill>
                <a:latin typeface="微软雅黑"/>
              </a:rPr>
              <a:t>（冻结 MedSAM2）：把粗粒度空间提示转成高分辨率掩码，零样本、无需微调。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解耦好处：两模块只交换极简几何信息，可</a:t>
            </a:r>
            <a:r>
              <a:rPr sz="1700" b="1">
                <a:solidFill>
                  <a:srgbClr val="C00000"/>
                </a:solidFill>
                <a:latin typeface="微软雅黑"/>
              </a:rPr>
              <a:t>独立升级</a:t>
            </a:r>
            <a:r>
              <a:rPr sz="1700" b="0">
                <a:solidFill>
                  <a:srgbClr val="2B2D31"/>
                </a:solidFill>
                <a:latin typeface="微软雅黑"/>
              </a:rPr>
              <a:t>；用 GRPO 只训练 CRM，避免短语过拟合。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24593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05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奖励函数设计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03BDDA-4C74-DA8E-1B0E-0A1C5FAF2640}"/>
              </a:ext>
            </a:extLst>
          </p:cNvPr>
          <p:cNvSpPr/>
          <p:nvPr/>
        </p:nvSpPr>
        <p:spPr>
          <a:xfrm>
            <a:off x="702160" y="1124465"/>
            <a:ext cx="5871635" cy="1569308"/>
          </a:xfrm>
          <a:prstGeom prst="rect">
            <a:avLst/>
          </a:prstGeom>
          <a:solidFill>
            <a:srgbClr val="F7F9FD"/>
          </a:solidFill>
          <a:ln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>
              <a:spcBef>
                <a:spcPts val="800"/>
              </a:spcBef>
            </a:pPr>
            <a:r>
              <a:rPr lang="zh-CN" altLang="en-US" b="1">
                <a:solidFill>
                  <a:srgbClr val="4472C4"/>
                </a:solidFill>
                <a:latin typeface="微软雅黑"/>
              </a:rPr>
              <a:t>格式奖励</a:t>
            </a:r>
            <a:endParaRPr lang="en-US" b="1">
              <a:solidFill>
                <a:srgbClr val="4472C4"/>
              </a:solidFill>
              <a:latin typeface="微软雅黑"/>
            </a:endParaRP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是否输出规范的 &lt;think&gt; 块。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en-US" sz="1700" b="0">
                <a:solidFill>
                  <a:srgbClr val="2B2D31"/>
                </a:solidFill>
                <a:latin typeface="微软雅黑"/>
              </a:rPr>
              <a:t>&lt;</a:t>
            </a:r>
            <a:r>
              <a:rPr sz="1700" b="0">
                <a:solidFill>
                  <a:srgbClr val="2B2D31"/>
                </a:solidFill>
                <a:latin typeface="微软雅黑"/>
              </a:rPr>
              <a:t>answer&gt; 是否为含 bbox/point1/point2 的合法 JSON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只考结构完整性，取值 [0,1]。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83975BF-2979-9C4C-6515-64FD7FC3EF65}"/>
              </a:ext>
            </a:extLst>
          </p:cNvPr>
          <p:cNvSpPr/>
          <p:nvPr/>
        </p:nvSpPr>
        <p:spPr>
          <a:xfrm>
            <a:off x="702160" y="2870474"/>
            <a:ext cx="5871635" cy="1458098"/>
          </a:xfrm>
          <a:prstGeom prst="rect">
            <a:avLst/>
          </a:prstGeom>
          <a:solidFill>
            <a:srgbClr val="F7F9FD"/>
          </a:solidFill>
          <a:ln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>
              <a:spcBef>
                <a:spcPts val="800"/>
              </a:spcBef>
            </a:pPr>
            <a:r>
              <a:rPr lang="zh-CN" altLang="en-US" b="1">
                <a:solidFill>
                  <a:srgbClr val="4472C4"/>
                </a:solidFill>
                <a:latin typeface="微软雅黑"/>
              </a:rPr>
              <a:t>边界框奖励</a:t>
            </a:r>
            <a:endParaRPr lang="en-US" b="1">
              <a:solidFill>
                <a:srgbClr val="4472C4"/>
              </a:solidFill>
              <a:latin typeface="微软雅黑"/>
            </a:endParaRP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IoU：预测框与真值框重叠。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Alignment：四角点 L1 距离（按对角线归一）。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Scale：面积与长宽比的对数差。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A28123A-0B56-CD61-6E5A-C585C44A2DDF}"/>
              </a:ext>
            </a:extLst>
          </p:cNvPr>
          <p:cNvSpPr/>
          <p:nvPr/>
        </p:nvSpPr>
        <p:spPr>
          <a:xfrm>
            <a:off x="702160" y="4616484"/>
            <a:ext cx="5871635" cy="1458098"/>
          </a:xfrm>
          <a:prstGeom prst="rect">
            <a:avLst/>
          </a:prstGeom>
          <a:solidFill>
            <a:srgbClr val="F7F9FD"/>
          </a:solidFill>
          <a:ln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>
              <a:spcBef>
                <a:spcPts val="800"/>
              </a:spcBef>
            </a:pPr>
            <a:r>
              <a:rPr lang="zh-CN" altLang="en-US" b="1">
                <a:solidFill>
                  <a:srgbClr val="4472C4"/>
                </a:solidFill>
                <a:latin typeface="微软雅黑"/>
              </a:rPr>
              <a:t>关键点奖励</a:t>
            </a:r>
            <a:endParaRPr lang="en-US" b="1">
              <a:solidFill>
                <a:srgbClr val="4472C4"/>
              </a:solidFill>
              <a:latin typeface="微软雅黑"/>
            </a:endParaRP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pDice：以两点对为直径的圆重叠度。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Alignment：对应点平均绝对误差。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Angle：方向向量余弦相似度。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4D308D-A739-6171-7262-F72709E41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900" y="1013124"/>
            <a:ext cx="3153215" cy="5172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6904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06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实验部分（对比试验）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EB5323D-3267-BBC1-1C10-E1E194C36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501" y="988540"/>
            <a:ext cx="8612200" cy="4880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36904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</a:rPr>
              <a:t>07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</a:rPr>
              <a:t>实验部分（消融实验）</a:t>
            </a: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F425D08-0ADC-FDB4-EF72-4BC904FF3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32" y="1247429"/>
            <a:ext cx="4894577" cy="26195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95A4542-0324-7916-2D11-AC717A200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2" y="1247429"/>
            <a:ext cx="5072448" cy="2619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/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/>
          <p:cNvSpPr/>
          <p:nvPr/>
        </p:nvSpPr>
        <p:spPr>
          <a:xfrm>
            <a:off x="1006955" y="331594"/>
            <a:ext cx="18437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08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定性实验</a:t>
            </a:r>
            <a:endParaRPr lang="zh-CN" altLang="en-US" sz="24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DBA244E3-5175-E823-AD19-00FAC564E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56" y="793259"/>
            <a:ext cx="10015151" cy="31823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6FB5C9-1775-B9CF-3DD3-EC2D49A5A7D2}"/>
              </a:ext>
            </a:extLst>
          </p:cNvPr>
          <p:cNvSpPr txBox="1"/>
          <p:nvPr/>
        </p:nvSpPr>
        <p:spPr>
          <a:xfrm>
            <a:off x="878656" y="4373056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GPT-4o：CoT 连贯但框错位、坐标粗糙 → 细粒度定位弱。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Qwen2.5VL-7B：推理阶段就跑偏，框与目标无关；Lingshu-7B：认对左肺却框偏。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2B2D31"/>
                </a:solidFill>
                <a:latin typeface="微软雅黑"/>
              </a:rPr>
              <a:t>• </a:t>
            </a:r>
            <a:r>
              <a:rPr sz="1700" b="1">
                <a:solidFill>
                  <a:srgbClr val="C00000"/>
                </a:solidFill>
                <a:latin typeface="微软雅黑"/>
              </a:rPr>
              <a:t>只有 MedReasoner-7B</a:t>
            </a:r>
            <a:r>
              <a:rPr sz="1700" b="0">
                <a:solidFill>
                  <a:srgbClr val="2B2D31"/>
                </a:solidFill>
                <a:latin typeface="微软雅黑"/>
              </a:rPr>
              <a:t> 精准锁定左肺支气管树，框紧、关键点对齐——验证显式 RL 定位的必要性。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4742A-7BDE-1984-CC66-3671C163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21EE66D0-109C-0435-D5DE-F69B8AB68449}"/>
              </a:ext>
            </a:extLst>
          </p:cNvPr>
          <p:cNvGrpSpPr/>
          <p:nvPr/>
        </p:nvGrpSpPr>
        <p:grpSpPr>
          <a:xfrm>
            <a:off x="481488" y="468038"/>
            <a:ext cx="397168" cy="311888"/>
            <a:chOff x="377024" y="308837"/>
            <a:chExt cx="463343" cy="363854"/>
          </a:xfrm>
        </p:grpSpPr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FA389A50-D510-7139-034A-F94EB1AC6BEA}"/>
                </a:ext>
              </a:extLst>
            </p:cNvPr>
            <p:cNvSpPr/>
            <p:nvPr/>
          </p:nvSpPr>
          <p:spPr>
            <a:xfrm rot="5400000">
              <a:off x="501606" y="333930"/>
              <a:ext cx="363854" cy="313668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6C804DF2-3EBF-BBEC-1CB3-6FDED42C18A6}"/>
                </a:ext>
              </a:extLst>
            </p:cNvPr>
            <p:cNvSpPr/>
            <p:nvPr/>
          </p:nvSpPr>
          <p:spPr>
            <a:xfrm rot="5400000">
              <a:off x="356429" y="362045"/>
              <a:ext cx="298630" cy="257440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D48C01E6-18A7-3F56-2C70-C7A7A0032C13}"/>
              </a:ext>
            </a:extLst>
          </p:cNvPr>
          <p:cNvSpPr/>
          <p:nvPr/>
        </p:nvSpPr>
        <p:spPr>
          <a:xfrm>
            <a:off x="1006955" y="331594"/>
            <a:ext cx="1228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09 </a:t>
            </a:r>
            <a:r>
              <a:rPr lang="zh-CN" altLang="en-US" sz="2400" b="1">
                <a:solidFill>
                  <a:schemeClr val="accent1">
                    <a:lumMod val="50000"/>
                  </a:schemeClr>
                </a:solidFill>
                <a:sym typeface="+mn-ea"/>
              </a:rPr>
              <a:t>总结</a:t>
            </a:r>
            <a:endParaRPr lang="zh-CN" altLang="en-US" sz="24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8C8DC4D-4695-87E0-455F-5753EC5DFD38}"/>
              </a:ext>
            </a:extLst>
          </p:cNvPr>
          <p:cNvPicPr/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20172" b="24603"/>
          <a:stretch>
            <a:fillRect/>
          </a:stretch>
        </p:blipFill>
        <p:spPr>
          <a:xfrm>
            <a:off x="10120630" y="193675"/>
            <a:ext cx="1754505" cy="5302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00988F8-7ECB-63AC-A914-F19C877014A9}"/>
              </a:ext>
            </a:extLst>
          </p:cNvPr>
          <p:cNvSpPr txBox="1"/>
          <p:nvPr/>
        </p:nvSpPr>
        <p:spPr>
          <a:xfrm>
            <a:off x="744221" y="965437"/>
            <a:ext cx="6094970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提出：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UMRG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任务 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+ U-MRG-14K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数据集 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+ MedReasoner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框架</a:t>
            </a:r>
          </a:p>
          <a:p>
            <a:pPr>
              <a:spcBef>
                <a:spcPts val="400"/>
              </a:spcBef>
            </a:pP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解决：把</a:t>
            </a:r>
            <a:r>
              <a:rPr lang="zh-CN" altLang="en-US" sz="1600" b="1">
                <a:solidFill>
                  <a:srgbClr val="C00000"/>
                </a:solidFill>
                <a:latin typeface="微软雅黑"/>
              </a:rPr>
              <a:t>隐式临床查询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经推理转成像素级定位，无需手工空间提示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5A29EC-10B8-3AB4-AE67-B6F2D7C9FA47}"/>
              </a:ext>
            </a:extLst>
          </p:cNvPr>
          <p:cNvSpPr txBox="1"/>
          <p:nvPr/>
        </p:nvSpPr>
        <p:spPr>
          <a:xfrm>
            <a:off x="657724" y="2361393"/>
            <a:ext cx="609497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数据与评测同源：查询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/CoT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皆 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GPT-4o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生成，基线未在同数据训练，缺真实临床外部验证</a:t>
            </a:r>
          </a:p>
          <a:p>
            <a:pPr>
              <a:spcBef>
                <a:spcPts val="400"/>
              </a:spcBef>
            </a:pP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绝对精度仍低：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Dice </a:t>
            </a:r>
            <a:r>
              <a:rPr lang="en-US" altLang="zh-CN" sz="1600" b="1">
                <a:solidFill>
                  <a:srgbClr val="C00000"/>
                </a:solidFill>
                <a:latin typeface="微软雅黑"/>
              </a:rPr>
              <a:t>37.78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 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/ IoU </a:t>
            </a:r>
            <a:r>
              <a:rPr lang="en-US" altLang="zh-CN" sz="1600" b="1">
                <a:solidFill>
                  <a:srgbClr val="C00000"/>
                </a:solidFill>
                <a:latin typeface="微软雅黑"/>
              </a:rPr>
              <a:t>32.42</a:t>
            </a:r>
            <a:r>
              <a:rPr lang="zh-CN" altLang="en-US" sz="1600">
                <a:solidFill>
                  <a:srgbClr val="2B2D31"/>
                </a:solidFill>
                <a:latin typeface="微软雅黑"/>
              </a:rPr>
              <a:t>。</a:t>
            </a:r>
            <a:endParaRPr lang="en-US" altLang="zh-CN" sz="1600">
              <a:solidFill>
                <a:srgbClr val="2B2D31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lang="en-US" altLang="zh-CN" sz="1600">
                <a:solidFill>
                  <a:srgbClr val="2B2D31"/>
                </a:solidFill>
                <a:latin typeface="微软雅黑"/>
              </a:rPr>
              <a:t>•</a:t>
            </a:r>
            <a:r>
              <a:rPr lang="zh-CN" altLang="zh-CN" sz="1600">
                <a:solidFill>
                  <a:srgbClr val="2B2D31"/>
                </a:solidFill>
                <a:latin typeface="微软雅黑"/>
              </a:rPr>
              <a:t>奖励</a:t>
            </a:r>
            <a:r>
              <a:rPr lang="zh-CN" altLang="en-US" sz="1600">
                <a:solidFill>
                  <a:srgbClr val="2B2D31"/>
                </a:solidFill>
                <a:latin typeface="微软雅黑"/>
              </a:rPr>
              <a:t>的</a:t>
            </a:r>
            <a:r>
              <a:rPr lang="zh-CN" altLang="zh-CN" sz="1600">
                <a:solidFill>
                  <a:srgbClr val="2B2D31"/>
                </a:solidFill>
                <a:latin typeface="微软雅黑"/>
              </a:rPr>
              <a:t>过度工程：消融里完整 </a:t>
            </a:r>
            <a:r>
              <a:rPr lang="zh-CN" altLang="en-US" sz="1600">
                <a:solidFill>
                  <a:srgbClr val="2B2D31"/>
                </a:solidFill>
                <a:latin typeface="微软雅黑"/>
              </a:rPr>
              <a:t>的</a:t>
            </a:r>
            <a:r>
              <a:rPr lang="zh-CN" altLang="zh-CN" sz="1600">
                <a:solidFill>
                  <a:srgbClr val="2B2D31"/>
                </a:solidFill>
                <a:latin typeface="微软雅黑"/>
              </a:rPr>
              <a:t>Hard 奖励（IoU 31.69）没跑赢只留 IoU＋pDice 的 Soft（32.42）</a:t>
            </a:r>
            <a:r>
              <a:rPr lang="zh-CN" altLang="en-US" sz="1600">
                <a:solidFill>
                  <a:srgbClr val="2B2D31"/>
                </a:solidFill>
                <a:latin typeface="微软雅黑"/>
              </a:rPr>
              <a:t>奖励</a:t>
            </a:r>
            <a:r>
              <a:rPr lang="zh-CN" altLang="zh-CN" sz="1600">
                <a:solidFill>
                  <a:srgbClr val="2B2D31"/>
                </a:solidFill>
                <a:latin typeface="微软雅黑"/>
              </a:rPr>
              <a:t>，对齐／尺度／角度分</a:t>
            </a:r>
            <a:r>
              <a:rPr lang="zh-CN" altLang="en-US" sz="1600">
                <a:solidFill>
                  <a:srgbClr val="2B2D31"/>
                </a:solidFill>
                <a:latin typeface="微软雅黑"/>
              </a:rPr>
              <a:t>的</a:t>
            </a:r>
            <a:r>
              <a:rPr lang="zh-CN" altLang="zh-CN" sz="1600">
                <a:solidFill>
                  <a:srgbClr val="2B2D31"/>
                </a:solidFill>
                <a:latin typeface="微软雅黑"/>
              </a:rPr>
              <a:t>量收益有限。</a:t>
            </a:r>
            <a:endParaRPr lang="zh-CN" altLang="en-US" sz="1600">
              <a:solidFill>
                <a:srgbClr val="2B2D31"/>
              </a:solidFill>
              <a:latin typeface="微软雅黑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1A101A-39E3-3332-211F-3E8704E9FB67}"/>
              </a:ext>
            </a:extLst>
          </p:cNvPr>
          <p:cNvSpPr txBox="1"/>
          <p:nvPr/>
        </p:nvSpPr>
        <p:spPr>
          <a:xfrm>
            <a:off x="657724" y="4214906"/>
            <a:ext cx="609497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解耦式模块化框架（只训练推理器 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+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冻结 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SAM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分割网络），节省标注、可独立迭代</a:t>
            </a:r>
            <a:endParaRPr lang="en-US" altLang="zh-CN" sz="1600" b="0">
              <a:solidFill>
                <a:srgbClr val="2B2D31"/>
              </a:solidFill>
              <a:latin typeface="微软雅黑"/>
            </a:endParaRPr>
          </a:p>
          <a:p>
            <a:pPr>
              <a:spcBef>
                <a:spcPts val="400"/>
              </a:spcBef>
            </a:pP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•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从消融实验可以得到，</a:t>
            </a:r>
            <a:r>
              <a:rPr lang="en-US" altLang="zh-CN" sz="1600" b="0">
                <a:solidFill>
                  <a:srgbClr val="2B2D31"/>
                </a:solidFill>
                <a:latin typeface="微软雅黑"/>
              </a:rPr>
              <a:t>RL≫SFT </a:t>
            </a:r>
            <a:r>
              <a:rPr lang="zh-CN" altLang="en-US" sz="1600" b="0">
                <a:solidFill>
                  <a:srgbClr val="2B2D31"/>
                </a:solidFill>
                <a:latin typeface="微软雅黑"/>
              </a:rPr>
              <a:t>的方向性判断是可信的。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3183223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/>
        </p:nvCxnSpPr>
        <p:spPr>
          <a:xfrm>
            <a:off x="5640421" y="3947364"/>
            <a:ext cx="91115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5760018" y="520406"/>
            <a:ext cx="671963" cy="769033"/>
          </a:xfrm>
          <a:custGeom>
            <a:avLst/>
            <a:gdLst>
              <a:gd name="T0" fmla="*/ 1898 w 2872"/>
              <a:gd name="T1" fmla="*/ 1941 h 3284"/>
              <a:gd name="T2" fmla="*/ 2681 w 2872"/>
              <a:gd name="T3" fmla="*/ 328 h 3284"/>
              <a:gd name="T4" fmla="*/ 332 w 2872"/>
              <a:gd name="T5" fmla="*/ 0 h 3284"/>
              <a:gd name="T6" fmla="*/ 4 w 2872"/>
              <a:gd name="T7" fmla="*/ 3014 h 3284"/>
              <a:gd name="T8" fmla="*/ 378 w 2872"/>
              <a:gd name="T9" fmla="*/ 3234 h 3284"/>
              <a:gd name="T10" fmla="*/ 1491 w 2872"/>
              <a:gd name="T11" fmla="*/ 2781 h 3284"/>
              <a:gd name="T12" fmla="*/ 987 w 2872"/>
              <a:gd name="T13" fmla="*/ 1006 h 3284"/>
              <a:gd name="T14" fmla="*/ 1069 w 2872"/>
              <a:gd name="T15" fmla="*/ 924 h 3284"/>
              <a:gd name="T16" fmla="*/ 2073 w 2872"/>
              <a:gd name="T17" fmla="*/ 948 h 3284"/>
              <a:gd name="T18" fmla="*/ 2097 w 2872"/>
              <a:gd name="T19" fmla="*/ 1114 h 3284"/>
              <a:gd name="T20" fmla="*/ 2015 w 2872"/>
              <a:gd name="T21" fmla="*/ 1196 h 3284"/>
              <a:gd name="T22" fmla="*/ 1011 w 2872"/>
              <a:gd name="T23" fmla="*/ 1172 h 3284"/>
              <a:gd name="T24" fmla="*/ 987 w 2872"/>
              <a:gd name="T25" fmla="*/ 1006 h 3284"/>
              <a:gd name="T26" fmla="*/ 672 w 2872"/>
              <a:gd name="T27" fmla="*/ 1885 h 3284"/>
              <a:gd name="T28" fmla="*/ 590 w 2872"/>
              <a:gd name="T29" fmla="*/ 1803 h 3284"/>
              <a:gd name="T30" fmla="*/ 614 w 2872"/>
              <a:gd name="T31" fmla="*/ 1641 h 3284"/>
              <a:gd name="T32" fmla="*/ 778 w 2872"/>
              <a:gd name="T33" fmla="*/ 1617 h 3284"/>
              <a:gd name="T34" fmla="*/ 860 w 2872"/>
              <a:gd name="T35" fmla="*/ 1699 h 3284"/>
              <a:gd name="T36" fmla="*/ 836 w 2872"/>
              <a:gd name="T37" fmla="*/ 1861 h 3284"/>
              <a:gd name="T38" fmla="*/ 778 w 2872"/>
              <a:gd name="T39" fmla="*/ 1192 h 3284"/>
              <a:gd name="T40" fmla="*/ 614 w 2872"/>
              <a:gd name="T41" fmla="*/ 1168 h 3284"/>
              <a:gd name="T42" fmla="*/ 590 w 2872"/>
              <a:gd name="T43" fmla="*/ 1006 h 3284"/>
              <a:gd name="T44" fmla="*/ 672 w 2872"/>
              <a:gd name="T45" fmla="*/ 924 h 3284"/>
              <a:gd name="T46" fmla="*/ 836 w 2872"/>
              <a:gd name="T47" fmla="*/ 948 h 3284"/>
              <a:gd name="T48" fmla="*/ 860 w 2872"/>
              <a:gd name="T49" fmla="*/ 1113 h 3284"/>
              <a:gd name="T50" fmla="*/ 778 w 2872"/>
              <a:gd name="T51" fmla="*/ 1195 h 3284"/>
              <a:gd name="T52" fmla="*/ 1069 w 2872"/>
              <a:gd name="T53" fmla="*/ 1885 h 3284"/>
              <a:gd name="T54" fmla="*/ 987 w 2872"/>
              <a:gd name="T55" fmla="*/ 1803 h 3284"/>
              <a:gd name="T56" fmla="*/ 1011 w 2872"/>
              <a:gd name="T57" fmla="*/ 1641 h 3284"/>
              <a:gd name="T58" fmla="*/ 2015 w 2872"/>
              <a:gd name="T59" fmla="*/ 1617 h 3284"/>
              <a:gd name="T60" fmla="*/ 2097 w 2872"/>
              <a:gd name="T61" fmla="*/ 1699 h 3284"/>
              <a:gd name="T62" fmla="*/ 2073 w 2872"/>
              <a:gd name="T63" fmla="*/ 1861 h 3284"/>
              <a:gd name="T64" fmla="*/ 1069 w 2872"/>
              <a:gd name="T65" fmla="*/ 1885 h 3284"/>
              <a:gd name="T66" fmla="*/ 1579 w 2872"/>
              <a:gd name="T67" fmla="*/ 2633 h 3284"/>
              <a:gd name="T68" fmla="*/ 2872 w 2872"/>
              <a:gd name="T69" fmla="*/ 2627 h 3284"/>
              <a:gd name="T70" fmla="*/ 2216 w 2872"/>
              <a:gd name="T71" fmla="*/ 1980 h 3284"/>
              <a:gd name="T72" fmla="*/ 1770 w 2872"/>
              <a:gd name="T73" fmla="*/ 2622 h 3284"/>
              <a:gd name="T74" fmla="*/ 2131 w 2872"/>
              <a:gd name="T75" fmla="*/ 2655 h 3284"/>
              <a:gd name="T76" fmla="*/ 2671 w 2872"/>
              <a:gd name="T77" fmla="*/ 2460 h 3284"/>
              <a:gd name="T78" fmla="*/ 2128 w 2872"/>
              <a:gd name="T79" fmla="*/ 2950 h 3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872" h="3284">
                <a:moveTo>
                  <a:pt x="1468" y="2605"/>
                </a:moveTo>
                <a:cubicBezTo>
                  <a:pt x="1471" y="2320"/>
                  <a:pt x="1638" y="2061"/>
                  <a:pt x="1898" y="1941"/>
                </a:cubicBezTo>
                <a:cubicBezTo>
                  <a:pt x="2158" y="1822"/>
                  <a:pt x="2463" y="1864"/>
                  <a:pt x="2681" y="2048"/>
                </a:cubicBezTo>
                <a:cubicBezTo>
                  <a:pt x="2681" y="328"/>
                  <a:pt x="2681" y="328"/>
                  <a:pt x="2681" y="328"/>
                </a:cubicBezTo>
                <a:cubicBezTo>
                  <a:pt x="2681" y="147"/>
                  <a:pt x="2535" y="0"/>
                  <a:pt x="2354" y="0"/>
                </a:cubicBezTo>
                <a:cubicBezTo>
                  <a:pt x="332" y="0"/>
                  <a:pt x="332" y="0"/>
                  <a:pt x="332" y="0"/>
                </a:cubicBezTo>
                <a:cubicBezTo>
                  <a:pt x="151" y="0"/>
                  <a:pt x="4" y="147"/>
                  <a:pt x="4" y="328"/>
                </a:cubicBezTo>
                <a:cubicBezTo>
                  <a:pt x="4" y="3014"/>
                  <a:pt x="4" y="3014"/>
                  <a:pt x="4" y="3014"/>
                </a:cubicBezTo>
                <a:cubicBezTo>
                  <a:pt x="0" y="3105"/>
                  <a:pt x="44" y="3191"/>
                  <a:pt x="121" y="3240"/>
                </a:cubicBezTo>
                <a:cubicBezTo>
                  <a:pt x="201" y="3284"/>
                  <a:pt x="299" y="3282"/>
                  <a:pt x="378" y="3234"/>
                </a:cubicBezTo>
                <a:cubicBezTo>
                  <a:pt x="1350" y="2704"/>
                  <a:pt x="1350" y="2704"/>
                  <a:pt x="1350" y="2704"/>
                </a:cubicBezTo>
                <a:cubicBezTo>
                  <a:pt x="1491" y="2781"/>
                  <a:pt x="1491" y="2781"/>
                  <a:pt x="1491" y="2781"/>
                </a:cubicBezTo>
                <a:cubicBezTo>
                  <a:pt x="1476" y="2723"/>
                  <a:pt x="1469" y="2665"/>
                  <a:pt x="1468" y="2605"/>
                </a:cubicBezTo>
                <a:close/>
                <a:moveTo>
                  <a:pt x="987" y="1006"/>
                </a:moveTo>
                <a:cubicBezTo>
                  <a:pt x="987" y="985"/>
                  <a:pt x="996" y="964"/>
                  <a:pt x="1011" y="948"/>
                </a:cubicBezTo>
                <a:cubicBezTo>
                  <a:pt x="1027" y="933"/>
                  <a:pt x="1048" y="924"/>
                  <a:pt x="1069" y="924"/>
                </a:cubicBezTo>
                <a:cubicBezTo>
                  <a:pt x="2015" y="924"/>
                  <a:pt x="2015" y="924"/>
                  <a:pt x="2015" y="924"/>
                </a:cubicBezTo>
                <a:cubicBezTo>
                  <a:pt x="2036" y="924"/>
                  <a:pt x="2057" y="933"/>
                  <a:pt x="2073" y="948"/>
                </a:cubicBezTo>
                <a:cubicBezTo>
                  <a:pt x="2088" y="964"/>
                  <a:pt x="2097" y="985"/>
                  <a:pt x="2097" y="1006"/>
                </a:cubicBezTo>
                <a:cubicBezTo>
                  <a:pt x="2097" y="1114"/>
                  <a:pt x="2097" y="1114"/>
                  <a:pt x="2097" y="1114"/>
                </a:cubicBezTo>
                <a:cubicBezTo>
                  <a:pt x="2097" y="1135"/>
                  <a:pt x="2088" y="1156"/>
                  <a:pt x="2073" y="1172"/>
                </a:cubicBezTo>
                <a:cubicBezTo>
                  <a:pt x="2057" y="1187"/>
                  <a:pt x="2036" y="1196"/>
                  <a:pt x="2015" y="1196"/>
                </a:cubicBezTo>
                <a:cubicBezTo>
                  <a:pt x="1069" y="1196"/>
                  <a:pt x="1069" y="1196"/>
                  <a:pt x="1069" y="1196"/>
                </a:cubicBezTo>
                <a:cubicBezTo>
                  <a:pt x="1048" y="1196"/>
                  <a:pt x="1027" y="1187"/>
                  <a:pt x="1011" y="1172"/>
                </a:cubicBezTo>
                <a:cubicBezTo>
                  <a:pt x="996" y="1156"/>
                  <a:pt x="987" y="1135"/>
                  <a:pt x="987" y="1114"/>
                </a:cubicBezTo>
                <a:lnTo>
                  <a:pt x="987" y="1006"/>
                </a:lnTo>
                <a:close/>
                <a:moveTo>
                  <a:pt x="778" y="1885"/>
                </a:moveTo>
                <a:cubicBezTo>
                  <a:pt x="672" y="1885"/>
                  <a:pt x="672" y="1885"/>
                  <a:pt x="672" y="1885"/>
                </a:cubicBezTo>
                <a:cubicBezTo>
                  <a:pt x="650" y="1885"/>
                  <a:pt x="629" y="1876"/>
                  <a:pt x="614" y="1861"/>
                </a:cubicBezTo>
                <a:cubicBezTo>
                  <a:pt x="599" y="1845"/>
                  <a:pt x="590" y="1824"/>
                  <a:pt x="590" y="1803"/>
                </a:cubicBezTo>
                <a:cubicBezTo>
                  <a:pt x="590" y="1699"/>
                  <a:pt x="590" y="1699"/>
                  <a:pt x="590" y="1699"/>
                </a:cubicBezTo>
                <a:cubicBezTo>
                  <a:pt x="590" y="1678"/>
                  <a:pt x="599" y="1657"/>
                  <a:pt x="614" y="1641"/>
                </a:cubicBezTo>
                <a:cubicBezTo>
                  <a:pt x="629" y="1626"/>
                  <a:pt x="650" y="1617"/>
                  <a:pt x="672" y="1617"/>
                </a:cubicBezTo>
                <a:cubicBezTo>
                  <a:pt x="778" y="1617"/>
                  <a:pt x="778" y="1617"/>
                  <a:pt x="778" y="1617"/>
                </a:cubicBezTo>
                <a:cubicBezTo>
                  <a:pt x="799" y="1617"/>
                  <a:pt x="820" y="1626"/>
                  <a:pt x="836" y="1641"/>
                </a:cubicBezTo>
                <a:cubicBezTo>
                  <a:pt x="851" y="1657"/>
                  <a:pt x="860" y="1678"/>
                  <a:pt x="860" y="1699"/>
                </a:cubicBezTo>
                <a:cubicBezTo>
                  <a:pt x="860" y="1803"/>
                  <a:pt x="860" y="1803"/>
                  <a:pt x="860" y="1803"/>
                </a:cubicBezTo>
                <a:cubicBezTo>
                  <a:pt x="860" y="1824"/>
                  <a:pt x="851" y="1845"/>
                  <a:pt x="836" y="1861"/>
                </a:cubicBezTo>
                <a:cubicBezTo>
                  <a:pt x="820" y="1876"/>
                  <a:pt x="799" y="1885"/>
                  <a:pt x="778" y="1885"/>
                </a:cubicBezTo>
                <a:close/>
                <a:moveTo>
                  <a:pt x="778" y="1192"/>
                </a:moveTo>
                <a:cubicBezTo>
                  <a:pt x="672" y="1192"/>
                  <a:pt x="672" y="1192"/>
                  <a:pt x="672" y="1192"/>
                </a:cubicBezTo>
                <a:cubicBezTo>
                  <a:pt x="650" y="1192"/>
                  <a:pt x="629" y="1183"/>
                  <a:pt x="614" y="1168"/>
                </a:cubicBezTo>
                <a:cubicBezTo>
                  <a:pt x="599" y="1152"/>
                  <a:pt x="590" y="1131"/>
                  <a:pt x="590" y="1110"/>
                </a:cubicBezTo>
                <a:cubicBezTo>
                  <a:pt x="590" y="1006"/>
                  <a:pt x="590" y="1006"/>
                  <a:pt x="590" y="1006"/>
                </a:cubicBezTo>
                <a:cubicBezTo>
                  <a:pt x="590" y="984"/>
                  <a:pt x="599" y="963"/>
                  <a:pt x="614" y="948"/>
                </a:cubicBezTo>
                <a:cubicBezTo>
                  <a:pt x="629" y="932"/>
                  <a:pt x="650" y="924"/>
                  <a:pt x="672" y="924"/>
                </a:cubicBezTo>
                <a:cubicBezTo>
                  <a:pt x="778" y="924"/>
                  <a:pt x="778" y="924"/>
                  <a:pt x="778" y="924"/>
                </a:cubicBezTo>
                <a:cubicBezTo>
                  <a:pt x="800" y="924"/>
                  <a:pt x="821" y="932"/>
                  <a:pt x="836" y="948"/>
                </a:cubicBezTo>
                <a:cubicBezTo>
                  <a:pt x="852" y="963"/>
                  <a:pt x="860" y="984"/>
                  <a:pt x="860" y="1006"/>
                </a:cubicBezTo>
                <a:cubicBezTo>
                  <a:pt x="860" y="1113"/>
                  <a:pt x="860" y="1113"/>
                  <a:pt x="860" y="1113"/>
                </a:cubicBezTo>
                <a:cubicBezTo>
                  <a:pt x="860" y="1135"/>
                  <a:pt x="852" y="1155"/>
                  <a:pt x="836" y="1171"/>
                </a:cubicBezTo>
                <a:cubicBezTo>
                  <a:pt x="821" y="1186"/>
                  <a:pt x="800" y="1195"/>
                  <a:pt x="778" y="1195"/>
                </a:cubicBezTo>
                <a:lnTo>
                  <a:pt x="778" y="1192"/>
                </a:lnTo>
                <a:close/>
                <a:moveTo>
                  <a:pt x="1069" y="1885"/>
                </a:moveTo>
                <a:cubicBezTo>
                  <a:pt x="1048" y="1885"/>
                  <a:pt x="1027" y="1876"/>
                  <a:pt x="1011" y="1861"/>
                </a:cubicBezTo>
                <a:cubicBezTo>
                  <a:pt x="996" y="1845"/>
                  <a:pt x="987" y="1824"/>
                  <a:pt x="987" y="1803"/>
                </a:cubicBezTo>
                <a:cubicBezTo>
                  <a:pt x="987" y="1699"/>
                  <a:pt x="987" y="1699"/>
                  <a:pt x="987" y="1699"/>
                </a:cubicBezTo>
                <a:cubicBezTo>
                  <a:pt x="987" y="1678"/>
                  <a:pt x="996" y="1657"/>
                  <a:pt x="1011" y="1641"/>
                </a:cubicBezTo>
                <a:cubicBezTo>
                  <a:pt x="1027" y="1626"/>
                  <a:pt x="1048" y="1617"/>
                  <a:pt x="1069" y="1617"/>
                </a:cubicBezTo>
                <a:cubicBezTo>
                  <a:pt x="2015" y="1617"/>
                  <a:pt x="2015" y="1617"/>
                  <a:pt x="2015" y="1617"/>
                </a:cubicBezTo>
                <a:cubicBezTo>
                  <a:pt x="2036" y="1617"/>
                  <a:pt x="2057" y="1626"/>
                  <a:pt x="2073" y="1641"/>
                </a:cubicBezTo>
                <a:cubicBezTo>
                  <a:pt x="2088" y="1657"/>
                  <a:pt x="2097" y="1678"/>
                  <a:pt x="2097" y="1699"/>
                </a:cubicBezTo>
                <a:cubicBezTo>
                  <a:pt x="2097" y="1803"/>
                  <a:pt x="2097" y="1803"/>
                  <a:pt x="2097" y="1803"/>
                </a:cubicBezTo>
                <a:cubicBezTo>
                  <a:pt x="2097" y="1824"/>
                  <a:pt x="2088" y="1845"/>
                  <a:pt x="2073" y="1861"/>
                </a:cubicBezTo>
                <a:cubicBezTo>
                  <a:pt x="2057" y="1876"/>
                  <a:pt x="2036" y="1885"/>
                  <a:pt x="2015" y="1885"/>
                </a:cubicBezTo>
                <a:lnTo>
                  <a:pt x="1069" y="1885"/>
                </a:lnTo>
                <a:close/>
                <a:moveTo>
                  <a:pt x="2216" y="1980"/>
                </a:moveTo>
                <a:cubicBezTo>
                  <a:pt x="1860" y="1985"/>
                  <a:pt x="1576" y="2277"/>
                  <a:pt x="1579" y="2633"/>
                </a:cubicBezTo>
                <a:cubicBezTo>
                  <a:pt x="1582" y="2988"/>
                  <a:pt x="1872" y="3275"/>
                  <a:pt x="2228" y="3273"/>
                </a:cubicBezTo>
                <a:cubicBezTo>
                  <a:pt x="2584" y="3271"/>
                  <a:pt x="2872" y="2983"/>
                  <a:pt x="2872" y="2627"/>
                </a:cubicBezTo>
                <a:cubicBezTo>
                  <a:pt x="2872" y="2454"/>
                  <a:pt x="2802" y="2288"/>
                  <a:pt x="2679" y="2167"/>
                </a:cubicBezTo>
                <a:cubicBezTo>
                  <a:pt x="2556" y="2045"/>
                  <a:pt x="2389" y="1978"/>
                  <a:pt x="2216" y="1980"/>
                </a:cubicBezTo>
                <a:close/>
                <a:moveTo>
                  <a:pt x="2128" y="2950"/>
                </a:moveTo>
                <a:cubicBezTo>
                  <a:pt x="1770" y="2622"/>
                  <a:pt x="1770" y="2622"/>
                  <a:pt x="1770" y="2622"/>
                </a:cubicBezTo>
                <a:cubicBezTo>
                  <a:pt x="1934" y="2476"/>
                  <a:pt x="1934" y="2476"/>
                  <a:pt x="1934" y="2476"/>
                </a:cubicBezTo>
                <a:cubicBezTo>
                  <a:pt x="2131" y="2655"/>
                  <a:pt x="2131" y="2655"/>
                  <a:pt x="2131" y="2655"/>
                </a:cubicBezTo>
                <a:cubicBezTo>
                  <a:pt x="2507" y="2314"/>
                  <a:pt x="2507" y="2314"/>
                  <a:pt x="2507" y="2314"/>
                </a:cubicBezTo>
                <a:cubicBezTo>
                  <a:pt x="2671" y="2460"/>
                  <a:pt x="2671" y="2460"/>
                  <a:pt x="2671" y="2460"/>
                </a:cubicBezTo>
                <a:lnTo>
                  <a:pt x="2128" y="2950"/>
                </a:lnTo>
                <a:close/>
                <a:moveTo>
                  <a:pt x="2128" y="2950"/>
                </a:moveTo>
                <a:cubicBezTo>
                  <a:pt x="2128" y="2950"/>
                  <a:pt x="2128" y="2950"/>
                  <a:pt x="2128" y="295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85110" y="2649220"/>
            <a:ext cx="6622415" cy="1013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 typeface="Wingdings" panose="05000000000000000000" charset="0"/>
            </a:pPr>
            <a:r>
              <a:rPr lang="zh-CN" altLang="en-US" sz="5400" b="1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请老师同学批评指正！</a:t>
            </a:r>
            <a:endParaRPr lang="zh-CN" altLang="en-US" sz="5400" b="1">
              <a:solidFill>
                <a:schemeClr val="accent1">
                  <a:lumMod val="50000"/>
                </a:schemeClr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031],&quot;70&quot;:[3321880,3315855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8.74818897637795,&quot;left&quot;:72.08771653543307,&quot;top&quot;:26.10976377952756,&quot;width&quot;:815.824566929133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3.55,&quot;left&quot;:79.3,&quot;top&quot;:90.75,&quot;width&quot;:736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1ayxfd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4568</TotalTime>
  <Words>945</Words>
  <Application>Microsoft Office PowerPoint</Application>
  <PresentationFormat>宽屏</PresentationFormat>
  <Paragraphs>52</Paragraphs>
  <Slides>12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志洋 彭</cp:lastModifiedBy>
  <cp:revision>248</cp:revision>
  <dcterms:created xsi:type="dcterms:W3CDTF">2021-06-29T08:54:00Z</dcterms:created>
  <dcterms:modified xsi:type="dcterms:W3CDTF">2026-10-16T11:24:14Z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KSOTemplateUUID">
    <vt:lpwstr>v1.0_mb_3/AUWq/N1aYnYRXji2t99Q==</vt:lpwstr>
  </property>
  <property fmtid="{D5CDD505-2E9C-101B-9397-08002B2CF9AE}" pid="4" name="ICV">
    <vt:lpwstr>F3CCCED4F8D6492AB87A4B373DD5B26C_11</vt:lpwstr>
  </property>
</Properties>
</file>